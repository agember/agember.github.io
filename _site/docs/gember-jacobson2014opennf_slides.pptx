
<file path=[Content_Types].xml><?xml version="1.0" encoding="utf-8"?>
<Types xmlns="http://schemas.openxmlformats.org/package/2006/content-types">
  <Override PartName="/ppt/slides/slide6.xml" ContentType="application/vnd.openxmlformats-officedocument.presentationml.slide+xml"/>
  <Override PartName="/ppt/slides/slide29.xml" ContentType="application/vnd.openxmlformats-officedocument.presentationml.slide+xml"/>
  <Override PartName="/ppt/slideLayouts/slideLayout8.xml" ContentType="application/vnd.openxmlformats-officedocument.presentationml.slideLayout+xml"/>
  <Override PartName="/ppt/notesSlides/notesSlide2.xml" ContentType="application/vnd.openxmlformats-officedocument.presentationml.notesSlide+xml"/>
  <Override PartName="/ppt/slideMasters/slideMaster1.xml" ContentType="application/vnd.openxmlformats-officedocument.presentationml.slideMaster+xml"/>
  <Override PartName="/ppt/slides/slide4.xml" ContentType="application/vnd.openxmlformats-officedocument.presentationml.slide+xml"/>
  <Override PartName="/ppt/slides/slide18.xml" ContentType="application/vnd.openxmlformats-officedocument.presentationml.slide+xml"/>
  <Override PartName="/ppt/slides/slide27.xml" ContentType="application/vnd.openxmlformats-officedocument.presentationml.slide+xml"/>
  <Override PartName="/ppt/slideLayouts/slideLayout4.xml" ContentType="application/vnd.openxmlformats-officedocument.presentationml.slideLayout+xml"/>
  <Override PartName="/ppt/slideLayouts/slideLayout6.xml" ContentType="application/vnd.openxmlformats-officedocument.presentationml.slideLayout+xml"/>
  <Override PartName="/ppt/theme/theme3.xml" ContentType="application/vnd.openxmlformats-officedocument.theme+xml"/>
  <Override PartName="/ppt/slides/slide2.xml" ContentType="application/vnd.openxmlformats-officedocument.presentationml.slide+xml"/>
  <Override PartName="/ppt/slides/slide16.xml" ContentType="application/vnd.openxmlformats-officedocument.presentationml.slide+xml"/>
  <Override PartName="/ppt/slides/slide25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Default Extension="wmf" ContentType="image/x-wmf"/>
  <Override PartName="/ppt/notesSlides/notesSlide18.xml" ContentType="application/vnd.openxmlformats-officedocument.presentationml.notesSlide+xml"/>
  <Default Extension="rels" ContentType="application/vnd.openxmlformats-package.relationships+xml"/>
  <Default Extension="xml" ContentType="application/xml"/>
  <Override PartName="/ppt/slides/slide14.xml" ContentType="application/vnd.openxmlformats-officedocument.presentationml.slide+xml"/>
  <Override PartName="/ppt/slides/slide23.xml" ContentType="application/vnd.openxmlformats-officedocument.presentationml.slide+xml"/>
  <Override PartName="/ppt/slides/slide32.xml" ContentType="application/vnd.openxmlformats-officedocument.presentationml.slide+xml"/>
  <Override PartName="/ppt/notesMasters/notesMaster1.xml" ContentType="application/vnd.openxmlformats-officedocument.presentationml.notesMaster+xml"/>
  <Override PartName="/ppt/notesSlides/notesSlide16.xml" ContentType="application/vnd.openxmlformats-officedocument.presentationml.notesSlide+xml"/>
  <Override PartName="/ppt/slides/slide10.xml" ContentType="application/vnd.openxmlformats-officedocument.presentationml.slide+xml"/>
  <Override PartName="/ppt/slides/slide12.xml" ContentType="application/vnd.openxmlformats-officedocument.presentationml.slide+xml"/>
  <Override PartName="/ppt/slides/slide21.xml" ContentType="application/vnd.openxmlformats-officedocument.presentationml.slide+xml"/>
  <Override PartName="/ppt/slides/slide30.xml" ContentType="application/vnd.openxmlformats-officedocument.presentationml.slide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notesSlides/notesSlide14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10.xml" ContentType="application/vnd.openxmlformats-officedocument.presentationml.notes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handoutMasters/handoutMaster1.xml" ContentType="application/vnd.openxmlformats-officedocument.presentationml.handoutMaster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docProps/core.xml" ContentType="application/vnd.openxmlformats-package.core-properties+xml"/>
  <Override PartName="/ppt/slides/slide5.xml" ContentType="application/vnd.openxmlformats-officedocument.presentationml.slide+xml"/>
  <Override PartName="/ppt/slides/slide19.xml" ContentType="application/vnd.openxmlformats-officedocument.presentationml.slide+xml"/>
  <Override PartName="/ppt/slides/slide28.xml" ContentType="application/vnd.openxmlformats-officedocument.presentationml.slide+xml"/>
  <Override PartName="/ppt/slideLayouts/slideLayout7.xml" ContentType="application/vnd.openxmlformats-officedocument.presentationml.slideLayout+xml"/>
  <Override PartName="/ppt/notesSlides/notesSlide1.xml" ContentType="application/vnd.openxmlformats-officedocument.presentationml.notesSlide+xml"/>
  <Default Extension="png" ContentType="image/png"/>
  <Override PartName="/ppt/notesSlides/notesSlide3.xml" ContentType="application/vnd.openxmlformats-officedocument.presentationml.notesSlide+xml"/>
  <Override PartName="/ppt/slides/slide3.xml" ContentType="application/vnd.openxmlformats-officedocument.presentationml.slide+xml"/>
  <Override PartName="/ppt/slides/slide17.xml" ContentType="application/vnd.openxmlformats-officedocument.presentationml.slide+xml"/>
  <Override PartName="/ppt/slides/slide26.xml" ContentType="application/vnd.openxmlformats-officedocument.presentationml.slide+xml"/>
  <Override PartName="/ppt/presProps.xml" ContentType="application/vnd.openxmlformats-officedocument.presentationml.presProps+xml"/>
  <Override PartName="/ppt/slideLayouts/slideLayout5.xml" ContentType="application/vnd.openxmlformats-officedocument.presentationml.slideLayout+xml"/>
  <Override PartName="/ppt/theme/theme2.xml" ContentType="application/vnd.openxmlformats-officedocument.theme+xml"/>
  <Override PartName="/ppt/notesSlides/notesSlide19.xml" ContentType="application/vnd.openxmlformats-officedocument.presentationml.notesSlide+xml"/>
  <Override PartName="/ppt/slides/slide1.xml" ContentType="application/vnd.openxmlformats-officedocument.presentationml.slide+xml"/>
  <Override PartName="/ppt/slides/slide15.xml" ContentType="application/vnd.openxmlformats-officedocument.presentationml.slide+xml"/>
  <Override PartName="/ppt/slides/slide24.xml" ContentType="application/vnd.openxmlformats-officedocument.presentationml.slide+xml"/>
  <Override PartName="/ppt/slideLayouts/slideLayout3.xml" ContentType="application/vnd.openxmlformats-officedocument.presentationml.slideLayout+xml"/>
  <Default Extension="jpeg" ContentType="image/jpeg"/>
  <Override PartName="/ppt/notesSlides/notesSlide17.xml" ContentType="application/vnd.openxmlformats-officedocument.presentationml.notesSlide+xml"/>
  <Override PartName="/ppt/presentation.xml" ContentType="application/vnd.openxmlformats-officedocument.presentationml.presentation.main+xml"/>
  <Override PartName="/ppt/slides/slide13.xml" ContentType="application/vnd.openxmlformats-officedocument.presentationml.slide+xml"/>
  <Override PartName="/ppt/slides/slide22.xml" ContentType="application/vnd.openxmlformats-officedocument.presentationml.slide+xml"/>
  <Override PartName="/ppt/slides/slide31.xml" ContentType="application/vnd.openxmlformats-officedocument.presentationml.slide+xml"/>
  <Override PartName="/ppt/slideLayouts/slideLayout1.xml" ContentType="application/vnd.openxmlformats-officedocument.presentationml.slideLayout+xml"/>
  <Override PartName="/ppt/notesSlides/notesSlide15.xml" ContentType="application/vnd.openxmlformats-officedocument.presentationml.notesSlide+xml"/>
  <Override PartName="/ppt/notesSlides/notesSlide24.xml" ContentType="application/vnd.openxmlformats-officedocument.presentationml.notesSlide+xml"/>
  <Override PartName="/docProps/app.xml" ContentType="application/vnd.openxmlformats-officedocument.extended-properties+xml"/>
  <Override PartName="/ppt/slides/slide11.xml" ContentType="application/vnd.openxmlformats-officedocument.presentationml.slide+xml"/>
  <Override PartName="/ppt/slides/slide20.xml" ContentType="application/vnd.openxmlformats-officedocument.presentationml.slide+xml"/>
  <Override PartName="/ppt/notesSlides/notesSlide13.xml" ContentType="application/vnd.openxmlformats-officedocument.presentationml.notesSlide+xml"/>
  <Override PartName="/ppt/notesSlides/notesSlide22.xml" ContentType="application/vnd.openxmlformats-officedocument.presentationml.notesSlide+xml"/>
  <Override PartName="/ppt/slideLayouts/slideLayout10.xml" ContentType="application/vnd.openxmlformats-officedocument.presentationml.slideLayout+xml"/>
  <Override PartName="/ppt/notesSlides/notesSlide8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6.xml" ContentType="application/vnd.openxmlformats-officedocument.presentationml.notesSlide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34"/>
  </p:notesMasterIdLst>
  <p:handoutMasterIdLst>
    <p:handoutMasterId r:id="rId35"/>
  </p:handoutMasterIdLst>
  <p:sldIdLst>
    <p:sldId id="257" r:id="rId2"/>
    <p:sldId id="305" r:id="rId3"/>
    <p:sldId id="312" r:id="rId4"/>
    <p:sldId id="306" r:id="rId5"/>
    <p:sldId id="317" r:id="rId6"/>
    <p:sldId id="308" r:id="rId7"/>
    <p:sldId id="310" r:id="rId8"/>
    <p:sldId id="292" r:id="rId9"/>
    <p:sldId id="311" r:id="rId10"/>
    <p:sldId id="264" r:id="rId11"/>
    <p:sldId id="300" r:id="rId12"/>
    <p:sldId id="276" r:id="rId13"/>
    <p:sldId id="267" r:id="rId14"/>
    <p:sldId id="303" r:id="rId15"/>
    <p:sldId id="266" r:id="rId16"/>
    <p:sldId id="304" r:id="rId17"/>
    <p:sldId id="270" r:id="rId18"/>
    <p:sldId id="318" r:id="rId19"/>
    <p:sldId id="281" r:id="rId20"/>
    <p:sldId id="271" r:id="rId21"/>
    <p:sldId id="295" r:id="rId22"/>
    <p:sldId id="296" r:id="rId23"/>
    <p:sldId id="319" r:id="rId24"/>
    <p:sldId id="320" r:id="rId25"/>
    <p:sldId id="263" r:id="rId26"/>
    <p:sldId id="278" r:id="rId27"/>
    <p:sldId id="277" r:id="rId28"/>
    <p:sldId id="294" r:id="rId29"/>
    <p:sldId id="279" r:id="rId30"/>
    <p:sldId id="283" r:id="rId31"/>
    <p:sldId id="322" r:id="rId32"/>
    <p:sldId id="321" r:id="rId33"/>
  </p:sldIdLst>
  <p:sldSz cx="9144000" cy="6858000" type="screen4x3"/>
  <p:notesSz cx="7010400" cy="92964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E46C0A"/>
    <a:srgbClr val="FFFFFF"/>
    <a:srgbClr val="C0504D"/>
    <a:srgbClr val="FFB571"/>
    <a:srgbClr val="FFC28B"/>
    <a:srgbClr val="EAA56C"/>
    <a:srgbClr val="8064A2"/>
    <a:srgbClr val="4BACC6"/>
  </p:clrMru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7332" autoAdjust="0"/>
    <p:restoredTop sz="79391" autoAdjust="0"/>
  </p:normalViewPr>
  <p:slideViewPr>
    <p:cSldViewPr>
      <p:cViewPr varScale="1">
        <p:scale>
          <a:sx n="53" d="100"/>
          <a:sy n="53" d="100"/>
        </p:scale>
        <p:origin x="-1710" y="-96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100" d="100"/>
        <a:sy n="100" d="100"/>
      </p:scale>
      <p:origin x="0" y="3312"/>
    </p:cViewPr>
  </p:sorterViewPr>
  <p:gridSpacing cx="78028800" cy="780288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tableStyles" Target="tableStyle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notesMaster" Target="notesMasters/notesMaster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handoutMaster" Target="handoutMasters/handoutMaster1.xml"/></Relationships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oleObject" Target="file:///C:\Users\agember\Documents\research\sdmbn\presentations\slide_graphs.xlsx" TargetMode="External"/></Relationships>
</file>

<file path=ppt/charts/_rels/chart2.xml.rels><?xml version="1.0" encoding="UTF-8" standalone="yes"?>
<Relationships xmlns="http://schemas.openxmlformats.org/package/2006/relationships"><Relationship Id="rId1" Type="http://schemas.openxmlformats.org/officeDocument/2006/relationships/oleObject" Target="file:///C:\Users\agember\Documents\research\sdmbn\presentations\slide_graphs.xlsx" TargetMode="External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lang val="en-US"/>
  <c:chart>
    <c:plotArea>
      <c:layout/>
      <c:barChart>
        <c:barDir val="col"/>
        <c:grouping val="clustered"/>
        <c:ser>
          <c:idx val="1"/>
          <c:order val="0"/>
          <c:spPr>
            <a:solidFill>
              <a:srgbClr val="FFFF00"/>
            </a:solidFill>
          </c:spPr>
          <c:errBars>
            <c:errBarType val="both"/>
            <c:errValType val="cust"/>
            <c:plus>
              <c:numRef>
                <c:f>Sheet1!$G$5:$H$5</c:f>
                <c:numCache>
                  <c:formatCode>General</c:formatCode>
                  <c:ptCount val="2"/>
                  <c:pt idx="0">
                    <c:v>18</c:v>
                  </c:pt>
                  <c:pt idx="1">
                    <c:v>26</c:v>
                  </c:pt>
                </c:numCache>
              </c:numRef>
            </c:plus>
            <c:minus>
              <c:numRef>
                <c:f>Sheet1!$G$5:$H$5</c:f>
                <c:numCache>
                  <c:formatCode>General</c:formatCode>
                  <c:ptCount val="2"/>
                  <c:pt idx="0">
                    <c:v>18</c:v>
                  </c:pt>
                  <c:pt idx="1">
                    <c:v>26</c:v>
                  </c:pt>
                </c:numCache>
              </c:numRef>
            </c:minus>
            <c:spPr>
              <a:ln w="25400"/>
            </c:spPr>
          </c:errBars>
          <c:cat>
            <c:strRef>
              <c:f>Sheet1!$E$1:$F$1</c:f>
              <c:strCache>
                <c:ptCount val="2"/>
                <c:pt idx="0">
                  <c:v>Average</c:v>
                </c:pt>
                <c:pt idx="1">
                  <c:v>Maximum</c:v>
                </c:pt>
              </c:strCache>
            </c:strRef>
          </c:cat>
          <c:val>
            <c:numRef>
              <c:f>Sheet1!$E$4:$F$4</c:f>
              <c:numCache>
                <c:formatCode>General</c:formatCode>
                <c:ptCount val="2"/>
                <c:pt idx="0">
                  <c:v>129</c:v>
                </c:pt>
                <c:pt idx="1">
                  <c:v>155</c:v>
                </c:pt>
              </c:numCache>
            </c:numRef>
          </c:val>
        </c:ser>
        <c:ser>
          <c:idx val="2"/>
          <c:order val="1"/>
          <c:spPr>
            <a:solidFill>
              <a:schemeClr val="accent3"/>
            </a:solidFill>
          </c:spPr>
          <c:errBars>
            <c:errBarType val="both"/>
            <c:errValType val="cust"/>
            <c:plus>
              <c:numRef>
                <c:f>Sheet1!#REF!</c:f>
                <c:numCache>
                  <c:formatCode>General</c:formatCode>
                  <c:ptCount val="1"/>
                  <c:pt idx="0">
                    <c:v>1</c:v>
                  </c:pt>
                </c:numCache>
              </c:numRef>
            </c:plus>
            <c:minus>
              <c:numRef>
                <c:f>Sheet1!#REF!</c:f>
                <c:numCache>
                  <c:formatCode>General</c:formatCode>
                  <c:ptCount val="1"/>
                  <c:pt idx="0">
                    <c:v>1</c:v>
                  </c:pt>
                </c:numCache>
              </c:numRef>
            </c:minus>
          </c:errBars>
          <c:cat>
            <c:strRef>
              <c:f>Sheet1!$E$1:$F$1</c:f>
              <c:strCache>
                <c:ptCount val="2"/>
                <c:pt idx="0">
                  <c:v>Average</c:v>
                </c:pt>
                <c:pt idx="1">
                  <c:v>Maximum</c:v>
                </c:pt>
              </c:strCache>
            </c:strRef>
          </c:cat>
          <c:val>
            <c:numRef>
              <c:f>Sheet1!$E$5:$F$5</c:f>
              <c:numCache>
                <c:formatCode>General</c:formatCode>
                <c:ptCount val="2"/>
                <c:pt idx="0">
                  <c:v>128</c:v>
                </c:pt>
                <c:pt idx="1">
                  <c:v>174</c:v>
                </c:pt>
              </c:numCache>
            </c:numRef>
          </c:val>
        </c:ser>
        <c:axId val="88421120"/>
        <c:axId val="88422656"/>
      </c:barChart>
      <c:catAx>
        <c:axId val="88421120"/>
        <c:scaling>
          <c:orientation val="minMax"/>
        </c:scaling>
        <c:axPos val="b"/>
        <c:tickLblPos val="nextTo"/>
        <c:spPr>
          <a:noFill/>
          <a:ln w="9525" cap="flat" cmpd="sng" algn="ctr">
            <a:solidFill>
              <a:schemeClr val="dk1">
                <a:shade val="95000"/>
                <a:satMod val="105000"/>
              </a:schemeClr>
            </a:solidFill>
            <a:prstDash val="solid"/>
          </a:ln>
          <a:effectLst/>
        </c:spPr>
        <c:txPr>
          <a:bodyPr/>
          <a:lstStyle/>
          <a:p>
            <a:pPr>
              <a:defRPr sz="1800" b="1">
                <a:solidFill>
                  <a:schemeClr val="tx1"/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88422656"/>
        <c:crosses val="autoZero"/>
        <c:auto val="1"/>
        <c:lblAlgn val="ctr"/>
        <c:lblOffset val="100"/>
      </c:catAx>
      <c:valAx>
        <c:axId val="88422656"/>
        <c:scaling>
          <c:orientation val="minMax"/>
        </c:scaling>
        <c:axPos val="l"/>
        <c:majorGridlines/>
        <c:title>
          <c:tx>
            <c:rich>
              <a:bodyPr rot="-5400000" vert="horz"/>
              <a:lstStyle/>
              <a:p>
                <a:pPr>
                  <a:defRPr sz="2200"/>
                </a:pPr>
                <a:r>
                  <a:rPr lang="en-US" sz="2200"/>
                  <a:t>Per-packet Latency </a:t>
                </a:r>
                <a:br>
                  <a:rPr lang="en-US" sz="2200"/>
                </a:br>
                <a:r>
                  <a:rPr lang="en-US" sz="2200"/>
                  <a:t>Increase (ms)</a:t>
                </a:r>
              </a:p>
            </c:rich>
          </c:tx>
          <c:layout>
            <c:manualLayout>
              <c:xMode val="edge"/>
              <c:yMode val="edge"/>
              <c:x val="3.8131233595800638E-2"/>
              <c:y val="0.10532014090344011"/>
            </c:manualLayout>
          </c:layout>
        </c:title>
        <c:numFmt formatCode="General" sourceLinked="1"/>
        <c:tickLblPos val="nextTo"/>
        <c:spPr>
          <a:noFill/>
          <a:ln w="9525" cap="flat" cmpd="sng" algn="ctr">
            <a:solidFill>
              <a:schemeClr val="dk1">
                <a:shade val="95000"/>
                <a:satMod val="105000"/>
              </a:schemeClr>
            </a:solidFill>
            <a:prstDash val="solid"/>
          </a:ln>
          <a:effectLst/>
        </c:spPr>
        <c:txPr>
          <a:bodyPr/>
          <a:lstStyle/>
          <a:p>
            <a:pPr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88421120"/>
        <c:crosses val="autoZero"/>
        <c:crossBetween val="between"/>
      </c:valAx>
    </c:plotArea>
    <c:plotVisOnly val="1"/>
  </c:chart>
  <c:spPr>
    <a:ln>
      <a:noFill/>
    </a:ln>
  </c:spPr>
  <c:txPr>
    <a:bodyPr/>
    <a:lstStyle/>
    <a:p>
      <a:pPr>
        <a:defRPr sz="1400"/>
      </a:pPr>
      <a:endParaRPr lang="en-US"/>
    </a:p>
  </c:txPr>
  <c:externalData r:id="rId1"/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1"/>
  <c:lang val="en-US"/>
  <c:chart>
    <c:plotArea>
      <c:layout>
        <c:manualLayout>
          <c:layoutTarget val="inner"/>
          <c:xMode val="edge"/>
          <c:yMode val="edge"/>
          <c:x val="0.200387812625312"/>
          <c:y val="5.0027555419838401E-2"/>
          <c:w val="0.77055639859633696"/>
          <c:h val="0.73990184744913023"/>
        </c:manualLayout>
      </c:layout>
      <c:barChart>
        <c:barDir val="col"/>
        <c:grouping val="clustered"/>
        <c:ser>
          <c:idx val="0"/>
          <c:order val="0"/>
          <c:dPt>
            <c:idx val="0"/>
            <c:spPr>
              <a:solidFill>
                <a:srgbClr val="FF0000"/>
              </a:solidFill>
            </c:spPr>
          </c:dPt>
          <c:dPt>
            <c:idx val="1"/>
            <c:spPr>
              <a:solidFill>
                <a:schemeClr val="accent6"/>
              </a:solidFill>
            </c:spPr>
          </c:dPt>
          <c:dPt>
            <c:idx val="2"/>
            <c:spPr>
              <a:solidFill>
                <a:srgbClr val="FFFF00"/>
              </a:solidFill>
            </c:spPr>
          </c:dPt>
          <c:dPt>
            <c:idx val="3"/>
            <c:spPr>
              <a:solidFill>
                <a:schemeClr val="accent3"/>
              </a:solidFill>
            </c:spPr>
          </c:dPt>
          <c:errBars>
            <c:errBarType val="both"/>
            <c:errValType val="cust"/>
            <c:plus>
              <c:numRef>
                <c:f>Sheet1!$C$2:$C$5</c:f>
                <c:numCache>
                  <c:formatCode>General</c:formatCode>
                  <c:ptCount val="4"/>
                  <c:pt idx="0">
                    <c:v>5</c:v>
                  </c:pt>
                  <c:pt idx="1">
                    <c:v>4.8</c:v>
                  </c:pt>
                  <c:pt idx="2">
                    <c:v>16</c:v>
                  </c:pt>
                  <c:pt idx="3">
                    <c:v>45.8</c:v>
                  </c:pt>
                </c:numCache>
              </c:numRef>
            </c:plus>
            <c:minus>
              <c:numRef>
                <c:f>Sheet1!$C$2:$C$5</c:f>
                <c:numCache>
                  <c:formatCode>General</c:formatCode>
                  <c:ptCount val="4"/>
                  <c:pt idx="0">
                    <c:v>5</c:v>
                  </c:pt>
                  <c:pt idx="1">
                    <c:v>4.8</c:v>
                  </c:pt>
                  <c:pt idx="2">
                    <c:v>16</c:v>
                  </c:pt>
                  <c:pt idx="3">
                    <c:v>45.8</c:v>
                  </c:pt>
                </c:numCache>
              </c:numRef>
            </c:minus>
            <c:spPr>
              <a:ln w="25400"/>
            </c:spPr>
          </c:errBars>
          <c:cat>
            <c:strRef>
              <c:f>Sheet1!$A$2:$A$4</c:f>
              <c:strCache>
                <c:ptCount val="3"/>
                <c:pt idx="0">
                  <c:v>NG</c:v>
                </c:pt>
                <c:pt idx="1">
                  <c:v>NG PL</c:v>
                </c:pt>
                <c:pt idx="2">
                  <c:v>LF PL+ER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189</c:v>
                </c:pt>
                <c:pt idx="1">
                  <c:v>129</c:v>
                </c:pt>
                <c:pt idx="2">
                  <c:v>259</c:v>
                </c:pt>
                <c:pt idx="3">
                  <c:v>424</c:v>
                </c:pt>
              </c:numCache>
            </c:numRef>
          </c:val>
        </c:ser>
        <c:gapWidth val="50"/>
        <c:axId val="90209664"/>
        <c:axId val="90219648"/>
      </c:barChart>
      <c:catAx>
        <c:axId val="90209664"/>
        <c:scaling>
          <c:orientation val="minMax"/>
        </c:scaling>
        <c:axPos val="b"/>
        <c:tickLblPos val="nextTo"/>
        <c:txPr>
          <a:bodyPr/>
          <a:lstStyle/>
          <a:p>
            <a:pPr>
              <a:defRPr sz="1800" b="1"/>
            </a:pPr>
            <a:endParaRPr lang="en-US"/>
          </a:p>
        </c:txPr>
        <c:crossAx val="90219648"/>
        <c:crosses val="autoZero"/>
        <c:auto val="1"/>
        <c:lblAlgn val="ctr"/>
        <c:lblOffset val="100"/>
      </c:catAx>
      <c:valAx>
        <c:axId val="90219648"/>
        <c:scaling>
          <c:orientation val="minMax"/>
        </c:scaling>
        <c:axPos val="l"/>
        <c:majorGridlines/>
        <c:title>
          <c:tx>
            <c:rich>
              <a:bodyPr rot="-5400000" vert="horz"/>
              <a:lstStyle/>
              <a:p>
                <a:pPr>
                  <a:defRPr sz="2200"/>
                </a:pPr>
                <a:r>
                  <a:rPr lang="en-US" sz="2200"/>
                  <a:t>Move Time (ms)</a:t>
                </a:r>
              </a:p>
            </c:rich>
          </c:tx>
          <c:layout/>
        </c:title>
        <c:numFmt formatCode="General" sourceLinked="1"/>
        <c:tickLblPos val="nextTo"/>
        <c:txPr>
          <a:bodyPr/>
          <a:lstStyle/>
          <a:p>
            <a:pPr>
              <a:defRPr sz="1800"/>
            </a:pPr>
            <a:endParaRPr lang="en-US"/>
          </a:p>
        </c:txPr>
        <c:crossAx val="90209664"/>
        <c:crosses val="autoZero"/>
        <c:crossBetween val="between"/>
      </c:valAx>
    </c:plotArea>
    <c:plotVisOnly val="1"/>
  </c:chart>
  <c:spPr>
    <a:ln>
      <a:noFill/>
    </a:ln>
  </c:spPr>
  <c:externalData r:id="rId1"/>
</c:chartSpace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037840" cy="464820"/>
          </a:xfrm>
          <a:prstGeom prst="rect">
            <a:avLst/>
          </a:prstGeom>
        </p:spPr>
        <p:txBody>
          <a:bodyPr vert="horz" lIns="93177" tIns="46589" rIns="93177" bIns="46589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970938" y="0"/>
            <a:ext cx="3037840" cy="464820"/>
          </a:xfrm>
          <a:prstGeom prst="rect">
            <a:avLst/>
          </a:prstGeom>
        </p:spPr>
        <p:txBody>
          <a:bodyPr vert="horz" lIns="93177" tIns="46589" rIns="93177" bIns="46589" rtlCol="0"/>
          <a:lstStyle>
            <a:lvl1pPr algn="r">
              <a:defRPr sz="1200"/>
            </a:lvl1pPr>
          </a:lstStyle>
          <a:p>
            <a:fld id="{C520E3DE-6775-4795-A7CB-18B0D83AFBB6}" type="datetimeFigureOut">
              <a:rPr lang="en-US" smtClean="0"/>
              <a:pPr/>
              <a:t>8/20/2014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829967"/>
            <a:ext cx="3037840" cy="464820"/>
          </a:xfrm>
          <a:prstGeom prst="rect">
            <a:avLst/>
          </a:prstGeom>
        </p:spPr>
        <p:txBody>
          <a:bodyPr vert="horz" lIns="93177" tIns="46589" rIns="93177" bIns="46589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970938" y="8829967"/>
            <a:ext cx="3037840" cy="464820"/>
          </a:xfrm>
          <a:prstGeom prst="rect">
            <a:avLst/>
          </a:prstGeom>
        </p:spPr>
        <p:txBody>
          <a:bodyPr vert="horz" lIns="93177" tIns="46589" rIns="93177" bIns="46589" rtlCol="0" anchor="b"/>
          <a:lstStyle>
            <a:lvl1pPr algn="r">
              <a:defRPr sz="1200"/>
            </a:lvl1pPr>
          </a:lstStyle>
          <a:p>
            <a:fld id="{2BA26E66-6E7A-4F7F-B564-8A3792B4E3A1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037840" cy="464820"/>
          </a:xfrm>
          <a:prstGeom prst="rect">
            <a:avLst/>
          </a:prstGeom>
        </p:spPr>
        <p:txBody>
          <a:bodyPr vert="horz" lIns="93177" tIns="46589" rIns="93177" bIns="46589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970938" y="0"/>
            <a:ext cx="3037840" cy="464820"/>
          </a:xfrm>
          <a:prstGeom prst="rect">
            <a:avLst/>
          </a:prstGeom>
        </p:spPr>
        <p:txBody>
          <a:bodyPr vert="horz" lIns="93177" tIns="46589" rIns="93177" bIns="46589" rtlCol="0"/>
          <a:lstStyle>
            <a:lvl1pPr algn="r">
              <a:defRPr sz="1200"/>
            </a:lvl1pPr>
          </a:lstStyle>
          <a:p>
            <a:fld id="{E563ABB8-483E-445F-BF8A-D5AB3CBB2EA3}" type="datetimeFigureOut">
              <a:rPr lang="en-US" smtClean="0"/>
              <a:pPr/>
              <a:t>8/20/2014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81100" y="696913"/>
            <a:ext cx="4648200" cy="348615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3177" tIns="46589" rIns="93177" bIns="46589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701040" y="4415790"/>
            <a:ext cx="5608320" cy="4183380"/>
          </a:xfrm>
          <a:prstGeom prst="rect">
            <a:avLst/>
          </a:prstGeom>
        </p:spPr>
        <p:txBody>
          <a:bodyPr vert="horz" lIns="93177" tIns="46589" rIns="93177" bIns="46589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829967"/>
            <a:ext cx="3037840" cy="464820"/>
          </a:xfrm>
          <a:prstGeom prst="rect">
            <a:avLst/>
          </a:prstGeom>
        </p:spPr>
        <p:txBody>
          <a:bodyPr vert="horz" lIns="93177" tIns="46589" rIns="93177" bIns="46589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970938" y="8829967"/>
            <a:ext cx="3037840" cy="464820"/>
          </a:xfrm>
          <a:prstGeom prst="rect">
            <a:avLst/>
          </a:prstGeom>
        </p:spPr>
        <p:txBody>
          <a:bodyPr vert="horz" lIns="93177" tIns="46589" rIns="93177" bIns="46589" rtlCol="0" anchor="b"/>
          <a:lstStyle>
            <a:lvl1pPr algn="r">
              <a:defRPr sz="1200"/>
            </a:lvl1pPr>
          </a:lstStyle>
          <a:p>
            <a:fld id="{5759197A-31AF-48D6-826D-105E34546546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 sz="1800" baseline="0" dirty="0" smtClean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04C3B35-147C-46A3-B2E8-0275D52FBD04}" type="slidenum">
              <a:rPr lang="en-US" smtClean="0">
                <a:solidFill>
                  <a:prstClr val="black"/>
                </a:solidFill>
              </a:rPr>
              <a:pPr/>
              <a:t>1</a:t>
            </a:fld>
            <a:endParaRPr lang="en-US">
              <a:solidFill>
                <a:prstClr val="black"/>
              </a:solidFill>
            </a:endParaRP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759197A-31AF-48D6-826D-105E34546546}" type="slidenum">
              <a:rPr lang="en-US" smtClean="0"/>
              <a:pPr/>
              <a:t>2</a:t>
            </a:fld>
            <a:endParaRPr 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759197A-31AF-48D6-826D-105E34546546}" type="slidenum">
              <a:rPr lang="en-US" smtClean="0"/>
              <a:pPr/>
              <a:t>3</a:t>
            </a:fld>
            <a:endParaRPr lang="en-US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 b="0" i="1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759197A-31AF-48D6-826D-105E34546546}" type="slidenum">
              <a:rPr lang="en-US" smtClean="0"/>
              <a:pPr/>
              <a:t>4</a:t>
            </a:fld>
            <a:endParaRPr lang="en-US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 sz="1800" i="0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759197A-31AF-48D6-826D-105E34546546}" type="slidenum">
              <a:rPr lang="en-US" smtClean="0"/>
              <a:pPr/>
              <a:t>5</a:t>
            </a:fld>
            <a:endParaRPr lang="en-US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 sz="1800" b="0" baseline="0" dirty="0" smtClean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759197A-31AF-48D6-826D-105E34546546}" type="slidenum">
              <a:rPr lang="en-US" smtClean="0"/>
              <a:pPr/>
              <a:t>6</a:t>
            </a:fld>
            <a:endParaRPr lang="en-US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 b="1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759197A-31AF-48D6-826D-105E34546546}" type="slidenum">
              <a:rPr lang="en-US" smtClean="0"/>
              <a:pPr/>
              <a:t>7</a:t>
            </a:fld>
            <a:endParaRPr lang="en-US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759197A-31AF-48D6-826D-105E34546546}" type="slidenum">
              <a:rPr lang="en-US" smtClean="0"/>
              <a:pPr/>
              <a:t>8</a:t>
            </a:fld>
            <a:endParaRPr lang="en-US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sz="1800" b="0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04C3B35-147C-46A3-B2E8-0275D52FBD04}" type="slidenum">
              <a:rPr lang="en-US" smtClean="0"/>
              <a:pPr/>
              <a:t>9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xmlns="" val="1702279416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 sz="1800" b="1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759197A-31AF-48D6-826D-105E34546546}" type="slidenum">
              <a:rPr lang="en-US" smtClean="0"/>
              <a:pPr/>
              <a:t>10</a:t>
            </a:fld>
            <a:endParaRPr lang="en-US"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 i="1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759197A-31AF-48D6-826D-105E34546546}" type="slidenum">
              <a:rPr lang="en-US" smtClean="0"/>
              <a:pPr/>
              <a:t>11</a:t>
            </a:fld>
            <a:endParaRPr lang="en-US"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759197A-31AF-48D6-826D-105E34546546}" type="slidenum">
              <a:rPr lang="en-US" smtClean="0"/>
              <a:pPr/>
              <a:t>12</a:t>
            </a:fld>
            <a:endParaRPr lang="en-US"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 sz="1800" b="1" baseline="0" dirty="0" smtClean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759197A-31AF-48D6-826D-105E34546546}" type="slidenum">
              <a:rPr lang="en-US" smtClean="0"/>
              <a:pPr/>
              <a:t>14</a:t>
            </a:fld>
            <a:endParaRPr lang="en-US"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 sz="1800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759197A-31AF-48D6-826D-105E34546546}" type="slidenum">
              <a:rPr lang="en-US" smtClean="0"/>
              <a:pPr/>
              <a:t>16</a:t>
            </a:fld>
            <a:endParaRPr lang="en-US"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EA883A7-A87F-E94A-84F8-C71477970045}" type="slidenum">
              <a:rPr lang="en-US" smtClean="0"/>
              <a:pPr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2447305612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sz="1800" b="0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04C3B35-147C-46A3-B2E8-0275D52FBD04}" type="slidenum">
              <a:rPr lang="en-US" smtClean="0"/>
              <a:pPr/>
              <a:t>18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xmlns="" val="1702279416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759197A-31AF-48D6-826D-105E34546546}" type="slidenum">
              <a:rPr lang="en-US" smtClean="0"/>
              <a:pPr/>
              <a:t>19</a:t>
            </a:fld>
            <a:endParaRPr lang="en-US"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 sz="1800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759197A-31AF-48D6-826D-105E34546546}" type="slidenum">
              <a:rPr lang="en-US" smtClean="0"/>
              <a:pPr/>
              <a:t>20</a:t>
            </a:fld>
            <a:endParaRPr lang="en-US"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 sz="1800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EA883A7-A87F-E94A-84F8-C71477970045}" type="slidenum">
              <a:rPr lang="en-US" smtClean="0"/>
              <a:pPr/>
              <a:t>21</a:t>
            </a:fld>
            <a:endParaRPr lang="en-US"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 sz="1800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EA883A7-A87F-E94A-84F8-C71477970045}" type="slidenum">
              <a:rPr lang="en-US" smtClean="0"/>
              <a:pPr/>
              <a:t>22</a:t>
            </a:fld>
            <a:endParaRPr lang="en-US"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 b="0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759197A-31AF-48D6-826D-105E34546546}" type="slidenum">
              <a:rPr lang="en-US" smtClean="0"/>
              <a:pPr/>
              <a:t>23</a:t>
            </a:fld>
            <a:endParaRPr lang="en-US"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04C3B35-147C-46A3-B2E8-0275D52FBD04}" type="slidenum">
              <a:rPr lang="en-US" smtClean="0"/>
              <a:pPr/>
              <a:t>25</a:t>
            </a:fld>
            <a:endParaRPr lang="en-US" dirty="0"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EA883A7-A87F-E94A-84F8-C71477970045}" type="slidenum">
              <a:rPr lang="en-US" smtClean="0"/>
              <a:pPr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2266122116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EA883A7-A87F-E94A-84F8-C71477970045}" type="slidenum">
              <a:rPr lang="en-US" smtClean="0"/>
              <a:pPr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235056995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035C6D5-A08E-46F3-807C-053EA37DFDB6}" type="datetime1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8/20/2014</a:t>
            </a:fld>
            <a:endParaRPr lang="en-US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2C5A87-65DC-41FD-9E53-7EAC48455B9A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 dirty="0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="" xmlns:p14="http://schemas.microsoft.com/office/powerpoint/2010/main" val="332133581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b="1">
                <a:solidFill>
                  <a:schemeClr val="accent6">
                    <a:lumMod val="75000"/>
                  </a:schemeClr>
                </a:solidFill>
              </a:defRPr>
            </a:lvl1pPr>
          </a:lstStyle>
          <a:p>
            <a:r>
              <a:rPr lang="en-US" dirty="0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DE539-7798-4300-9C85-566F3E0CE56A}" type="datetime1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8/20/2014</a:t>
            </a:fld>
            <a:endParaRPr lang="en-US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2C5A87-65DC-41FD-9E53-7EAC48455B9A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 dirty="0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="" xmlns:p14="http://schemas.microsoft.com/office/powerpoint/2010/main" val="86805044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6995423-5EDA-409B-BA1D-6D903D1A80E8}" type="datetime1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8/20/2014</a:t>
            </a:fld>
            <a:endParaRPr lang="en-US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2C5A87-65DC-41FD-9E53-7EAC48455B9A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 dirty="0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="" xmlns:p14="http://schemas.microsoft.com/office/powerpoint/2010/main" val="422853629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3F6F48E-E1BC-4CFA-9BDC-0401595BD9E1}" type="datetime1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8/20/2014</a:t>
            </a:fld>
            <a:endParaRPr lang="en-US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2C5A87-65DC-41FD-9E53-7EAC48455B9A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 dirty="0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="" xmlns:p14="http://schemas.microsoft.com/office/powerpoint/2010/main" val="237476804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1762DF-21F1-4E54-AAE1-E11318B8FD3D}" type="datetime1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8/20/2014</a:t>
            </a:fld>
            <a:endParaRPr lang="en-US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2C5A87-65DC-41FD-9E53-7EAC48455B9A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 dirty="0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="" xmlns:p14="http://schemas.microsoft.com/office/powerpoint/2010/main" val="384635626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FD29A3C-670C-43A7-B857-E02A2D944916}" type="datetime1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8/20/2014</a:t>
            </a:fld>
            <a:endParaRPr lang="en-US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2C5A87-65DC-41FD-9E53-7EAC48455B9A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 dirty="0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="" xmlns:p14="http://schemas.microsoft.com/office/powerpoint/2010/main" val="327667294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89577E-E4C3-425C-8582-7324828F7A8C}" type="datetime1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8/20/2014</a:t>
            </a:fld>
            <a:endParaRPr lang="en-US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2C5A87-65DC-41FD-9E53-7EAC48455B9A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 dirty="0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="" xmlns:p14="http://schemas.microsoft.com/office/powerpoint/2010/main" val="238633732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8F7A904-BCEF-4643-B213-38441945C094}" type="datetime1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8/20/2014</a:t>
            </a:fld>
            <a:endParaRPr lang="en-US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2C5A87-65DC-41FD-9E53-7EAC48455B9A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 dirty="0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="" xmlns:p14="http://schemas.microsoft.com/office/powerpoint/2010/main" val="214190560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41EE20F-8D8D-46E6-8440-2D31C4D66B52}" type="datetime1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8/20/2014</a:t>
            </a:fld>
            <a:endParaRPr lang="en-US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2C5A87-65DC-41FD-9E53-7EAC48455B9A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 dirty="0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="" xmlns:p14="http://schemas.microsoft.com/office/powerpoint/2010/main" val="381133123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A3316B8-FAE3-4953-A4C3-4D32B83447AE}" type="datetime1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8/20/2014</a:t>
            </a:fld>
            <a:endParaRPr lang="en-US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2C5A87-65DC-41FD-9E53-7EAC48455B9A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 dirty="0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="" xmlns:p14="http://schemas.microsoft.com/office/powerpoint/2010/main" val="81148383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A1D12B-5537-41E2-B1C0-3B9743C156B7}" type="datetime1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8/20/2014</a:t>
            </a:fld>
            <a:endParaRPr lang="en-US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2C5A87-65DC-41FD-9E53-7EAC48455B9A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 dirty="0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="" xmlns:p14="http://schemas.microsoft.com/office/powerpoint/2010/main" val="11065670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037FD43-1F1D-4F61-B8D4-BFDD1C5239B4}" type="datetime1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8/20/2014</a:t>
            </a:fld>
            <a:endParaRPr lang="en-US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22C5A87-65DC-41FD-9E53-7EAC48455B9A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 dirty="0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="" xmlns:p14="http://schemas.microsoft.com/office/powerpoint/2010/main" val="409617960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hf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8.png"/><Relationship Id="rId3" Type="http://schemas.openxmlformats.org/officeDocument/2006/relationships/image" Target="../media/image3.jpeg"/><Relationship Id="rId7" Type="http://schemas.openxmlformats.org/officeDocument/2006/relationships/image" Target="../media/image7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6.png"/><Relationship Id="rId5" Type="http://schemas.openxmlformats.org/officeDocument/2006/relationships/image" Target="../media/image5.png"/><Relationship Id="rId4" Type="http://schemas.openxmlformats.org/officeDocument/2006/relationships/image" Target="../media/image4.png"/><Relationship Id="rId9" Type="http://schemas.openxmlformats.org/officeDocument/2006/relationships/image" Target="../media/image9.png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8.png"/><Relationship Id="rId3" Type="http://schemas.openxmlformats.org/officeDocument/2006/relationships/image" Target="../media/image3.jpeg"/><Relationship Id="rId7" Type="http://schemas.openxmlformats.org/officeDocument/2006/relationships/image" Target="../media/image7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6.png"/><Relationship Id="rId5" Type="http://schemas.openxmlformats.org/officeDocument/2006/relationships/image" Target="../media/image5.png"/><Relationship Id="rId10" Type="http://schemas.openxmlformats.org/officeDocument/2006/relationships/image" Target="../media/image10.png"/><Relationship Id="rId4" Type="http://schemas.openxmlformats.org/officeDocument/2006/relationships/image" Target="../media/image4.png"/><Relationship Id="rId9" Type="http://schemas.openxmlformats.org/officeDocument/2006/relationships/image" Target="../media/image9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7" Type="http://schemas.openxmlformats.org/officeDocument/2006/relationships/image" Target="../media/image11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0.png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2.png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11.png"/><Relationship Id="rId3" Type="http://schemas.openxmlformats.org/officeDocument/2006/relationships/image" Target="../media/image4.png"/><Relationship Id="rId7" Type="http://schemas.openxmlformats.org/officeDocument/2006/relationships/image" Target="../media/image10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4.png"/><Relationship Id="rId5" Type="http://schemas.openxmlformats.org/officeDocument/2006/relationships/image" Target="../media/image13.png"/><Relationship Id="rId4" Type="http://schemas.openxmlformats.org/officeDocument/2006/relationships/image" Target="../media/image5.png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image" Target="../media/image16.png"/><Relationship Id="rId3" Type="http://schemas.openxmlformats.org/officeDocument/2006/relationships/image" Target="../media/image7.png"/><Relationship Id="rId7" Type="http://schemas.openxmlformats.org/officeDocument/2006/relationships/image" Target="../media/image15.png"/><Relationship Id="rId12" Type="http://schemas.openxmlformats.org/officeDocument/2006/relationships/image" Target="../media/image20.wmf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9.png"/><Relationship Id="rId11" Type="http://schemas.openxmlformats.org/officeDocument/2006/relationships/image" Target="../media/image19.png"/><Relationship Id="rId5" Type="http://schemas.openxmlformats.org/officeDocument/2006/relationships/image" Target="../media/image5.png"/><Relationship Id="rId10" Type="http://schemas.openxmlformats.org/officeDocument/2006/relationships/image" Target="../media/image18.wmf"/><Relationship Id="rId4" Type="http://schemas.openxmlformats.org/officeDocument/2006/relationships/image" Target="../media/image4.png"/><Relationship Id="rId9" Type="http://schemas.openxmlformats.org/officeDocument/2006/relationships/image" Target="../media/image17.wmf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1.png"/><Relationship Id="rId5" Type="http://schemas.openxmlformats.org/officeDocument/2006/relationships/image" Target="../media/image23.png"/><Relationship Id="rId4" Type="http://schemas.openxmlformats.org/officeDocument/2006/relationships/image" Target="../media/image10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5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1.png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8" Type="http://schemas.openxmlformats.org/officeDocument/2006/relationships/image" Target="../media/image31.png"/><Relationship Id="rId3" Type="http://schemas.openxmlformats.org/officeDocument/2006/relationships/image" Target="../media/image26.png"/><Relationship Id="rId7" Type="http://schemas.openxmlformats.org/officeDocument/2006/relationships/image" Target="../media/image30.wmf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9.png"/><Relationship Id="rId5" Type="http://schemas.openxmlformats.org/officeDocument/2006/relationships/image" Target="../media/image28.png"/><Relationship Id="rId4" Type="http://schemas.openxmlformats.org/officeDocument/2006/relationships/image" Target="../media/image27.pn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.png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3.png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.xml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2.xml"/><Relationship Id="rId4" Type="http://schemas.openxmlformats.org/officeDocument/2006/relationships/chart" Target="../charts/chart2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4.pn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24.xml.rels><?xml version="1.0" encoding="UTF-8" standalone="yes"?>
<Relationships xmlns="http://schemas.openxmlformats.org/package/2006/relationships"><Relationship Id="rId8" Type="http://schemas.openxmlformats.org/officeDocument/2006/relationships/slide" Target="slide31.xml"/><Relationship Id="rId3" Type="http://schemas.openxmlformats.org/officeDocument/2006/relationships/slide" Target="slide26.xml"/><Relationship Id="rId7" Type="http://schemas.openxmlformats.org/officeDocument/2006/relationships/slide" Target="slide30.xml"/><Relationship Id="rId2" Type="http://schemas.openxmlformats.org/officeDocument/2006/relationships/slide" Target="slide25.xml"/><Relationship Id="rId1" Type="http://schemas.openxmlformats.org/officeDocument/2006/relationships/slideLayout" Target="../slideLayouts/slideLayout2.xml"/><Relationship Id="rId6" Type="http://schemas.openxmlformats.org/officeDocument/2006/relationships/slide" Target="slide29.xml"/><Relationship Id="rId5" Type="http://schemas.openxmlformats.org/officeDocument/2006/relationships/slide" Target="slide28.xml"/><Relationship Id="rId4" Type="http://schemas.openxmlformats.org/officeDocument/2006/relationships/slide" Target="slide27.xml"/><Relationship Id="rId9" Type="http://schemas.openxmlformats.org/officeDocument/2006/relationships/slide" Target="slide32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2.xml"/><Relationship Id="rId5" Type="http://schemas.openxmlformats.org/officeDocument/2006/relationships/slide" Target="slide24.xml"/><Relationship Id="rId4" Type="http://schemas.openxmlformats.org/officeDocument/2006/relationships/image" Target="../media/image5.png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slide" Target="slide24.xml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2.xml"/><Relationship Id="rId4" Type="http://schemas.openxmlformats.org/officeDocument/2006/relationships/slide" Target="slide24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slide" Target="slide24.xml"/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2.xml"/><Relationship Id="rId5" Type="http://schemas.openxmlformats.org/officeDocument/2006/relationships/slide" Target="slide24.xml"/><Relationship Id="rId4" Type="http://schemas.openxmlformats.org/officeDocument/2006/relationships/image" Target="../media/image10.png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slide" Target="slide24.xml"/><Relationship Id="rId2" Type="http://schemas.openxmlformats.org/officeDocument/2006/relationships/image" Target="../media/image35.png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slide" Target="slide24.xml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slide" Target="slide24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5" descr="C:\Users\agember\Pictures\sdmbn_overview.png"/>
          <p:cNvPicPr>
            <a:picLocks noChangeAspect="1" noChangeArrowheads="1"/>
          </p:cNvPicPr>
          <p:nvPr/>
        </p:nvPicPr>
        <p:blipFill>
          <a:blip r:embed="rId3" cstate="print"/>
          <a:srcRect b="5000"/>
          <a:stretch>
            <a:fillRect/>
          </a:stretch>
        </p:blipFill>
        <p:spPr bwMode="auto">
          <a:xfrm>
            <a:off x="2671751" y="533400"/>
            <a:ext cx="3800499" cy="1447800"/>
          </a:xfrm>
          <a:prstGeom prst="rect">
            <a:avLst/>
          </a:prstGeom>
          <a:noFill/>
          <a:effectLst>
            <a:reflection blurRad="6350" stA="50000" endA="300" endPos="38500" dist="50800" dir="5400000" sy="-100000" algn="bl" rotWithShape="0"/>
          </a:effectLst>
        </p:spPr>
      </p:pic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133600" y="4724400"/>
            <a:ext cx="6858000" cy="1600200"/>
          </a:xfrm>
        </p:spPr>
        <p:txBody>
          <a:bodyPr>
            <a:normAutofit/>
          </a:bodyPr>
          <a:lstStyle/>
          <a:p>
            <a:r>
              <a:rPr lang="en-US" sz="2800" b="1" u="sng" dirty="0" smtClean="0"/>
              <a:t>Aaron </a:t>
            </a:r>
            <a:r>
              <a:rPr lang="en-US" sz="2800" b="1" u="sng" dirty="0" err="1" smtClean="0"/>
              <a:t>Gember</a:t>
            </a:r>
            <a:r>
              <a:rPr lang="en-US" sz="2800" b="1" u="sng" dirty="0" smtClean="0"/>
              <a:t>-Jacobson</a:t>
            </a:r>
            <a:r>
              <a:rPr lang="en-US" sz="2800" dirty="0" smtClean="0"/>
              <a:t>, </a:t>
            </a:r>
            <a:r>
              <a:rPr lang="en-US" sz="2800" dirty="0" err="1"/>
              <a:t>Chaithan</a:t>
            </a:r>
            <a:r>
              <a:rPr lang="en-US" sz="2800" dirty="0"/>
              <a:t> </a:t>
            </a:r>
            <a:r>
              <a:rPr lang="en-US" sz="2800" dirty="0" err="1" smtClean="0"/>
              <a:t>Prakash</a:t>
            </a:r>
            <a:r>
              <a:rPr lang="en-US" sz="2800" dirty="0" smtClean="0"/>
              <a:t>, </a:t>
            </a:r>
            <a:br>
              <a:rPr lang="en-US" sz="2800" dirty="0" smtClean="0"/>
            </a:br>
            <a:r>
              <a:rPr lang="en-US" sz="2800" dirty="0" err="1" smtClean="0"/>
              <a:t>Raajay</a:t>
            </a:r>
            <a:r>
              <a:rPr lang="en-US" sz="2800" dirty="0" smtClean="0"/>
              <a:t> </a:t>
            </a:r>
            <a:r>
              <a:rPr lang="en-US" sz="2800" dirty="0" err="1" smtClean="0"/>
              <a:t>Viswanathan</a:t>
            </a:r>
            <a:r>
              <a:rPr lang="en-US" sz="2800" dirty="0" smtClean="0"/>
              <a:t>, Robert </a:t>
            </a:r>
            <a:r>
              <a:rPr lang="en-US" sz="2800" dirty="0" err="1" smtClean="0"/>
              <a:t>Grandl</a:t>
            </a:r>
            <a:r>
              <a:rPr lang="en-US" sz="2800" dirty="0" smtClean="0"/>
              <a:t>, </a:t>
            </a:r>
            <a:br>
              <a:rPr lang="en-US" sz="2800" dirty="0" smtClean="0"/>
            </a:br>
            <a:r>
              <a:rPr lang="en-US" sz="2800" dirty="0" err="1" smtClean="0"/>
              <a:t>Junaid</a:t>
            </a:r>
            <a:r>
              <a:rPr lang="en-US" sz="2800" dirty="0" smtClean="0"/>
              <a:t> Khalid, </a:t>
            </a:r>
            <a:r>
              <a:rPr lang="en-US" sz="2800" dirty="0" err="1" smtClean="0"/>
              <a:t>Sourav</a:t>
            </a:r>
            <a:r>
              <a:rPr lang="en-US" sz="2800" dirty="0" smtClean="0"/>
              <a:t> Das, </a:t>
            </a:r>
            <a:r>
              <a:rPr lang="en-US" sz="2800" dirty="0" err="1" smtClean="0"/>
              <a:t>Aditya</a:t>
            </a:r>
            <a:r>
              <a:rPr lang="en-US" sz="2800" dirty="0" smtClean="0"/>
              <a:t> </a:t>
            </a:r>
            <a:r>
              <a:rPr lang="en-US" sz="2800" dirty="0" err="1" smtClean="0"/>
              <a:t>Akella</a:t>
            </a:r>
            <a:endParaRPr lang="en-US" sz="2800" dirty="0" smtClean="0"/>
          </a:p>
        </p:txBody>
      </p:sp>
      <p:sp>
        <p:nvSpPr>
          <p:cNvPr id="17" name="Slide Number Placeholder 1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2C5A87-65DC-41FD-9E53-7EAC48455B9A}" type="slidenum">
              <a:rPr lang="en-US" smtClean="0">
                <a:solidFill>
                  <a:prstClr val="white">
                    <a:tint val="75000"/>
                  </a:prstClr>
                </a:solidFill>
              </a:rPr>
              <a:pPr/>
              <a:t>1</a:t>
            </a:fld>
            <a:endParaRPr lang="en-US" dirty="0">
              <a:solidFill>
                <a:prstClr val="white">
                  <a:tint val="75000"/>
                </a:prstClr>
              </a:solidFill>
            </a:endParaRPr>
          </a:p>
        </p:txBody>
      </p:sp>
      <p:sp>
        <p:nvSpPr>
          <p:cNvPr id="46" name="Rectangle 45"/>
          <p:cNvSpPr/>
          <p:nvPr/>
        </p:nvSpPr>
        <p:spPr>
          <a:xfrm>
            <a:off x="-304800" y="2514600"/>
            <a:ext cx="9677400" cy="1828800"/>
          </a:xfrm>
          <a:prstGeom prst="rect">
            <a:avLst/>
          </a:prstGeom>
          <a:gradFill flip="none" rotWithShape="1">
            <a:gsLst>
              <a:gs pos="0">
                <a:sysClr val="window" lastClr="FFFFFF">
                  <a:lumMod val="85000"/>
                </a:sysClr>
              </a:gs>
              <a:gs pos="100000">
                <a:sysClr val="window" lastClr="FFFFFF">
                  <a:lumMod val="65000"/>
                </a:sysClr>
              </a:gs>
            </a:gsLst>
            <a:lin ang="5400000" scaled="0"/>
            <a:tileRect/>
          </a:gradFill>
          <a:ln w="25400" cap="flat" cmpd="sng" algn="ctr">
            <a:solidFill>
              <a:sysClr val="windowText" lastClr="000000">
                <a:lumMod val="95000"/>
                <a:lumOff val="5000"/>
              </a:sysClr>
            </a:solidFill>
            <a:prstDash val="solid"/>
          </a:ln>
          <a:effectLst/>
        </p:spPr>
        <p:txBody>
          <a:bodyPr rtlCol="0" anchor="ctr"/>
          <a:lstStyle/>
          <a:p>
            <a:pPr algn="ctr">
              <a:defRPr/>
            </a:pPr>
            <a:endParaRPr lang="en-US" kern="0">
              <a:solidFill>
                <a:sysClr val="window" lastClr="FFFFFF"/>
              </a:solidFill>
            </a:endParaRPr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457200" y="2667000"/>
            <a:ext cx="8229600" cy="1524000"/>
          </a:xfrm>
        </p:spPr>
        <p:txBody>
          <a:bodyPr>
            <a:noAutofit/>
          </a:bodyPr>
          <a:lstStyle/>
          <a:p>
            <a:r>
              <a:rPr lang="en-US" sz="4800" b="1" dirty="0" err="1" smtClean="0">
                <a:solidFill>
                  <a:schemeClr val="accent6">
                    <a:lumMod val="75000"/>
                  </a:schemeClr>
                </a:solidFill>
              </a:rPr>
              <a:t>OpenNF</a:t>
            </a:r>
            <a:r>
              <a:rPr lang="en-US" sz="4800" b="1" dirty="0" smtClean="0">
                <a:solidFill>
                  <a:schemeClr val="accent6">
                    <a:lumMod val="75000"/>
                  </a:schemeClr>
                </a:solidFill>
              </a:rPr>
              <a:t>: Enabling Innovation in Network Function Control</a:t>
            </a:r>
            <a:endParaRPr lang="en-US" sz="4800" b="1" dirty="0">
              <a:solidFill>
                <a:schemeClr val="accent6">
                  <a:lumMod val="75000"/>
                </a:schemeClr>
              </a:solidFill>
            </a:endParaRPr>
          </a:p>
        </p:txBody>
      </p:sp>
      <p:pic>
        <p:nvPicPr>
          <p:cNvPr id="47" name="Picture 46" descr="uwlogo_web_sm_ctr_wht.png"/>
          <p:cNvPicPr>
            <a:picLocks noChangeAspect="1"/>
          </p:cNvPicPr>
          <p:nvPr/>
        </p:nvPicPr>
        <p:blipFill>
          <a:blip r:embed="rId4" cstate="print"/>
          <a:stretch>
            <a:fillRect/>
          </a:stretch>
        </p:blipFill>
        <p:spPr>
          <a:xfrm>
            <a:off x="304800" y="4648200"/>
            <a:ext cx="2095121" cy="1401373"/>
          </a:xfrm>
          <a:prstGeom prst="rect">
            <a:avLst/>
          </a:prstGeom>
        </p:spPr>
      </p:pic>
    </p:spTree>
  </p:cSld>
  <p:clrMapOvr>
    <a:overrideClrMapping bg1="dk1" tx1="lt1" bg2="dk2" tx2="lt2" accent1="accent1" accent2="accent2" accent3="accent3" accent4="accent4" accent5="accent5" accent6="accent6" hlink="hlink" folHlink="folHlink"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Network functions (NFs)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spcBef>
                <a:spcPts val="1800"/>
              </a:spcBef>
            </a:pPr>
            <a:r>
              <a:rPr lang="en-US" dirty="0" smtClean="0"/>
              <a:t>Perform sophisticated </a:t>
            </a:r>
            <a:r>
              <a:rPr lang="en-US" i="1" dirty="0" err="1" smtClean="0"/>
              <a:t>stateful</a:t>
            </a:r>
            <a:r>
              <a:rPr lang="en-US" dirty="0" smtClean="0"/>
              <a:t> </a:t>
            </a:r>
            <a:br>
              <a:rPr lang="en-US" dirty="0" smtClean="0"/>
            </a:br>
            <a:r>
              <a:rPr lang="en-US" dirty="0" smtClean="0"/>
              <a:t>actions on packets/flows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2C5A87-65DC-41FD-9E53-7EAC48455B9A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2</a:t>
            </a:fld>
            <a:endParaRPr lang="en-US" dirty="0">
              <a:solidFill>
                <a:prstClr val="black">
                  <a:tint val="75000"/>
                </a:prstClr>
              </a:solidFill>
            </a:endParaRPr>
          </a:p>
        </p:txBody>
      </p:sp>
      <p:grpSp>
        <p:nvGrpSpPr>
          <p:cNvPr id="51" name="Group 50"/>
          <p:cNvGrpSpPr/>
          <p:nvPr/>
        </p:nvGrpSpPr>
        <p:grpSpPr>
          <a:xfrm>
            <a:off x="4191000" y="4757057"/>
            <a:ext cx="4680363" cy="1415143"/>
            <a:chOff x="4191000" y="4757057"/>
            <a:chExt cx="4680363" cy="1415143"/>
          </a:xfrm>
        </p:grpSpPr>
        <p:grpSp>
          <p:nvGrpSpPr>
            <p:cNvPr id="48" name="Group 47"/>
            <p:cNvGrpSpPr/>
            <p:nvPr/>
          </p:nvGrpSpPr>
          <p:grpSpPr>
            <a:xfrm>
              <a:off x="4191000" y="4757057"/>
              <a:ext cx="3581400" cy="1415143"/>
              <a:chOff x="4800600" y="4757057"/>
              <a:chExt cx="3581400" cy="1415143"/>
            </a:xfrm>
          </p:grpSpPr>
          <p:pic>
            <p:nvPicPr>
              <p:cNvPr id="23" name="Picture 22" descr="f5_appliance.jpg"/>
              <p:cNvPicPr>
                <a:picLocks noChangeAspect="1"/>
              </p:cNvPicPr>
              <p:nvPr/>
            </p:nvPicPr>
            <p:blipFill>
              <a:blip r:embed="rId3" cstate="print"/>
              <a:srcRect b="15529"/>
              <a:stretch>
                <a:fillRect/>
              </a:stretch>
            </p:blipFill>
            <p:spPr>
              <a:xfrm>
                <a:off x="4800600" y="4757057"/>
                <a:ext cx="3581400" cy="1415143"/>
              </a:xfrm>
              <a:prstGeom prst="rect">
                <a:avLst/>
              </a:prstGeom>
            </p:spPr>
          </p:pic>
          <p:grpSp>
            <p:nvGrpSpPr>
              <p:cNvPr id="34" name="Group 23"/>
              <p:cNvGrpSpPr/>
              <p:nvPr/>
            </p:nvGrpSpPr>
            <p:grpSpPr>
              <a:xfrm>
                <a:off x="7162800" y="5533698"/>
                <a:ext cx="647705" cy="609600"/>
                <a:chOff x="609600" y="1652131"/>
                <a:chExt cx="359837" cy="338667"/>
              </a:xfrm>
            </p:grpSpPr>
            <p:pic>
              <p:nvPicPr>
                <p:cNvPr id="35" name="Picture 34" descr="magnifying_glass.png"/>
                <p:cNvPicPr>
                  <a:picLocks noChangeAspect="1"/>
                </p:cNvPicPr>
                <p:nvPr/>
              </p:nvPicPr>
              <p:blipFill>
                <a:blip r:embed="rId4" cstate="print"/>
                <a:stretch>
                  <a:fillRect/>
                </a:stretch>
              </p:blipFill>
              <p:spPr>
                <a:xfrm>
                  <a:off x="630769" y="1652131"/>
                  <a:ext cx="338668" cy="338667"/>
                </a:xfrm>
                <a:prstGeom prst="rect">
                  <a:avLst/>
                </a:prstGeom>
                <a:effectLst>
                  <a:outerShdw blurRad="63500" sx="102000" sy="102000" algn="ctr" rotWithShape="0">
                    <a:prstClr val="black">
                      <a:alpha val="40000"/>
                    </a:prstClr>
                  </a:outerShdw>
                </a:effectLst>
              </p:spPr>
            </p:pic>
            <p:pic>
              <p:nvPicPr>
                <p:cNvPr id="36" name="Picture 2" descr="C:\Users\agember\AppData\Local\Microsoft\Windows\Temporary Internet Files\Content.IE5\2DGPU1UI\MC900431599[1].png"/>
                <p:cNvPicPr>
                  <a:picLocks noChangeAspect="1" noChangeArrowheads="1"/>
                </p:cNvPicPr>
                <p:nvPr/>
              </p:nvPicPr>
              <p:blipFill>
                <a:blip r:embed="rId5" cstate="print"/>
                <a:srcRect/>
                <a:stretch>
                  <a:fillRect/>
                </a:stretch>
              </p:blipFill>
              <p:spPr bwMode="auto">
                <a:xfrm>
                  <a:off x="609600" y="1752600"/>
                  <a:ext cx="238125" cy="238125"/>
                </a:xfrm>
                <a:prstGeom prst="rect">
                  <a:avLst/>
                </a:prstGeom>
                <a:noFill/>
              </p:spPr>
            </p:pic>
          </p:grpSp>
        </p:grpSp>
        <p:sp>
          <p:nvSpPr>
            <p:cNvPr id="37" name="TextBox 36"/>
            <p:cNvSpPr txBox="1"/>
            <p:nvPr/>
          </p:nvSpPr>
          <p:spPr>
            <a:xfrm>
              <a:off x="7637884" y="5105400"/>
              <a:ext cx="1233479" cy="83099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sz="1600" b="1" dirty="0" smtClean="0"/>
                <a:t>Intrusion</a:t>
              </a:r>
              <a:br>
                <a:rPr lang="en-US" sz="1600" b="1" dirty="0" smtClean="0"/>
              </a:br>
              <a:r>
                <a:rPr lang="en-US" sz="1600" b="1" dirty="0" smtClean="0"/>
                <a:t>detection</a:t>
              </a:r>
            </a:p>
            <a:p>
              <a:pPr algn="ctr"/>
              <a:r>
                <a:rPr lang="en-US" sz="1600" b="1" dirty="0" smtClean="0"/>
                <a:t>system (IDS)</a:t>
              </a:r>
              <a:endParaRPr lang="en-US" sz="1600" b="1" dirty="0"/>
            </a:p>
          </p:txBody>
        </p:sp>
      </p:grpSp>
      <p:grpSp>
        <p:nvGrpSpPr>
          <p:cNvPr id="50" name="Group 49"/>
          <p:cNvGrpSpPr/>
          <p:nvPr/>
        </p:nvGrpSpPr>
        <p:grpSpPr>
          <a:xfrm>
            <a:off x="4495800" y="4038600"/>
            <a:ext cx="4280515" cy="1001338"/>
            <a:chOff x="4495800" y="4038600"/>
            <a:chExt cx="4280515" cy="1001338"/>
          </a:xfrm>
        </p:grpSpPr>
        <p:sp>
          <p:nvSpPr>
            <p:cNvPr id="42" name="TextBox 41"/>
            <p:cNvSpPr txBox="1"/>
            <p:nvPr/>
          </p:nvSpPr>
          <p:spPr>
            <a:xfrm>
              <a:off x="7924800" y="4191000"/>
              <a:ext cx="851515" cy="584776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sz="1600" b="1" dirty="0" smtClean="0"/>
                <a:t>Caching</a:t>
              </a:r>
              <a:br>
                <a:rPr lang="en-US" sz="1600" b="1" dirty="0" smtClean="0"/>
              </a:br>
              <a:r>
                <a:rPr lang="en-US" sz="1600" b="1" dirty="0" smtClean="0"/>
                <a:t>proxy</a:t>
              </a:r>
              <a:endParaRPr lang="en-US" sz="1600" b="1" dirty="0"/>
            </a:p>
          </p:txBody>
        </p:sp>
        <p:grpSp>
          <p:nvGrpSpPr>
            <p:cNvPr id="47" name="Group 46"/>
            <p:cNvGrpSpPr/>
            <p:nvPr/>
          </p:nvGrpSpPr>
          <p:grpSpPr>
            <a:xfrm>
              <a:off x="4495800" y="4038600"/>
              <a:ext cx="3429000" cy="1001338"/>
              <a:chOff x="990600" y="3581400"/>
              <a:chExt cx="3429000" cy="1001338"/>
            </a:xfrm>
          </p:grpSpPr>
          <p:pic>
            <p:nvPicPr>
              <p:cNvPr id="40" name="Picture 39" descr="bluecoat_proxy.png"/>
              <p:cNvPicPr>
                <a:picLocks noChangeAspect="1"/>
              </p:cNvPicPr>
              <p:nvPr/>
            </p:nvPicPr>
            <p:blipFill>
              <a:blip r:embed="rId6" cstate="print"/>
              <a:stretch>
                <a:fillRect/>
              </a:stretch>
            </p:blipFill>
            <p:spPr>
              <a:xfrm>
                <a:off x="990600" y="3581400"/>
                <a:ext cx="3429000" cy="1001338"/>
              </a:xfrm>
              <a:prstGeom prst="rect">
                <a:avLst/>
              </a:prstGeom>
            </p:spPr>
          </p:pic>
          <p:pic>
            <p:nvPicPr>
              <p:cNvPr id="45" name="Picture 44" descr="globe_gear.png"/>
              <p:cNvPicPr>
                <a:picLocks noChangeAspect="1"/>
              </p:cNvPicPr>
              <p:nvPr/>
            </p:nvPicPr>
            <p:blipFill>
              <a:blip r:embed="rId7" cstate="print"/>
              <a:stretch>
                <a:fillRect/>
              </a:stretch>
            </p:blipFill>
            <p:spPr>
              <a:xfrm>
                <a:off x="3810000" y="3886200"/>
                <a:ext cx="457200" cy="457200"/>
              </a:xfrm>
              <a:prstGeom prst="rect">
                <a:avLst/>
              </a:prstGeom>
            </p:spPr>
          </p:pic>
        </p:grpSp>
      </p:grpSp>
      <p:grpSp>
        <p:nvGrpSpPr>
          <p:cNvPr id="49" name="Group 48"/>
          <p:cNvGrpSpPr/>
          <p:nvPr/>
        </p:nvGrpSpPr>
        <p:grpSpPr>
          <a:xfrm>
            <a:off x="4451282" y="3124200"/>
            <a:ext cx="4387918" cy="912958"/>
            <a:chOff x="4451282" y="3124200"/>
            <a:chExt cx="4387918" cy="912958"/>
          </a:xfrm>
        </p:grpSpPr>
        <p:sp>
          <p:nvSpPr>
            <p:cNvPr id="27" name="TextBox 26"/>
            <p:cNvSpPr txBox="1"/>
            <p:nvPr/>
          </p:nvSpPr>
          <p:spPr>
            <a:xfrm>
              <a:off x="7842713" y="3124200"/>
              <a:ext cx="996487" cy="584776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sz="1600" b="1" dirty="0" smtClean="0"/>
                <a:t>WAN</a:t>
              </a:r>
              <a:br>
                <a:rPr lang="en-US" sz="1600" b="1" dirty="0" smtClean="0"/>
              </a:br>
              <a:r>
                <a:rPr lang="en-US" sz="1600" b="1" dirty="0" smtClean="0"/>
                <a:t>optimizer</a:t>
              </a:r>
              <a:endParaRPr lang="en-US" sz="1600" b="1" dirty="0"/>
            </a:p>
          </p:txBody>
        </p:sp>
        <p:grpSp>
          <p:nvGrpSpPr>
            <p:cNvPr id="46" name="Group 45"/>
            <p:cNvGrpSpPr/>
            <p:nvPr/>
          </p:nvGrpSpPr>
          <p:grpSpPr>
            <a:xfrm>
              <a:off x="4451282" y="3124200"/>
              <a:ext cx="3473518" cy="912958"/>
              <a:chOff x="5029200" y="4223658"/>
              <a:chExt cx="3473518" cy="912958"/>
            </a:xfrm>
          </p:grpSpPr>
          <p:pic>
            <p:nvPicPr>
              <p:cNvPr id="24" name="Picture 23" descr="steelhead_appliance.png"/>
              <p:cNvPicPr>
                <a:picLocks noChangeAspect="1"/>
              </p:cNvPicPr>
              <p:nvPr/>
            </p:nvPicPr>
            <p:blipFill>
              <a:blip r:embed="rId8" cstate="print"/>
              <a:stretch>
                <a:fillRect/>
              </a:stretch>
            </p:blipFill>
            <p:spPr>
              <a:xfrm>
                <a:off x="5029200" y="4223658"/>
                <a:ext cx="3473518" cy="912958"/>
              </a:xfrm>
              <a:prstGeom prst="rect">
                <a:avLst/>
              </a:prstGeom>
            </p:spPr>
          </p:pic>
          <p:pic>
            <p:nvPicPr>
              <p:cNvPr id="29" name="Picture 7" descr="C:\Users\agember\AppData\Local\Microsoft\Windows\Temporary Internet Files\Content.IE5\QZT0K7D8\MC900434719[1].png"/>
              <p:cNvPicPr>
                <a:picLocks noChangeAspect="1" noChangeArrowheads="1"/>
              </p:cNvPicPr>
              <p:nvPr/>
            </p:nvPicPr>
            <p:blipFill>
              <a:blip r:embed="rId9" cstate="print"/>
              <a:srcRect/>
              <a:stretch>
                <a:fillRect/>
              </a:stretch>
            </p:blipFill>
            <p:spPr bwMode="auto">
              <a:xfrm rot="20098674">
                <a:off x="7311007" y="4372109"/>
                <a:ext cx="752954" cy="752954"/>
              </a:xfrm>
              <a:prstGeom prst="rect">
                <a:avLst/>
              </a:prstGeom>
              <a:noFill/>
            </p:spPr>
          </p:pic>
        </p:grpSp>
      </p:grp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NF trends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447800"/>
            <a:ext cx="8229600" cy="4678363"/>
          </a:xfrm>
        </p:spPr>
        <p:txBody>
          <a:bodyPr/>
          <a:lstStyle/>
          <a:p>
            <a:pPr>
              <a:spcBef>
                <a:spcPts val="768"/>
              </a:spcBef>
            </a:pPr>
            <a:r>
              <a:rPr lang="en-US" dirty="0" smtClean="0"/>
              <a:t>NFV → dynamically allocate NF instances</a:t>
            </a:r>
            <a:br>
              <a:rPr lang="en-US" dirty="0" smtClean="0"/>
            </a:br>
            <a:endParaRPr lang="en-US" dirty="0" smtClean="0"/>
          </a:p>
          <a:p>
            <a:pPr>
              <a:spcBef>
                <a:spcPts val="768"/>
              </a:spcBef>
            </a:pPr>
            <a:r>
              <a:rPr lang="en-US" dirty="0" smtClean="0"/>
              <a:t>SDN → dynamically reroute flows</a:t>
            </a:r>
            <a:br>
              <a:rPr lang="en-US" dirty="0" smtClean="0"/>
            </a:br>
            <a:endParaRPr lang="en-US" dirty="0" smtClean="0"/>
          </a:p>
          <a:p>
            <a:pPr>
              <a:spcBef>
                <a:spcPts val="768"/>
              </a:spcBef>
              <a:buNone/>
            </a:pPr>
            <a:r>
              <a:rPr lang="en-US" dirty="0" smtClean="0"/>
              <a:t>	Dynamic reallocation </a:t>
            </a:r>
            <a:br>
              <a:rPr lang="en-US" dirty="0" smtClean="0"/>
            </a:br>
            <a:r>
              <a:rPr lang="en-US" dirty="0" smtClean="0"/>
              <a:t>of packet processing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2C5A87-65DC-41FD-9E53-7EAC48455B9A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3</a:t>
            </a:fld>
            <a:endParaRPr lang="en-US" dirty="0">
              <a:solidFill>
                <a:prstClr val="black">
                  <a:tint val="75000"/>
                </a:prstClr>
              </a:solidFill>
            </a:endParaRPr>
          </a:p>
        </p:txBody>
      </p:sp>
      <p:grpSp>
        <p:nvGrpSpPr>
          <p:cNvPr id="5" name="Group 50"/>
          <p:cNvGrpSpPr/>
          <p:nvPr/>
        </p:nvGrpSpPr>
        <p:grpSpPr>
          <a:xfrm>
            <a:off x="4191000" y="4757057"/>
            <a:ext cx="4680362" cy="1415143"/>
            <a:chOff x="4191000" y="4757057"/>
            <a:chExt cx="4680362" cy="1415143"/>
          </a:xfrm>
        </p:grpSpPr>
        <p:grpSp>
          <p:nvGrpSpPr>
            <p:cNvPr id="6" name="Group 47"/>
            <p:cNvGrpSpPr/>
            <p:nvPr/>
          </p:nvGrpSpPr>
          <p:grpSpPr>
            <a:xfrm>
              <a:off x="4191000" y="4757057"/>
              <a:ext cx="3581400" cy="1415143"/>
              <a:chOff x="4800600" y="4757057"/>
              <a:chExt cx="3581400" cy="1415143"/>
            </a:xfrm>
          </p:grpSpPr>
          <p:pic>
            <p:nvPicPr>
              <p:cNvPr id="23" name="Picture 22" descr="f5_appliance.jpg"/>
              <p:cNvPicPr>
                <a:picLocks noChangeAspect="1"/>
              </p:cNvPicPr>
              <p:nvPr/>
            </p:nvPicPr>
            <p:blipFill>
              <a:blip r:embed="rId3" cstate="print"/>
              <a:srcRect b="15529"/>
              <a:stretch>
                <a:fillRect/>
              </a:stretch>
            </p:blipFill>
            <p:spPr>
              <a:xfrm>
                <a:off x="4800600" y="4757057"/>
                <a:ext cx="3581400" cy="1415143"/>
              </a:xfrm>
              <a:prstGeom prst="rect">
                <a:avLst/>
              </a:prstGeom>
            </p:spPr>
          </p:pic>
          <p:grpSp>
            <p:nvGrpSpPr>
              <p:cNvPr id="7" name="Group 23"/>
              <p:cNvGrpSpPr/>
              <p:nvPr/>
            </p:nvGrpSpPr>
            <p:grpSpPr>
              <a:xfrm>
                <a:off x="7162800" y="5533698"/>
                <a:ext cx="647705" cy="609600"/>
                <a:chOff x="609600" y="1652131"/>
                <a:chExt cx="359837" cy="338667"/>
              </a:xfrm>
            </p:grpSpPr>
            <p:pic>
              <p:nvPicPr>
                <p:cNvPr id="35" name="Picture 34" descr="magnifying_glass.png"/>
                <p:cNvPicPr>
                  <a:picLocks noChangeAspect="1"/>
                </p:cNvPicPr>
                <p:nvPr/>
              </p:nvPicPr>
              <p:blipFill>
                <a:blip r:embed="rId4" cstate="print"/>
                <a:stretch>
                  <a:fillRect/>
                </a:stretch>
              </p:blipFill>
              <p:spPr>
                <a:xfrm>
                  <a:off x="630769" y="1652131"/>
                  <a:ext cx="338668" cy="338667"/>
                </a:xfrm>
                <a:prstGeom prst="rect">
                  <a:avLst/>
                </a:prstGeom>
                <a:effectLst>
                  <a:outerShdw blurRad="63500" sx="102000" sy="102000" algn="ctr" rotWithShape="0">
                    <a:prstClr val="black">
                      <a:alpha val="40000"/>
                    </a:prstClr>
                  </a:outerShdw>
                </a:effectLst>
              </p:spPr>
            </p:pic>
            <p:pic>
              <p:nvPicPr>
                <p:cNvPr id="36" name="Picture 2" descr="C:\Users\agember\AppData\Local\Microsoft\Windows\Temporary Internet Files\Content.IE5\2DGPU1UI\MC900431599[1].png"/>
                <p:cNvPicPr>
                  <a:picLocks noChangeAspect="1" noChangeArrowheads="1"/>
                </p:cNvPicPr>
                <p:nvPr/>
              </p:nvPicPr>
              <p:blipFill>
                <a:blip r:embed="rId5" cstate="print"/>
                <a:srcRect/>
                <a:stretch>
                  <a:fillRect/>
                </a:stretch>
              </p:blipFill>
              <p:spPr bwMode="auto">
                <a:xfrm>
                  <a:off x="609600" y="1752600"/>
                  <a:ext cx="238125" cy="238125"/>
                </a:xfrm>
                <a:prstGeom prst="rect">
                  <a:avLst/>
                </a:prstGeom>
                <a:noFill/>
              </p:spPr>
            </p:pic>
          </p:grpSp>
        </p:grpSp>
        <p:sp>
          <p:nvSpPr>
            <p:cNvPr id="37" name="TextBox 36"/>
            <p:cNvSpPr txBox="1"/>
            <p:nvPr/>
          </p:nvSpPr>
          <p:spPr>
            <a:xfrm>
              <a:off x="7637883" y="5105400"/>
              <a:ext cx="1233479" cy="83099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sz="1600" b="1" dirty="0" smtClean="0"/>
                <a:t>Intrusion</a:t>
              </a:r>
              <a:br>
                <a:rPr lang="en-US" sz="1600" b="1" dirty="0" smtClean="0"/>
              </a:br>
              <a:r>
                <a:rPr lang="en-US" sz="1600" b="1" dirty="0" smtClean="0"/>
                <a:t>detection</a:t>
              </a:r>
            </a:p>
            <a:p>
              <a:pPr algn="ctr"/>
              <a:r>
                <a:rPr lang="en-US" sz="1600" b="1" dirty="0" smtClean="0"/>
                <a:t>system (IDS)</a:t>
              </a:r>
              <a:endParaRPr lang="en-US" sz="1600" b="1" dirty="0"/>
            </a:p>
          </p:txBody>
        </p:sp>
      </p:grpSp>
      <p:grpSp>
        <p:nvGrpSpPr>
          <p:cNvPr id="8" name="Group 49"/>
          <p:cNvGrpSpPr/>
          <p:nvPr/>
        </p:nvGrpSpPr>
        <p:grpSpPr>
          <a:xfrm>
            <a:off x="4495800" y="4038600"/>
            <a:ext cx="4280515" cy="1001338"/>
            <a:chOff x="4495800" y="4038600"/>
            <a:chExt cx="4280515" cy="1001338"/>
          </a:xfrm>
        </p:grpSpPr>
        <p:sp>
          <p:nvSpPr>
            <p:cNvPr id="42" name="TextBox 41"/>
            <p:cNvSpPr txBox="1"/>
            <p:nvPr/>
          </p:nvSpPr>
          <p:spPr>
            <a:xfrm>
              <a:off x="7924800" y="4191000"/>
              <a:ext cx="851515" cy="584776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sz="1600" b="1" dirty="0" smtClean="0"/>
                <a:t>Caching</a:t>
              </a:r>
              <a:br>
                <a:rPr lang="en-US" sz="1600" b="1" dirty="0" smtClean="0"/>
              </a:br>
              <a:r>
                <a:rPr lang="en-US" sz="1600" b="1" dirty="0" smtClean="0"/>
                <a:t>proxy</a:t>
              </a:r>
              <a:endParaRPr lang="en-US" sz="1600" b="1" dirty="0"/>
            </a:p>
          </p:txBody>
        </p:sp>
        <p:grpSp>
          <p:nvGrpSpPr>
            <p:cNvPr id="9" name="Group 46"/>
            <p:cNvGrpSpPr/>
            <p:nvPr/>
          </p:nvGrpSpPr>
          <p:grpSpPr>
            <a:xfrm>
              <a:off x="4495800" y="4038600"/>
              <a:ext cx="3429000" cy="1001338"/>
              <a:chOff x="990600" y="3581400"/>
              <a:chExt cx="3429000" cy="1001338"/>
            </a:xfrm>
          </p:grpSpPr>
          <p:pic>
            <p:nvPicPr>
              <p:cNvPr id="40" name="Picture 39" descr="bluecoat_proxy.png"/>
              <p:cNvPicPr>
                <a:picLocks noChangeAspect="1"/>
              </p:cNvPicPr>
              <p:nvPr/>
            </p:nvPicPr>
            <p:blipFill>
              <a:blip r:embed="rId6" cstate="print"/>
              <a:stretch>
                <a:fillRect/>
              </a:stretch>
            </p:blipFill>
            <p:spPr>
              <a:xfrm>
                <a:off x="990600" y="3581400"/>
                <a:ext cx="3429000" cy="1001338"/>
              </a:xfrm>
              <a:prstGeom prst="rect">
                <a:avLst/>
              </a:prstGeom>
            </p:spPr>
          </p:pic>
          <p:pic>
            <p:nvPicPr>
              <p:cNvPr id="45" name="Picture 44" descr="globe_gear.png"/>
              <p:cNvPicPr>
                <a:picLocks noChangeAspect="1"/>
              </p:cNvPicPr>
              <p:nvPr/>
            </p:nvPicPr>
            <p:blipFill>
              <a:blip r:embed="rId7" cstate="print"/>
              <a:stretch>
                <a:fillRect/>
              </a:stretch>
            </p:blipFill>
            <p:spPr>
              <a:xfrm>
                <a:off x="3810000" y="3886200"/>
                <a:ext cx="457200" cy="457200"/>
              </a:xfrm>
              <a:prstGeom prst="rect">
                <a:avLst/>
              </a:prstGeom>
            </p:spPr>
          </p:pic>
        </p:grpSp>
      </p:grpSp>
      <p:grpSp>
        <p:nvGrpSpPr>
          <p:cNvPr id="10" name="Group 48"/>
          <p:cNvGrpSpPr/>
          <p:nvPr/>
        </p:nvGrpSpPr>
        <p:grpSpPr>
          <a:xfrm>
            <a:off x="4451282" y="3124200"/>
            <a:ext cx="4387918" cy="912958"/>
            <a:chOff x="4451282" y="3124200"/>
            <a:chExt cx="4387918" cy="912958"/>
          </a:xfrm>
        </p:grpSpPr>
        <p:sp>
          <p:nvSpPr>
            <p:cNvPr id="27" name="TextBox 26"/>
            <p:cNvSpPr txBox="1"/>
            <p:nvPr/>
          </p:nvSpPr>
          <p:spPr>
            <a:xfrm>
              <a:off x="7842713" y="3124200"/>
              <a:ext cx="996487" cy="584776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sz="1600" b="1" dirty="0" smtClean="0"/>
                <a:t>WAN</a:t>
              </a:r>
              <a:br>
                <a:rPr lang="en-US" sz="1600" b="1" dirty="0" smtClean="0"/>
              </a:br>
              <a:r>
                <a:rPr lang="en-US" sz="1600" b="1" dirty="0" smtClean="0"/>
                <a:t>optimizer</a:t>
              </a:r>
              <a:endParaRPr lang="en-US" sz="1600" b="1" dirty="0"/>
            </a:p>
          </p:txBody>
        </p:sp>
        <p:grpSp>
          <p:nvGrpSpPr>
            <p:cNvPr id="11" name="Group 45"/>
            <p:cNvGrpSpPr/>
            <p:nvPr/>
          </p:nvGrpSpPr>
          <p:grpSpPr>
            <a:xfrm>
              <a:off x="4451282" y="3124200"/>
              <a:ext cx="3473518" cy="912958"/>
              <a:chOff x="5029200" y="4223658"/>
              <a:chExt cx="3473518" cy="912958"/>
            </a:xfrm>
          </p:grpSpPr>
          <p:pic>
            <p:nvPicPr>
              <p:cNvPr id="24" name="Picture 23" descr="steelhead_appliance.png"/>
              <p:cNvPicPr>
                <a:picLocks noChangeAspect="1"/>
              </p:cNvPicPr>
              <p:nvPr/>
            </p:nvPicPr>
            <p:blipFill>
              <a:blip r:embed="rId8" cstate="print"/>
              <a:stretch>
                <a:fillRect/>
              </a:stretch>
            </p:blipFill>
            <p:spPr>
              <a:xfrm>
                <a:off x="5029200" y="4223658"/>
                <a:ext cx="3473518" cy="912958"/>
              </a:xfrm>
              <a:prstGeom prst="rect">
                <a:avLst/>
              </a:prstGeom>
            </p:spPr>
          </p:pic>
          <p:pic>
            <p:nvPicPr>
              <p:cNvPr id="29" name="Picture 7" descr="C:\Users\agember\AppData\Local\Microsoft\Windows\Temporary Internet Files\Content.IE5\QZT0K7D8\MC900434719[1].png"/>
              <p:cNvPicPr>
                <a:picLocks noChangeAspect="1" noChangeArrowheads="1"/>
              </p:cNvPicPr>
              <p:nvPr/>
            </p:nvPicPr>
            <p:blipFill>
              <a:blip r:embed="rId9" cstate="print"/>
              <a:srcRect/>
              <a:stretch>
                <a:fillRect/>
              </a:stretch>
            </p:blipFill>
            <p:spPr bwMode="auto">
              <a:xfrm rot="20098674">
                <a:off x="7311007" y="4372109"/>
                <a:ext cx="752954" cy="752954"/>
              </a:xfrm>
              <a:prstGeom prst="rect">
                <a:avLst/>
              </a:prstGeom>
              <a:noFill/>
            </p:spPr>
          </p:pic>
        </p:grpSp>
      </p:grpSp>
      <p:sp>
        <p:nvSpPr>
          <p:cNvPr id="52" name="Rounded Rectangle 51"/>
          <p:cNvSpPr/>
          <p:nvPr/>
        </p:nvSpPr>
        <p:spPr>
          <a:xfrm>
            <a:off x="4800600" y="4572000"/>
            <a:ext cx="2971800" cy="304800"/>
          </a:xfrm>
          <a:prstGeom prst="roundRect">
            <a:avLst/>
          </a:prstGeom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b="1" dirty="0" err="1" smtClean="0"/>
              <a:t>Xen</a:t>
            </a:r>
            <a:r>
              <a:rPr lang="en-US" b="1" dirty="0" smtClean="0"/>
              <a:t>/KVM</a:t>
            </a:r>
            <a:endParaRPr lang="en-US" b="1" dirty="0"/>
          </a:p>
        </p:txBody>
      </p:sp>
      <p:grpSp>
        <p:nvGrpSpPr>
          <p:cNvPr id="12" name="Group 28"/>
          <p:cNvGrpSpPr/>
          <p:nvPr/>
        </p:nvGrpSpPr>
        <p:grpSpPr>
          <a:xfrm>
            <a:off x="5550291" y="3797691"/>
            <a:ext cx="698109" cy="698109"/>
            <a:chOff x="1371600" y="3657600"/>
            <a:chExt cx="762000" cy="762000"/>
          </a:xfrm>
        </p:grpSpPr>
        <p:sp>
          <p:nvSpPr>
            <p:cNvPr id="54" name="Rounded Rectangle 53"/>
            <p:cNvSpPr/>
            <p:nvPr/>
          </p:nvSpPr>
          <p:spPr>
            <a:xfrm>
              <a:off x="1371600" y="3657600"/>
              <a:ext cx="762000" cy="762000"/>
            </a:xfrm>
            <a:prstGeom prst="roundRect">
              <a:avLst/>
            </a:prstGeom>
          </p:spPr>
          <p:style>
            <a:lnRef idx="0">
              <a:schemeClr val="accent1"/>
            </a:lnRef>
            <a:fillRef idx="1003">
              <a:schemeClr val="dk2"/>
            </a:fillRef>
            <a:effectRef idx="3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pic>
          <p:nvPicPr>
            <p:cNvPr id="55" name="Picture 54" descr="globe_gear.png"/>
            <p:cNvPicPr>
              <a:picLocks noChangeAspect="1"/>
            </p:cNvPicPr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1447800" y="3733800"/>
              <a:ext cx="609600" cy="609600"/>
            </a:xfrm>
            <a:prstGeom prst="rect">
              <a:avLst/>
            </a:prstGeom>
          </p:spPr>
        </p:pic>
      </p:grpSp>
      <p:grpSp>
        <p:nvGrpSpPr>
          <p:cNvPr id="13" name="Group 75"/>
          <p:cNvGrpSpPr/>
          <p:nvPr/>
        </p:nvGrpSpPr>
        <p:grpSpPr>
          <a:xfrm>
            <a:off x="7086600" y="3803024"/>
            <a:ext cx="662452" cy="692776"/>
            <a:chOff x="4846320" y="2209800"/>
            <a:chExt cx="609600" cy="609600"/>
          </a:xfrm>
        </p:grpSpPr>
        <p:sp>
          <p:nvSpPr>
            <p:cNvPr id="57" name="Rounded Rectangle 56"/>
            <p:cNvSpPr/>
            <p:nvPr/>
          </p:nvSpPr>
          <p:spPr>
            <a:xfrm>
              <a:off x="4846320" y="2209800"/>
              <a:ext cx="609600" cy="609600"/>
            </a:xfrm>
            <a:prstGeom prst="roundRect">
              <a:avLst/>
            </a:prstGeom>
          </p:spPr>
          <p:style>
            <a:lnRef idx="0">
              <a:schemeClr val="accent6"/>
            </a:lnRef>
            <a:fillRef idx="3">
              <a:schemeClr val="accent6"/>
            </a:fillRef>
            <a:effectRef idx="3">
              <a:schemeClr val="accent6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grpSp>
          <p:nvGrpSpPr>
            <p:cNvPr id="14" name="Group 23"/>
            <p:cNvGrpSpPr/>
            <p:nvPr/>
          </p:nvGrpSpPr>
          <p:grpSpPr>
            <a:xfrm>
              <a:off x="4876798" y="2270760"/>
              <a:ext cx="518164" cy="487680"/>
              <a:chOff x="609600" y="1652131"/>
              <a:chExt cx="359837" cy="338667"/>
            </a:xfrm>
          </p:grpSpPr>
          <p:pic>
            <p:nvPicPr>
              <p:cNvPr id="59" name="Picture 58" descr="magnifying_glass.png"/>
              <p:cNvPicPr>
                <a:picLocks noChangeAspect="1"/>
              </p:cNvPicPr>
              <p:nvPr/>
            </p:nvPicPr>
            <p:blipFill>
              <a:blip r:embed="rId4" cstate="print"/>
              <a:stretch>
                <a:fillRect/>
              </a:stretch>
            </p:blipFill>
            <p:spPr>
              <a:xfrm>
                <a:off x="630769" y="1652131"/>
                <a:ext cx="338668" cy="338667"/>
              </a:xfrm>
              <a:prstGeom prst="rect">
                <a:avLst/>
              </a:prstGeom>
              <a:effectLst>
                <a:outerShdw blurRad="63500" sx="102000" sy="102000" algn="ctr" rotWithShape="0">
                  <a:prstClr val="black">
                    <a:alpha val="40000"/>
                  </a:prstClr>
                </a:outerShdw>
              </a:effectLst>
            </p:spPr>
          </p:pic>
          <p:pic>
            <p:nvPicPr>
              <p:cNvPr id="60" name="Picture 2" descr="C:\Users\agember\AppData\Local\Microsoft\Windows\Temporary Internet Files\Content.IE5\2DGPU1UI\MC900431599[1].png"/>
              <p:cNvPicPr>
                <a:picLocks noChangeAspect="1" noChangeArrowheads="1"/>
              </p:cNvPicPr>
              <p:nvPr/>
            </p:nvPicPr>
            <p:blipFill>
              <a:blip r:embed="rId5" cstate="print"/>
              <a:srcRect/>
              <a:stretch>
                <a:fillRect/>
              </a:stretch>
            </p:blipFill>
            <p:spPr bwMode="auto">
              <a:xfrm>
                <a:off x="609600" y="1752600"/>
                <a:ext cx="238125" cy="238125"/>
              </a:xfrm>
              <a:prstGeom prst="rect">
                <a:avLst/>
              </a:prstGeom>
              <a:noFill/>
            </p:spPr>
          </p:pic>
        </p:grpSp>
      </p:grpSp>
      <p:grpSp>
        <p:nvGrpSpPr>
          <p:cNvPr id="15" name="Group 33"/>
          <p:cNvGrpSpPr/>
          <p:nvPr/>
        </p:nvGrpSpPr>
        <p:grpSpPr>
          <a:xfrm>
            <a:off x="4800600" y="3810000"/>
            <a:ext cx="685800" cy="685800"/>
            <a:chOff x="6155875" y="2950761"/>
            <a:chExt cx="762000" cy="762000"/>
          </a:xfrm>
        </p:grpSpPr>
        <p:sp>
          <p:nvSpPr>
            <p:cNvPr id="62" name="Rounded Rectangle 61"/>
            <p:cNvSpPr/>
            <p:nvPr/>
          </p:nvSpPr>
          <p:spPr>
            <a:xfrm>
              <a:off x="6155875" y="2950761"/>
              <a:ext cx="762000" cy="762000"/>
            </a:xfrm>
            <a:prstGeom prst="roundRect">
              <a:avLst/>
            </a:prstGeom>
          </p:spPr>
          <p:style>
            <a:lnRef idx="0">
              <a:schemeClr val="accent6"/>
            </a:lnRef>
            <a:fillRef idx="1003">
              <a:schemeClr val="dk1"/>
            </a:fillRef>
            <a:effectRef idx="3">
              <a:schemeClr val="accent6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pic>
          <p:nvPicPr>
            <p:cNvPr id="63" name="Picture 7" descr="C:\Users\agember\AppData\Local\Microsoft\Windows\Temporary Internet Files\Content.IE5\QZT0K7D8\MC900434719[1].png"/>
            <p:cNvPicPr>
              <a:picLocks noChangeAspect="1" noChangeArrowheads="1"/>
            </p:cNvPicPr>
            <p:nvPr/>
          </p:nvPicPr>
          <p:blipFill>
            <a:blip r:embed="rId9" cstate="print"/>
            <a:srcRect/>
            <a:stretch>
              <a:fillRect/>
            </a:stretch>
          </p:blipFill>
          <p:spPr bwMode="auto">
            <a:xfrm>
              <a:off x="6185067" y="2981165"/>
              <a:ext cx="706860" cy="706860"/>
            </a:xfrm>
            <a:prstGeom prst="rect">
              <a:avLst/>
            </a:prstGeom>
            <a:noFill/>
          </p:spPr>
        </p:pic>
      </p:grpSp>
      <p:grpSp>
        <p:nvGrpSpPr>
          <p:cNvPr id="16" name="Group 28"/>
          <p:cNvGrpSpPr/>
          <p:nvPr/>
        </p:nvGrpSpPr>
        <p:grpSpPr>
          <a:xfrm>
            <a:off x="6312290" y="3797691"/>
            <a:ext cx="698109" cy="698109"/>
            <a:chOff x="1371600" y="3657600"/>
            <a:chExt cx="762000" cy="762000"/>
          </a:xfrm>
        </p:grpSpPr>
        <p:sp>
          <p:nvSpPr>
            <p:cNvPr id="65" name="Rounded Rectangle 64"/>
            <p:cNvSpPr/>
            <p:nvPr/>
          </p:nvSpPr>
          <p:spPr>
            <a:xfrm>
              <a:off x="1371600" y="3657600"/>
              <a:ext cx="762000" cy="762000"/>
            </a:xfrm>
            <a:prstGeom prst="roundRect">
              <a:avLst/>
            </a:prstGeom>
          </p:spPr>
          <p:style>
            <a:lnRef idx="0">
              <a:schemeClr val="accent1"/>
            </a:lnRef>
            <a:fillRef idx="1003">
              <a:schemeClr val="dk2"/>
            </a:fillRef>
            <a:effectRef idx="3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pic>
          <p:nvPicPr>
            <p:cNvPr id="66" name="Picture 65" descr="globe_gear.png"/>
            <p:cNvPicPr>
              <a:picLocks noChangeAspect="1"/>
            </p:cNvPicPr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1447800" y="3733800"/>
              <a:ext cx="609600" cy="609600"/>
            </a:xfrm>
            <a:prstGeom prst="rect">
              <a:avLst/>
            </a:prstGeom>
          </p:spPr>
        </p:pic>
      </p:grpSp>
      <p:pic>
        <p:nvPicPr>
          <p:cNvPr id="70" name="Picture 69"/>
          <p:cNvPicPr>
            <a:picLocks noChangeAspect="1"/>
          </p:cNvPicPr>
          <p:nvPr/>
        </p:nvPicPr>
        <p:blipFill>
          <a:blip r:embed="rId10" cstate="print"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tretch>
            <a:fillRect/>
          </a:stretch>
        </p:blipFill>
        <p:spPr>
          <a:xfrm>
            <a:off x="5867400" y="5029200"/>
            <a:ext cx="612358" cy="609600"/>
          </a:xfrm>
          <a:prstGeom prst="rect">
            <a:avLst/>
          </a:prstGeom>
        </p:spPr>
      </p:pic>
      <p:sp>
        <p:nvSpPr>
          <p:cNvPr id="69" name="Freeform 68"/>
          <p:cNvSpPr/>
          <p:nvPr/>
        </p:nvSpPr>
        <p:spPr>
          <a:xfrm flipV="1">
            <a:off x="5715000" y="3581400"/>
            <a:ext cx="457200" cy="2133600"/>
          </a:xfrm>
          <a:custGeom>
            <a:avLst/>
            <a:gdLst>
              <a:gd name="connsiteX0" fmla="*/ 1105468 w 1130489"/>
              <a:gd name="connsiteY0" fmla="*/ 0 h 1665027"/>
              <a:gd name="connsiteX1" fmla="*/ 982638 w 1130489"/>
              <a:gd name="connsiteY1" fmla="*/ 341194 h 1665027"/>
              <a:gd name="connsiteX2" fmla="*/ 218364 w 1130489"/>
              <a:gd name="connsiteY2" fmla="*/ 1064526 h 1665027"/>
              <a:gd name="connsiteX3" fmla="*/ 0 w 1130489"/>
              <a:gd name="connsiteY3" fmla="*/ 1665027 h 166502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130489" h="1665027">
                <a:moveTo>
                  <a:pt x="1105468" y="0"/>
                </a:moveTo>
                <a:cubicBezTo>
                  <a:pt x="1117978" y="81886"/>
                  <a:pt x="1130489" y="163773"/>
                  <a:pt x="982638" y="341194"/>
                </a:cubicBezTo>
                <a:cubicBezTo>
                  <a:pt x="834787" y="518615"/>
                  <a:pt x="382137" y="843887"/>
                  <a:pt x="218364" y="1064526"/>
                </a:cubicBezTo>
                <a:cubicBezTo>
                  <a:pt x="54591" y="1285165"/>
                  <a:pt x="27295" y="1475096"/>
                  <a:pt x="0" y="1665027"/>
                </a:cubicBezTo>
              </a:path>
            </a:pathLst>
          </a:custGeom>
          <a:ln w="76200">
            <a:solidFill>
              <a:schemeClr val="accent2"/>
            </a:solidFill>
            <a:tailEnd type="arrow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1" name="Freeform 70"/>
          <p:cNvSpPr/>
          <p:nvPr/>
        </p:nvSpPr>
        <p:spPr>
          <a:xfrm flipH="1" flipV="1">
            <a:off x="6172200" y="3581400"/>
            <a:ext cx="457200" cy="2133600"/>
          </a:xfrm>
          <a:custGeom>
            <a:avLst/>
            <a:gdLst>
              <a:gd name="connsiteX0" fmla="*/ 1105468 w 1130489"/>
              <a:gd name="connsiteY0" fmla="*/ 0 h 1665027"/>
              <a:gd name="connsiteX1" fmla="*/ 982638 w 1130489"/>
              <a:gd name="connsiteY1" fmla="*/ 341194 h 1665027"/>
              <a:gd name="connsiteX2" fmla="*/ 218364 w 1130489"/>
              <a:gd name="connsiteY2" fmla="*/ 1064526 h 1665027"/>
              <a:gd name="connsiteX3" fmla="*/ 0 w 1130489"/>
              <a:gd name="connsiteY3" fmla="*/ 1665027 h 166502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130489" h="1665027">
                <a:moveTo>
                  <a:pt x="1105468" y="0"/>
                </a:moveTo>
                <a:cubicBezTo>
                  <a:pt x="1117978" y="81886"/>
                  <a:pt x="1130489" y="163773"/>
                  <a:pt x="982638" y="341194"/>
                </a:cubicBezTo>
                <a:cubicBezTo>
                  <a:pt x="834787" y="518615"/>
                  <a:pt x="382137" y="843887"/>
                  <a:pt x="218364" y="1064526"/>
                </a:cubicBezTo>
                <a:cubicBezTo>
                  <a:pt x="54591" y="1285165"/>
                  <a:pt x="27295" y="1475096"/>
                  <a:pt x="0" y="1665027"/>
                </a:cubicBezTo>
              </a:path>
            </a:pathLst>
          </a:custGeom>
          <a:ln w="76200">
            <a:solidFill>
              <a:schemeClr val="accent2"/>
            </a:solidFill>
            <a:tailEnd type="arrow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1" name="Down Arrow 40"/>
          <p:cNvSpPr/>
          <p:nvPr/>
        </p:nvSpPr>
        <p:spPr>
          <a:xfrm>
            <a:off x="2667000" y="3124200"/>
            <a:ext cx="381000" cy="457200"/>
          </a:xfrm>
          <a:prstGeom prst="downArrow">
            <a:avLst>
              <a:gd name="adj1" fmla="val 23626"/>
              <a:gd name="adj2" fmla="val 50000"/>
            </a:avLst>
          </a:prstGeom>
        </p:spPr>
        <p:style>
          <a:lnRef idx="1">
            <a:schemeClr val="dk1"/>
          </a:lnRef>
          <a:fillRef idx="3">
            <a:schemeClr val="dk1"/>
          </a:fillRef>
          <a:effectRef idx="2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4" name="Cross 43"/>
          <p:cNvSpPr/>
          <p:nvPr/>
        </p:nvSpPr>
        <p:spPr>
          <a:xfrm>
            <a:off x="2667000" y="2133600"/>
            <a:ext cx="381000" cy="381000"/>
          </a:xfrm>
          <a:prstGeom prst="plus">
            <a:avLst>
              <a:gd name="adj" fmla="val 37308"/>
            </a:avLst>
          </a:prstGeom>
        </p:spPr>
        <p:style>
          <a:lnRef idx="1">
            <a:schemeClr val="dk1"/>
          </a:lnRef>
          <a:fillRef idx="3">
            <a:schemeClr val="dk1"/>
          </a:fillRef>
          <a:effectRef idx="2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0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0" dur="10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999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2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3" dur="1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999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6" dur="1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999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10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10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1000"/>
                                        <p:tgtEl>
                                          <p:spTgt spid="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10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2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3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6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10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9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0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1000"/>
                                        <p:tgtEl>
                                          <p:spTgt spid="7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1000"/>
                                        <p:tgtEl>
                                          <p:spTgt spid="6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22" presetClass="exit" presetSubtype="1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up)">
                                      <p:cBhvr>
                                        <p:cTn id="54" dur="500"/>
                                        <p:tgtEl>
                                          <p:spTgt spid="6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6" fill="hold">
                            <p:stCondLst>
                              <p:cond delay="500"/>
                            </p:stCondLst>
                            <p:childTnLst>
                              <p:par>
                                <p:cTn id="57" presetID="2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59" dur="500"/>
                                        <p:tgtEl>
                                          <p:spTgt spid="7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0" fill="hold">
                      <p:stCondLst>
                        <p:cond delay="indefinite"/>
                      </p:stCondLst>
                      <p:childTnLst>
                        <p:par>
                          <p:cTn id="61" fill="hold">
                            <p:stCondLst>
                              <p:cond delay="0"/>
                            </p:stCondLst>
                            <p:childTnLst>
                              <p:par>
                                <p:cTn id="62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64" dur="50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5" fill="hold">
                            <p:stCondLst>
                              <p:cond delay="500"/>
                            </p:stCondLst>
                            <p:childTnLst>
                              <p:par>
                                <p:cTn id="66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68" dur="5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9" fill="hold">
                            <p:stCondLst>
                              <p:cond delay="1000"/>
                            </p:stCondLst>
                            <p:childTnLst>
                              <p:par>
                                <p:cTn id="70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2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  <p:bldP spid="69" grpId="1" animBg="1"/>
      <p:bldP spid="71" grpId="0" animBg="1"/>
      <p:bldP spid="41" grpId="0" animBg="1"/>
      <p:bldP spid="44" grpId="0" animBg="1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5" name="Group 47"/>
          <p:cNvGrpSpPr/>
          <p:nvPr/>
        </p:nvGrpSpPr>
        <p:grpSpPr>
          <a:xfrm>
            <a:off x="4038600" y="4343400"/>
            <a:ext cx="3581400" cy="1415143"/>
            <a:chOff x="4800600" y="4757057"/>
            <a:chExt cx="3581400" cy="1415143"/>
          </a:xfrm>
        </p:grpSpPr>
        <p:pic>
          <p:nvPicPr>
            <p:cNvPr id="47" name="Picture 46" descr="f5_appliance.jpg"/>
            <p:cNvPicPr>
              <a:picLocks noChangeAspect="1"/>
            </p:cNvPicPr>
            <p:nvPr/>
          </p:nvPicPr>
          <p:blipFill>
            <a:blip r:embed="rId3" cstate="print"/>
            <a:srcRect b="15529"/>
            <a:stretch>
              <a:fillRect/>
            </a:stretch>
          </p:blipFill>
          <p:spPr>
            <a:xfrm>
              <a:off x="4800600" y="4757057"/>
              <a:ext cx="3581400" cy="1415143"/>
            </a:xfrm>
            <a:prstGeom prst="rect">
              <a:avLst/>
            </a:prstGeom>
          </p:spPr>
        </p:pic>
        <p:grpSp>
          <p:nvGrpSpPr>
            <p:cNvPr id="48" name="Group 23"/>
            <p:cNvGrpSpPr/>
            <p:nvPr/>
          </p:nvGrpSpPr>
          <p:grpSpPr>
            <a:xfrm>
              <a:off x="7162800" y="5533698"/>
              <a:ext cx="647705" cy="609600"/>
              <a:chOff x="609600" y="1652131"/>
              <a:chExt cx="359837" cy="338667"/>
            </a:xfrm>
          </p:grpSpPr>
          <p:pic>
            <p:nvPicPr>
              <p:cNvPr id="49" name="Picture 48" descr="magnifying_glass.png"/>
              <p:cNvPicPr>
                <a:picLocks noChangeAspect="1"/>
              </p:cNvPicPr>
              <p:nvPr/>
            </p:nvPicPr>
            <p:blipFill>
              <a:blip r:embed="rId4" cstate="print"/>
              <a:stretch>
                <a:fillRect/>
              </a:stretch>
            </p:blipFill>
            <p:spPr>
              <a:xfrm>
                <a:off x="630769" y="1652131"/>
                <a:ext cx="338668" cy="338667"/>
              </a:xfrm>
              <a:prstGeom prst="rect">
                <a:avLst/>
              </a:prstGeom>
              <a:effectLst>
                <a:outerShdw blurRad="63500" sx="102000" sy="102000" algn="ctr" rotWithShape="0">
                  <a:prstClr val="black">
                    <a:alpha val="40000"/>
                  </a:prstClr>
                </a:outerShdw>
              </a:effectLst>
            </p:spPr>
          </p:pic>
          <p:pic>
            <p:nvPicPr>
              <p:cNvPr id="50" name="Picture 2" descr="C:\Users\agember\AppData\Local\Microsoft\Windows\Temporary Internet Files\Content.IE5\2DGPU1UI\MC900431599[1].png"/>
              <p:cNvPicPr>
                <a:picLocks noChangeAspect="1" noChangeArrowheads="1"/>
              </p:cNvPicPr>
              <p:nvPr/>
            </p:nvPicPr>
            <p:blipFill>
              <a:blip r:embed="rId5" cstate="print"/>
              <a:srcRect/>
              <a:stretch>
                <a:fillRect/>
              </a:stretch>
            </p:blipFill>
            <p:spPr bwMode="auto">
              <a:xfrm>
                <a:off x="609600" y="1752600"/>
                <a:ext cx="238125" cy="238125"/>
              </a:xfrm>
              <a:prstGeom prst="rect">
                <a:avLst/>
              </a:prstGeom>
              <a:noFill/>
            </p:spPr>
          </p:pic>
        </p:grpSp>
      </p:grpSp>
      <p:pic>
        <p:nvPicPr>
          <p:cNvPr id="15" name="Picture 14"/>
          <p:cNvPicPr>
            <a:picLocks noChangeAspect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tretch>
            <a:fillRect/>
          </a:stretch>
        </p:blipFill>
        <p:spPr>
          <a:xfrm>
            <a:off x="7235552" y="3657600"/>
            <a:ext cx="765448" cy="762000"/>
          </a:xfrm>
          <a:prstGeom prst="rect">
            <a:avLst/>
          </a:prstGeom>
        </p:spPr>
      </p:pic>
      <p:grpSp>
        <p:nvGrpSpPr>
          <p:cNvPr id="5" name="Group 75"/>
          <p:cNvGrpSpPr/>
          <p:nvPr/>
        </p:nvGrpSpPr>
        <p:grpSpPr>
          <a:xfrm>
            <a:off x="6126481" y="4678681"/>
            <a:ext cx="883919" cy="883919"/>
            <a:chOff x="4846320" y="2209800"/>
            <a:chExt cx="609600" cy="609600"/>
          </a:xfrm>
        </p:grpSpPr>
        <p:sp>
          <p:nvSpPr>
            <p:cNvPr id="6" name="Rounded Rectangle 5"/>
            <p:cNvSpPr/>
            <p:nvPr/>
          </p:nvSpPr>
          <p:spPr>
            <a:xfrm>
              <a:off x="4846320" y="2209800"/>
              <a:ext cx="609600" cy="609600"/>
            </a:xfrm>
            <a:prstGeom prst="roundRect">
              <a:avLst/>
            </a:prstGeom>
          </p:spPr>
          <p:style>
            <a:lnRef idx="0">
              <a:schemeClr val="accent6"/>
            </a:lnRef>
            <a:fillRef idx="3">
              <a:schemeClr val="accent6"/>
            </a:fillRef>
            <a:effectRef idx="3">
              <a:schemeClr val="accent6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grpSp>
          <p:nvGrpSpPr>
            <p:cNvPr id="7" name="Group 23"/>
            <p:cNvGrpSpPr/>
            <p:nvPr/>
          </p:nvGrpSpPr>
          <p:grpSpPr>
            <a:xfrm>
              <a:off x="4876798" y="2270760"/>
              <a:ext cx="518164" cy="487680"/>
              <a:chOff x="609600" y="1652131"/>
              <a:chExt cx="359837" cy="338667"/>
            </a:xfrm>
          </p:grpSpPr>
          <p:pic>
            <p:nvPicPr>
              <p:cNvPr id="8" name="Picture 7" descr="magnifying_glass.png"/>
              <p:cNvPicPr>
                <a:picLocks noChangeAspect="1"/>
              </p:cNvPicPr>
              <p:nvPr/>
            </p:nvPicPr>
            <p:blipFill>
              <a:blip r:embed="rId4" cstate="print"/>
              <a:stretch>
                <a:fillRect/>
              </a:stretch>
            </p:blipFill>
            <p:spPr>
              <a:xfrm>
                <a:off x="630769" y="1652131"/>
                <a:ext cx="338668" cy="338667"/>
              </a:xfrm>
              <a:prstGeom prst="rect">
                <a:avLst/>
              </a:prstGeom>
              <a:effectLst>
                <a:outerShdw blurRad="63500" sx="102000" sy="102000" algn="ctr" rotWithShape="0">
                  <a:prstClr val="black">
                    <a:alpha val="40000"/>
                  </a:prstClr>
                </a:outerShdw>
              </a:effectLst>
            </p:spPr>
          </p:pic>
          <p:pic>
            <p:nvPicPr>
              <p:cNvPr id="9" name="Picture 2" descr="C:\Users\agember\AppData\Local\Microsoft\Windows\Temporary Internet Files\Content.IE5\2DGPU1UI\MC900431599[1].png"/>
              <p:cNvPicPr>
                <a:picLocks noChangeAspect="1" noChangeArrowheads="1"/>
              </p:cNvPicPr>
              <p:nvPr/>
            </p:nvPicPr>
            <p:blipFill>
              <a:blip r:embed="rId5" cstate="print"/>
              <a:srcRect/>
              <a:stretch>
                <a:fillRect/>
              </a:stretch>
            </p:blipFill>
            <p:spPr bwMode="auto">
              <a:xfrm>
                <a:off x="609600" y="1752600"/>
                <a:ext cx="238125" cy="238125"/>
              </a:xfrm>
              <a:prstGeom prst="rect">
                <a:avLst/>
              </a:prstGeom>
              <a:noFill/>
            </p:spPr>
          </p:pic>
        </p:grpSp>
      </p:grpSp>
      <p:sp>
        <p:nvSpPr>
          <p:cNvPr id="88" name="Freeform 87"/>
          <p:cNvSpPr/>
          <p:nvPr/>
        </p:nvSpPr>
        <p:spPr>
          <a:xfrm>
            <a:off x="6396198" y="3581400"/>
            <a:ext cx="1143000" cy="2362200"/>
          </a:xfrm>
          <a:custGeom>
            <a:avLst/>
            <a:gdLst>
              <a:gd name="connsiteX0" fmla="*/ 1105468 w 1130489"/>
              <a:gd name="connsiteY0" fmla="*/ 0 h 1665027"/>
              <a:gd name="connsiteX1" fmla="*/ 982638 w 1130489"/>
              <a:gd name="connsiteY1" fmla="*/ 341194 h 1665027"/>
              <a:gd name="connsiteX2" fmla="*/ 218364 w 1130489"/>
              <a:gd name="connsiteY2" fmla="*/ 1064526 h 1665027"/>
              <a:gd name="connsiteX3" fmla="*/ 0 w 1130489"/>
              <a:gd name="connsiteY3" fmla="*/ 1665027 h 166502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130489" h="1665027">
                <a:moveTo>
                  <a:pt x="1105468" y="0"/>
                </a:moveTo>
                <a:cubicBezTo>
                  <a:pt x="1117978" y="81886"/>
                  <a:pt x="1130489" y="163773"/>
                  <a:pt x="982638" y="341194"/>
                </a:cubicBezTo>
                <a:cubicBezTo>
                  <a:pt x="834787" y="518615"/>
                  <a:pt x="382137" y="843887"/>
                  <a:pt x="218364" y="1064526"/>
                </a:cubicBezTo>
                <a:cubicBezTo>
                  <a:pt x="54591" y="1285165"/>
                  <a:pt x="27295" y="1475096"/>
                  <a:pt x="0" y="1665027"/>
                </a:cubicBezTo>
              </a:path>
            </a:pathLst>
          </a:custGeom>
          <a:ln w="50800">
            <a:solidFill>
              <a:schemeClr val="tx1"/>
            </a:solidFill>
            <a:tailEnd type="arrow" w="med" len="med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 smtClean="0"/>
              <a:t>Example: elastic NF scaling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04800" y="1447800"/>
            <a:ext cx="8229600" cy="4754563"/>
          </a:xfrm>
        </p:spPr>
        <p:txBody>
          <a:bodyPr>
            <a:normAutofit/>
          </a:bodyPr>
          <a:lstStyle/>
          <a:p>
            <a:pPr marL="679450" indent="-514350">
              <a:buNone/>
            </a:pPr>
            <a:endParaRPr lang="en-US" dirty="0" smtClean="0"/>
          </a:p>
          <a:p>
            <a:pPr marL="679450" indent="-514350">
              <a:buFont typeface="+mj-lt"/>
              <a:buAutoNum type="arabicPeriod"/>
            </a:pPr>
            <a:r>
              <a:rPr lang="en-US" dirty="0" smtClean="0"/>
              <a:t>Satisfy performance SLAs</a:t>
            </a:r>
          </a:p>
          <a:p>
            <a:pPr marL="679450" indent="-514350">
              <a:buFont typeface="+mj-lt"/>
              <a:buAutoNum type="arabicPeriod"/>
            </a:pPr>
            <a:r>
              <a:rPr lang="en-US" dirty="0" smtClean="0"/>
              <a:t>Minimize operating costs</a:t>
            </a:r>
          </a:p>
          <a:p>
            <a:pPr marL="679450" indent="-514350">
              <a:buFont typeface="+mj-lt"/>
              <a:buAutoNum type="arabicPeriod"/>
            </a:pPr>
            <a:r>
              <a:rPr lang="en-US" dirty="0" smtClean="0"/>
              <a:t>Accurately monitor traffic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2C5A87-65DC-41FD-9E53-7EAC48455B9A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4</a:t>
            </a:fld>
            <a:endParaRPr lang="en-US" dirty="0">
              <a:solidFill>
                <a:prstClr val="black">
                  <a:tint val="75000"/>
                </a:prstClr>
              </a:solidFill>
            </a:endParaRPr>
          </a:p>
        </p:txBody>
      </p:sp>
      <p:grpSp>
        <p:nvGrpSpPr>
          <p:cNvPr id="10" name="Group 75"/>
          <p:cNvGrpSpPr/>
          <p:nvPr/>
        </p:nvGrpSpPr>
        <p:grpSpPr>
          <a:xfrm>
            <a:off x="7345681" y="4678681"/>
            <a:ext cx="883919" cy="883919"/>
            <a:chOff x="4846320" y="2209800"/>
            <a:chExt cx="609600" cy="609600"/>
          </a:xfrm>
        </p:grpSpPr>
        <p:sp>
          <p:nvSpPr>
            <p:cNvPr id="11" name="Rounded Rectangle 10"/>
            <p:cNvSpPr/>
            <p:nvPr/>
          </p:nvSpPr>
          <p:spPr>
            <a:xfrm>
              <a:off x="4846320" y="2209800"/>
              <a:ext cx="609600" cy="609600"/>
            </a:xfrm>
            <a:prstGeom prst="roundRect">
              <a:avLst/>
            </a:prstGeom>
          </p:spPr>
          <p:style>
            <a:lnRef idx="0">
              <a:schemeClr val="accent6"/>
            </a:lnRef>
            <a:fillRef idx="3">
              <a:schemeClr val="accent6"/>
            </a:fillRef>
            <a:effectRef idx="3">
              <a:schemeClr val="accent6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grpSp>
          <p:nvGrpSpPr>
            <p:cNvPr id="12" name="Group 23"/>
            <p:cNvGrpSpPr/>
            <p:nvPr/>
          </p:nvGrpSpPr>
          <p:grpSpPr>
            <a:xfrm>
              <a:off x="4876798" y="2270760"/>
              <a:ext cx="518164" cy="487680"/>
              <a:chOff x="609600" y="1652131"/>
              <a:chExt cx="359837" cy="338667"/>
            </a:xfrm>
          </p:grpSpPr>
          <p:pic>
            <p:nvPicPr>
              <p:cNvPr id="13" name="Picture 12" descr="magnifying_glass.png"/>
              <p:cNvPicPr>
                <a:picLocks noChangeAspect="1"/>
              </p:cNvPicPr>
              <p:nvPr/>
            </p:nvPicPr>
            <p:blipFill>
              <a:blip r:embed="rId4" cstate="print"/>
              <a:stretch>
                <a:fillRect/>
              </a:stretch>
            </p:blipFill>
            <p:spPr>
              <a:xfrm>
                <a:off x="630769" y="1652131"/>
                <a:ext cx="338668" cy="338667"/>
              </a:xfrm>
              <a:prstGeom prst="rect">
                <a:avLst/>
              </a:prstGeom>
              <a:effectLst>
                <a:outerShdw blurRad="63500" sx="102000" sy="102000" algn="ctr" rotWithShape="0">
                  <a:prstClr val="black">
                    <a:alpha val="40000"/>
                  </a:prstClr>
                </a:outerShdw>
              </a:effectLst>
            </p:spPr>
          </p:pic>
          <p:pic>
            <p:nvPicPr>
              <p:cNvPr id="14" name="Picture 2" descr="C:\Users\agember\AppData\Local\Microsoft\Windows\Temporary Internet Files\Content.IE5\2DGPU1UI\MC900431599[1].png"/>
              <p:cNvPicPr>
                <a:picLocks noChangeAspect="1" noChangeArrowheads="1"/>
              </p:cNvPicPr>
              <p:nvPr/>
            </p:nvPicPr>
            <p:blipFill>
              <a:blip r:embed="rId5" cstate="print"/>
              <a:srcRect/>
              <a:stretch>
                <a:fillRect/>
              </a:stretch>
            </p:blipFill>
            <p:spPr bwMode="auto">
              <a:xfrm>
                <a:off x="609600" y="1752600"/>
                <a:ext cx="238125" cy="238125"/>
              </a:xfrm>
              <a:prstGeom prst="rect">
                <a:avLst/>
              </a:prstGeom>
              <a:noFill/>
            </p:spPr>
          </p:pic>
        </p:grpSp>
      </p:grpSp>
      <p:sp>
        <p:nvSpPr>
          <p:cNvPr id="17" name="Freeform 16"/>
          <p:cNvSpPr/>
          <p:nvPr/>
        </p:nvSpPr>
        <p:spPr>
          <a:xfrm flipH="1">
            <a:off x="7635863" y="3581400"/>
            <a:ext cx="212737" cy="2438400"/>
          </a:xfrm>
          <a:custGeom>
            <a:avLst/>
            <a:gdLst>
              <a:gd name="connsiteX0" fmla="*/ 1105468 w 1130489"/>
              <a:gd name="connsiteY0" fmla="*/ 0 h 1665027"/>
              <a:gd name="connsiteX1" fmla="*/ 982638 w 1130489"/>
              <a:gd name="connsiteY1" fmla="*/ 341194 h 1665027"/>
              <a:gd name="connsiteX2" fmla="*/ 218364 w 1130489"/>
              <a:gd name="connsiteY2" fmla="*/ 1064526 h 1665027"/>
              <a:gd name="connsiteX3" fmla="*/ 0 w 1130489"/>
              <a:gd name="connsiteY3" fmla="*/ 1665027 h 166502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130489" h="1665027">
                <a:moveTo>
                  <a:pt x="1105468" y="0"/>
                </a:moveTo>
                <a:cubicBezTo>
                  <a:pt x="1117978" y="81886"/>
                  <a:pt x="1130489" y="163773"/>
                  <a:pt x="982638" y="341194"/>
                </a:cubicBezTo>
                <a:cubicBezTo>
                  <a:pt x="834787" y="518615"/>
                  <a:pt x="382137" y="843887"/>
                  <a:pt x="218364" y="1064526"/>
                </a:cubicBezTo>
                <a:cubicBezTo>
                  <a:pt x="54591" y="1285165"/>
                  <a:pt x="27295" y="1475096"/>
                  <a:pt x="0" y="1665027"/>
                </a:cubicBezTo>
              </a:path>
            </a:pathLst>
          </a:custGeom>
          <a:ln w="50800">
            <a:solidFill>
              <a:schemeClr val="tx1"/>
            </a:solidFill>
            <a:tailEnd type="arrow" w="med" len="med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Freeform 18"/>
          <p:cNvSpPr/>
          <p:nvPr/>
        </p:nvSpPr>
        <p:spPr>
          <a:xfrm flipH="1">
            <a:off x="7620000" y="3581400"/>
            <a:ext cx="228600" cy="2502568"/>
          </a:xfrm>
          <a:custGeom>
            <a:avLst/>
            <a:gdLst>
              <a:gd name="connsiteX0" fmla="*/ 1105468 w 1130489"/>
              <a:gd name="connsiteY0" fmla="*/ 0 h 1665027"/>
              <a:gd name="connsiteX1" fmla="*/ 982638 w 1130489"/>
              <a:gd name="connsiteY1" fmla="*/ 341194 h 1665027"/>
              <a:gd name="connsiteX2" fmla="*/ 218364 w 1130489"/>
              <a:gd name="connsiteY2" fmla="*/ 1064526 h 1665027"/>
              <a:gd name="connsiteX3" fmla="*/ 0 w 1130489"/>
              <a:gd name="connsiteY3" fmla="*/ 1665027 h 166502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130489" h="1665027">
                <a:moveTo>
                  <a:pt x="1105468" y="0"/>
                </a:moveTo>
                <a:cubicBezTo>
                  <a:pt x="1117978" y="81886"/>
                  <a:pt x="1130489" y="163773"/>
                  <a:pt x="982638" y="341194"/>
                </a:cubicBezTo>
                <a:cubicBezTo>
                  <a:pt x="834787" y="518615"/>
                  <a:pt x="382137" y="843887"/>
                  <a:pt x="218364" y="1064526"/>
                </a:cubicBezTo>
                <a:cubicBezTo>
                  <a:pt x="54591" y="1285165"/>
                  <a:pt x="27295" y="1475096"/>
                  <a:pt x="0" y="1665027"/>
                </a:cubicBezTo>
              </a:path>
            </a:pathLst>
          </a:custGeom>
          <a:ln w="101600">
            <a:solidFill>
              <a:schemeClr val="tx1"/>
            </a:solidFill>
            <a:tailEnd type="arrow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Freeform 15"/>
          <p:cNvSpPr/>
          <p:nvPr/>
        </p:nvSpPr>
        <p:spPr>
          <a:xfrm>
            <a:off x="6400800" y="3581400"/>
            <a:ext cx="1143000" cy="2438400"/>
          </a:xfrm>
          <a:custGeom>
            <a:avLst/>
            <a:gdLst>
              <a:gd name="connsiteX0" fmla="*/ 1105468 w 1130489"/>
              <a:gd name="connsiteY0" fmla="*/ 0 h 1665027"/>
              <a:gd name="connsiteX1" fmla="*/ 982638 w 1130489"/>
              <a:gd name="connsiteY1" fmla="*/ 341194 h 1665027"/>
              <a:gd name="connsiteX2" fmla="*/ 218364 w 1130489"/>
              <a:gd name="connsiteY2" fmla="*/ 1064526 h 1665027"/>
              <a:gd name="connsiteX3" fmla="*/ 0 w 1130489"/>
              <a:gd name="connsiteY3" fmla="*/ 1665027 h 166502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130489" h="1665027">
                <a:moveTo>
                  <a:pt x="1105468" y="0"/>
                </a:moveTo>
                <a:cubicBezTo>
                  <a:pt x="1117978" y="81886"/>
                  <a:pt x="1130489" y="163773"/>
                  <a:pt x="982638" y="341194"/>
                </a:cubicBezTo>
                <a:cubicBezTo>
                  <a:pt x="834787" y="518615"/>
                  <a:pt x="382137" y="843887"/>
                  <a:pt x="218364" y="1064526"/>
                </a:cubicBezTo>
                <a:cubicBezTo>
                  <a:pt x="54591" y="1285165"/>
                  <a:pt x="27295" y="1475096"/>
                  <a:pt x="0" y="1665027"/>
                </a:cubicBezTo>
              </a:path>
            </a:pathLst>
          </a:custGeom>
          <a:ln w="101600">
            <a:solidFill>
              <a:schemeClr val="tx1"/>
            </a:solidFill>
            <a:tailEnd type="arrow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Freeform 17"/>
          <p:cNvSpPr/>
          <p:nvPr/>
        </p:nvSpPr>
        <p:spPr>
          <a:xfrm>
            <a:off x="6400800" y="3581400"/>
            <a:ext cx="1143000" cy="2667000"/>
          </a:xfrm>
          <a:custGeom>
            <a:avLst/>
            <a:gdLst>
              <a:gd name="connsiteX0" fmla="*/ 1105468 w 1130489"/>
              <a:gd name="connsiteY0" fmla="*/ 0 h 1665027"/>
              <a:gd name="connsiteX1" fmla="*/ 982638 w 1130489"/>
              <a:gd name="connsiteY1" fmla="*/ 341194 h 1665027"/>
              <a:gd name="connsiteX2" fmla="*/ 218364 w 1130489"/>
              <a:gd name="connsiteY2" fmla="*/ 1064526 h 1665027"/>
              <a:gd name="connsiteX3" fmla="*/ 0 w 1130489"/>
              <a:gd name="connsiteY3" fmla="*/ 1665027 h 166502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130489" h="1665027">
                <a:moveTo>
                  <a:pt x="1105468" y="0"/>
                </a:moveTo>
                <a:cubicBezTo>
                  <a:pt x="1117978" y="81886"/>
                  <a:pt x="1130489" y="163773"/>
                  <a:pt x="982638" y="341194"/>
                </a:cubicBezTo>
                <a:cubicBezTo>
                  <a:pt x="834787" y="518615"/>
                  <a:pt x="382137" y="843887"/>
                  <a:pt x="218364" y="1064526"/>
                </a:cubicBezTo>
                <a:cubicBezTo>
                  <a:pt x="54591" y="1285165"/>
                  <a:pt x="27295" y="1475096"/>
                  <a:pt x="0" y="1665027"/>
                </a:cubicBezTo>
              </a:path>
            </a:pathLst>
          </a:custGeom>
          <a:ln w="203200">
            <a:solidFill>
              <a:schemeClr val="tx1"/>
            </a:solidFill>
            <a:tailEnd type="arrow" w="sm" len="sm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67" name="Group 66"/>
          <p:cNvGrpSpPr/>
          <p:nvPr/>
        </p:nvGrpSpPr>
        <p:grpSpPr>
          <a:xfrm>
            <a:off x="4800600" y="4114800"/>
            <a:ext cx="914400" cy="914400"/>
            <a:chOff x="6873902" y="2141551"/>
            <a:chExt cx="914400" cy="914400"/>
          </a:xfrm>
        </p:grpSpPr>
        <p:sp>
          <p:nvSpPr>
            <p:cNvPr id="51" name="Oval 50"/>
            <p:cNvSpPr/>
            <p:nvPr/>
          </p:nvSpPr>
          <p:spPr>
            <a:xfrm>
              <a:off x="6873902" y="2141551"/>
              <a:ext cx="914400" cy="914400"/>
            </a:xfrm>
            <a:prstGeom prst="ellipse">
              <a:avLst/>
            </a:prstGeom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2" name="Arc 51"/>
            <p:cNvSpPr/>
            <p:nvPr/>
          </p:nvSpPr>
          <p:spPr>
            <a:xfrm>
              <a:off x="7009622" y="2293951"/>
              <a:ext cx="647700" cy="647700"/>
            </a:xfrm>
            <a:prstGeom prst="arc">
              <a:avLst>
                <a:gd name="adj1" fmla="val 19974213"/>
                <a:gd name="adj2" fmla="val 3173376"/>
              </a:avLst>
            </a:prstGeom>
            <a:ln w="203200"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3" name="Arc 52"/>
            <p:cNvSpPr/>
            <p:nvPr/>
          </p:nvSpPr>
          <p:spPr>
            <a:xfrm>
              <a:off x="7009622" y="2255851"/>
              <a:ext cx="647700" cy="647700"/>
            </a:xfrm>
            <a:prstGeom prst="arc">
              <a:avLst>
                <a:gd name="adj1" fmla="val 15687070"/>
                <a:gd name="adj2" fmla="val 20195520"/>
              </a:avLst>
            </a:prstGeom>
            <a:ln w="203200">
              <a:solidFill>
                <a:srgbClr val="FFFF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4" name="Arc 53"/>
            <p:cNvSpPr/>
            <p:nvPr/>
          </p:nvSpPr>
          <p:spPr>
            <a:xfrm>
              <a:off x="7009622" y="2266561"/>
              <a:ext cx="647700" cy="647700"/>
            </a:xfrm>
            <a:prstGeom prst="arc">
              <a:avLst>
                <a:gd name="adj1" fmla="val 7625442"/>
                <a:gd name="adj2" fmla="val 16226253"/>
              </a:avLst>
            </a:prstGeom>
            <a:ln w="203200">
              <a:solidFill>
                <a:srgbClr val="92D05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66" name="Group 65"/>
          <p:cNvGrpSpPr/>
          <p:nvPr/>
        </p:nvGrpSpPr>
        <p:grpSpPr>
          <a:xfrm rot="9900000">
            <a:off x="4974420" y="4487849"/>
            <a:ext cx="609600" cy="152400"/>
            <a:chOff x="7010400" y="2514600"/>
            <a:chExt cx="609600" cy="152400"/>
          </a:xfrm>
        </p:grpSpPr>
        <p:cxnSp>
          <p:nvCxnSpPr>
            <p:cNvPr id="56" name="Straight Connector 55"/>
            <p:cNvCxnSpPr/>
            <p:nvPr/>
          </p:nvCxnSpPr>
          <p:spPr>
            <a:xfrm>
              <a:off x="7315200" y="2590800"/>
              <a:ext cx="304800" cy="76200"/>
            </a:xfrm>
            <a:prstGeom prst="line">
              <a:avLst/>
            </a:prstGeom>
            <a:ln w="76200">
              <a:headEnd type="oval" w="med" len="med"/>
            </a:ln>
          </p:spPr>
          <p:style>
            <a:lnRef idx="3">
              <a:schemeClr val="dk1"/>
            </a:lnRef>
            <a:fillRef idx="0">
              <a:schemeClr val="dk1"/>
            </a:fillRef>
            <a:effectRef idx="2">
              <a:schemeClr val="dk1"/>
            </a:effectRef>
            <a:fontRef idx="minor">
              <a:schemeClr val="tx1"/>
            </a:fontRef>
          </p:style>
        </p:cxnSp>
        <p:cxnSp>
          <p:nvCxnSpPr>
            <p:cNvPr id="65" name="Straight Connector 64"/>
            <p:cNvCxnSpPr/>
            <p:nvPr/>
          </p:nvCxnSpPr>
          <p:spPr>
            <a:xfrm flipH="1" flipV="1">
              <a:off x="7010400" y="2514600"/>
              <a:ext cx="304800" cy="76200"/>
            </a:xfrm>
            <a:prstGeom prst="line">
              <a:avLst/>
            </a:prstGeom>
            <a:ln w="63500">
              <a:noFill/>
              <a:headEnd type="oval" w="med" len="med"/>
            </a:ln>
          </p:spPr>
          <p:style>
            <a:lnRef idx="3">
              <a:schemeClr val="dk1"/>
            </a:lnRef>
            <a:fillRef idx="0">
              <a:schemeClr val="dk1"/>
            </a:fillRef>
            <a:effectRef idx="2">
              <a:schemeClr val="dk1"/>
            </a:effectRef>
            <a:fontRef idx="minor">
              <a:schemeClr val="tx1"/>
            </a:fontRef>
          </p:style>
        </p:cxnSp>
      </p:grpSp>
      <p:grpSp>
        <p:nvGrpSpPr>
          <p:cNvPr id="76" name="Group 75"/>
          <p:cNvGrpSpPr/>
          <p:nvPr/>
        </p:nvGrpSpPr>
        <p:grpSpPr>
          <a:xfrm>
            <a:off x="4800600" y="5257800"/>
            <a:ext cx="914400" cy="914400"/>
            <a:chOff x="6873902" y="2141551"/>
            <a:chExt cx="914400" cy="914400"/>
          </a:xfrm>
        </p:grpSpPr>
        <p:sp>
          <p:nvSpPr>
            <p:cNvPr id="77" name="Oval 76"/>
            <p:cNvSpPr/>
            <p:nvPr/>
          </p:nvSpPr>
          <p:spPr>
            <a:xfrm>
              <a:off x="6873902" y="2141551"/>
              <a:ext cx="914400" cy="914400"/>
            </a:xfrm>
            <a:prstGeom prst="ellipse">
              <a:avLst/>
            </a:prstGeom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79" name="Arc 78"/>
            <p:cNvSpPr/>
            <p:nvPr/>
          </p:nvSpPr>
          <p:spPr>
            <a:xfrm>
              <a:off x="7009622" y="2266561"/>
              <a:ext cx="647700" cy="647700"/>
            </a:xfrm>
            <a:prstGeom prst="arc">
              <a:avLst>
                <a:gd name="adj1" fmla="val 15687070"/>
                <a:gd name="adj2" fmla="val 20195520"/>
              </a:avLst>
            </a:prstGeom>
            <a:ln w="203200">
              <a:solidFill>
                <a:srgbClr val="FFFF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80" name="Arc 79"/>
            <p:cNvSpPr/>
            <p:nvPr/>
          </p:nvSpPr>
          <p:spPr>
            <a:xfrm>
              <a:off x="7009622" y="2266561"/>
              <a:ext cx="647700" cy="647700"/>
            </a:xfrm>
            <a:prstGeom prst="arc">
              <a:avLst>
                <a:gd name="adj1" fmla="val 7625442"/>
                <a:gd name="adj2" fmla="val 16226253"/>
              </a:avLst>
            </a:prstGeom>
            <a:ln w="203200">
              <a:solidFill>
                <a:srgbClr val="92D05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78" name="Arc 77"/>
            <p:cNvSpPr/>
            <p:nvPr/>
          </p:nvSpPr>
          <p:spPr>
            <a:xfrm>
              <a:off x="7009622" y="2266561"/>
              <a:ext cx="647700" cy="647700"/>
            </a:xfrm>
            <a:prstGeom prst="arc">
              <a:avLst>
                <a:gd name="adj1" fmla="val 19974213"/>
                <a:gd name="adj2" fmla="val 3173376"/>
              </a:avLst>
            </a:prstGeom>
            <a:ln w="203200"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81" name="Group 80"/>
          <p:cNvGrpSpPr/>
          <p:nvPr/>
        </p:nvGrpSpPr>
        <p:grpSpPr>
          <a:xfrm rot="20700000" flipH="1">
            <a:off x="4974420" y="5630849"/>
            <a:ext cx="609600" cy="152400"/>
            <a:chOff x="7010400" y="2514600"/>
            <a:chExt cx="609600" cy="152400"/>
          </a:xfrm>
        </p:grpSpPr>
        <p:cxnSp>
          <p:nvCxnSpPr>
            <p:cNvPr id="82" name="Straight Connector 81"/>
            <p:cNvCxnSpPr/>
            <p:nvPr/>
          </p:nvCxnSpPr>
          <p:spPr>
            <a:xfrm>
              <a:off x="7315200" y="2590800"/>
              <a:ext cx="304800" cy="76200"/>
            </a:xfrm>
            <a:prstGeom prst="line">
              <a:avLst/>
            </a:prstGeom>
            <a:ln w="76200">
              <a:headEnd type="oval" w="med" len="med"/>
            </a:ln>
          </p:spPr>
          <p:style>
            <a:lnRef idx="3">
              <a:schemeClr val="dk1"/>
            </a:lnRef>
            <a:fillRef idx="0">
              <a:schemeClr val="dk1"/>
            </a:fillRef>
            <a:effectRef idx="2">
              <a:schemeClr val="dk1"/>
            </a:effectRef>
            <a:fontRef idx="minor">
              <a:schemeClr val="tx1"/>
            </a:fontRef>
          </p:style>
        </p:cxnSp>
        <p:cxnSp>
          <p:nvCxnSpPr>
            <p:cNvPr id="83" name="Straight Connector 82"/>
            <p:cNvCxnSpPr/>
            <p:nvPr/>
          </p:nvCxnSpPr>
          <p:spPr>
            <a:xfrm flipH="1" flipV="1">
              <a:off x="7010400" y="2514600"/>
              <a:ext cx="304800" cy="76200"/>
            </a:xfrm>
            <a:prstGeom prst="line">
              <a:avLst/>
            </a:prstGeom>
            <a:ln w="63500">
              <a:noFill/>
              <a:headEnd type="oval" w="med" len="med"/>
            </a:ln>
          </p:spPr>
          <p:style>
            <a:lnRef idx="3">
              <a:schemeClr val="dk1"/>
            </a:lnRef>
            <a:fillRef idx="0">
              <a:schemeClr val="dk1"/>
            </a:fillRef>
            <a:effectRef idx="2">
              <a:schemeClr val="dk1"/>
            </a:effectRef>
            <a:fontRef idx="minor">
              <a:schemeClr val="tx1"/>
            </a:fontRef>
          </p:style>
        </p:cxnSp>
      </p:grpSp>
      <p:sp>
        <p:nvSpPr>
          <p:cNvPr id="84" name="TextBox 83"/>
          <p:cNvSpPr txBox="1"/>
          <p:nvPr/>
        </p:nvSpPr>
        <p:spPr>
          <a:xfrm>
            <a:off x="4876800" y="3733800"/>
            <a:ext cx="712054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b="1" dirty="0" smtClean="0"/>
              <a:t>CPU</a:t>
            </a:r>
            <a:endParaRPr lang="en-US" sz="2400" b="1" dirty="0"/>
          </a:p>
        </p:txBody>
      </p:sp>
      <p:sp>
        <p:nvSpPr>
          <p:cNvPr id="85" name="TextBox 84"/>
          <p:cNvSpPr txBox="1"/>
          <p:nvPr/>
        </p:nvSpPr>
        <p:spPr>
          <a:xfrm>
            <a:off x="4419600" y="6153090"/>
            <a:ext cx="1578766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b="1" dirty="0" smtClean="0"/>
              <a:t>Packet loss</a:t>
            </a:r>
            <a:endParaRPr lang="en-US" sz="2400" b="1" dirty="0"/>
          </a:p>
        </p:txBody>
      </p:sp>
      <p:pic>
        <p:nvPicPr>
          <p:cNvPr id="87" name="Picture 86" descr="dialog-warning-2.png"/>
          <p:cNvPicPr>
            <a:picLocks noChangeAspect="1"/>
          </p:cNvPicPr>
          <p:nvPr/>
        </p:nvPicPr>
        <p:blipFill>
          <a:blip r:embed="rId7" cstate="print"/>
          <a:stretch>
            <a:fillRect/>
          </a:stretch>
        </p:blipFill>
        <p:spPr>
          <a:xfrm>
            <a:off x="3962400" y="6019800"/>
            <a:ext cx="563871" cy="563871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xit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10" dur="500"/>
                                        <p:tgtEl>
                                          <p:spTgt spid="4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0-ppt_w/2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1" dur="500"/>
                                        <p:tgtEl>
                                          <p:spTgt spid="4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ppt_y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10" presetClass="entr" presetSubtype="0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10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8" presetClass="emp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Rot by="10800000">
                                      <p:cBhvr>
                                        <p:cTn id="36" dur="1000" fill="hold"/>
                                        <p:tgtEl>
                                          <p:spTgt spid="66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37" presetID="8" presetClass="emp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Rot by="12600000">
                                      <p:cBhvr>
                                        <p:cTn id="38" dur="1000" fill="hold"/>
                                        <p:tgtEl>
                                          <p:spTgt spid="81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9" fill="hold">
                            <p:stCondLst>
                              <p:cond delay="1000"/>
                            </p:stCondLst>
                            <p:childTnLst>
                              <p:par>
                                <p:cTn id="40" presetID="53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2" dur="500" fill="hold"/>
                                        <p:tgtEl>
                                          <p:spTgt spid="8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3" dur="500" fill="hold"/>
                                        <p:tgtEl>
                                          <p:spTgt spid="8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4" dur="500"/>
                                        <p:tgtEl>
                                          <p:spTgt spid="8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0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1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2" fill="hold">
                      <p:stCondLst>
                        <p:cond delay="indefinite"/>
                      </p:stCondLst>
                      <p:childTnLst>
                        <p:par>
                          <p:cTn id="53" fill="hold">
                            <p:stCondLst>
                              <p:cond delay="0"/>
                            </p:stCondLst>
                            <p:childTnLst>
                              <p:par>
                                <p:cTn id="54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56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7" fill="hold">
                            <p:stCondLst>
                              <p:cond delay="500"/>
                            </p:stCondLst>
                            <p:childTnLst>
                              <p:par>
                                <p:cTn id="58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0" dur="10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1" presetID="10" presetClass="exit" presetSubtype="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2" dur="10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999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4" presetID="8" presetClass="emph" presetSubtype="0" fill="hold" nodeType="withEffect">
                                  <p:stCondLst>
                                    <p:cond delay="800"/>
                                  </p:stCondLst>
                                  <p:childTnLst>
                                    <p:animRot by="-12600000">
                                      <p:cBhvr>
                                        <p:cTn id="65" dur="1000" fill="hold"/>
                                        <p:tgtEl>
                                          <p:spTgt spid="81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66" presetID="8" presetClass="emph" presetSubtype="0" fill="hold" nodeType="withEffect">
                                  <p:stCondLst>
                                    <p:cond delay="800"/>
                                  </p:stCondLst>
                                  <p:childTnLst>
                                    <p:animRot by="-9600000">
                                      <p:cBhvr>
                                        <p:cTn id="67" dur="1000" fill="hold"/>
                                        <p:tgtEl>
                                          <p:spTgt spid="66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8" fill="hold">
                            <p:stCondLst>
                              <p:cond delay="2300"/>
                            </p:stCondLst>
                            <p:childTnLst>
                              <p:par>
                                <p:cTn id="69" presetID="53" presetClass="exit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>
                                        <p:cTn id="70" dur="500"/>
                                        <p:tgtEl>
                                          <p:spTgt spid="8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w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1" dur="500"/>
                                        <p:tgtEl>
                                          <p:spTgt spid="8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h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out" filter="fade">
                                      <p:cBhvr>
                                        <p:cTn id="72" dur="500"/>
                                        <p:tgtEl>
                                          <p:spTgt spid="8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4" fill="hold">
                      <p:stCondLst>
                        <p:cond delay="indefinite"/>
                      </p:stCondLst>
                      <p:childTnLst>
                        <p:par>
                          <p:cTn id="75" fill="hold">
                            <p:stCondLst>
                              <p:cond delay="0"/>
                            </p:stCondLst>
                            <p:childTnLst>
                              <p:par>
                                <p:cTn id="76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8" fill="hold">
                      <p:stCondLst>
                        <p:cond delay="indefinite"/>
                      </p:stCondLst>
                      <p:childTnLst>
                        <p:par>
                          <p:cTn id="79" fill="hold">
                            <p:stCondLst>
                              <p:cond delay="0"/>
                            </p:stCondLst>
                            <p:childTnLst>
                              <p:par>
                                <p:cTn id="80" presetID="10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81" dur="10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999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3" presetID="10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84" dur="10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85" dur="1" fill="hold">
                                          <p:stCondLst>
                                            <p:cond delay="999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6" presetID="8" presetClass="emp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Rot by="-3000000">
                                      <p:cBhvr>
                                        <p:cTn id="87" dur="1000" fill="hold"/>
                                        <p:tgtEl>
                                          <p:spTgt spid="66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8" fill="hold">
                      <p:stCondLst>
                        <p:cond delay="indefinite"/>
                      </p:stCondLst>
                      <p:childTnLst>
                        <p:par>
                          <p:cTn id="89" fill="hold">
                            <p:stCondLst>
                              <p:cond delay="0"/>
                            </p:stCondLst>
                            <p:childTnLst>
                              <p:par>
                                <p:cTn id="90" presetID="42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91" dur="10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92" dur="1000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3" dur="1000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ppt_y+.1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94" dur="1" fill="hold">
                                          <p:stCondLst>
                                            <p:cond delay="999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5" presetID="10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96" dur="10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97" dur="1" fill="hold">
                                          <p:stCondLst>
                                            <p:cond delay="999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8" presetID="8" presetClass="emp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Rot by="1500000">
                                      <p:cBhvr>
                                        <p:cTn id="99" dur="1000" fill="hold"/>
                                        <p:tgtEl>
                                          <p:spTgt spid="66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100" presetID="10" presetClass="entr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2" dur="10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3" fill="hold">
                      <p:stCondLst>
                        <p:cond delay="indefinite"/>
                      </p:stCondLst>
                      <p:childTnLst>
                        <p:par>
                          <p:cTn id="104" fill="hold">
                            <p:stCondLst>
                              <p:cond delay="0"/>
                            </p:stCondLst>
                            <p:childTnLst>
                              <p:par>
                                <p:cTn id="10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  <p:bldP spid="17" grpId="0" uiExpand="1" animBg="1"/>
      <p:bldP spid="17" grpId="1" animBg="1"/>
      <p:bldP spid="19" grpId="0" uiExpand="1" animBg="1"/>
      <p:bldP spid="19" grpId="1" uiExpand="1" animBg="1"/>
      <p:bldP spid="16" grpId="0" uiExpand="1" animBg="1"/>
      <p:bldP spid="16" grpId="1" animBg="1"/>
      <p:bldP spid="18" grpId="0" uiExpand="1" animBg="1"/>
      <p:bldP spid="18" grpId="1" uiExpand="1" animBg="1"/>
      <p:bldP spid="84" grpId="0" uiExpand="1"/>
      <p:bldP spid="85" grpId="0" uiExpand="1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" name="Picture 14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tretch>
            <a:fillRect/>
          </a:stretch>
        </p:blipFill>
        <p:spPr>
          <a:xfrm>
            <a:off x="7235552" y="3657600"/>
            <a:ext cx="765448" cy="762000"/>
          </a:xfrm>
          <a:prstGeom prst="rect">
            <a:avLst/>
          </a:prstGeom>
        </p:spPr>
      </p:pic>
      <p:grpSp>
        <p:nvGrpSpPr>
          <p:cNvPr id="10" name="Group 75"/>
          <p:cNvGrpSpPr/>
          <p:nvPr/>
        </p:nvGrpSpPr>
        <p:grpSpPr>
          <a:xfrm>
            <a:off x="6126481" y="4678681"/>
            <a:ext cx="883919" cy="883919"/>
            <a:chOff x="4846320" y="2209800"/>
            <a:chExt cx="609600" cy="609600"/>
          </a:xfrm>
        </p:grpSpPr>
        <p:sp>
          <p:nvSpPr>
            <p:cNvPr id="6" name="Rounded Rectangle 5"/>
            <p:cNvSpPr/>
            <p:nvPr/>
          </p:nvSpPr>
          <p:spPr>
            <a:xfrm>
              <a:off x="4846320" y="2209800"/>
              <a:ext cx="609600" cy="609600"/>
            </a:xfrm>
            <a:prstGeom prst="roundRect">
              <a:avLst/>
            </a:prstGeom>
          </p:spPr>
          <p:style>
            <a:lnRef idx="0">
              <a:schemeClr val="accent6"/>
            </a:lnRef>
            <a:fillRef idx="3">
              <a:schemeClr val="accent6"/>
            </a:fillRef>
            <a:effectRef idx="3">
              <a:schemeClr val="accent6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grpSp>
          <p:nvGrpSpPr>
            <p:cNvPr id="12" name="Group 23"/>
            <p:cNvGrpSpPr/>
            <p:nvPr/>
          </p:nvGrpSpPr>
          <p:grpSpPr>
            <a:xfrm>
              <a:off x="4876798" y="2270760"/>
              <a:ext cx="518164" cy="487680"/>
              <a:chOff x="609600" y="1652131"/>
              <a:chExt cx="359837" cy="338667"/>
            </a:xfrm>
          </p:grpSpPr>
          <p:pic>
            <p:nvPicPr>
              <p:cNvPr id="8" name="Picture 7" descr="magnifying_glass.png"/>
              <p:cNvPicPr>
                <a:picLocks noChangeAspect="1"/>
              </p:cNvPicPr>
              <p:nvPr/>
            </p:nvPicPr>
            <p:blipFill>
              <a:blip r:embed="rId4" cstate="print"/>
              <a:stretch>
                <a:fillRect/>
              </a:stretch>
            </p:blipFill>
            <p:spPr>
              <a:xfrm>
                <a:off x="630769" y="1652131"/>
                <a:ext cx="338668" cy="338667"/>
              </a:xfrm>
              <a:prstGeom prst="rect">
                <a:avLst/>
              </a:prstGeom>
              <a:effectLst>
                <a:outerShdw blurRad="63500" sx="102000" sy="102000" algn="ctr" rotWithShape="0">
                  <a:prstClr val="black">
                    <a:alpha val="40000"/>
                  </a:prstClr>
                </a:outerShdw>
              </a:effectLst>
            </p:spPr>
          </p:pic>
          <p:pic>
            <p:nvPicPr>
              <p:cNvPr id="9" name="Picture 2" descr="C:\Users\agember\AppData\Local\Microsoft\Windows\Temporary Internet Files\Content.IE5\2DGPU1UI\MC900431599[1].png"/>
              <p:cNvPicPr>
                <a:picLocks noChangeAspect="1" noChangeArrowheads="1"/>
              </p:cNvPicPr>
              <p:nvPr/>
            </p:nvPicPr>
            <p:blipFill>
              <a:blip r:embed="rId5" cstate="print"/>
              <a:srcRect/>
              <a:stretch>
                <a:fillRect/>
              </a:stretch>
            </p:blipFill>
            <p:spPr bwMode="auto">
              <a:xfrm>
                <a:off x="609600" y="1752600"/>
                <a:ext cx="238125" cy="238125"/>
              </a:xfrm>
              <a:prstGeom prst="rect">
                <a:avLst/>
              </a:prstGeom>
              <a:noFill/>
            </p:spPr>
          </p:pic>
        </p:grp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 smtClean="0"/>
              <a:t>Example: elastic NF scaling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04800" y="1447800"/>
            <a:ext cx="8229600" cy="4754563"/>
          </a:xfrm>
        </p:spPr>
        <p:txBody>
          <a:bodyPr>
            <a:normAutofit/>
          </a:bodyPr>
          <a:lstStyle/>
          <a:p>
            <a:pPr marL="679450" indent="-514350">
              <a:buNone/>
            </a:pPr>
            <a:endParaRPr lang="en-US" dirty="0" smtClean="0"/>
          </a:p>
          <a:p>
            <a:pPr marL="679450" indent="-514350">
              <a:buFont typeface="+mj-lt"/>
              <a:buAutoNum type="arabicPeriod"/>
            </a:pPr>
            <a:r>
              <a:rPr lang="en-US" dirty="0" smtClean="0"/>
              <a:t>Satisfy performance SLAs</a:t>
            </a:r>
          </a:p>
          <a:p>
            <a:pPr marL="679450" indent="-514350">
              <a:buFont typeface="+mj-lt"/>
              <a:buAutoNum type="arabicPeriod"/>
            </a:pPr>
            <a:r>
              <a:rPr lang="en-US" dirty="0" smtClean="0"/>
              <a:t>Minimize operating costs</a:t>
            </a:r>
          </a:p>
          <a:p>
            <a:pPr marL="679450" indent="-514350">
              <a:buFont typeface="+mj-lt"/>
              <a:buAutoNum type="arabicPeriod"/>
            </a:pPr>
            <a:r>
              <a:rPr lang="en-US" dirty="0" smtClean="0"/>
              <a:t>Accurately monitor traffic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2C5A87-65DC-41FD-9E53-7EAC48455B9A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5</a:t>
            </a:fld>
            <a:endParaRPr lang="en-US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16" name="Freeform 15"/>
          <p:cNvSpPr/>
          <p:nvPr/>
        </p:nvSpPr>
        <p:spPr>
          <a:xfrm>
            <a:off x="6400800" y="3581400"/>
            <a:ext cx="1143000" cy="2438400"/>
          </a:xfrm>
          <a:custGeom>
            <a:avLst/>
            <a:gdLst>
              <a:gd name="connsiteX0" fmla="*/ 1105468 w 1130489"/>
              <a:gd name="connsiteY0" fmla="*/ 0 h 1665027"/>
              <a:gd name="connsiteX1" fmla="*/ 982638 w 1130489"/>
              <a:gd name="connsiteY1" fmla="*/ 341194 h 1665027"/>
              <a:gd name="connsiteX2" fmla="*/ 218364 w 1130489"/>
              <a:gd name="connsiteY2" fmla="*/ 1064526 h 1665027"/>
              <a:gd name="connsiteX3" fmla="*/ 0 w 1130489"/>
              <a:gd name="connsiteY3" fmla="*/ 1665027 h 166502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130489" h="1665027">
                <a:moveTo>
                  <a:pt x="1105468" y="0"/>
                </a:moveTo>
                <a:cubicBezTo>
                  <a:pt x="1117978" y="81886"/>
                  <a:pt x="1130489" y="163773"/>
                  <a:pt x="982638" y="341194"/>
                </a:cubicBezTo>
                <a:cubicBezTo>
                  <a:pt x="834787" y="518615"/>
                  <a:pt x="382137" y="843887"/>
                  <a:pt x="218364" y="1064526"/>
                </a:cubicBezTo>
                <a:cubicBezTo>
                  <a:pt x="54591" y="1285165"/>
                  <a:pt x="27295" y="1475096"/>
                  <a:pt x="0" y="1665027"/>
                </a:cubicBezTo>
              </a:path>
            </a:pathLst>
          </a:custGeom>
          <a:ln w="101600">
            <a:solidFill>
              <a:schemeClr val="tx1"/>
            </a:solidFill>
            <a:tailEnd type="arrow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22" name="Group 66"/>
          <p:cNvGrpSpPr/>
          <p:nvPr/>
        </p:nvGrpSpPr>
        <p:grpSpPr>
          <a:xfrm>
            <a:off x="4800600" y="4114800"/>
            <a:ext cx="914400" cy="914400"/>
            <a:chOff x="6873902" y="2141551"/>
            <a:chExt cx="914400" cy="914400"/>
          </a:xfrm>
        </p:grpSpPr>
        <p:sp>
          <p:nvSpPr>
            <p:cNvPr id="51" name="Oval 50"/>
            <p:cNvSpPr/>
            <p:nvPr/>
          </p:nvSpPr>
          <p:spPr>
            <a:xfrm>
              <a:off x="6873902" y="2141551"/>
              <a:ext cx="914400" cy="914400"/>
            </a:xfrm>
            <a:prstGeom prst="ellipse">
              <a:avLst/>
            </a:prstGeom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2" name="Arc 51"/>
            <p:cNvSpPr/>
            <p:nvPr/>
          </p:nvSpPr>
          <p:spPr>
            <a:xfrm>
              <a:off x="7009622" y="2293951"/>
              <a:ext cx="647700" cy="647700"/>
            </a:xfrm>
            <a:prstGeom prst="arc">
              <a:avLst>
                <a:gd name="adj1" fmla="val 19974213"/>
                <a:gd name="adj2" fmla="val 3173376"/>
              </a:avLst>
            </a:prstGeom>
            <a:ln w="203200"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3" name="Arc 52"/>
            <p:cNvSpPr/>
            <p:nvPr/>
          </p:nvSpPr>
          <p:spPr>
            <a:xfrm>
              <a:off x="7009622" y="2255851"/>
              <a:ext cx="647700" cy="647700"/>
            </a:xfrm>
            <a:prstGeom prst="arc">
              <a:avLst>
                <a:gd name="adj1" fmla="val 15687070"/>
                <a:gd name="adj2" fmla="val 20195520"/>
              </a:avLst>
            </a:prstGeom>
            <a:ln w="203200">
              <a:solidFill>
                <a:srgbClr val="FFFF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4" name="Arc 53"/>
            <p:cNvSpPr/>
            <p:nvPr/>
          </p:nvSpPr>
          <p:spPr>
            <a:xfrm>
              <a:off x="7009622" y="2266561"/>
              <a:ext cx="647700" cy="647700"/>
            </a:xfrm>
            <a:prstGeom prst="arc">
              <a:avLst>
                <a:gd name="adj1" fmla="val 7625442"/>
                <a:gd name="adj2" fmla="val 16226253"/>
              </a:avLst>
            </a:prstGeom>
            <a:ln w="203200">
              <a:solidFill>
                <a:srgbClr val="92D05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23" name="Group 65"/>
          <p:cNvGrpSpPr/>
          <p:nvPr/>
        </p:nvGrpSpPr>
        <p:grpSpPr>
          <a:xfrm rot="9600000">
            <a:off x="4974420" y="4487849"/>
            <a:ext cx="609600" cy="152400"/>
            <a:chOff x="7010400" y="2514600"/>
            <a:chExt cx="609600" cy="152400"/>
          </a:xfrm>
        </p:grpSpPr>
        <p:cxnSp>
          <p:nvCxnSpPr>
            <p:cNvPr id="56" name="Straight Connector 55"/>
            <p:cNvCxnSpPr/>
            <p:nvPr/>
          </p:nvCxnSpPr>
          <p:spPr>
            <a:xfrm>
              <a:off x="7315200" y="2590800"/>
              <a:ext cx="304800" cy="76200"/>
            </a:xfrm>
            <a:prstGeom prst="line">
              <a:avLst/>
            </a:prstGeom>
            <a:ln w="76200">
              <a:headEnd type="oval" w="med" len="med"/>
            </a:ln>
          </p:spPr>
          <p:style>
            <a:lnRef idx="3">
              <a:schemeClr val="dk1"/>
            </a:lnRef>
            <a:fillRef idx="0">
              <a:schemeClr val="dk1"/>
            </a:fillRef>
            <a:effectRef idx="2">
              <a:schemeClr val="dk1"/>
            </a:effectRef>
            <a:fontRef idx="minor">
              <a:schemeClr val="tx1"/>
            </a:fontRef>
          </p:style>
        </p:cxnSp>
        <p:cxnSp>
          <p:nvCxnSpPr>
            <p:cNvPr id="65" name="Straight Connector 64"/>
            <p:cNvCxnSpPr/>
            <p:nvPr/>
          </p:nvCxnSpPr>
          <p:spPr>
            <a:xfrm flipH="1" flipV="1">
              <a:off x="7010400" y="2514600"/>
              <a:ext cx="304800" cy="76200"/>
            </a:xfrm>
            <a:prstGeom prst="line">
              <a:avLst/>
            </a:prstGeom>
            <a:ln w="63500">
              <a:noFill/>
              <a:headEnd type="oval" w="med" len="med"/>
            </a:ln>
          </p:spPr>
          <p:style>
            <a:lnRef idx="3">
              <a:schemeClr val="dk1"/>
            </a:lnRef>
            <a:fillRef idx="0">
              <a:schemeClr val="dk1"/>
            </a:fillRef>
            <a:effectRef idx="2">
              <a:schemeClr val="dk1"/>
            </a:effectRef>
            <a:fontRef idx="minor">
              <a:schemeClr val="tx1"/>
            </a:fontRef>
          </p:style>
        </p:cxnSp>
      </p:grpSp>
      <p:grpSp>
        <p:nvGrpSpPr>
          <p:cNvPr id="24" name="Group 75"/>
          <p:cNvGrpSpPr/>
          <p:nvPr/>
        </p:nvGrpSpPr>
        <p:grpSpPr>
          <a:xfrm>
            <a:off x="4800600" y="5257800"/>
            <a:ext cx="914400" cy="914400"/>
            <a:chOff x="6873902" y="2141551"/>
            <a:chExt cx="914400" cy="914400"/>
          </a:xfrm>
        </p:grpSpPr>
        <p:sp>
          <p:nvSpPr>
            <p:cNvPr id="77" name="Oval 76"/>
            <p:cNvSpPr/>
            <p:nvPr/>
          </p:nvSpPr>
          <p:spPr>
            <a:xfrm>
              <a:off x="6873902" y="2141551"/>
              <a:ext cx="914400" cy="914400"/>
            </a:xfrm>
            <a:prstGeom prst="ellipse">
              <a:avLst/>
            </a:prstGeom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79" name="Arc 78"/>
            <p:cNvSpPr/>
            <p:nvPr/>
          </p:nvSpPr>
          <p:spPr>
            <a:xfrm>
              <a:off x="7009622" y="2266561"/>
              <a:ext cx="647700" cy="647700"/>
            </a:xfrm>
            <a:prstGeom prst="arc">
              <a:avLst>
                <a:gd name="adj1" fmla="val 15687070"/>
                <a:gd name="adj2" fmla="val 20195520"/>
              </a:avLst>
            </a:prstGeom>
            <a:ln w="203200">
              <a:solidFill>
                <a:srgbClr val="FFFF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80" name="Arc 79"/>
            <p:cNvSpPr/>
            <p:nvPr/>
          </p:nvSpPr>
          <p:spPr>
            <a:xfrm>
              <a:off x="7009622" y="2266561"/>
              <a:ext cx="647700" cy="647700"/>
            </a:xfrm>
            <a:prstGeom prst="arc">
              <a:avLst>
                <a:gd name="adj1" fmla="val 7625442"/>
                <a:gd name="adj2" fmla="val 16226253"/>
              </a:avLst>
            </a:prstGeom>
            <a:ln w="203200">
              <a:solidFill>
                <a:srgbClr val="92D05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78" name="Arc 77"/>
            <p:cNvSpPr/>
            <p:nvPr/>
          </p:nvSpPr>
          <p:spPr>
            <a:xfrm>
              <a:off x="7009622" y="2266561"/>
              <a:ext cx="647700" cy="647700"/>
            </a:xfrm>
            <a:prstGeom prst="arc">
              <a:avLst>
                <a:gd name="adj1" fmla="val 19974213"/>
                <a:gd name="adj2" fmla="val 3173376"/>
              </a:avLst>
            </a:prstGeom>
            <a:ln w="203200"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25" name="Group 80"/>
          <p:cNvGrpSpPr/>
          <p:nvPr/>
        </p:nvGrpSpPr>
        <p:grpSpPr>
          <a:xfrm rot="20700000" flipH="1">
            <a:off x="4974420" y="5630849"/>
            <a:ext cx="609600" cy="152400"/>
            <a:chOff x="7010400" y="2514600"/>
            <a:chExt cx="609600" cy="152400"/>
          </a:xfrm>
        </p:grpSpPr>
        <p:cxnSp>
          <p:nvCxnSpPr>
            <p:cNvPr id="82" name="Straight Connector 81"/>
            <p:cNvCxnSpPr/>
            <p:nvPr/>
          </p:nvCxnSpPr>
          <p:spPr>
            <a:xfrm>
              <a:off x="7315200" y="2590800"/>
              <a:ext cx="304800" cy="76200"/>
            </a:xfrm>
            <a:prstGeom prst="line">
              <a:avLst/>
            </a:prstGeom>
            <a:ln w="76200">
              <a:headEnd type="oval" w="med" len="med"/>
            </a:ln>
          </p:spPr>
          <p:style>
            <a:lnRef idx="3">
              <a:schemeClr val="dk1"/>
            </a:lnRef>
            <a:fillRef idx="0">
              <a:schemeClr val="dk1"/>
            </a:fillRef>
            <a:effectRef idx="2">
              <a:schemeClr val="dk1"/>
            </a:effectRef>
            <a:fontRef idx="minor">
              <a:schemeClr val="tx1"/>
            </a:fontRef>
          </p:style>
        </p:cxnSp>
        <p:cxnSp>
          <p:nvCxnSpPr>
            <p:cNvPr id="83" name="Straight Connector 82"/>
            <p:cNvCxnSpPr/>
            <p:nvPr/>
          </p:nvCxnSpPr>
          <p:spPr>
            <a:xfrm flipH="1" flipV="1">
              <a:off x="7010400" y="2514600"/>
              <a:ext cx="304800" cy="76200"/>
            </a:xfrm>
            <a:prstGeom prst="line">
              <a:avLst/>
            </a:prstGeom>
            <a:ln w="63500">
              <a:noFill/>
              <a:headEnd type="oval" w="med" len="med"/>
            </a:ln>
          </p:spPr>
          <p:style>
            <a:lnRef idx="3">
              <a:schemeClr val="dk1"/>
            </a:lnRef>
            <a:fillRef idx="0">
              <a:schemeClr val="dk1"/>
            </a:fillRef>
            <a:effectRef idx="2">
              <a:schemeClr val="dk1"/>
            </a:effectRef>
            <a:fontRef idx="minor">
              <a:schemeClr val="tx1"/>
            </a:fontRef>
          </p:style>
        </p:cxnSp>
      </p:grpSp>
      <p:sp>
        <p:nvSpPr>
          <p:cNvPr id="84" name="TextBox 83"/>
          <p:cNvSpPr txBox="1"/>
          <p:nvPr/>
        </p:nvSpPr>
        <p:spPr>
          <a:xfrm>
            <a:off x="4876800" y="3733800"/>
            <a:ext cx="712054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b="1" dirty="0" smtClean="0"/>
              <a:t>CPU</a:t>
            </a:r>
            <a:endParaRPr lang="en-US" sz="2400" b="1" dirty="0"/>
          </a:p>
        </p:txBody>
      </p:sp>
      <p:sp>
        <p:nvSpPr>
          <p:cNvPr id="85" name="TextBox 84"/>
          <p:cNvSpPr txBox="1"/>
          <p:nvPr/>
        </p:nvSpPr>
        <p:spPr>
          <a:xfrm>
            <a:off x="4419600" y="6153090"/>
            <a:ext cx="1578766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b="1" dirty="0" smtClean="0"/>
              <a:t>Packet loss</a:t>
            </a:r>
            <a:endParaRPr lang="en-US" sz="2400" b="1" dirty="0"/>
          </a:p>
        </p:txBody>
      </p:sp>
      <p:sp>
        <p:nvSpPr>
          <p:cNvPr id="45" name="Content Placeholder 2"/>
          <p:cNvSpPr txBox="1">
            <a:spLocks/>
          </p:cNvSpPr>
          <p:nvPr/>
        </p:nvSpPr>
        <p:spPr>
          <a:xfrm>
            <a:off x="304800" y="1447800"/>
            <a:ext cx="5029200" cy="609600"/>
          </a:xfrm>
          <a:prstGeom prst="rect">
            <a:avLst/>
          </a:prstGeom>
          <a:solidFill>
            <a:schemeClr val="bg1"/>
          </a:solidFill>
        </p:spPr>
        <p:txBody>
          <a:bodyPr vert="horz" lIns="91440" tIns="45720" rIns="91440" bIns="45720" rtlCol="0">
            <a:normAutofit/>
          </a:bodyPr>
          <a:lstStyle/>
          <a:p>
            <a:pPr marL="514350" marR="0" lvl="0" indent="-514350" algn="l" defTabSz="914400" rtl="0" eaLnBrk="1" fontAlgn="auto" latinLnBrk="0" hangingPunct="1">
              <a:lnSpc>
                <a:spcPct val="100000"/>
              </a:lnSpc>
              <a:spcBef>
                <a:spcPts val="1800"/>
              </a:spcBef>
              <a:spcAft>
                <a:spcPts val="0"/>
              </a:spcAft>
              <a:buClrTx/>
              <a:buSzTx/>
              <a:tabLst/>
              <a:defRPr/>
            </a:pPr>
            <a:r>
              <a:rPr lang="en-US" sz="3200" dirty="0" smtClean="0"/>
              <a:t>To </a:t>
            </a:r>
            <a:r>
              <a:rPr lang="en-US" sz="3200" b="1" dirty="0" smtClean="0"/>
              <a:t>simultaneously</a:t>
            </a:r>
            <a:r>
              <a:rPr lang="en-US" sz="3200" dirty="0" smtClean="0"/>
              <a:t>…</a:t>
            </a:r>
            <a:endParaRPr kumimoji="0" lang="en-US" sz="3200" b="1" i="0" u="none" strike="noStrike" kern="120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48" name="Title 1"/>
          <p:cNvSpPr txBox="1">
            <a:spLocks/>
          </p:cNvSpPr>
          <p:nvPr/>
        </p:nvSpPr>
        <p:spPr>
          <a:xfrm>
            <a:off x="457200" y="304800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4400" b="1" dirty="0" smtClean="0">
                <a:solidFill>
                  <a:schemeClr val="accent6">
                    <a:lumMod val="75000"/>
                  </a:schemeClr>
                </a:solidFill>
                <a:latin typeface="+mj-lt"/>
                <a:ea typeface="+mj-ea"/>
                <a:cs typeface="+mj-cs"/>
              </a:rPr>
              <a:t>Problem: NFV+SDN is insufficient</a:t>
            </a:r>
            <a:endParaRPr kumimoji="0" lang="en-US" sz="4400" b="1" i="0" u="none" strike="noStrike" kern="1200" cap="none" spc="0" normalizeH="0" baseline="0" noProof="0" dirty="0">
              <a:ln>
                <a:noFill/>
              </a:ln>
              <a:solidFill>
                <a:schemeClr val="accent6">
                  <a:lumMod val="75000"/>
                </a:schemeClr>
              </a:solidFill>
              <a:effectLst/>
              <a:uLnTx/>
              <a:uFillTx/>
              <a:latin typeface="+mj-lt"/>
              <a:ea typeface="+mj-ea"/>
              <a:cs typeface="+mj-cs"/>
            </a:endParaRPr>
          </a:p>
        </p:txBody>
      </p:sp>
      <p:sp>
        <p:nvSpPr>
          <p:cNvPr id="55" name="Rounded Rectangle 54"/>
          <p:cNvSpPr/>
          <p:nvPr/>
        </p:nvSpPr>
        <p:spPr>
          <a:xfrm>
            <a:off x="609600" y="4191000"/>
            <a:ext cx="8001000" cy="1143000"/>
          </a:xfrm>
          <a:prstGeom prst="roundRect">
            <a:avLst/>
          </a:prstGeom>
        </p:spPr>
        <p:style>
          <a:lnRef idx="3">
            <a:schemeClr val="lt1"/>
          </a:lnRef>
          <a:fillRef idx="1">
            <a:schemeClr val="accent6"/>
          </a:fillRef>
          <a:effectRef idx="1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800" dirty="0" smtClean="0"/>
              <a:t>Cannot effectively implement </a:t>
            </a:r>
            <a:br>
              <a:rPr lang="en-US" sz="2800" dirty="0" smtClean="0"/>
            </a:br>
            <a:r>
              <a:rPr lang="en-US" sz="2800" dirty="0" smtClean="0"/>
              <a:t>new services  or abstractions!</a:t>
            </a:r>
            <a:endParaRPr lang="en-US" sz="2800" b="1" dirty="0"/>
          </a:p>
        </p:txBody>
      </p:sp>
      <p:pic>
        <p:nvPicPr>
          <p:cNvPr id="57" name="Picture 56" descr="emblem-important-2.png"/>
          <p:cNvPicPr>
            <a:picLocks noChangeAspect="1"/>
          </p:cNvPicPr>
          <p:nvPr/>
        </p:nvPicPr>
        <p:blipFill>
          <a:blip r:embed="rId6" cstate="print"/>
          <a:stretch>
            <a:fillRect/>
          </a:stretch>
        </p:blipFill>
        <p:spPr>
          <a:xfrm>
            <a:off x="5943600" y="1981200"/>
            <a:ext cx="1752600" cy="175260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100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1000"/>
                                        <p:tgtEl>
                                          <p:spTgt spid="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42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5" dur="1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6" dur="1000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" dur="1000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ppt_y+.1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999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42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0" dur="10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1" dur="1000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" dur="1000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ppt_y+.1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999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4" presetID="42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5" dur="10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6" dur="1000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7" dur="1000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ppt_y+.1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999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42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30" dur="10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1" dur="1000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2" dur="1000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ppt_y+.1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999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4" presetID="42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35" dur="10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6" dur="1000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7" dur="1000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ppt_y+.1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999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" presetID="42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40" dur="10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1" dur="1000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2" dur="1000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ppt_y+.1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999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4" presetID="42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45" dur="10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6" dur="1000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7" dur="1000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ppt_y+.1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999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9" presetID="42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50" dur="10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1" dur="1000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2" dur="1000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ppt_y+.1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999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4" presetID="42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55" dur="1000"/>
                                        <p:tgtEl>
                                          <p:spTgt spid="8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6" dur="1000"/>
                                        <p:tgtEl>
                                          <p:spTgt spid="8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7" dur="1000"/>
                                        <p:tgtEl>
                                          <p:spTgt spid="8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ppt_y+.1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999"/>
                                          </p:stCondLst>
                                        </p:cTn>
                                        <p:tgtEl>
                                          <p:spTgt spid="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9" presetID="42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0" dur="1000"/>
                                        <p:tgtEl>
                                          <p:spTgt spid="8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1" dur="1000"/>
                                        <p:tgtEl>
                                          <p:spTgt spid="8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2" dur="1000"/>
                                        <p:tgtEl>
                                          <p:spTgt spid="8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ppt_y+.1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999"/>
                                          </p:stCondLst>
                                        </p:cTn>
                                        <p:tgtEl>
                                          <p:spTgt spid="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4" fill="hold">
                      <p:stCondLst>
                        <p:cond delay="indefinite"/>
                      </p:stCondLst>
                      <p:childTnLst>
                        <p:par>
                          <p:cTn id="65" fill="hold">
                            <p:stCondLst>
                              <p:cond delay="0"/>
                            </p:stCondLst>
                            <p:childTnLst>
                              <p:par>
                                <p:cTn id="66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16" grpId="0" animBg="1"/>
      <p:bldP spid="84" grpId="0"/>
      <p:bldP spid="85" grpId="0"/>
      <p:bldP spid="45" grpId="0" animBg="1"/>
      <p:bldP spid="48" grpId="0"/>
      <p:bldP spid="55" grpId="0" animBg="1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2" name="Group 75"/>
          <p:cNvGrpSpPr/>
          <p:nvPr/>
        </p:nvGrpSpPr>
        <p:grpSpPr>
          <a:xfrm>
            <a:off x="5410200" y="2392681"/>
            <a:ext cx="883919" cy="883919"/>
            <a:chOff x="4846320" y="2209800"/>
            <a:chExt cx="609600" cy="609600"/>
          </a:xfrm>
        </p:grpSpPr>
        <p:sp>
          <p:nvSpPr>
            <p:cNvPr id="23" name="Rounded Rectangle 22"/>
            <p:cNvSpPr/>
            <p:nvPr/>
          </p:nvSpPr>
          <p:spPr>
            <a:xfrm>
              <a:off x="4846320" y="2209800"/>
              <a:ext cx="609600" cy="609600"/>
            </a:xfrm>
            <a:prstGeom prst="roundRect">
              <a:avLst/>
            </a:prstGeom>
          </p:spPr>
          <p:style>
            <a:lnRef idx="0">
              <a:schemeClr val="accent6"/>
            </a:lnRef>
            <a:fillRef idx="3">
              <a:schemeClr val="accent6"/>
            </a:fillRef>
            <a:effectRef idx="3">
              <a:schemeClr val="accent6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grpSp>
          <p:nvGrpSpPr>
            <p:cNvPr id="24" name="Group 23"/>
            <p:cNvGrpSpPr/>
            <p:nvPr/>
          </p:nvGrpSpPr>
          <p:grpSpPr>
            <a:xfrm>
              <a:off x="4876798" y="2270760"/>
              <a:ext cx="518164" cy="487680"/>
              <a:chOff x="609600" y="1652131"/>
              <a:chExt cx="359837" cy="338667"/>
            </a:xfrm>
          </p:grpSpPr>
          <p:pic>
            <p:nvPicPr>
              <p:cNvPr id="25" name="Picture 24" descr="magnifying_glass.png"/>
              <p:cNvPicPr>
                <a:picLocks noChangeAspect="1"/>
              </p:cNvPicPr>
              <p:nvPr/>
            </p:nvPicPr>
            <p:blipFill>
              <a:blip r:embed="rId3" cstate="print"/>
              <a:stretch>
                <a:fillRect/>
              </a:stretch>
            </p:blipFill>
            <p:spPr>
              <a:xfrm>
                <a:off x="630769" y="1652131"/>
                <a:ext cx="338668" cy="338667"/>
              </a:xfrm>
              <a:prstGeom prst="rect">
                <a:avLst/>
              </a:prstGeom>
              <a:effectLst>
                <a:outerShdw blurRad="63500" sx="102000" sy="102000" algn="ctr" rotWithShape="0">
                  <a:prstClr val="black">
                    <a:alpha val="40000"/>
                  </a:prstClr>
                </a:outerShdw>
              </a:effectLst>
            </p:spPr>
          </p:pic>
          <p:pic>
            <p:nvPicPr>
              <p:cNvPr id="26" name="Picture 2" descr="C:\Users\agember\AppData\Local\Microsoft\Windows\Temporary Internet Files\Content.IE5\2DGPU1UI\MC900431599[1].png"/>
              <p:cNvPicPr>
                <a:picLocks noChangeAspect="1" noChangeArrowheads="1"/>
              </p:cNvPicPr>
              <p:nvPr/>
            </p:nvPicPr>
            <p:blipFill>
              <a:blip r:embed="rId4" cstate="print"/>
              <a:srcRect/>
              <a:stretch>
                <a:fillRect/>
              </a:stretch>
            </p:blipFill>
            <p:spPr bwMode="auto">
              <a:xfrm>
                <a:off x="609600" y="1752600"/>
                <a:ext cx="238125" cy="238125"/>
              </a:xfrm>
              <a:prstGeom prst="rect">
                <a:avLst/>
              </a:prstGeom>
              <a:noFill/>
            </p:spPr>
          </p:pic>
        </p:grpSp>
      </p:grpSp>
      <p:sp>
        <p:nvSpPr>
          <p:cNvPr id="48" name="&quot;No&quot; Symbol 47"/>
          <p:cNvSpPr/>
          <p:nvPr/>
        </p:nvSpPr>
        <p:spPr>
          <a:xfrm>
            <a:off x="5257800" y="2286000"/>
            <a:ext cx="1143000" cy="1143000"/>
          </a:xfrm>
          <a:prstGeom prst="noSmoking">
            <a:avLst>
              <a:gd name="adj" fmla="val 10213"/>
            </a:avLst>
          </a:prstGeom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Why NFV + SDN falls short</a:t>
            </a:r>
            <a:endParaRPr lang="en-US" dirty="0"/>
          </a:p>
        </p:txBody>
      </p:sp>
      <p:graphicFrame>
        <p:nvGraphicFramePr>
          <p:cNvPr id="5" name="Content Placeholder 4"/>
          <p:cNvGraphicFramePr>
            <a:graphicFrameLocks noGrp="1"/>
          </p:cNvGraphicFramePr>
          <p:nvPr>
            <p:ph idx="1"/>
          </p:nvPr>
        </p:nvGraphicFramePr>
        <p:xfrm>
          <a:off x="533400" y="3733800"/>
          <a:ext cx="8305799" cy="301752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3691467"/>
                <a:gridCol w="1307394"/>
                <a:gridCol w="1307394"/>
                <a:gridCol w="1999544"/>
              </a:tblGrid>
              <a:tr h="457200">
                <a:tc>
                  <a:txBody>
                    <a:bodyPr/>
                    <a:lstStyle/>
                    <a:p>
                      <a:endParaRPr lang="en-US" sz="2800" dirty="0"/>
                    </a:p>
                  </a:txBody>
                  <a:tcP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3000" dirty="0" smtClean="0"/>
                        <a:t>1.</a:t>
                      </a:r>
                      <a:r>
                        <a:rPr lang="en-US" sz="3000" baseline="0" dirty="0" smtClean="0"/>
                        <a:t> </a:t>
                      </a:r>
                      <a:r>
                        <a:rPr lang="en-US" sz="3000" dirty="0" smtClean="0"/>
                        <a:t>SLAs</a:t>
                      </a:r>
                      <a:endParaRPr lang="en-US" sz="3000" dirty="0"/>
                    </a:p>
                  </a:txBody>
                  <a:tcP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3000" dirty="0" smtClean="0"/>
                        <a:t>2. Cost</a:t>
                      </a:r>
                      <a:endParaRPr lang="en-US" sz="3000" dirty="0"/>
                    </a:p>
                  </a:txBody>
                  <a:tcP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3000" dirty="0" smtClean="0"/>
                        <a:t>3. Accuracy</a:t>
                      </a:r>
                      <a:endParaRPr lang="en-US" sz="3000" dirty="0"/>
                    </a:p>
                  </a:txBody>
                  <a:tcP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628650">
                <a:tc>
                  <a:txBody>
                    <a:bodyPr/>
                    <a:lstStyle/>
                    <a:p>
                      <a:r>
                        <a:rPr lang="en-US" sz="3000" dirty="0" smtClean="0"/>
                        <a:t>Reroute new flows</a:t>
                      </a:r>
                      <a:br>
                        <a:rPr lang="en-US" sz="3000" dirty="0" smtClean="0"/>
                      </a:br>
                      <a:r>
                        <a:rPr lang="en-US" sz="1800" i="1" dirty="0" smtClean="0"/>
                        <a:t>[</a:t>
                      </a:r>
                      <a:r>
                        <a:rPr lang="en-US" sz="1800" i="1" dirty="0" err="1" smtClean="0"/>
                        <a:t>Stratos</a:t>
                      </a:r>
                      <a:r>
                        <a:rPr lang="en-US" sz="1800" i="1" dirty="0" smtClean="0"/>
                        <a:t> - arXiv:1305.0209]</a:t>
                      </a:r>
                      <a:endParaRPr lang="en-US" sz="1800" i="1" dirty="0"/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endParaRPr lang="en-US" sz="2800" dirty="0"/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endParaRPr lang="en-US" sz="2800" dirty="0"/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endParaRPr lang="en-US" sz="2800" dirty="0"/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</a:tr>
              <a:tr h="628650"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3000" dirty="0" smtClean="0"/>
                        <a:t>Reroute</a:t>
                      </a:r>
                      <a:r>
                        <a:rPr lang="en-US" sz="3000" baseline="0" dirty="0" smtClean="0"/>
                        <a:t> existing flows</a:t>
                      </a:r>
                      <a:br>
                        <a:rPr lang="en-US" sz="3000" baseline="0" dirty="0" smtClean="0"/>
                      </a:br>
                      <a:r>
                        <a:rPr lang="en-US" sz="1800" i="1" baseline="0" dirty="0" smtClean="0"/>
                        <a:t>[SIMPLE - SIGCOMM ‘13]</a:t>
                      </a:r>
                      <a:endParaRPr lang="en-US" sz="1800" i="1" dirty="0" smtClean="0"/>
                    </a:p>
                  </a:txBody>
                  <a:tcP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US" sz="2800" dirty="0"/>
                    </a:p>
                  </a:txBody>
                  <a:tcP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US" sz="2800" dirty="0"/>
                    </a:p>
                  </a:txBody>
                  <a:tcP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US" sz="2800" dirty="0"/>
                    </a:p>
                  </a:txBody>
                  <a:tcP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628650">
                <a:tc>
                  <a:txBody>
                    <a:bodyPr/>
                    <a:lstStyle/>
                    <a:p>
                      <a:r>
                        <a:rPr lang="en-US" sz="3000" dirty="0" smtClean="0"/>
                        <a:t>Wait for flows to die</a:t>
                      </a:r>
                      <a:br>
                        <a:rPr lang="en-US" sz="3000" dirty="0" smtClean="0"/>
                      </a:br>
                      <a:r>
                        <a:rPr lang="en-US" sz="1800" i="1" dirty="0" smtClean="0"/>
                        <a:t>[</a:t>
                      </a:r>
                      <a:r>
                        <a:rPr lang="en-US" sz="1800" i="1" dirty="0" err="1" smtClean="0"/>
                        <a:t>Stratos</a:t>
                      </a:r>
                      <a:r>
                        <a:rPr lang="en-US" sz="1800" i="1" dirty="0" smtClean="0"/>
                        <a:t> - arXiv:1305.0209]</a:t>
                      </a:r>
                      <a:endParaRPr lang="en-US" sz="1800" dirty="0"/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endParaRPr lang="en-US" sz="2800" dirty="0"/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endParaRPr lang="en-US" sz="2800" dirty="0"/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endParaRPr lang="en-US" sz="2800" dirty="0"/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</a:tr>
            </a:tbl>
          </a:graphicData>
        </a:graphic>
      </p:graphicFrame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>
          <a:xfrm>
            <a:off x="6553200" y="6340475"/>
            <a:ext cx="2133600" cy="365125"/>
          </a:xfrm>
        </p:spPr>
        <p:txBody>
          <a:bodyPr/>
          <a:lstStyle/>
          <a:p>
            <a:fld id="{622C5A87-65DC-41FD-9E53-7EAC48455B9A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6</a:t>
            </a:fld>
            <a:endParaRPr lang="en-US" dirty="0">
              <a:solidFill>
                <a:prstClr val="black">
                  <a:tint val="75000"/>
                </a:prstClr>
              </a:solidFill>
            </a:endParaRPr>
          </a:p>
        </p:txBody>
      </p:sp>
      <p:pic>
        <p:nvPicPr>
          <p:cNvPr id="7" name="Picture 6" descr="check.png"/>
          <p:cNvPicPr>
            <a:picLocks noChangeAspect="1"/>
          </p:cNvPicPr>
          <p:nvPr/>
        </p:nvPicPr>
        <p:blipFill>
          <a:blip r:embed="rId5" cstate="print"/>
          <a:stretch>
            <a:fillRect/>
          </a:stretch>
        </p:blipFill>
        <p:spPr>
          <a:xfrm>
            <a:off x="6019800" y="4426803"/>
            <a:ext cx="533400" cy="533400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pic>
        <p:nvPicPr>
          <p:cNvPr id="8" name="Picture 7" descr="x.png"/>
          <p:cNvPicPr>
            <a:picLocks noChangeAspect="1"/>
          </p:cNvPicPr>
          <p:nvPr/>
        </p:nvPicPr>
        <p:blipFill>
          <a:blip r:embed="rId6" cstate="print"/>
          <a:stretch>
            <a:fillRect/>
          </a:stretch>
        </p:blipFill>
        <p:spPr>
          <a:xfrm>
            <a:off x="4648200" y="4426803"/>
            <a:ext cx="533400" cy="533400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pic>
        <p:nvPicPr>
          <p:cNvPr id="9" name="Picture 8" descr="check.png"/>
          <p:cNvPicPr>
            <a:picLocks noChangeAspect="1"/>
          </p:cNvPicPr>
          <p:nvPr/>
        </p:nvPicPr>
        <p:blipFill>
          <a:blip r:embed="rId5" cstate="print"/>
          <a:stretch>
            <a:fillRect/>
          </a:stretch>
        </p:blipFill>
        <p:spPr>
          <a:xfrm>
            <a:off x="4572000" y="5257800"/>
            <a:ext cx="533400" cy="533400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pic>
        <p:nvPicPr>
          <p:cNvPr id="10" name="Picture 9" descr="check.png"/>
          <p:cNvPicPr>
            <a:picLocks noChangeAspect="1"/>
          </p:cNvPicPr>
          <p:nvPr/>
        </p:nvPicPr>
        <p:blipFill>
          <a:blip r:embed="rId5" cstate="print"/>
          <a:stretch>
            <a:fillRect/>
          </a:stretch>
        </p:blipFill>
        <p:spPr>
          <a:xfrm>
            <a:off x="6019800" y="5257800"/>
            <a:ext cx="533400" cy="533400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pic>
        <p:nvPicPr>
          <p:cNvPr id="11" name="Picture 10" descr="x.png"/>
          <p:cNvPicPr>
            <a:picLocks noChangeAspect="1"/>
          </p:cNvPicPr>
          <p:nvPr/>
        </p:nvPicPr>
        <p:blipFill>
          <a:blip r:embed="rId6" cstate="print"/>
          <a:stretch>
            <a:fillRect/>
          </a:stretch>
        </p:blipFill>
        <p:spPr>
          <a:xfrm>
            <a:off x="7620000" y="5257800"/>
            <a:ext cx="533400" cy="533400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pic>
        <p:nvPicPr>
          <p:cNvPr id="12" name="Picture 11" descr="x.png"/>
          <p:cNvPicPr>
            <a:picLocks noChangeAspect="1"/>
          </p:cNvPicPr>
          <p:nvPr/>
        </p:nvPicPr>
        <p:blipFill>
          <a:blip r:embed="rId6" cstate="print"/>
          <a:stretch>
            <a:fillRect/>
          </a:stretch>
        </p:blipFill>
        <p:spPr>
          <a:xfrm>
            <a:off x="6019800" y="6096000"/>
            <a:ext cx="533400" cy="533400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pic>
        <p:nvPicPr>
          <p:cNvPr id="13" name="Picture 12" descr="check.png"/>
          <p:cNvPicPr>
            <a:picLocks noChangeAspect="1"/>
          </p:cNvPicPr>
          <p:nvPr/>
        </p:nvPicPr>
        <p:blipFill>
          <a:blip r:embed="rId5" cstate="print"/>
          <a:stretch>
            <a:fillRect/>
          </a:stretch>
        </p:blipFill>
        <p:spPr>
          <a:xfrm>
            <a:off x="4572000" y="6096000"/>
            <a:ext cx="533400" cy="533400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pic>
        <p:nvPicPr>
          <p:cNvPr id="14" name="Picture 13" descr="check.png"/>
          <p:cNvPicPr>
            <a:picLocks noChangeAspect="1"/>
          </p:cNvPicPr>
          <p:nvPr/>
        </p:nvPicPr>
        <p:blipFill>
          <a:blip r:embed="rId5" cstate="print"/>
          <a:stretch>
            <a:fillRect/>
          </a:stretch>
        </p:blipFill>
        <p:spPr>
          <a:xfrm>
            <a:off x="7620000" y="6096000"/>
            <a:ext cx="533400" cy="533400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pic>
        <p:nvPicPr>
          <p:cNvPr id="15" name="Picture 14"/>
          <p:cNvPicPr>
            <a:picLocks noChangeAspect="1"/>
          </p:cNvPicPr>
          <p:nvPr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tretch>
            <a:fillRect/>
          </a:stretch>
        </p:blipFill>
        <p:spPr>
          <a:xfrm>
            <a:off x="4419600" y="1371600"/>
            <a:ext cx="765448" cy="762000"/>
          </a:xfrm>
          <a:prstGeom prst="rect">
            <a:avLst/>
          </a:prstGeom>
        </p:spPr>
      </p:pic>
      <p:grpSp>
        <p:nvGrpSpPr>
          <p:cNvPr id="16" name="Group 75"/>
          <p:cNvGrpSpPr/>
          <p:nvPr/>
        </p:nvGrpSpPr>
        <p:grpSpPr>
          <a:xfrm>
            <a:off x="3276600" y="2392681"/>
            <a:ext cx="883919" cy="883919"/>
            <a:chOff x="4846320" y="2209800"/>
            <a:chExt cx="609600" cy="609600"/>
          </a:xfrm>
        </p:grpSpPr>
        <p:sp>
          <p:nvSpPr>
            <p:cNvPr id="17" name="Rounded Rectangle 16"/>
            <p:cNvSpPr/>
            <p:nvPr/>
          </p:nvSpPr>
          <p:spPr>
            <a:xfrm>
              <a:off x="4846320" y="2209800"/>
              <a:ext cx="609600" cy="609600"/>
            </a:xfrm>
            <a:prstGeom prst="roundRect">
              <a:avLst/>
            </a:prstGeom>
          </p:spPr>
          <p:style>
            <a:lnRef idx="0">
              <a:schemeClr val="accent6"/>
            </a:lnRef>
            <a:fillRef idx="3">
              <a:schemeClr val="accent6"/>
            </a:fillRef>
            <a:effectRef idx="3">
              <a:schemeClr val="accent6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grpSp>
          <p:nvGrpSpPr>
            <p:cNvPr id="18" name="Group 23"/>
            <p:cNvGrpSpPr/>
            <p:nvPr/>
          </p:nvGrpSpPr>
          <p:grpSpPr>
            <a:xfrm>
              <a:off x="4876798" y="2270760"/>
              <a:ext cx="518164" cy="487680"/>
              <a:chOff x="609600" y="1652131"/>
              <a:chExt cx="359837" cy="338667"/>
            </a:xfrm>
          </p:grpSpPr>
          <p:pic>
            <p:nvPicPr>
              <p:cNvPr id="19" name="Picture 18" descr="magnifying_glass.png"/>
              <p:cNvPicPr>
                <a:picLocks noChangeAspect="1"/>
              </p:cNvPicPr>
              <p:nvPr/>
            </p:nvPicPr>
            <p:blipFill>
              <a:blip r:embed="rId3" cstate="print"/>
              <a:stretch>
                <a:fillRect/>
              </a:stretch>
            </p:blipFill>
            <p:spPr>
              <a:xfrm>
                <a:off x="630769" y="1652131"/>
                <a:ext cx="338668" cy="338667"/>
              </a:xfrm>
              <a:prstGeom prst="rect">
                <a:avLst/>
              </a:prstGeom>
              <a:effectLst>
                <a:outerShdw blurRad="63500" sx="102000" sy="102000" algn="ctr" rotWithShape="0">
                  <a:prstClr val="black">
                    <a:alpha val="40000"/>
                  </a:prstClr>
                </a:outerShdw>
              </a:effectLst>
            </p:spPr>
          </p:pic>
          <p:pic>
            <p:nvPicPr>
              <p:cNvPr id="20" name="Picture 2" descr="C:\Users\agember\AppData\Local\Microsoft\Windows\Temporary Internet Files\Content.IE5\2DGPU1UI\MC900431599[1].png"/>
              <p:cNvPicPr>
                <a:picLocks noChangeAspect="1" noChangeArrowheads="1"/>
              </p:cNvPicPr>
              <p:nvPr/>
            </p:nvPicPr>
            <p:blipFill>
              <a:blip r:embed="rId4" cstate="print"/>
              <a:srcRect/>
              <a:stretch>
                <a:fillRect/>
              </a:stretch>
            </p:blipFill>
            <p:spPr bwMode="auto">
              <a:xfrm>
                <a:off x="609600" y="1752600"/>
                <a:ext cx="238125" cy="238125"/>
              </a:xfrm>
              <a:prstGeom prst="rect">
                <a:avLst/>
              </a:prstGeom>
              <a:noFill/>
            </p:spPr>
          </p:pic>
        </p:grpSp>
      </p:grpSp>
      <p:sp>
        <p:nvSpPr>
          <p:cNvPr id="29" name="Freeform 28"/>
          <p:cNvSpPr/>
          <p:nvPr/>
        </p:nvSpPr>
        <p:spPr>
          <a:xfrm>
            <a:off x="3733800" y="1295400"/>
            <a:ext cx="1143000" cy="2438400"/>
          </a:xfrm>
          <a:custGeom>
            <a:avLst/>
            <a:gdLst>
              <a:gd name="connsiteX0" fmla="*/ 1105468 w 1130489"/>
              <a:gd name="connsiteY0" fmla="*/ 0 h 1665027"/>
              <a:gd name="connsiteX1" fmla="*/ 982638 w 1130489"/>
              <a:gd name="connsiteY1" fmla="*/ 341194 h 1665027"/>
              <a:gd name="connsiteX2" fmla="*/ 218364 w 1130489"/>
              <a:gd name="connsiteY2" fmla="*/ 1064526 h 1665027"/>
              <a:gd name="connsiteX3" fmla="*/ 0 w 1130489"/>
              <a:gd name="connsiteY3" fmla="*/ 1665027 h 166502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130489" h="1665027">
                <a:moveTo>
                  <a:pt x="1105468" y="0"/>
                </a:moveTo>
                <a:cubicBezTo>
                  <a:pt x="1117978" y="81886"/>
                  <a:pt x="1130489" y="163773"/>
                  <a:pt x="982638" y="341194"/>
                </a:cubicBezTo>
                <a:cubicBezTo>
                  <a:pt x="834787" y="518615"/>
                  <a:pt x="382137" y="843887"/>
                  <a:pt x="218364" y="1064526"/>
                </a:cubicBezTo>
                <a:cubicBezTo>
                  <a:pt x="54591" y="1285165"/>
                  <a:pt x="27295" y="1475096"/>
                  <a:pt x="0" y="1665027"/>
                </a:cubicBezTo>
              </a:path>
            </a:pathLst>
          </a:custGeom>
          <a:ln w="76200">
            <a:solidFill>
              <a:srgbClr val="4BACC6"/>
            </a:solidFill>
            <a:tailEnd type="arrow"/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2" name="Rectangle 31"/>
          <p:cNvSpPr/>
          <p:nvPr/>
        </p:nvSpPr>
        <p:spPr>
          <a:xfrm>
            <a:off x="381000" y="4419600"/>
            <a:ext cx="3657600" cy="6858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3" name="Rectangle 32"/>
          <p:cNvSpPr/>
          <p:nvPr/>
        </p:nvSpPr>
        <p:spPr>
          <a:xfrm>
            <a:off x="381000" y="5257800"/>
            <a:ext cx="3657600" cy="6858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4" name="Rectangle 33"/>
          <p:cNvSpPr/>
          <p:nvPr/>
        </p:nvSpPr>
        <p:spPr>
          <a:xfrm>
            <a:off x="381000" y="6019800"/>
            <a:ext cx="3657600" cy="6858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5" name="Freeform 34"/>
          <p:cNvSpPr/>
          <p:nvPr/>
        </p:nvSpPr>
        <p:spPr>
          <a:xfrm>
            <a:off x="3429000" y="1295400"/>
            <a:ext cx="1143000" cy="2438400"/>
          </a:xfrm>
          <a:custGeom>
            <a:avLst/>
            <a:gdLst>
              <a:gd name="connsiteX0" fmla="*/ 1105468 w 1130489"/>
              <a:gd name="connsiteY0" fmla="*/ 0 h 1665027"/>
              <a:gd name="connsiteX1" fmla="*/ 982638 w 1130489"/>
              <a:gd name="connsiteY1" fmla="*/ 341194 h 1665027"/>
              <a:gd name="connsiteX2" fmla="*/ 218364 w 1130489"/>
              <a:gd name="connsiteY2" fmla="*/ 1064526 h 1665027"/>
              <a:gd name="connsiteX3" fmla="*/ 0 w 1130489"/>
              <a:gd name="connsiteY3" fmla="*/ 1665027 h 166502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130489" h="1665027">
                <a:moveTo>
                  <a:pt x="1105468" y="0"/>
                </a:moveTo>
                <a:cubicBezTo>
                  <a:pt x="1117978" y="81886"/>
                  <a:pt x="1130489" y="163773"/>
                  <a:pt x="982638" y="341194"/>
                </a:cubicBezTo>
                <a:cubicBezTo>
                  <a:pt x="834787" y="518615"/>
                  <a:pt x="382137" y="843887"/>
                  <a:pt x="218364" y="1064526"/>
                </a:cubicBezTo>
                <a:cubicBezTo>
                  <a:pt x="54591" y="1285165"/>
                  <a:pt x="27295" y="1475096"/>
                  <a:pt x="0" y="1665027"/>
                </a:cubicBezTo>
              </a:path>
            </a:pathLst>
          </a:custGeom>
          <a:ln w="76200">
            <a:tailEnd type="arrow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6" name="Cube 35"/>
          <p:cNvSpPr/>
          <p:nvPr/>
        </p:nvSpPr>
        <p:spPr>
          <a:xfrm>
            <a:off x="3048000" y="2362200"/>
            <a:ext cx="381000" cy="381000"/>
          </a:xfrm>
          <a:prstGeom prst="cube">
            <a:avLst/>
          </a:prstGeom>
          <a:ln/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8" name="Freeform 37"/>
          <p:cNvSpPr/>
          <p:nvPr/>
        </p:nvSpPr>
        <p:spPr>
          <a:xfrm>
            <a:off x="3733800" y="1295400"/>
            <a:ext cx="1143000" cy="2438400"/>
          </a:xfrm>
          <a:custGeom>
            <a:avLst/>
            <a:gdLst>
              <a:gd name="connsiteX0" fmla="*/ 1105468 w 1130489"/>
              <a:gd name="connsiteY0" fmla="*/ 0 h 1665027"/>
              <a:gd name="connsiteX1" fmla="*/ 982638 w 1130489"/>
              <a:gd name="connsiteY1" fmla="*/ 341194 h 1665027"/>
              <a:gd name="connsiteX2" fmla="*/ 218364 w 1130489"/>
              <a:gd name="connsiteY2" fmla="*/ 1064526 h 1665027"/>
              <a:gd name="connsiteX3" fmla="*/ 0 w 1130489"/>
              <a:gd name="connsiteY3" fmla="*/ 1665027 h 166502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130489" h="1665027">
                <a:moveTo>
                  <a:pt x="1105468" y="0"/>
                </a:moveTo>
                <a:cubicBezTo>
                  <a:pt x="1117978" y="81886"/>
                  <a:pt x="1130489" y="163773"/>
                  <a:pt x="982638" y="341194"/>
                </a:cubicBezTo>
                <a:cubicBezTo>
                  <a:pt x="834787" y="518615"/>
                  <a:pt x="382137" y="843887"/>
                  <a:pt x="218364" y="1064526"/>
                </a:cubicBezTo>
                <a:cubicBezTo>
                  <a:pt x="54591" y="1285165"/>
                  <a:pt x="27295" y="1475096"/>
                  <a:pt x="0" y="1665027"/>
                </a:cubicBezTo>
              </a:path>
            </a:pathLst>
          </a:custGeom>
          <a:ln w="152400">
            <a:solidFill>
              <a:srgbClr val="4BACC6"/>
            </a:solidFill>
            <a:tailEnd type="arrow" w="sm" len="sm"/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9" name="Freeform 38"/>
          <p:cNvSpPr/>
          <p:nvPr/>
        </p:nvSpPr>
        <p:spPr>
          <a:xfrm>
            <a:off x="3429000" y="1295400"/>
            <a:ext cx="1143000" cy="2438400"/>
          </a:xfrm>
          <a:custGeom>
            <a:avLst/>
            <a:gdLst>
              <a:gd name="connsiteX0" fmla="*/ 1105468 w 1130489"/>
              <a:gd name="connsiteY0" fmla="*/ 0 h 1665027"/>
              <a:gd name="connsiteX1" fmla="*/ 982638 w 1130489"/>
              <a:gd name="connsiteY1" fmla="*/ 341194 h 1665027"/>
              <a:gd name="connsiteX2" fmla="*/ 218364 w 1130489"/>
              <a:gd name="connsiteY2" fmla="*/ 1064526 h 1665027"/>
              <a:gd name="connsiteX3" fmla="*/ 0 w 1130489"/>
              <a:gd name="connsiteY3" fmla="*/ 1665027 h 166502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130489" h="1665027">
                <a:moveTo>
                  <a:pt x="1105468" y="0"/>
                </a:moveTo>
                <a:cubicBezTo>
                  <a:pt x="1117978" y="81886"/>
                  <a:pt x="1130489" y="163773"/>
                  <a:pt x="982638" y="341194"/>
                </a:cubicBezTo>
                <a:cubicBezTo>
                  <a:pt x="834787" y="518615"/>
                  <a:pt x="382137" y="843887"/>
                  <a:pt x="218364" y="1064526"/>
                </a:cubicBezTo>
                <a:cubicBezTo>
                  <a:pt x="54591" y="1285165"/>
                  <a:pt x="27295" y="1475096"/>
                  <a:pt x="0" y="1665027"/>
                </a:cubicBezTo>
              </a:path>
            </a:pathLst>
          </a:custGeom>
          <a:ln w="152400">
            <a:tailEnd type="arrow" w="sm" len="sm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0" name="Freeform 39"/>
          <p:cNvSpPr/>
          <p:nvPr/>
        </p:nvSpPr>
        <p:spPr>
          <a:xfrm flipH="1">
            <a:off x="5029200" y="1295400"/>
            <a:ext cx="1143000" cy="2438400"/>
          </a:xfrm>
          <a:custGeom>
            <a:avLst/>
            <a:gdLst>
              <a:gd name="connsiteX0" fmla="*/ 1105468 w 1130489"/>
              <a:gd name="connsiteY0" fmla="*/ 0 h 1665027"/>
              <a:gd name="connsiteX1" fmla="*/ 982638 w 1130489"/>
              <a:gd name="connsiteY1" fmla="*/ 341194 h 1665027"/>
              <a:gd name="connsiteX2" fmla="*/ 218364 w 1130489"/>
              <a:gd name="connsiteY2" fmla="*/ 1064526 h 1665027"/>
              <a:gd name="connsiteX3" fmla="*/ 0 w 1130489"/>
              <a:gd name="connsiteY3" fmla="*/ 1665027 h 166502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130489" h="1665027">
                <a:moveTo>
                  <a:pt x="1105468" y="0"/>
                </a:moveTo>
                <a:cubicBezTo>
                  <a:pt x="1117978" y="81886"/>
                  <a:pt x="1130489" y="163773"/>
                  <a:pt x="982638" y="341194"/>
                </a:cubicBezTo>
                <a:cubicBezTo>
                  <a:pt x="834787" y="518615"/>
                  <a:pt x="382137" y="843887"/>
                  <a:pt x="218364" y="1064526"/>
                </a:cubicBezTo>
                <a:cubicBezTo>
                  <a:pt x="54591" y="1285165"/>
                  <a:pt x="27295" y="1475096"/>
                  <a:pt x="0" y="1665027"/>
                </a:cubicBezTo>
              </a:path>
            </a:pathLst>
          </a:custGeom>
          <a:ln w="76200">
            <a:tailEnd type="arrow" w="med" len="med"/>
          </a:ln>
        </p:spPr>
        <p:style>
          <a:lnRef idx="3">
            <a:schemeClr val="accent3"/>
          </a:lnRef>
          <a:fillRef idx="0">
            <a:schemeClr val="accent3"/>
          </a:fillRef>
          <a:effectRef idx="2">
            <a:schemeClr val="accent3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1" name="Cube 40"/>
          <p:cNvSpPr/>
          <p:nvPr/>
        </p:nvSpPr>
        <p:spPr>
          <a:xfrm>
            <a:off x="6172200" y="2362200"/>
            <a:ext cx="381000" cy="381000"/>
          </a:xfrm>
          <a:prstGeom prst="cube">
            <a:avLst/>
          </a:prstGeom>
          <a:ln/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2" name="TextBox 41"/>
          <p:cNvSpPr txBox="1"/>
          <p:nvPr/>
        </p:nvSpPr>
        <p:spPr>
          <a:xfrm>
            <a:off x="5257800" y="1295400"/>
            <a:ext cx="470000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4800" b="1" dirty="0" smtClean="0"/>
              <a:t>?</a:t>
            </a:r>
            <a:endParaRPr lang="en-US" sz="4800" b="1" dirty="0"/>
          </a:p>
        </p:txBody>
      </p:sp>
      <p:grpSp>
        <p:nvGrpSpPr>
          <p:cNvPr id="49" name="Group 48"/>
          <p:cNvGrpSpPr/>
          <p:nvPr/>
        </p:nvGrpSpPr>
        <p:grpSpPr>
          <a:xfrm>
            <a:off x="1752600" y="2514600"/>
            <a:ext cx="914400" cy="914400"/>
            <a:chOff x="6873902" y="2141551"/>
            <a:chExt cx="914400" cy="914400"/>
          </a:xfrm>
        </p:grpSpPr>
        <p:sp>
          <p:nvSpPr>
            <p:cNvPr id="50" name="Oval 49"/>
            <p:cNvSpPr/>
            <p:nvPr/>
          </p:nvSpPr>
          <p:spPr>
            <a:xfrm>
              <a:off x="6873902" y="2141551"/>
              <a:ext cx="914400" cy="914400"/>
            </a:xfrm>
            <a:prstGeom prst="ellipse">
              <a:avLst/>
            </a:prstGeom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1" name="Arc 50"/>
            <p:cNvSpPr/>
            <p:nvPr/>
          </p:nvSpPr>
          <p:spPr>
            <a:xfrm>
              <a:off x="7009622" y="2266561"/>
              <a:ext cx="647700" cy="647700"/>
            </a:xfrm>
            <a:prstGeom prst="arc">
              <a:avLst>
                <a:gd name="adj1" fmla="val 19974213"/>
                <a:gd name="adj2" fmla="val 3173376"/>
              </a:avLst>
            </a:prstGeom>
            <a:ln w="203200"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2" name="Arc 51"/>
            <p:cNvSpPr/>
            <p:nvPr/>
          </p:nvSpPr>
          <p:spPr>
            <a:xfrm>
              <a:off x="7009622" y="2266561"/>
              <a:ext cx="647700" cy="647700"/>
            </a:xfrm>
            <a:prstGeom prst="arc">
              <a:avLst>
                <a:gd name="adj1" fmla="val 15687070"/>
                <a:gd name="adj2" fmla="val 20195520"/>
              </a:avLst>
            </a:prstGeom>
            <a:ln w="203200">
              <a:solidFill>
                <a:srgbClr val="FFFF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3" name="Arc 52"/>
            <p:cNvSpPr/>
            <p:nvPr/>
          </p:nvSpPr>
          <p:spPr>
            <a:xfrm>
              <a:off x="7009622" y="2266561"/>
              <a:ext cx="647700" cy="647700"/>
            </a:xfrm>
            <a:prstGeom prst="arc">
              <a:avLst>
                <a:gd name="adj1" fmla="val 7625442"/>
                <a:gd name="adj2" fmla="val 16226253"/>
              </a:avLst>
            </a:prstGeom>
            <a:ln w="203200">
              <a:solidFill>
                <a:srgbClr val="92D05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54" name="Group 53"/>
          <p:cNvGrpSpPr/>
          <p:nvPr/>
        </p:nvGrpSpPr>
        <p:grpSpPr>
          <a:xfrm rot="7200000">
            <a:off x="1926420" y="2887649"/>
            <a:ext cx="609600" cy="152400"/>
            <a:chOff x="7010400" y="2514600"/>
            <a:chExt cx="609600" cy="152400"/>
          </a:xfrm>
        </p:grpSpPr>
        <p:cxnSp>
          <p:nvCxnSpPr>
            <p:cNvPr id="55" name="Straight Connector 54"/>
            <p:cNvCxnSpPr/>
            <p:nvPr/>
          </p:nvCxnSpPr>
          <p:spPr>
            <a:xfrm>
              <a:off x="7315200" y="2590800"/>
              <a:ext cx="304800" cy="76200"/>
            </a:xfrm>
            <a:prstGeom prst="line">
              <a:avLst/>
            </a:prstGeom>
            <a:ln w="76200">
              <a:headEnd type="oval" w="med" len="med"/>
            </a:ln>
          </p:spPr>
          <p:style>
            <a:lnRef idx="3">
              <a:schemeClr val="dk1"/>
            </a:lnRef>
            <a:fillRef idx="0">
              <a:schemeClr val="dk1"/>
            </a:fillRef>
            <a:effectRef idx="2">
              <a:schemeClr val="dk1"/>
            </a:effectRef>
            <a:fontRef idx="minor">
              <a:schemeClr val="tx1"/>
            </a:fontRef>
          </p:style>
        </p:cxnSp>
        <p:cxnSp>
          <p:nvCxnSpPr>
            <p:cNvPr id="56" name="Straight Connector 55"/>
            <p:cNvCxnSpPr/>
            <p:nvPr/>
          </p:nvCxnSpPr>
          <p:spPr>
            <a:xfrm flipH="1" flipV="1">
              <a:off x="7010400" y="2514600"/>
              <a:ext cx="304800" cy="76200"/>
            </a:xfrm>
            <a:prstGeom prst="line">
              <a:avLst/>
            </a:prstGeom>
            <a:ln w="63500">
              <a:noFill/>
              <a:headEnd type="oval" w="med" len="med"/>
            </a:ln>
          </p:spPr>
          <p:style>
            <a:lnRef idx="3">
              <a:schemeClr val="dk1"/>
            </a:lnRef>
            <a:fillRef idx="0">
              <a:schemeClr val="dk1"/>
            </a:fillRef>
            <a:effectRef idx="2">
              <a:schemeClr val="dk1"/>
            </a:effectRef>
            <a:fontRef idx="minor">
              <a:schemeClr val="tx1"/>
            </a:fontRef>
          </p:style>
        </p:cxnSp>
      </p:grpSp>
      <p:sp>
        <p:nvSpPr>
          <p:cNvPr id="57" name="TextBox 56"/>
          <p:cNvSpPr txBox="1"/>
          <p:nvPr/>
        </p:nvSpPr>
        <p:spPr>
          <a:xfrm>
            <a:off x="1447800" y="2057400"/>
            <a:ext cx="1578766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b="1" dirty="0" smtClean="0"/>
              <a:t>Packet loss</a:t>
            </a:r>
            <a:endParaRPr lang="en-US" sz="2400" b="1" dirty="0"/>
          </a:p>
        </p:txBody>
      </p:sp>
      <p:sp>
        <p:nvSpPr>
          <p:cNvPr id="59" name="TextBox 58"/>
          <p:cNvSpPr txBox="1"/>
          <p:nvPr/>
        </p:nvSpPr>
        <p:spPr>
          <a:xfrm>
            <a:off x="7620000" y="4274403"/>
            <a:ext cx="561372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4800" dirty="0" smtClean="0">
                <a:gradFill flip="none" rotWithShape="1">
                  <a:gsLst>
                    <a:gs pos="0">
                      <a:srgbClr val="FFFF00">
                        <a:shade val="30000"/>
                        <a:satMod val="115000"/>
                      </a:srgbClr>
                    </a:gs>
                    <a:gs pos="50000">
                      <a:srgbClr val="FFFF00">
                        <a:shade val="67500"/>
                        <a:satMod val="115000"/>
                      </a:srgbClr>
                    </a:gs>
                    <a:gs pos="100000">
                      <a:srgbClr val="FFFF00">
                        <a:shade val="100000"/>
                        <a:satMod val="115000"/>
                      </a:srgbClr>
                    </a:gs>
                  </a:gsLst>
                  <a:path path="circle">
                    <a:fillToRect t="100000" r="100000"/>
                  </a:path>
                  <a:tileRect l="-100000" b="-100000"/>
                </a:gradFill>
                <a:effectLst>
                  <a:glow rad="63500">
                    <a:schemeClr val="accent3">
                      <a:satMod val="175000"/>
                      <a:alpha val="40000"/>
                    </a:schemeClr>
                  </a:glow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Arial Black" pitchFamily="34" charset="0"/>
              </a:rPr>
              <a:t>?</a:t>
            </a:r>
            <a:endParaRPr lang="en-US" sz="4800" dirty="0">
              <a:gradFill flip="none" rotWithShape="1">
                <a:gsLst>
                  <a:gs pos="0">
                    <a:srgbClr val="FFFF00">
                      <a:shade val="30000"/>
                      <a:satMod val="115000"/>
                    </a:srgbClr>
                  </a:gs>
                  <a:gs pos="50000">
                    <a:srgbClr val="FFFF00">
                      <a:shade val="67500"/>
                      <a:satMod val="115000"/>
                    </a:srgbClr>
                  </a:gs>
                  <a:gs pos="100000">
                    <a:srgbClr val="FFFF00">
                      <a:shade val="100000"/>
                      <a:satMod val="115000"/>
                    </a:srgbClr>
                  </a:gs>
                </a:gsLst>
                <a:path path="circle">
                  <a:fillToRect t="100000" r="100000"/>
                </a:path>
                <a:tileRect l="-100000" b="-100000"/>
              </a:gradFill>
              <a:effectLst>
                <a:glow rad="63500">
                  <a:schemeClr val="accent3">
                    <a:satMod val="175000"/>
                    <a:alpha val="40000"/>
                  </a:schemeClr>
                </a:glow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  <a:latin typeface="Arial Black" pitchFamily="34" charset="0"/>
            </a:endParaRPr>
          </a:p>
        </p:txBody>
      </p:sp>
      <p:sp>
        <p:nvSpPr>
          <p:cNvPr id="60" name="Freeform 59"/>
          <p:cNvSpPr/>
          <p:nvPr/>
        </p:nvSpPr>
        <p:spPr>
          <a:xfrm flipH="1">
            <a:off x="4800600" y="1295400"/>
            <a:ext cx="1143000" cy="2438400"/>
          </a:xfrm>
          <a:custGeom>
            <a:avLst/>
            <a:gdLst>
              <a:gd name="connsiteX0" fmla="*/ 1105468 w 1130489"/>
              <a:gd name="connsiteY0" fmla="*/ 0 h 1665027"/>
              <a:gd name="connsiteX1" fmla="*/ 982638 w 1130489"/>
              <a:gd name="connsiteY1" fmla="*/ 341194 h 1665027"/>
              <a:gd name="connsiteX2" fmla="*/ 218364 w 1130489"/>
              <a:gd name="connsiteY2" fmla="*/ 1064526 h 1665027"/>
              <a:gd name="connsiteX3" fmla="*/ 0 w 1130489"/>
              <a:gd name="connsiteY3" fmla="*/ 1665027 h 166502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130489" h="1665027">
                <a:moveTo>
                  <a:pt x="1105468" y="0"/>
                </a:moveTo>
                <a:cubicBezTo>
                  <a:pt x="1117978" y="81886"/>
                  <a:pt x="1130489" y="163773"/>
                  <a:pt x="982638" y="341194"/>
                </a:cubicBezTo>
                <a:cubicBezTo>
                  <a:pt x="834787" y="518615"/>
                  <a:pt x="382137" y="843887"/>
                  <a:pt x="218364" y="1064526"/>
                </a:cubicBezTo>
                <a:cubicBezTo>
                  <a:pt x="54591" y="1285165"/>
                  <a:pt x="27295" y="1475096"/>
                  <a:pt x="0" y="1665027"/>
                </a:cubicBezTo>
              </a:path>
            </a:pathLst>
          </a:custGeom>
          <a:ln w="152400">
            <a:solidFill>
              <a:srgbClr val="4BACC6"/>
            </a:solidFill>
            <a:tailEnd type="arrow" w="sm" len="sm"/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7" name="Cube 36"/>
          <p:cNvSpPr/>
          <p:nvPr/>
        </p:nvSpPr>
        <p:spPr>
          <a:xfrm>
            <a:off x="3048000" y="2819400"/>
            <a:ext cx="381000" cy="381000"/>
          </a:xfrm>
          <a:prstGeom prst="cube">
            <a:avLst/>
          </a:prstGeom>
          <a:solidFill>
            <a:srgbClr val="4BACC6"/>
          </a:solidFill>
          <a:ln/>
        </p:spPr>
        <p:style>
          <a:lnRef idx="2">
            <a:schemeClr val="accent5">
              <a:shade val="50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1" name="Rectangle 60"/>
          <p:cNvSpPr/>
          <p:nvPr/>
        </p:nvSpPr>
        <p:spPr>
          <a:xfrm>
            <a:off x="381000" y="5867400"/>
            <a:ext cx="8458200" cy="1524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67" name="Group 66"/>
          <p:cNvGrpSpPr/>
          <p:nvPr/>
        </p:nvGrpSpPr>
        <p:grpSpPr>
          <a:xfrm>
            <a:off x="838200" y="1981200"/>
            <a:ext cx="800219" cy="1440597"/>
            <a:chOff x="838200" y="1981200"/>
            <a:chExt cx="800219" cy="1440597"/>
          </a:xfrm>
        </p:grpSpPr>
        <p:pic>
          <p:nvPicPr>
            <p:cNvPr id="58" name="Picture 57" descr="dialog-warning-2.png"/>
            <p:cNvPicPr>
              <a:picLocks noChangeAspect="1"/>
            </p:cNvPicPr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914400" y="1981200"/>
              <a:ext cx="563871" cy="563871"/>
            </a:xfrm>
            <a:prstGeom prst="rect">
              <a:avLst/>
            </a:prstGeom>
          </p:spPr>
        </p:pic>
        <p:sp>
          <p:nvSpPr>
            <p:cNvPr id="65" name="TextBox 64"/>
            <p:cNvSpPr txBox="1"/>
            <p:nvPr/>
          </p:nvSpPr>
          <p:spPr>
            <a:xfrm>
              <a:off x="838200" y="2590800"/>
              <a:ext cx="800219" cy="83099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sz="2400" b="1" dirty="0" smtClean="0"/>
                <a:t>SLA: </a:t>
              </a:r>
              <a:br>
                <a:rPr lang="en-US" sz="2400" b="1" dirty="0" smtClean="0"/>
              </a:br>
              <a:r>
                <a:rPr lang="en-US" sz="2400" b="1" dirty="0" smtClean="0"/>
                <a:t>&lt;1%</a:t>
              </a:r>
              <a:endParaRPr lang="en-US" sz="2400" b="1" dirty="0"/>
            </a:p>
          </p:txBody>
        </p: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" fill="hold">
                            <p:stCondLst>
                              <p:cond delay="500"/>
                            </p:stCondLst>
                            <p:childTnLst>
                              <p:par>
                                <p:cTn id="12" presetID="22" presetClass="entr" presetSubtype="1" fill="hold" grpId="2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4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5" fill="hold">
                            <p:stCondLst>
                              <p:cond delay="1000"/>
                            </p:stCondLst>
                            <p:childTnLst>
                              <p:par>
                                <p:cTn id="16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10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10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8" presetClass="emp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Rot by="9600000">
                                      <p:cBhvr>
                                        <p:cTn id="27" dur="1000" fill="hold"/>
                                        <p:tgtEl>
                                          <p:spTgt spid="54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8" fill="hold">
                            <p:stCondLst>
                              <p:cond delay="1000"/>
                            </p:stCondLst>
                            <p:childTnLst>
                              <p:par>
                                <p:cTn id="29" presetID="53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1" dur="500" fill="hold"/>
                                        <p:tgtEl>
                                          <p:spTgt spid="6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2" dur="500" fill="hold"/>
                                        <p:tgtEl>
                                          <p:spTgt spid="6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3" dur="500"/>
                                        <p:tgtEl>
                                          <p:spTgt spid="6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6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9" dur="5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0" dur="5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1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>
                      <p:stCondLst>
                        <p:cond delay="indefinite"/>
                      </p:stCondLst>
                      <p:childTnLst>
                        <p:par>
                          <p:cTn id="50" fill="hold">
                            <p:stCondLst>
                              <p:cond delay="0"/>
                            </p:stCondLst>
                            <p:childTnLst>
                              <p:par>
                                <p:cTn id="51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53" dur="5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4" fill="hold">
                            <p:stCondLst>
                              <p:cond delay="500"/>
                            </p:stCondLst>
                            <p:childTnLst>
                              <p:par>
                                <p:cTn id="55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>
                      <p:stCondLst>
                        <p:cond delay="indefinite"/>
                      </p:stCondLst>
                      <p:childTnLst>
                        <p:par>
                          <p:cTn id="58" fill="hold">
                            <p:stCondLst>
                              <p:cond delay="0"/>
                            </p:stCondLst>
                            <p:childTnLst>
                              <p:par>
                                <p:cTn id="5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5" fill="hold">
                      <p:stCondLst>
                        <p:cond delay="indefinite"/>
                      </p:stCondLst>
                      <p:childTnLst>
                        <p:par>
                          <p:cTn id="66" fill="hold">
                            <p:stCondLst>
                              <p:cond delay="0"/>
                            </p:stCondLst>
                            <p:childTnLst>
                              <p:par>
                                <p:cTn id="67" presetID="1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9" presetID="1" presetClass="exit" presetSubtype="0" fill="hold" grpId="3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1" fill="hold">
                      <p:stCondLst>
                        <p:cond delay="indefinite"/>
                      </p:stCondLst>
                      <p:childTnLst>
                        <p:par>
                          <p:cTn id="72" fill="hold">
                            <p:stCondLst>
                              <p:cond delay="0"/>
                            </p:stCondLst>
                            <p:childTnLst>
                              <p:par>
                                <p:cTn id="73" presetID="22" presetClass="exit" presetSubtype="4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down)">
                                      <p:cBhvr>
                                        <p:cTn id="74" dur="5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6" presetID="8" presetClass="emp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Rot by="-9600000">
                                      <p:cBhvr>
                                        <p:cTn id="77" dur="1000" fill="hold"/>
                                        <p:tgtEl>
                                          <p:spTgt spid="54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78" presetID="22" presetClass="entr" presetSubtype="1" fill="hold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7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80" dur="500"/>
                                        <p:tgtEl>
                                          <p:spTgt spid="6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1" fill="hold">
                            <p:stCondLst>
                              <p:cond delay="1000"/>
                            </p:stCondLst>
                            <p:childTnLst>
                              <p:par>
                                <p:cTn id="82" presetID="1" presetClass="exit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4" fill="hold">
                            <p:stCondLst>
                              <p:cond delay="1000"/>
                            </p:stCondLst>
                            <p:childTnLst>
                              <p:par>
                                <p:cTn id="85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9" fill="hold">
                      <p:stCondLst>
                        <p:cond delay="indefinite"/>
                      </p:stCondLst>
                      <p:childTnLst>
                        <p:par>
                          <p:cTn id="90" fill="hold">
                            <p:stCondLst>
                              <p:cond delay="0"/>
                            </p:stCondLst>
                            <p:childTnLst>
                              <p:par>
                                <p:cTn id="91" presetID="6" presetClass="emph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Scale>
                                      <p:cBhvr>
                                        <p:cTn id="92" dur="500" fill="hold"/>
                                        <p:tgtEl>
                                          <p:spTgt spid="37"/>
                                        </p:tgtEl>
                                      </p:cBhvr>
                                      <p:by x="200000" y="200000"/>
                                    </p:animScale>
                                  </p:childTnLst>
                                </p:cTn>
                              </p:par>
                              <p:par>
                                <p:cTn id="9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5" fill="hold">
                      <p:stCondLst>
                        <p:cond delay="indefinite"/>
                      </p:stCondLst>
                      <p:childTnLst>
                        <p:par>
                          <p:cTn id="96" fill="hold">
                            <p:stCondLst>
                              <p:cond delay="0"/>
                            </p:stCondLst>
                            <p:childTnLst>
                              <p:par>
                                <p:cTn id="97" presetID="22" presetClass="exit" presetSubtype="1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up)">
                                      <p:cBhvr>
                                        <p:cTn id="98" dur="500"/>
                                        <p:tgtEl>
                                          <p:spTgt spid="6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99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0" presetID="55" presetClass="exit" presetSubtype="0" fill="hold" grpId="2" nodeType="with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>
                                        <p:cTn id="101" dur="500"/>
                                        <p:tgtEl>
                                          <p:spTgt spid="3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w"/>
                                          </p:val>
                                        </p:tav>
                                        <p:tav tm="100000">
                                          <p:val>
                                            <p:strVal val="ppt_w*0.7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2" dur="500"/>
                                        <p:tgtEl>
                                          <p:spTgt spid="3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h"/>
                                          </p:val>
                                        </p:tav>
                                        <p:tav tm="100000">
                                          <p:val>
                                            <p:strVal val="ppt_h"/>
                                          </p:val>
                                        </p:tav>
                                      </p:tavLst>
                                    </p:anim>
                                    <p:animEffect transition="out" filter="fade">
                                      <p:cBhvr>
                                        <p:cTn id="103" dur="5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0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5" fill="hold">
                      <p:stCondLst>
                        <p:cond delay="indefinite"/>
                      </p:stCondLst>
                      <p:childTnLst>
                        <p:par>
                          <p:cTn id="106" fill="hold">
                            <p:stCondLst>
                              <p:cond delay="0"/>
                            </p:stCondLst>
                            <p:childTnLst>
                              <p:par>
                                <p:cTn id="10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9" fill="hold">
                      <p:stCondLst>
                        <p:cond delay="indefinite"/>
                      </p:stCondLst>
                      <p:childTnLst>
                        <p:par>
                          <p:cTn id="110" fill="hold">
                            <p:stCondLst>
                              <p:cond delay="0"/>
                            </p:stCondLst>
                            <p:childTnLst>
                              <p:par>
                                <p:cTn id="111" presetID="6" presetClass="emph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Scale>
                                      <p:cBhvr>
                                        <p:cTn id="112" dur="500" fill="hold"/>
                                        <p:tgtEl>
                                          <p:spTgt spid="41"/>
                                        </p:tgtEl>
                                      </p:cBhvr>
                                      <p:by x="200000" y="20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3" fill="hold">
                      <p:stCondLst>
                        <p:cond delay="indefinite"/>
                      </p:stCondLst>
                      <p:childTnLst>
                        <p:par>
                          <p:cTn id="114" fill="hold">
                            <p:stCondLst>
                              <p:cond delay="0"/>
                            </p:stCondLst>
                            <p:childTnLst>
                              <p:par>
                                <p:cTn id="115" presetID="1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7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9" fill="hold">
                            <p:stCondLst>
                              <p:cond delay="0"/>
                            </p:stCondLst>
                            <p:childTnLst>
                              <p:par>
                                <p:cTn id="120" presetID="22" presetClass="exit" presetSubtype="1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up)">
                                      <p:cBhvr>
                                        <p:cTn id="121" dur="5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2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23" presetID="55" presetClass="exit" presetSubtype="0" fill="hold" grpId="2" nodeType="with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>
                                        <p:cTn id="124" dur="500"/>
                                        <p:tgtEl>
                                          <p:spTgt spid="4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w"/>
                                          </p:val>
                                        </p:tav>
                                        <p:tav tm="100000">
                                          <p:val>
                                            <p:strVal val="ppt_w*0.7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5" dur="500"/>
                                        <p:tgtEl>
                                          <p:spTgt spid="4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h"/>
                                          </p:val>
                                        </p:tav>
                                        <p:tav tm="100000">
                                          <p:val>
                                            <p:strVal val="ppt_h"/>
                                          </p:val>
                                        </p:tav>
                                      </p:tavLst>
                                    </p:anim>
                                    <p:animEffect transition="out" filter="fade">
                                      <p:cBhvr>
                                        <p:cTn id="126" dur="5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2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8" fill="hold">
                      <p:stCondLst>
                        <p:cond delay="indefinite"/>
                      </p:stCondLst>
                      <p:childTnLst>
                        <p:par>
                          <p:cTn id="129" fill="hold">
                            <p:stCondLst>
                              <p:cond delay="0"/>
                            </p:stCondLst>
                            <p:childTnLst>
                              <p:par>
                                <p:cTn id="130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2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4" fill="hold">
                      <p:stCondLst>
                        <p:cond delay="indefinite"/>
                      </p:stCondLst>
                      <p:childTnLst>
                        <p:par>
                          <p:cTn id="135" fill="hold">
                            <p:stCondLst>
                              <p:cond delay="0"/>
                            </p:stCondLst>
                            <p:childTnLst>
                              <p:par>
                                <p:cTn id="136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8" grpId="0" animBg="1"/>
      <p:bldP spid="29" grpId="2" animBg="1"/>
      <p:bldP spid="29" grpId="3" animBg="1"/>
      <p:bldP spid="32" grpId="0" animBg="1"/>
      <p:bldP spid="33" grpId="0" animBg="1"/>
      <p:bldP spid="34" grpId="0" animBg="1"/>
      <p:bldP spid="35" grpId="0" animBg="1"/>
      <p:bldP spid="36" grpId="0" animBg="1"/>
      <p:bldP spid="38" grpId="0" animBg="1"/>
      <p:bldP spid="38" grpId="1" animBg="1"/>
      <p:bldP spid="39" grpId="0" animBg="1"/>
      <p:bldP spid="40" grpId="0" animBg="1"/>
      <p:bldP spid="40" grpId="1" animBg="1"/>
      <p:bldP spid="41" grpId="0" animBg="1"/>
      <p:bldP spid="41" grpId="1" animBg="1"/>
      <p:bldP spid="41" grpId="2" animBg="1"/>
      <p:bldP spid="42" grpId="0"/>
      <p:bldP spid="59" grpId="0"/>
      <p:bldP spid="60" grpId="1" animBg="1"/>
      <p:bldP spid="37" grpId="0" animBg="1"/>
      <p:bldP spid="37" grpId="1" animBg="1"/>
      <p:bldP spid="37" grpId="2" animBg="1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477962"/>
          </a:xfrm>
        </p:spPr>
        <p:txBody>
          <a:bodyPr>
            <a:normAutofit/>
          </a:bodyPr>
          <a:lstStyle/>
          <a:p>
            <a:r>
              <a:rPr lang="en-US" dirty="0" smtClean="0"/>
              <a:t>SLAs + cost + accuracy: </a:t>
            </a:r>
            <a:br>
              <a:rPr lang="en-US" dirty="0" smtClean="0"/>
            </a:br>
            <a:r>
              <a:rPr lang="en-US" dirty="0" smtClean="0"/>
              <a:t>What do we need?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905000"/>
            <a:ext cx="8305800" cy="4221163"/>
          </a:xfrm>
        </p:spPr>
        <p:txBody>
          <a:bodyPr/>
          <a:lstStyle/>
          <a:p>
            <a:r>
              <a:rPr lang="en-US" dirty="0" smtClean="0"/>
              <a:t>Quickly move, copy, or share internal NF state alongside updates to network forwarding state</a:t>
            </a:r>
            <a:br>
              <a:rPr lang="en-US" dirty="0" smtClean="0"/>
            </a:br>
            <a:r>
              <a:rPr lang="en-US" dirty="0" smtClean="0"/>
              <a:t/>
            </a:r>
            <a:br>
              <a:rPr lang="en-US" dirty="0" smtClean="0"/>
            </a:br>
            <a:endParaRPr lang="en-US" dirty="0" smtClean="0"/>
          </a:p>
          <a:p>
            <a:r>
              <a:rPr lang="en-US" dirty="0" smtClean="0"/>
              <a:t>Guarantees: loss-free, order-preserving, …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2C5A87-65DC-41FD-9E53-7EAC48455B9A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7</a:t>
            </a:fld>
            <a:endParaRPr lang="en-US" dirty="0">
              <a:solidFill>
                <a:prstClr val="black">
                  <a:tint val="75000"/>
                </a:prstClr>
              </a:solidFill>
            </a:endParaRPr>
          </a:p>
        </p:txBody>
      </p:sp>
      <p:grpSp>
        <p:nvGrpSpPr>
          <p:cNvPr id="25" name="Group 24"/>
          <p:cNvGrpSpPr/>
          <p:nvPr/>
        </p:nvGrpSpPr>
        <p:grpSpPr>
          <a:xfrm>
            <a:off x="4038600" y="3272135"/>
            <a:ext cx="1066800" cy="533400"/>
            <a:chOff x="4800600" y="4191000"/>
            <a:chExt cx="1066800" cy="533400"/>
          </a:xfrm>
        </p:grpSpPr>
        <p:cxnSp>
          <p:nvCxnSpPr>
            <p:cNvPr id="17" name="Straight Arrow Connector 16"/>
            <p:cNvCxnSpPr/>
            <p:nvPr/>
          </p:nvCxnSpPr>
          <p:spPr>
            <a:xfrm flipH="1">
              <a:off x="5257800" y="4495800"/>
              <a:ext cx="609600" cy="0"/>
            </a:xfrm>
            <a:prstGeom prst="straightConnector1">
              <a:avLst/>
            </a:prstGeom>
            <a:ln>
              <a:headEnd type="triangle" w="lg" len="med"/>
              <a:tailEnd type="none" w="lg" len="lg"/>
            </a:ln>
          </p:spPr>
          <p:style>
            <a:lnRef idx="3">
              <a:schemeClr val="accent2"/>
            </a:lnRef>
            <a:fillRef idx="0">
              <a:schemeClr val="accent2"/>
            </a:fillRef>
            <a:effectRef idx="2">
              <a:schemeClr val="accent2"/>
            </a:effectRef>
            <a:fontRef idx="minor">
              <a:schemeClr val="tx1"/>
            </a:fontRef>
          </p:style>
        </p:cxnSp>
        <p:sp>
          <p:nvSpPr>
            <p:cNvPr id="18" name="Cube 17"/>
            <p:cNvSpPr/>
            <p:nvPr/>
          </p:nvSpPr>
          <p:spPr>
            <a:xfrm>
              <a:off x="4800600" y="4191000"/>
              <a:ext cx="381000" cy="381000"/>
            </a:xfrm>
            <a:prstGeom prst="cube">
              <a:avLst/>
            </a:prstGeom>
            <a:solidFill>
              <a:srgbClr val="C0504D">
                <a:alpha val="50196"/>
              </a:srgbClr>
            </a:solidFill>
            <a:ln/>
          </p:spPr>
          <p:style>
            <a:lnRef idx="2">
              <a:schemeClr val="accent2">
                <a:shade val="50000"/>
              </a:schemeClr>
            </a:lnRef>
            <a:fillRef idx="1">
              <a:schemeClr val="accent2"/>
            </a:fillRef>
            <a:effectRef idx="0">
              <a:schemeClr val="accent2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9" name="Cube 18"/>
            <p:cNvSpPr/>
            <p:nvPr/>
          </p:nvSpPr>
          <p:spPr>
            <a:xfrm>
              <a:off x="4953000" y="4343400"/>
              <a:ext cx="381000" cy="381000"/>
            </a:xfrm>
            <a:prstGeom prst="cube">
              <a:avLst/>
            </a:prstGeom>
            <a:ln/>
          </p:spPr>
          <p:style>
            <a:lnRef idx="2">
              <a:schemeClr val="accent2">
                <a:shade val="50000"/>
              </a:schemeClr>
            </a:lnRef>
            <a:fillRef idx="1">
              <a:schemeClr val="accent2"/>
            </a:fillRef>
            <a:effectRef idx="0">
              <a:schemeClr val="accent2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23" name="Group 22"/>
          <p:cNvGrpSpPr/>
          <p:nvPr/>
        </p:nvGrpSpPr>
        <p:grpSpPr>
          <a:xfrm>
            <a:off x="5562600" y="3348335"/>
            <a:ext cx="1219200" cy="381000"/>
            <a:chOff x="4114800" y="3657600"/>
            <a:chExt cx="1219200" cy="381000"/>
          </a:xfrm>
        </p:grpSpPr>
        <p:cxnSp>
          <p:nvCxnSpPr>
            <p:cNvPr id="21" name="Straight Arrow Connector 20"/>
            <p:cNvCxnSpPr/>
            <p:nvPr/>
          </p:nvCxnSpPr>
          <p:spPr>
            <a:xfrm flipH="1">
              <a:off x="4343400" y="3733800"/>
              <a:ext cx="609600" cy="0"/>
            </a:xfrm>
            <a:prstGeom prst="straightConnector1">
              <a:avLst/>
            </a:prstGeom>
            <a:ln>
              <a:prstDash val="sysDot"/>
              <a:headEnd type="triangle" w="lg" len="med"/>
              <a:tailEnd type="none" w="lg" len="lg"/>
            </a:ln>
          </p:spPr>
          <p:style>
            <a:lnRef idx="3">
              <a:schemeClr val="accent2"/>
            </a:lnRef>
            <a:fillRef idx="0">
              <a:schemeClr val="accent2"/>
            </a:fillRef>
            <a:effectRef idx="2">
              <a:schemeClr val="accent2"/>
            </a:effectRef>
            <a:fontRef idx="minor">
              <a:schemeClr val="tx1"/>
            </a:fontRef>
          </p:style>
        </p:cxnSp>
        <p:cxnSp>
          <p:nvCxnSpPr>
            <p:cNvPr id="22" name="Straight Arrow Connector 21"/>
            <p:cNvCxnSpPr/>
            <p:nvPr/>
          </p:nvCxnSpPr>
          <p:spPr>
            <a:xfrm>
              <a:off x="4495800" y="3886200"/>
              <a:ext cx="609600" cy="0"/>
            </a:xfrm>
            <a:prstGeom prst="straightConnector1">
              <a:avLst/>
            </a:prstGeom>
            <a:ln>
              <a:prstDash val="sysDot"/>
              <a:headEnd type="triangle" w="lg" len="med"/>
              <a:tailEnd type="none" w="lg" len="lg"/>
            </a:ln>
          </p:spPr>
          <p:style>
            <a:lnRef idx="3">
              <a:schemeClr val="accent2"/>
            </a:lnRef>
            <a:fillRef idx="0">
              <a:schemeClr val="accent2"/>
            </a:fillRef>
            <a:effectRef idx="2">
              <a:schemeClr val="accent2"/>
            </a:effectRef>
            <a:fontRef idx="minor">
              <a:schemeClr val="tx1"/>
            </a:fontRef>
          </p:style>
        </p:cxnSp>
        <p:sp>
          <p:nvSpPr>
            <p:cNvPr id="20" name="Cube 19"/>
            <p:cNvSpPr/>
            <p:nvPr/>
          </p:nvSpPr>
          <p:spPr>
            <a:xfrm>
              <a:off x="4953000" y="3657600"/>
              <a:ext cx="381000" cy="381000"/>
            </a:xfrm>
            <a:prstGeom prst="cube">
              <a:avLst/>
            </a:prstGeom>
            <a:ln/>
          </p:spPr>
          <p:style>
            <a:lnRef idx="2">
              <a:schemeClr val="accent2">
                <a:shade val="50000"/>
              </a:schemeClr>
            </a:lnRef>
            <a:fillRef idx="1">
              <a:schemeClr val="accent2"/>
            </a:fillRef>
            <a:effectRef idx="0">
              <a:schemeClr val="accent2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" name="Cube 11"/>
            <p:cNvSpPr/>
            <p:nvPr/>
          </p:nvSpPr>
          <p:spPr>
            <a:xfrm>
              <a:off x="4114800" y="3657600"/>
              <a:ext cx="381000" cy="381000"/>
            </a:xfrm>
            <a:prstGeom prst="cube">
              <a:avLst/>
            </a:prstGeom>
            <a:ln/>
          </p:spPr>
          <p:style>
            <a:lnRef idx="2">
              <a:schemeClr val="accent2">
                <a:shade val="50000"/>
              </a:schemeClr>
            </a:lnRef>
            <a:fillRef idx="1">
              <a:schemeClr val="accent2"/>
            </a:fillRef>
            <a:effectRef idx="0">
              <a:schemeClr val="accent2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36" name="Group 35"/>
          <p:cNvGrpSpPr/>
          <p:nvPr/>
        </p:nvGrpSpPr>
        <p:grpSpPr>
          <a:xfrm>
            <a:off x="2590800" y="3272135"/>
            <a:ext cx="1066800" cy="381000"/>
            <a:chOff x="4343400" y="5181600"/>
            <a:chExt cx="1066800" cy="381000"/>
          </a:xfrm>
        </p:grpSpPr>
        <p:cxnSp>
          <p:nvCxnSpPr>
            <p:cNvPr id="27" name="Curved Connector 26"/>
            <p:cNvCxnSpPr/>
            <p:nvPr/>
          </p:nvCxnSpPr>
          <p:spPr>
            <a:xfrm rot="5400000">
              <a:off x="4984750" y="4921250"/>
              <a:ext cx="12700" cy="838200"/>
            </a:xfrm>
            <a:prstGeom prst="curvedConnector3">
              <a:avLst>
                <a:gd name="adj1" fmla="val 1254544"/>
              </a:avLst>
            </a:prstGeom>
            <a:ln>
              <a:headEnd type="triangle" w="lg" len="med"/>
              <a:tailEnd type="none" w="lg" len="lg"/>
            </a:ln>
          </p:spPr>
          <p:style>
            <a:lnRef idx="3">
              <a:schemeClr val="accent2"/>
            </a:lnRef>
            <a:fillRef idx="0">
              <a:schemeClr val="accent2"/>
            </a:fillRef>
            <a:effectRef idx="2">
              <a:schemeClr val="accent2"/>
            </a:effectRef>
            <a:fontRef idx="minor">
              <a:schemeClr val="tx1"/>
            </a:fontRef>
          </p:style>
        </p:cxnSp>
        <p:sp>
          <p:nvSpPr>
            <p:cNvPr id="32" name="Cube 31"/>
            <p:cNvSpPr/>
            <p:nvPr/>
          </p:nvSpPr>
          <p:spPr>
            <a:xfrm rot="900000">
              <a:off x="4343400" y="5181600"/>
              <a:ext cx="381000" cy="381000"/>
            </a:xfrm>
            <a:prstGeom prst="cube">
              <a:avLst/>
            </a:prstGeom>
            <a:ln/>
          </p:spPr>
          <p:style>
            <a:lnRef idx="2">
              <a:schemeClr val="accent2">
                <a:shade val="50000"/>
              </a:schemeClr>
            </a:lnRef>
            <a:fillRef idx="1">
              <a:schemeClr val="accent2"/>
            </a:fillRef>
            <a:effectRef idx="0">
              <a:schemeClr val="accent2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48" name="Group 47"/>
          <p:cNvGrpSpPr/>
          <p:nvPr/>
        </p:nvGrpSpPr>
        <p:grpSpPr>
          <a:xfrm>
            <a:off x="2895600" y="4715470"/>
            <a:ext cx="1676400" cy="461665"/>
            <a:chOff x="3124200" y="4415135"/>
            <a:chExt cx="1676400" cy="461665"/>
          </a:xfrm>
        </p:grpSpPr>
        <p:sp>
          <p:nvSpPr>
            <p:cNvPr id="44" name="Rectangle 43"/>
            <p:cNvSpPr/>
            <p:nvPr/>
          </p:nvSpPr>
          <p:spPr>
            <a:xfrm>
              <a:off x="3124200" y="4419600"/>
              <a:ext cx="381000" cy="381000"/>
            </a:xfrm>
            <a:prstGeom prst="rect">
              <a:avLst/>
            </a:prstGeom>
          </p:spPr>
          <p:style>
            <a:lnRef idx="2">
              <a:schemeClr val="accent2">
                <a:shade val="50000"/>
              </a:schemeClr>
            </a:lnRef>
            <a:fillRef idx="1">
              <a:schemeClr val="accent2"/>
            </a:fillRef>
            <a:effectRef idx="0">
              <a:schemeClr val="accent2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 smtClean="0">
                  <a:sym typeface="Wingdings"/>
                </a:rPr>
                <a:t></a:t>
              </a:r>
              <a:endParaRPr lang="en-US" dirty="0"/>
            </a:p>
          </p:txBody>
        </p:sp>
        <p:sp>
          <p:nvSpPr>
            <p:cNvPr id="45" name="Rectangle 44"/>
            <p:cNvSpPr/>
            <p:nvPr/>
          </p:nvSpPr>
          <p:spPr>
            <a:xfrm>
              <a:off x="3581400" y="4419600"/>
              <a:ext cx="381000" cy="381000"/>
            </a:xfrm>
            <a:prstGeom prst="rect">
              <a:avLst/>
            </a:prstGeom>
          </p:spPr>
          <p:style>
            <a:lnRef idx="2">
              <a:schemeClr val="accent2">
                <a:shade val="50000"/>
              </a:schemeClr>
            </a:lnRef>
            <a:fillRef idx="1">
              <a:schemeClr val="accent2"/>
            </a:fillRef>
            <a:effectRef idx="0">
              <a:schemeClr val="accent2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 smtClean="0">
                  <a:sym typeface="Wingdings"/>
                </a:rPr>
                <a:t></a:t>
              </a:r>
              <a:endParaRPr lang="en-US" dirty="0"/>
            </a:p>
          </p:txBody>
        </p:sp>
        <p:sp>
          <p:nvSpPr>
            <p:cNvPr id="46" name="Rectangle 45"/>
            <p:cNvSpPr/>
            <p:nvPr/>
          </p:nvSpPr>
          <p:spPr>
            <a:xfrm>
              <a:off x="4038600" y="4419600"/>
              <a:ext cx="381000" cy="381000"/>
            </a:xfrm>
            <a:prstGeom prst="rect">
              <a:avLst/>
            </a:prstGeom>
          </p:spPr>
          <p:style>
            <a:lnRef idx="2">
              <a:schemeClr val="accent2">
                <a:shade val="50000"/>
              </a:schemeClr>
            </a:lnRef>
            <a:fillRef idx="1">
              <a:schemeClr val="accent2"/>
            </a:fillRef>
            <a:effectRef idx="0">
              <a:schemeClr val="accent2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 smtClean="0">
                  <a:sym typeface="Wingdings"/>
                </a:rPr>
                <a:t></a:t>
              </a:r>
              <a:endParaRPr lang="en-US" dirty="0"/>
            </a:p>
          </p:txBody>
        </p:sp>
        <p:sp>
          <p:nvSpPr>
            <p:cNvPr id="47" name="TextBox 46"/>
            <p:cNvSpPr txBox="1"/>
            <p:nvPr/>
          </p:nvSpPr>
          <p:spPr>
            <a:xfrm>
              <a:off x="4396322" y="4415135"/>
              <a:ext cx="404278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2400" b="1" dirty="0" smtClean="0">
                  <a:solidFill>
                    <a:schemeClr val="accent2"/>
                  </a:solidFill>
                </a:rPr>
                <a:t>…</a:t>
              </a:r>
              <a:endParaRPr lang="en-US" sz="2400" b="1" dirty="0">
                <a:solidFill>
                  <a:schemeClr val="accent2"/>
                </a:solidFill>
              </a:endParaRPr>
            </a:p>
          </p:txBody>
        </p:sp>
      </p:grpSp>
      <p:grpSp>
        <p:nvGrpSpPr>
          <p:cNvPr id="49" name="Group 48"/>
          <p:cNvGrpSpPr/>
          <p:nvPr/>
        </p:nvGrpSpPr>
        <p:grpSpPr>
          <a:xfrm>
            <a:off x="5029200" y="4719935"/>
            <a:ext cx="1676400" cy="461665"/>
            <a:chOff x="3124200" y="4415135"/>
            <a:chExt cx="1676400" cy="461665"/>
          </a:xfrm>
        </p:grpSpPr>
        <p:sp>
          <p:nvSpPr>
            <p:cNvPr id="50" name="Rectangle 49"/>
            <p:cNvSpPr/>
            <p:nvPr/>
          </p:nvSpPr>
          <p:spPr>
            <a:xfrm>
              <a:off x="3124200" y="4419600"/>
              <a:ext cx="381000" cy="381000"/>
            </a:xfrm>
            <a:prstGeom prst="rect">
              <a:avLst/>
            </a:prstGeom>
          </p:spPr>
          <p:style>
            <a:lnRef idx="2">
              <a:schemeClr val="accent2">
                <a:shade val="50000"/>
              </a:schemeClr>
            </a:lnRef>
            <a:fillRef idx="1">
              <a:schemeClr val="accent2"/>
            </a:fillRef>
            <a:effectRef idx="0">
              <a:schemeClr val="accent2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 smtClean="0">
                  <a:sym typeface="Wingdings"/>
                </a:rPr>
                <a:t>1</a:t>
              </a:r>
              <a:endParaRPr lang="en-US" dirty="0"/>
            </a:p>
          </p:txBody>
        </p:sp>
        <p:sp>
          <p:nvSpPr>
            <p:cNvPr id="51" name="Rectangle 50"/>
            <p:cNvSpPr/>
            <p:nvPr/>
          </p:nvSpPr>
          <p:spPr>
            <a:xfrm>
              <a:off x="3581400" y="4419600"/>
              <a:ext cx="381000" cy="381000"/>
            </a:xfrm>
            <a:prstGeom prst="rect">
              <a:avLst/>
            </a:prstGeom>
          </p:spPr>
          <p:style>
            <a:lnRef idx="2">
              <a:schemeClr val="accent2">
                <a:shade val="50000"/>
              </a:schemeClr>
            </a:lnRef>
            <a:fillRef idx="1">
              <a:schemeClr val="accent2"/>
            </a:fillRef>
            <a:effectRef idx="0">
              <a:schemeClr val="accent2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 smtClean="0"/>
                <a:t>2</a:t>
              </a:r>
              <a:endParaRPr lang="en-US" dirty="0"/>
            </a:p>
          </p:txBody>
        </p:sp>
        <p:sp>
          <p:nvSpPr>
            <p:cNvPr id="52" name="Rectangle 51"/>
            <p:cNvSpPr/>
            <p:nvPr/>
          </p:nvSpPr>
          <p:spPr>
            <a:xfrm>
              <a:off x="4038600" y="4419600"/>
              <a:ext cx="381000" cy="381000"/>
            </a:xfrm>
            <a:prstGeom prst="rect">
              <a:avLst/>
            </a:prstGeom>
          </p:spPr>
          <p:style>
            <a:lnRef idx="2">
              <a:schemeClr val="accent2">
                <a:shade val="50000"/>
              </a:schemeClr>
            </a:lnRef>
            <a:fillRef idx="1">
              <a:schemeClr val="accent2"/>
            </a:fillRef>
            <a:effectRef idx="0">
              <a:schemeClr val="accent2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 smtClean="0">
                  <a:sym typeface="Wingdings"/>
                </a:rPr>
                <a:t>3</a:t>
              </a:r>
              <a:endParaRPr lang="en-US" dirty="0"/>
            </a:p>
          </p:txBody>
        </p:sp>
        <p:sp>
          <p:nvSpPr>
            <p:cNvPr id="53" name="TextBox 52"/>
            <p:cNvSpPr txBox="1"/>
            <p:nvPr/>
          </p:nvSpPr>
          <p:spPr>
            <a:xfrm>
              <a:off x="4396322" y="4415135"/>
              <a:ext cx="404278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2400" b="1" dirty="0" smtClean="0">
                  <a:solidFill>
                    <a:schemeClr val="accent2"/>
                  </a:solidFill>
                </a:rPr>
                <a:t>…</a:t>
              </a:r>
              <a:endParaRPr lang="en-US" sz="2400" b="1" dirty="0">
                <a:solidFill>
                  <a:schemeClr val="accent2"/>
                </a:solidFill>
              </a:endParaRPr>
            </a:p>
          </p:txBody>
        </p:sp>
      </p:grpSp>
      <p:sp>
        <p:nvSpPr>
          <p:cNvPr id="54" name="Rounded Rectangle 53"/>
          <p:cNvSpPr/>
          <p:nvPr/>
        </p:nvSpPr>
        <p:spPr>
          <a:xfrm>
            <a:off x="609600" y="5410200"/>
            <a:ext cx="8001000" cy="838200"/>
          </a:xfrm>
          <a:prstGeom prst="roundRect">
            <a:avLst/>
          </a:prstGeom>
        </p:spPr>
        <p:style>
          <a:lnRef idx="3">
            <a:schemeClr val="lt1"/>
          </a:lnRef>
          <a:fillRef idx="1">
            <a:schemeClr val="accent6"/>
          </a:fillRef>
          <a:effectRef idx="1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800" dirty="0" smtClean="0"/>
              <a:t>Also applies to other scenarios</a:t>
            </a:r>
            <a:endParaRPr lang="en-US" sz="2800" b="1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53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0" dur="500" fill="hold"/>
                                        <p:tgtEl>
                                          <p:spTgt spid="3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" dur="500" fill="hold"/>
                                        <p:tgtEl>
                                          <p:spTgt spid="3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>
                            <p:stCondLst>
                              <p:cond delay="500"/>
                            </p:stCondLst>
                            <p:childTnLst>
                              <p:par>
                                <p:cTn id="14" presetID="53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6" dur="5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" dur="5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9" fill="hold">
                            <p:stCondLst>
                              <p:cond delay="1000"/>
                            </p:stCondLst>
                            <p:childTnLst>
                              <p:par>
                                <p:cTn id="20" presetID="53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2" dur="5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5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53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2" dur="500" fill="hold"/>
                                        <p:tgtEl>
                                          <p:spTgt spid="4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3" dur="500" fill="hold"/>
                                        <p:tgtEl>
                                          <p:spTgt spid="4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4" dur="500"/>
                                        <p:tgtEl>
                                          <p:spTgt spid="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5" fill="hold">
                            <p:stCondLst>
                              <p:cond delay="500"/>
                            </p:stCondLst>
                            <p:childTnLst>
                              <p:par>
                                <p:cTn id="36" presetID="53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8" dur="500" fill="hold"/>
                                        <p:tgtEl>
                                          <p:spTgt spid="4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9" dur="500" fill="hold"/>
                                        <p:tgtEl>
                                          <p:spTgt spid="4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0" dur="500"/>
                                        <p:tgtEl>
                                          <p:spTgt spid="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  <p:bldP spid="54" grpId="0" animBg="1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Outline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Motivation and requirements</a:t>
            </a:r>
          </a:p>
          <a:p>
            <a:r>
              <a:rPr lang="en-US" dirty="0" smtClean="0"/>
              <a:t>Challenges</a:t>
            </a:r>
          </a:p>
          <a:p>
            <a:r>
              <a:rPr lang="en-US" dirty="0" err="1" smtClean="0"/>
              <a:t>OpenNF</a:t>
            </a:r>
            <a:r>
              <a:rPr lang="en-US" dirty="0" smtClean="0"/>
              <a:t> architecture</a:t>
            </a:r>
          </a:p>
          <a:p>
            <a:pPr lvl="1"/>
            <a:r>
              <a:rPr lang="en-US" dirty="0" smtClean="0"/>
              <a:t>State export/import</a:t>
            </a:r>
          </a:p>
          <a:p>
            <a:pPr lvl="1"/>
            <a:r>
              <a:rPr lang="en-US" dirty="0" smtClean="0"/>
              <a:t>State operations</a:t>
            </a:r>
          </a:p>
          <a:p>
            <a:pPr lvl="1"/>
            <a:r>
              <a:rPr lang="en-US" dirty="0" smtClean="0"/>
              <a:t>Guarantees</a:t>
            </a:r>
          </a:p>
          <a:p>
            <a:r>
              <a:rPr lang="en-US" dirty="0" smtClean="0"/>
              <a:t>Evaluation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2C5A87-65DC-41FD-9E53-7EAC48455B9A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8</a:t>
            </a:fld>
            <a:endParaRPr lang="en-US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Rectangle 4"/>
          <p:cNvSpPr/>
          <p:nvPr/>
        </p:nvSpPr>
        <p:spPr>
          <a:xfrm>
            <a:off x="457200" y="1600200"/>
            <a:ext cx="5410200" cy="609600"/>
          </a:xfrm>
          <a:prstGeom prst="rect">
            <a:avLst/>
          </a:prstGeom>
          <a:solidFill>
            <a:srgbClr val="FFFFFF">
              <a:alpha val="74902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447800"/>
            <a:ext cx="8229600" cy="4953000"/>
          </a:xfrm>
        </p:spPr>
        <p:txBody>
          <a:bodyPr>
            <a:normAutofit/>
          </a:bodyPr>
          <a:lstStyle/>
          <a:p>
            <a:pPr marL="514350" indent="-514350">
              <a:spcBef>
                <a:spcPts val="1800"/>
              </a:spcBef>
              <a:buFont typeface="+mj-lt"/>
              <a:buAutoNum type="arabicPeriod"/>
            </a:pPr>
            <a:r>
              <a:rPr lang="en-US" dirty="0" smtClean="0"/>
              <a:t>Supporting many NFs with minimal changes</a:t>
            </a:r>
            <a:br>
              <a:rPr lang="en-US" dirty="0" smtClean="0"/>
            </a:br>
            <a:r>
              <a:rPr lang="en-US" dirty="0" smtClean="0"/>
              <a:t/>
            </a:r>
            <a:br>
              <a:rPr lang="en-US" dirty="0" smtClean="0"/>
            </a:br>
            <a:endParaRPr lang="en-US" dirty="0" smtClean="0"/>
          </a:p>
          <a:p>
            <a:pPr marL="514350" indent="-514350">
              <a:buFont typeface="+mj-lt"/>
              <a:buAutoNum type="arabicPeriod"/>
            </a:pPr>
            <a:r>
              <a:rPr lang="en-US" dirty="0" smtClean="0"/>
              <a:t>Dealing with race conditions</a:t>
            </a:r>
            <a:br>
              <a:rPr lang="en-US" dirty="0" smtClean="0"/>
            </a:br>
            <a:r>
              <a:rPr lang="en-US" dirty="0" smtClean="0"/>
              <a:t/>
            </a:r>
            <a:br>
              <a:rPr lang="en-US" dirty="0" smtClean="0"/>
            </a:br>
            <a:endParaRPr lang="en-US" dirty="0" smtClean="0"/>
          </a:p>
          <a:p>
            <a:pPr marL="514350" indent="-514350">
              <a:spcBef>
                <a:spcPts val="1800"/>
              </a:spcBef>
              <a:buFont typeface="+mj-lt"/>
              <a:buAutoNum type="arabicPeriod"/>
            </a:pPr>
            <a:r>
              <a:rPr lang="en-US" dirty="0" smtClean="0"/>
              <a:t>Bounding overhead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Challenges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2C5A87-65DC-41FD-9E53-7EAC48455B9A}" type="slidenum">
              <a:rPr lang="en-US" smtClean="0"/>
              <a:pPr/>
              <a:t>9</a:t>
            </a:fld>
            <a:endParaRPr lang="en-US" dirty="0"/>
          </a:p>
        </p:txBody>
      </p:sp>
      <p:grpSp>
        <p:nvGrpSpPr>
          <p:cNvPr id="7" name="Group 28"/>
          <p:cNvGrpSpPr/>
          <p:nvPr/>
        </p:nvGrpSpPr>
        <p:grpSpPr>
          <a:xfrm>
            <a:off x="3132281" y="2133600"/>
            <a:ext cx="762000" cy="762000"/>
            <a:chOff x="1371600" y="3657600"/>
            <a:chExt cx="762000" cy="762000"/>
          </a:xfrm>
        </p:grpSpPr>
        <p:sp>
          <p:nvSpPr>
            <p:cNvPr id="19" name="Rounded Rectangle 18"/>
            <p:cNvSpPr/>
            <p:nvPr/>
          </p:nvSpPr>
          <p:spPr>
            <a:xfrm>
              <a:off x="1371600" y="3657600"/>
              <a:ext cx="762000" cy="762000"/>
            </a:xfrm>
            <a:prstGeom prst="roundRect">
              <a:avLst/>
            </a:prstGeom>
          </p:spPr>
          <p:style>
            <a:lnRef idx="0">
              <a:schemeClr val="accent6"/>
            </a:lnRef>
            <a:fillRef idx="3">
              <a:schemeClr val="accent6"/>
            </a:fillRef>
            <a:effectRef idx="3">
              <a:schemeClr val="accent6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pic>
          <p:nvPicPr>
            <p:cNvPr id="20" name="Picture 19" descr="globe_gear.png"/>
            <p:cNvPicPr>
              <a:picLocks noChangeAspect="1"/>
            </p:cNvPicPr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1447800" y="3733800"/>
              <a:ext cx="609600" cy="609600"/>
            </a:xfrm>
            <a:prstGeom prst="rect">
              <a:avLst/>
            </a:prstGeom>
          </p:spPr>
        </p:pic>
      </p:grpSp>
      <p:grpSp>
        <p:nvGrpSpPr>
          <p:cNvPr id="8" name="Group 75"/>
          <p:cNvGrpSpPr/>
          <p:nvPr/>
        </p:nvGrpSpPr>
        <p:grpSpPr>
          <a:xfrm>
            <a:off x="4207161" y="2133600"/>
            <a:ext cx="729678" cy="763080"/>
            <a:chOff x="4846320" y="2209800"/>
            <a:chExt cx="609600" cy="609600"/>
          </a:xfrm>
        </p:grpSpPr>
        <p:sp>
          <p:nvSpPr>
            <p:cNvPr id="15" name="Rounded Rectangle 14"/>
            <p:cNvSpPr/>
            <p:nvPr/>
          </p:nvSpPr>
          <p:spPr>
            <a:xfrm>
              <a:off x="4846320" y="2209800"/>
              <a:ext cx="609600" cy="609600"/>
            </a:xfrm>
            <a:prstGeom prst="roundRect">
              <a:avLst/>
            </a:prstGeom>
          </p:spPr>
          <p:style>
            <a:lnRef idx="0">
              <a:schemeClr val="accent6"/>
            </a:lnRef>
            <a:fillRef idx="3">
              <a:schemeClr val="accent6"/>
            </a:fillRef>
            <a:effectRef idx="3">
              <a:schemeClr val="accent6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grpSp>
          <p:nvGrpSpPr>
            <p:cNvPr id="16" name="Group 23"/>
            <p:cNvGrpSpPr/>
            <p:nvPr/>
          </p:nvGrpSpPr>
          <p:grpSpPr>
            <a:xfrm>
              <a:off x="4876798" y="2270760"/>
              <a:ext cx="518164" cy="487680"/>
              <a:chOff x="609600" y="1652131"/>
              <a:chExt cx="359837" cy="338667"/>
            </a:xfrm>
          </p:grpSpPr>
          <p:pic>
            <p:nvPicPr>
              <p:cNvPr id="17" name="Picture 16" descr="magnifying_glass.png"/>
              <p:cNvPicPr>
                <a:picLocks noChangeAspect="1"/>
              </p:cNvPicPr>
              <p:nvPr/>
            </p:nvPicPr>
            <p:blipFill>
              <a:blip r:embed="rId4" cstate="print"/>
              <a:stretch>
                <a:fillRect/>
              </a:stretch>
            </p:blipFill>
            <p:spPr>
              <a:xfrm>
                <a:off x="630769" y="1652131"/>
                <a:ext cx="338668" cy="338667"/>
              </a:xfrm>
              <a:prstGeom prst="rect">
                <a:avLst/>
              </a:prstGeom>
              <a:effectLst>
                <a:outerShdw blurRad="63500" sx="102000" sy="102000" algn="ctr" rotWithShape="0">
                  <a:prstClr val="black">
                    <a:alpha val="40000"/>
                  </a:prstClr>
                </a:outerShdw>
              </a:effectLst>
            </p:spPr>
          </p:pic>
          <p:pic>
            <p:nvPicPr>
              <p:cNvPr id="18" name="Picture 2" descr="C:\Users\agember\AppData\Local\Microsoft\Windows\Temporary Internet Files\Content.IE5\2DGPU1UI\MC900431599[1].png"/>
              <p:cNvPicPr>
                <a:picLocks noChangeAspect="1" noChangeArrowheads="1"/>
              </p:cNvPicPr>
              <p:nvPr/>
            </p:nvPicPr>
            <p:blipFill>
              <a:blip r:embed="rId5" cstate="print"/>
              <a:srcRect/>
              <a:stretch>
                <a:fillRect/>
              </a:stretch>
            </p:blipFill>
            <p:spPr bwMode="auto">
              <a:xfrm>
                <a:off x="609600" y="1752600"/>
                <a:ext cx="238125" cy="238125"/>
              </a:xfrm>
              <a:prstGeom prst="rect">
                <a:avLst/>
              </a:prstGeom>
              <a:noFill/>
            </p:spPr>
          </p:pic>
        </p:grpSp>
      </p:grpSp>
      <p:grpSp>
        <p:nvGrpSpPr>
          <p:cNvPr id="9" name="Group 33"/>
          <p:cNvGrpSpPr/>
          <p:nvPr/>
        </p:nvGrpSpPr>
        <p:grpSpPr>
          <a:xfrm>
            <a:off x="2057400" y="2133600"/>
            <a:ext cx="762000" cy="762000"/>
            <a:chOff x="6155875" y="2950761"/>
            <a:chExt cx="762000" cy="762000"/>
          </a:xfrm>
        </p:grpSpPr>
        <p:sp>
          <p:nvSpPr>
            <p:cNvPr id="13" name="Rounded Rectangle 12"/>
            <p:cNvSpPr/>
            <p:nvPr/>
          </p:nvSpPr>
          <p:spPr>
            <a:xfrm>
              <a:off x="6155875" y="2950761"/>
              <a:ext cx="762000" cy="762000"/>
            </a:xfrm>
            <a:prstGeom prst="roundRect">
              <a:avLst/>
            </a:prstGeom>
          </p:spPr>
          <p:style>
            <a:lnRef idx="0">
              <a:schemeClr val="accent6"/>
            </a:lnRef>
            <a:fillRef idx="3">
              <a:schemeClr val="accent6"/>
            </a:fillRef>
            <a:effectRef idx="3">
              <a:schemeClr val="accent6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pic>
          <p:nvPicPr>
            <p:cNvPr id="14" name="Picture 7" descr="C:\Users\agember\AppData\Local\Microsoft\Windows\Temporary Internet Files\Content.IE5\QZT0K7D8\MC900434719[1].png"/>
            <p:cNvPicPr>
              <a:picLocks noChangeAspect="1" noChangeArrowheads="1"/>
            </p:cNvPicPr>
            <p:nvPr/>
          </p:nvPicPr>
          <p:blipFill>
            <a:blip r:embed="rId6" cstate="print"/>
            <a:srcRect/>
            <a:stretch>
              <a:fillRect/>
            </a:stretch>
          </p:blipFill>
          <p:spPr bwMode="auto">
            <a:xfrm>
              <a:off x="6185067" y="2981165"/>
              <a:ext cx="706860" cy="706860"/>
            </a:xfrm>
            <a:prstGeom prst="rect">
              <a:avLst/>
            </a:prstGeom>
            <a:noFill/>
          </p:spPr>
        </p:pic>
      </p:grpSp>
      <p:grpSp>
        <p:nvGrpSpPr>
          <p:cNvPr id="10" name="Group 58"/>
          <p:cNvGrpSpPr/>
          <p:nvPr/>
        </p:nvGrpSpPr>
        <p:grpSpPr>
          <a:xfrm>
            <a:off x="5249719" y="2133600"/>
            <a:ext cx="762000" cy="762000"/>
            <a:chOff x="6934200" y="2514600"/>
            <a:chExt cx="762000" cy="762000"/>
          </a:xfrm>
        </p:grpSpPr>
        <p:sp>
          <p:nvSpPr>
            <p:cNvPr id="11" name="Rounded Rectangle 10"/>
            <p:cNvSpPr/>
            <p:nvPr/>
          </p:nvSpPr>
          <p:spPr>
            <a:xfrm>
              <a:off x="6934200" y="2514600"/>
              <a:ext cx="762000" cy="762000"/>
            </a:xfrm>
            <a:prstGeom prst="roundRect">
              <a:avLst/>
            </a:prstGeom>
          </p:spPr>
          <p:style>
            <a:lnRef idx="0">
              <a:schemeClr val="accent6"/>
            </a:lnRef>
            <a:fillRef idx="3">
              <a:schemeClr val="accent6"/>
            </a:fillRef>
            <a:effectRef idx="3">
              <a:schemeClr val="accent6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pic>
          <p:nvPicPr>
            <p:cNvPr id="12" name="Picture 11" descr="firewall.png"/>
            <p:cNvPicPr>
              <a:picLocks noChangeAspect="1"/>
            </p:cNvPicPr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6934200" y="2530366"/>
              <a:ext cx="685800" cy="685800"/>
            </a:xfrm>
            <a:prstGeom prst="rect">
              <a:avLst/>
            </a:prstGeom>
          </p:spPr>
        </p:pic>
      </p:grpSp>
      <p:grpSp>
        <p:nvGrpSpPr>
          <p:cNvPr id="25" name="Group 24"/>
          <p:cNvGrpSpPr/>
          <p:nvPr/>
        </p:nvGrpSpPr>
        <p:grpSpPr>
          <a:xfrm>
            <a:off x="6324600" y="2133600"/>
            <a:ext cx="762000" cy="762000"/>
            <a:chOff x="4800600" y="2286000"/>
            <a:chExt cx="762000" cy="762000"/>
          </a:xfrm>
        </p:grpSpPr>
        <p:sp>
          <p:nvSpPr>
            <p:cNvPr id="22" name="Rounded Rectangle 21"/>
            <p:cNvSpPr/>
            <p:nvPr/>
          </p:nvSpPr>
          <p:spPr>
            <a:xfrm>
              <a:off x="4800600" y="2286000"/>
              <a:ext cx="762000" cy="762000"/>
            </a:xfrm>
            <a:prstGeom prst="roundRect">
              <a:avLst/>
            </a:prstGeom>
          </p:spPr>
          <p:style>
            <a:lnRef idx="0">
              <a:schemeClr val="accent6"/>
            </a:lnRef>
            <a:fillRef idx="3">
              <a:schemeClr val="accent6"/>
            </a:fillRef>
            <a:effectRef idx="3">
              <a:schemeClr val="accent6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pic>
          <p:nvPicPr>
            <p:cNvPr id="24" name="Picture 23" descr="server_sync.PNG"/>
            <p:cNvPicPr>
              <a:picLocks noChangeAspect="1"/>
            </p:cNvPicPr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4833936" y="2314576"/>
              <a:ext cx="685800" cy="685800"/>
            </a:xfrm>
            <a:prstGeom prst="rect">
              <a:avLst/>
            </a:prstGeom>
          </p:spPr>
        </p:pic>
      </p:grpSp>
      <p:grpSp>
        <p:nvGrpSpPr>
          <p:cNvPr id="92" name="Group 91"/>
          <p:cNvGrpSpPr/>
          <p:nvPr/>
        </p:nvGrpSpPr>
        <p:grpSpPr>
          <a:xfrm>
            <a:off x="5724453" y="3810000"/>
            <a:ext cx="1819347" cy="914400"/>
            <a:chOff x="390453" y="4038600"/>
            <a:chExt cx="1819347" cy="914400"/>
          </a:xfrm>
        </p:grpSpPr>
        <p:sp>
          <p:nvSpPr>
            <p:cNvPr id="32" name="Cloud 31"/>
            <p:cNvSpPr/>
            <p:nvPr/>
          </p:nvSpPr>
          <p:spPr>
            <a:xfrm rot="571012">
              <a:off x="390453" y="4535252"/>
              <a:ext cx="457200" cy="152400"/>
            </a:xfrm>
            <a:prstGeom prst="cloud">
              <a:avLst/>
            </a:prstGeom>
          </p:spPr>
          <p:style>
            <a:lnRef idx="1">
              <a:schemeClr val="dk1"/>
            </a:lnRef>
            <a:fillRef idx="2">
              <a:schemeClr val="dk1"/>
            </a:fillRef>
            <a:effectRef idx="1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2" name="Cube 41"/>
            <p:cNvSpPr/>
            <p:nvPr/>
          </p:nvSpPr>
          <p:spPr>
            <a:xfrm>
              <a:off x="838200" y="4038600"/>
              <a:ext cx="1371600" cy="685800"/>
            </a:xfrm>
            <a:prstGeom prst="cube">
              <a:avLst/>
            </a:prstGeom>
            <a:ln/>
          </p:spPr>
          <p:style>
            <a:lnRef idx="2">
              <a:schemeClr val="accent2">
                <a:shade val="50000"/>
              </a:schemeClr>
            </a:lnRef>
            <a:fillRef idx="1">
              <a:schemeClr val="accent2"/>
            </a:fillRef>
            <a:effectRef idx="0">
              <a:schemeClr val="accent2"/>
            </a:effectRef>
            <a:fontRef idx="minor">
              <a:schemeClr val="lt1"/>
            </a:fontRef>
          </p:style>
          <p:txBody>
            <a:bodyPr rtlCol="0" anchor="t" anchorCtr="0"/>
            <a:lstStyle/>
            <a:p>
              <a:pPr algn="ctr"/>
              <a:r>
                <a:rPr lang="en-US" sz="2400" b="1" dirty="0" smtClean="0"/>
                <a:t>State</a:t>
              </a:r>
              <a:endParaRPr lang="en-US" sz="2400" b="1" dirty="0"/>
            </a:p>
          </p:txBody>
        </p:sp>
        <p:grpSp>
          <p:nvGrpSpPr>
            <p:cNvPr id="63" name="Group 62"/>
            <p:cNvGrpSpPr/>
            <p:nvPr/>
          </p:nvGrpSpPr>
          <p:grpSpPr>
            <a:xfrm>
              <a:off x="838200" y="4572000"/>
              <a:ext cx="381000" cy="381000"/>
              <a:chOff x="9378950" y="2674938"/>
              <a:chExt cx="746125" cy="746125"/>
            </a:xfrm>
          </p:grpSpPr>
          <p:sp>
            <p:nvSpPr>
              <p:cNvPr id="61" name="Oval 60"/>
              <p:cNvSpPr/>
              <p:nvPr/>
            </p:nvSpPr>
            <p:spPr>
              <a:xfrm>
                <a:off x="9525000" y="2819400"/>
                <a:ext cx="457200" cy="457200"/>
              </a:xfrm>
              <a:prstGeom prst="ellipse">
                <a:avLst/>
              </a:prstGeom>
              <a:solidFill>
                <a:schemeClr val="bg1">
                  <a:lumMod val="8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036" name="Freeform 12"/>
              <p:cNvSpPr>
                <a:spLocks/>
              </p:cNvSpPr>
              <p:nvPr/>
            </p:nvSpPr>
            <p:spPr bwMode="auto">
              <a:xfrm>
                <a:off x="9378950" y="2674938"/>
                <a:ext cx="746125" cy="746125"/>
              </a:xfrm>
              <a:custGeom>
                <a:avLst/>
                <a:gdLst/>
                <a:ahLst/>
                <a:cxnLst>
                  <a:cxn ang="0">
                    <a:pos x="930" y="378"/>
                  </a:cxn>
                  <a:cxn ang="0">
                    <a:pos x="884" y="249"/>
                  </a:cxn>
                  <a:cxn ang="0">
                    <a:pos x="802" y="137"/>
                  </a:cxn>
                  <a:cxn ang="0">
                    <a:pos x="749" y="91"/>
                  </a:cxn>
                  <a:cxn ang="0">
                    <a:pos x="690" y="55"/>
                  </a:cxn>
                  <a:cxn ang="0">
                    <a:pos x="628" y="28"/>
                  </a:cxn>
                  <a:cxn ang="0">
                    <a:pos x="562" y="9"/>
                  </a:cxn>
                  <a:cxn ang="0">
                    <a:pos x="492" y="0"/>
                  </a:cxn>
                  <a:cxn ang="0">
                    <a:pos x="375" y="9"/>
                  </a:cxn>
                  <a:cxn ang="0">
                    <a:pos x="246" y="56"/>
                  </a:cxn>
                  <a:cxn ang="0">
                    <a:pos x="138" y="138"/>
                  </a:cxn>
                  <a:cxn ang="0">
                    <a:pos x="56" y="247"/>
                  </a:cxn>
                  <a:cxn ang="0">
                    <a:pos x="9" y="376"/>
                  </a:cxn>
                  <a:cxn ang="0">
                    <a:pos x="2" y="517"/>
                  </a:cxn>
                  <a:cxn ang="0">
                    <a:pos x="35" y="650"/>
                  </a:cxn>
                  <a:cxn ang="0">
                    <a:pos x="107" y="767"/>
                  </a:cxn>
                  <a:cxn ang="0">
                    <a:pos x="172" y="833"/>
                  </a:cxn>
                  <a:cxn ang="0">
                    <a:pos x="229" y="873"/>
                  </a:cxn>
                  <a:cxn ang="0">
                    <a:pos x="290" y="904"/>
                  </a:cxn>
                  <a:cxn ang="0">
                    <a:pos x="354" y="926"/>
                  </a:cxn>
                  <a:cxn ang="0">
                    <a:pos x="422" y="938"/>
                  </a:cxn>
                  <a:cxn ang="0">
                    <a:pos x="490" y="940"/>
                  </a:cxn>
                  <a:cxn ang="0">
                    <a:pos x="552" y="933"/>
                  </a:cxn>
                  <a:cxn ang="0">
                    <a:pos x="611" y="918"/>
                  </a:cxn>
                  <a:cxn ang="0">
                    <a:pos x="669" y="896"/>
                  </a:cxn>
                  <a:cxn ang="0">
                    <a:pos x="722" y="866"/>
                  </a:cxn>
                  <a:cxn ang="0">
                    <a:pos x="771" y="829"/>
                  </a:cxn>
                  <a:cxn ang="0">
                    <a:pos x="556" y="680"/>
                  </a:cxn>
                  <a:cxn ang="0">
                    <a:pos x="513" y="692"/>
                  </a:cxn>
                  <a:cxn ang="0">
                    <a:pos x="469" y="697"/>
                  </a:cxn>
                  <a:cxn ang="0">
                    <a:pos x="404" y="687"/>
                  </a:cxn>
                  <a:cxn ang="0">
                    <a:pos x="344" y="659"/>
                  </a:cxn>
                  <a:cxn ang="0">
                    <a:pos x="294" y="614"/>
                  </a:cxn>
                  <a:cxn ang="0">
                    <a:pos x="260" y="556"/>
                  </a:cxn>
                  <a:cxn ang="0">
                    <a:pos x="244" y="492"/>
                  </a:cxn>
                  <a:cxn ang="0">
                    <a:pos x="247" y="425"/>
                  </a:cxn>
                  <a:cxn ang="0">
                    <a:pos x="269" y="363"/>
                  </a:cxn>
                  <a:cxn ang="0">
                    <a:pos x="309" y="309"/>
                  </a:cxn>
                  <a:cxn ang="0">
                    <a:pos x="364" y="270"/>
                  </a:cxn>
                  <a:cxn ang="0">
                    <a:pos x="426" y="248"/>
                  </a:cxn>
                  <a:cxn ang="0">
                    <a:pos x="492" y="244"/>
                  </a:cxn>
                  <a:cxn ang="0">
                    <a:pos x="557" y="260"/>
                  </a:cxn>
                  <a:cxn ang="0">
                    <a:pos x="613" y="294"/>
                  </a:cxn>
                  <a:cxn ang="0">
                    <a:pos x="659" y="343"/>
                  </a:cxn>
                  <a:cxn ang="0">
                    <a:pos x="687" y="403"/>
                  </a:cxn>
                  <a:cxn ang="0">
                    <a:pos x="696" y="470"/>
                  </a:cxn>
                  <a:cxn ang="0">
                    <a:pos x="678" y="559"/>
                  </a:cxn>
                  <a:cxn ang="0">
                    <a:pos x="628" y="632"/>
                  </a:cxn>
                  <a:cxn ang="0">
                    <a:pos x="771" y="829"/>
                  </a:cxn>
                  <a:cxn ang="0">
                    <a:pos x="794" y="810"/>
                  </a:cxn>
                  <a:cxn ang="0">
                    <a:pos x="861" y="730"/>
                  </a:cxn>
                  <a:cxn ang="0">
                    <a:pos x="920" y="607"/>
                  </a:cxn>
                  <a:cxn ang="0">
                    <a:pos x="939" y="470"/>
                  </a:cxn>
                </a:cxnLst>
                <a:rect l="0" t="0" r="r" b="b"/>
                <a:pathLst>
                  <a:path w="939" h="940">
                    <a:moveTo>
                      <a:pt x="939" y="470"/>
                    </a:moveTo>
                    <a:lnTo>
                      <a:pt x="937" y="423"/>
                    </a:lnTo>
                    <a:lnTo>
                      <a:pt x="930" y="378"/>
                    </a:lnTo>
                    <a:lnTo>
                      <a:pt x="920" y="333"/>
                    </a:lnTo>
                    <a:lnTo>
                      <a:pt x="903" y="289"/>
                    </a:lnTo>
                    <a:lnTo>
                      <a:pt x="884" y="249"/>
                    </a:lnTo>
                    <a:lnTo>
                      <a:pt x="861" y="208"/>
                    </a:lnTo>
                    <a:lnTo>
                      <a:pt x="833" y="172"/>
                    </a:lnTo>
                    <a:lnTo>
                      <a:pt x="802" y="137"/>
                    </a:lnTo>
                    <a:lnTo>
                      <a:pt x="785" y="121"/>
                    </a:lnTo>
                    <a:lnTo>
                      <a:pt x="768" y="106"/>
                    </a:lnTo>
                    <a:lnTo>
                      <a:pt x="749" y="91"/>
                    </a:lnTo>
                    <a:lnTo>
                      <a:pt x="731" y="78"/>
                    </a:lnTo>
                    <a:lnTo>
                      <a:pt x="711" y="66"/>
                    </a:lnTo>
                    <a:lnTo>
                      <a:pt x="690" y="55"/>
                    </a:lnTo>
                    <a:lnTo>
                      <a:pt x="671" y="45"/>
                    </a:lnTo>
                    <a:lnTo>
                      <a:pt x="650" y="36"/>
                    </a:lnTo>
                    <a:lnTo>
                      <a:pt x="628" y="28"/>
                    </a:lnTo>
                    <a:lnTo>
                      <a:pt x="606" y="20"/>
                    </a:lnTo>
                    <a:lnTo>
                      <a:pt x="585" y="14"/>
                    </a:lnTo>
                    <a:lnTo>
                      <a:pt x="562" y="9"/>
                    </a:lnTo>
                    <a:lnTo>
                      <a:pt x="540" y="5"/>
                    </a:lnTo>
                    <a:lnTo>
                      <a:pt x="517" y="2"/>
                    </a:lnTo>
                    <a:lnTo>
                      <a:pt x="492" y="0"/>
                    </a:lnTo>
                    <a:lnTo>
                      <a:pt x="469" y="0"/>
                    </a:lnTo>
                    <a:lnTo>
                      <a:pt x="421" y="2"/>
                    </a:lnTo>
                    <a:lnTo>
                      <a:pt x="375" y="9"/>
                    </a:lnTo>
                    <a:lnTo>
                      <a:pt x="330" y="21"/>
                    </a:lnTo>
                    <a:lnTo>
                      <a:pt x="286" y="37"/>
                    </a:lnTo>
                    <a:lnTo>
                      <a:pt x="246" y="56"/>
                    </a:lnTo>
                    <a:lnTo>
                      <a:pt x="207" y="81"/>
                    </a:lnTo>
                    <a:lnTo>
                      <a:pt x="171" y="107"/>
                    </a:lnTo>
                    <a:lnTo>
                      <a:pt x="138" y="138"/>
                    </a:lnTo>
                    <a:lnTo>
                      <a:pt x="107" y="172"/>
                    </a:lnTo>
                    <a:lnTo>
                      <a:pt x="80" y="207"/>
                    </a:lnTo>
                    <a:lnTo>
                      <a:pt x="56" y="247"/>
                    </a:lnTo>
                    <a:lnTo>
                      <a:pt x="37" y="287"/>
                    </a:lnTo>
                    <a:lnTo>
                      <a:pt x="20" y="331"/>
                    </a:lnTo>
                    <a:lnTo>
                      <a:pt x="9" y="376"/>
                    </a:lnTo>
                    <a:lnTo>
                      <a:pt x="2" y="422"/>
                    </a:lnTo>
                    <a:lnTo>
                      <a:pt x="0" y="470"/>
                    </a:lnTo>
                    <a:lnTo>
                      <a:pt x="2" y="517"/>
                    </a:lnTo>
                    <a:lnTo>
                      <a:pt x="9" y="562"/>
                    </a:lnTo>
                    <a:lnTo>
                      <a:pt x="20" y="607"/>
                    </a:lnTo>
                    <a:lnTo>
                      <a:pt x="35" y="650"/>
                    </a:lnTo>
                    <a:lnTo>
                      <a:pt x="55" y="691"/>
                    </a:lnTo>
                    <a:lnTo>
                      <a:pt x="79" y="730"/>
                    </a:lnTo>
                    <a:lnTo>
                      <a:pt x="107" y="767"/>
                    </a:lnTo>
                    <a:lnTo>
                      <a:pt x="138" y="802"/>
                    </a:lnTo>
                    <a:lnTo>
                      <a:pt x="155" y="818"/>
                    </a:lnTo>
                    <a:lnTo>
                      <a:pt x="172" y="833"/>
                    </a:lnTo>
                    <a:lnTo>
                      <a:pt x="191" y="848"/>
                    </a:lnTo>
                    <a:lnTo>
                      <a:pt x="209" y="861"/>
                    </a:lnTo>
                    <a:lnTo>
                      <a:pt x="229" y="873"/>
                    </a:lnTo>
                    <a:lnTo>
                      <a:pt x="248" y="885"/>
                    </a:lnTo>
                    <a:lnTo>
                      <a:pt x="269" y="895"/>
                    </a:lnTo>
                    <a:lnTo>
                      <a:pt x="290" y="904"/>
                    </a:lnTo>
                    <a:lnTo>
                      <a:pt x="311" y="912"/>
                    </a:lnTo>
                    <a:lnTo>
                      <a:pt x="332" y="919"/>
                    </a:lnTo>
                    <a:lnTo>
                      <a:pt x="354" y="926"/>
                    </a:lnTo>
                    <a:lnTo>
                      <a:pt x="377" y="931"/>
                    </a:lnTo>
                    <a:lnTo>
                      <a:pt x="400" y="935"/>
                    </a:lnTo>
                    <a:lnTo>
                      <a:pt x="422" y="938"/>
                    </a:lnTo>
                    <a:lnTo>
                      <a:pt x="446" y="939"/>
                    </a:lnTo>
                    <a:lnTo>
                      <a:pt x="469" y="940"/>
                    </a:lnTo>
                    <a:lnTo>
                      <a:pt x="490" y="940"/>
                    </a:lnTo>
                    <a:lnTo>
                      <a:pt x="511" y="938"/>
                    </a:lnTo>
                    <a:lnTo>
                      <a:pt x="532" y="935"/>
                    </a:lnTo>
                    <a:lnTo>
                      <a:pt x="552" y="933"/>
                    </a:lnTo>
                    <a:lnTo>
                      <a:pt x="572" y="928"/>
                    </a:lnTo>
                    <a:lnTo>
                      <a:pt x="591" y="924"/>
                    </a:lnTo>
                    <a:lnTo>
                      <a:pt x="611" y="918"/>
                    </a:lnTo>
                    <a:lnTo>
                      <a:pt x="631" y="911"/>
                    </a:lnTo>
                    <a:lnTo>
                      <a:pt x="649" y="904"/>
                    </a:lnTo>
                    <a:lnTo>
                      <a:pt x="669" y="896"/>
                    </a:lnTo>
                    <a:lnTo>
                      <a:pt x="686" y="887"/>
                    </a:lnTo>
                    <a:lnTo>
                      <a:pt x="704" y="877"/>
                    </a:lnTo>
                    <a:lnTo>
                      <a:pt x="722" y="866"/>
                    </a:lnTo>
                    <a:lnTo>
                      <a:pt x="739" y="855"/>
                    </a:lnTo>
                    <a:lnTo>
                      <a:pt x="755" y="842"/>
                    </a:lnTo>
                    <a:lnTo>
                      <a:pt x="771" y="829"/>
                    </a:lnTo>
                    <a:lnTo>
                      <a:pt x="581" y="667"/>
                    </a:lnTo>
                    <a:lnTo>
                      <a:pt x="568" y="674"/>
                    </a:lnTo>
                    <a:lnTo>
                      <a:pt x="556" y="680"/>
                    </a:lnTo>
                    <a:lnTo>
                      <a:pt x="542" y="685"/>
                    </a:lnTo>
                    <a:lnTo>
                      <a:pt x="528" y="689"/>
                    </a:lnTo>
                    <a:lnTo>
                      <a:pt x="513" y="692"/>
                    </a:lnTo>
                    <a:lnTo>
                      <a:pt x="499" y="695"/>
                    </a:lnTo>
                    <a:lnTo>
                      <a:pt x="484" y="697"/>
                    </a:lnTo>
                    <a:lnTo>
                      <a:pt x="469" y="697"/>
                    </a:lnTo>
                    <a:lnTo>
                      <a:pt x="448" y="696"/>
                    </a:lnTo>
                    <a:lnTo>
                      <a:pt x="426" y="692"/>
                    </a:lnTo>
                    <a:lnTo>
                      <a:pt x="404" y="687"/>
                    </a:lnTo>
                    <a:lnTo>
                      <a:pt x="383" y="680"/>
                    </a:lnTo>
                    <a:lnTo>
                      <a:pt x="364" y="670"/>
                    </a:lnTo>
                    <a:lnTo>
                      <a:pt x="344" y="659"/>
                    </a:lnTo>
                    <a:lnTo>
                      <a:pt x="326" y="645"/>
                    </a:lnTo>
                    <a:lnTo>
                      <a:pt x="309" y="630"/>
                    </a:lnTo>
                    <a:lnTo>
                      <a:pt x="294" y="614"/>
                    </a:lnTo>
                    <a:lnTo>
                      <a:pt x="281" y="596"/>
                    </a:lnTo>
                    <a:lnTo>
                      <a:pt x="269" y="576"/>
                    </a:lnTo>
                    <a:lnTo>
                      <a:pt x="260" y="556"/>
                    </a:lnTo>
                    <a:lnTo>
                      <a:pt x="253" y="536"/>
                    </a:lnTo>
                    <a:lnTo>
                      <a:pt x="247" y="514"/>
                    </a:lnTo>
                    <a:lnTo>
                      <a:pt x="244" y="492"/>
                    </a:lnTo>
                    <a:lnTo>
                      <a:pt x="243" y="470"/>
                    </a:lnTo>
                    <a:lnTo>
                      <a:pt x="244" y="447"/>
                    </a:lnTo>
                    <a:lnTo>
                      <a:pt x="247" y="425"/>
                    </a:lnTo>
                    <a:lnTo>
                      <a:pt x="253" y="403"/>
                    </a:lnTo>
                    <a:lnTo>
                      <a:pt x="260" y="382"/>
                    </a:lnTo>
                    <a:lnTo>
                      <a:pt x="269" y="363"/>
                    </a:lnTo>
                    <a:lnTo>
                      <a:pt x="281" y="343"/>
                    </a:lnTo>
                    <a:lnTo>
                      <a:pt x="294" y="326"/>
                    </a:lnTo>
                    <a:lnTo>
                      <a:pt x="309" y="309"/>
                    </a:lnTo>
                    <a:lnTo>
                      <a:pt x="326" y="294"/>
                    </a:lnTo>
                    <a:lnTo>
                      <a:pt x="344" y="280"/>
                    </a:lnTo>
                    <a:lnTo>
                      <a:pt x="364" y="270"/>
                    </a:lnTo>
                    <a:lnTo>
                      <a:pt x="383" y="260"/>
                    </a:lnTo>
                    <a:lnTo>
                      <a:pt x="404" y="252"/>
                    </a:lnTo>
                    <a:lnTo>
                      <a:pt x="426" y="248"/>
                    </a:lnTo>
                    <a:lnTo>
                      <a:pt x="448" y="244"/>
                    </a:lnTo>
                    <a:lnTo>
                      <a:pt x="469" y="243"/>
                    </a:lnTo>
                    <a:lnTo>
                      <a:pt x="492" y="244"/>
                    </a:lnTo>
                    <a:lnTo>
                      <a:pt x="514" y="248"/>
                    </a:lnTo>
                    <a:lnTo>
                      <a:pt x="536" y="252"/>
                    </a:lnTo>
                    <a:lnTo>
                      <a:pt x="557" y="260"/>
                    </a:lnTo>
                    <a:lnTo>
                      <a:pt x="576" y="270"/>
                    </a:lnTo>
                    <a:lnTo>
                      <a:pt x="596" y="280"/>
                    </a:lnTo>
                    <a:lnTo>
                      <a:pt x="613" y="294"/>
                    </a:lnTo>
                    <a:lnTo>
                      <a:pt x="631" y="309"/>
                    </a:lnTo>
                    <a:lnTo>
                      <a:pt x="646" y="326"/>
                    </a:lnTo>
                    <a:lnTo>
                      <a:pt x="659" y="343"/>
                    </a:lnTo>
                    <a:lnTo>
                      <a:pt x="670" y="363"/>
                    </a:lnTo>
                    <a:lnTo>
                      <a:pt x="679" y="382"/>
                    </a:lnTo>
                    <a:lnTo>
                      <a:pt x="687" y="403"/>
                    </a:lnTo>
                    <a:lnTo>
                      <a:pt x="692" y="425"/>
                    </a:lnTo>
                    <a:lnTo>
                      <a:pt x="695" y="447"/>
                    </a:lnTo>
                    <a:lnTo>
                      <a:pt x="696" y="470"/>
                    </a:lnTo>
                    <a:lnTo>
                      <a:pt x="694" y="501"/>
                    </a:lnTo>
                    <a:lnTo>
                      <a:pt x="688" y="531"/>
                    </a:lnTo>
                    <a:lnTo>
                      <a:pt x="678" y="559"/>
                    </a:lnTo>
                    <a:lnTo>
                      <a:pt x="665" y="585"/>
                    </a:lnTo>
                    <a:lnTo>
                      <a:pt x="648" y="611"/>
                    </a:lnTo>
                    <a:lnTo>
                      <a:pt x="628" y="632"/>
                    </a:lnTo>
                    <a:lnTo>
                      <a:pt x="606" y="651"/>
                    </a:lnTo>
                    <a:lnTo>
                      <a:pt x="581" y="667"/>
                    </a:lnTo>
                    <a:lnTo>
                      <a:pt x="771" y="829"/>
                    </a:lnTo>
                    <a:lnTo>
                      <a:pt x="779" y="824"/>
                    </a:lnTo>
                    <a:lnTo>
                      <a:pt x="787" y="817"/>
                    </a:lnTo>
                    <a:lnTo>
                      <a:pt x="794" y="810"/>
                    </a:lnTo>
                    <a:lnTo>
                      <a:pt x="802" y="802"/>
                    </a:lnTo>
                    <a:lnTo>
                      <a:pt x="833" y="767"/>
                    </a:lnTo>
                    <a:lnTo>
                      <a:pt x="861" y="730"/>
                    </a:lnTo>
                    <a:lnTo>
                      <a:pt x="884" y="691"/>
                    </a:lnTo>
                    <a:lnTo>
                      <a:pt x="903" y="650"/>
                    </a:lnTo>
                    <a:lnTo>
                      <a:pt x="920" y="607"/>
                    </a:lnTo>
                    <a:lnTo>
                      <a:pt x="930" y="562"/>
                    </a:lnTo>
                    <a:lnTo>
                      <a:pt x="937" y="517"/>
                    </a:lnTo>
                    <a:lnTo>
                      <a:pt x="939" y="470"/>
                    </a:lnTo>
                    <a:close/>
                  </a:path>
                </a:pathLst>
              </a:custGeom>
              <a:solidFill>
                <a:srgbClr val="000000"/>
              </a:solidFill>
              <a:ln w="9525">
                <a:noFill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1037" name="Freeform 13"/>
              <p:cNvSpPr>
                <a:spLocks/>
              </p:cNvSpPr>
              <p:nvPr/>
            </p:nvSpPr>
            <p:spPr bwMode="auto">
              <a:xfrm>
                <a:off x="9598025" y="2930525"/>
                <a:ext cx="138113" cy="128588"/>
              </a:xfrm>
              <a:custGeom>
                <a:avLst/>
                <a:gdLst/>
                <a:ahLst/>
                <a:cxnLst>
                  <a:cxn ang="0">
                    <a:pos x="151" y="164"/>
                  </a:cxn>
                  <a:cxn ang="0">
                    <a:pos x="151" y="149"/>
                  </a:cxn>
                  <a:cxn ang="0">
                    <a:pos x="152" y="141"/>
                  </a:cxn>
                  <a:cxn ang="0">
                    <a:pos x="154" y="132"/>
                  </a:cxn>
                  <a:cxn ang="0">
                    <a:pos x="158" y="125"/>
                  </a:cxn>
                  <a:cxn ang="0">
                    <a:pos x="163" y="118"/>
                  </a:cxn>
                  <a:cxn ang="0">
                    <a:pos x="175" y="108"/>
                  </a:cxn>
                  <a:cxn ang="0">
                    <a:pos x="163" y="96"/>
                  </a:cxn>
                  <a:cxn ang="0">
                    <a:pos x="114" y="46"/>
                  </a:cxn>
                  <a:cxn ang="0">
                    <a:pos x="99" y="74"/>
                  </a:cxn>
                  <a:cxn ang="0">
                    <a:pos x="132" y="109"/>
                  </a:cxn>
                  <a:cxn ang="0">
                    <a:pos x="129" y="114"/>
                  </a:cxn>
                  <a:cxn ang="0">
                    <a:pos x="127" y="120"/>
                  </a:cxn>
                  <a:cxn ang="0">
                    <a:pos x="124" y="127"/>
                  </a:cxn>
                  <a:cxn ang="0">
                    <a:pos x="122" y="134"/>
                  </a:cxn>
                  <a:cxn ang="0">
                    <a:pos x="31" y="134"/>
                  </a:cxn>
                  <a:cxn ang="0">
                    <a:pos x="32" y="121"/>
                  </a:cxn>
                  <a:cxn ang="0">
                    <a:pos x="36" y="110"/>
                  </a:cxn>
                  <a:cxn ang="0">
                    <a:pos x="39" y="97"/>
                  </a:cxn>
                  <a:cxn ang="0">
                    <a:pos x="42" y="86"/>
                  </a:cxn>
                  <a:cxn ang="0">
                    <a:pos x="48" y="74"/>
                  </a:cxn>
                  <a:cxn ang="0">
                    <a:pos x="54" y="64"/>
                  </a:cxn>
                  <a:cxn ang="0">
                    <a:pos x="61" y="53"/>
                  </a:cxn>
                  <a:cxn ang="0">
                    <a:pos x="68" y="43"/>
                  </a:cxn>
                  <a:cxn ang="0">
                    <a:pos x="99" y="74"/>
                  </a:cxn>
                  <a:cxn ang="0">
                    <a:pos x="114" y="46"/>
                  </a:cxn>
                  <a:cxn ang="0">
                    <a:pos x="78" y="11"/>
                  </a:cxn>
                  <a:cxn ang="0">
                    <a:pos x="68" y="0"/>
                  </a:cxn>
                  <a:cxn ang="0">
                    <a:pos x="57" y="11"/>
                  </a:cxn>
                  <a:cxn ang="0">
                    <a:pos x="45" y="25"/>
                  </a:cxn>
                  <a:cxn ang="0">
                    <a:pos x="33" y="41"/>
                  </a:cxn>
                  <a:cxn ang="0">
                    <a:pos x="23" y="57"/>
                  </a:cxn>
                  <a:cxn ang="0">
                    <a:pos x="15" y="74"/>
                  </a:cxn>
                  <a:cxn ang="0">
                    <a:pos x="8" y="93"/>
                  </a:cxn>
                  <a:cxn ang="0">
                    <a:pos x="3" y="111"/>
                  </a:cxn>
                  <a:cxn ang="0">
                    <a:pos x="1" y="129"/>
                  </a:cxn>
                  <a:cxn ang="0">
                    <a:pos x="0" y="149"/>
                  </a:cxn>
                  <a:cxn ang="0">
                    <a:pos x="0" y="164"/>
                  </a:cxn>
                  <a:cxn ang="0">
                    <a:pos x="15" y="164"/>
                  </a:cxn>
                  <a:cxn ang="0">
                    <a:pos x="136" y="164"/>
                  </a:cxn>
                  <a:cxn ang="0">
                    <a:pos x="151" y="164"/>
                  </a:cxn>
                </a:cxnLst>
                <a:rect l="0" t="0" r="r" b="b"/>
                <a:pathLst>
                  <a:path w="175" h="164">
                    <a:moveTo>
                      <a:pt x="151" y="164"/>
                    </a:moveTo>
                    <a:lnTo>
                      <a:pt x="151" y="149"/>
                    </a:lnTo>
                    <a:lnTo>
                      <a:pt x="152" y="141"/>
                    </a:lnTo>
                    <a:lnTo>
                      <a:pt x="154" y="132"/>
                    </a:lnTo>
                    <a:lnTo>
                      <a:pt x="158" y="125"/>
                    </a:lnTo>
                    <a:lnTo>
                      <a:pt x="163" y="118"/>
                    </a:lnTo>
                    <a:lnTo>
                      <a:pt x="175" y="108"/>
                    </a:lnTo>
                    <a:lnTo>
                      <a:pt x="163" y="96"/>
                    </a:lnTo>
                    <a:lnTo>
                      <a:pt x="114" y="46"/>
                    </a:lnTo>
                    <a:lnTo>
                      <a:pt x="99" y="74"/>
                    </a:lnTo>
                    <a:lnTo>
                      <a:pt x="132" y="109"/>
                    </a:lnTo>
                    <a:lnTo>
                      <a:pt x="129" y="114"/>
                    </a:lnTo>
                    <a:lnTo>
                      <a:pt x="127" y="120"/>
                    </a:lnTo>
                    <a:lnTo>
                      <a:pt x="124" y="127"/>
                    </a:lnTo>
                    <a:lnTo>
                      <a:pt x="122" y="134"/>
                    </a:lnTo>
                    <a:lnTo>
                      <a:pt x="31" y="134"/>
                    </a:lnTo>
                    <a:lnTo>
                      <a:pt x="32" y="121"/>
                    </a:lnTo>
                    <a:lnTo>
                      <a:pt x="36" y="110"/>
                    </a:lnTo>
                    <a:lnTo>
                      <a:pt x="39" y="97"/>
                    </a:lnTo>
                    <a:lnTo>
                      <a:pt x="42" y="86"/>
                    </a:lnTo>
                    <a:lnTo>
                      <a:pt x="48" y="74"/>
                    </a:lnTo>
                    <a:lnTo>
                      <a:pt x="54" y="64"/>
                    </a:lnTo>
                    <a:lnTo>
                      <a:pt x="61" y="53"/>
                    </a:lnTo>
                    <a:lnTo>
                      <a:pt x="68" y="43"/>
                    </a:lnTo>
                    <a:lnTo>
                      <a:pt x="99" y="74"/>
                    </a:lnTo>
                    <a:lnTo>
                      <a:pt x="114" y="46"/>
                    </a:lnTo>
                    <a:lnTo>
                      <a:pt x="78" y="11"/>
                    </a:lnTo>
                    <a:lnTo>
                      <a:pt x="68" y="0"/>
                    </a:lnTo>
                    <a:lnTo>
                      <a:pt x="57" y="11"/>
                    </a:lnTo>
                    <a:lnTo>
                      <a:pt x="45" y="25"/>
                    </a:lnTo>
                    <a:lnTo>
                      <a:pt x="33" y="41"/>
                    </a:lnTo>
                    <a:lnTo>
                      <a:pt x="23" y="57"/>
                    </a:lnTo>
                    <a:lnTo>
                      <a:pt x="15" y="74"/>
                    </a:lnTo>
                    <a:lnTo>
                      <a:pt x="8" y="93"/>
                    </a:lnTo>
                    <a:lnTo>
                      <a:pt x="3" y="111"/>
                    </a:lnTo>
                    <a:lnTo>
                      <a:pt x="1" y="129"/>
                    </a:lnTo>
                    <a:lnTo>
                      <a:pt x="0" y="149"/>
                    </a:lnTo>
                    <a:lnTo>
                      <a:pt x="0" y="164"/>
                    </a:lnTo>
                    <a:lnTo>
                      <a:pt x="15" y="164"/>
                    </a:lnTo>
                    <a:lnTo>
                      <a:pt x="136" y="164"/>
                    </a:lnTo>
                    <a:lnTo>
                      <a:pt x="151" y="164"/>
                    </a:lnTo>
                    <a:close/>
                  </a:path>
                </a:pathLst>
              </a:custGeom>
              <a:solidFill>
                <a:srgbClr val="000000"/>
              </a:solidFill>
              <a:ln w="9525">
                <a:noFill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1038" name="Freeform 14"/>
              <p:cNvSpPr>
                <a:spLocks/>
              </p:cNvSpPr>
              <p:nvPr/>
            </p:nvSpPr>
            <p:spPr bwMode="auto">
              <a:xfrm>
                <a:off x="9740900" y="2892425"/>
                <a:ext cx="128588" cy="139700"/>
              </a:xfrm>
              <a:custGeom>
                <a:avLst/>
                <a:gdLst/>
                <a:ahLst/>
                <a:cxnLst>
                  <a:cxn ang="0">
                    <a:pos x="47" y="165"/>
                  </a:cxn>
                  <a:cxn ang="0">
                    <a:pos x="57" y="175"/>
                  </a:cxn>
                  <a:cxn ang="0">
                    <a:pos x="68" y="165"/>
                  </a:cxn>
                  <a:cxn ang="0">
                    <a:pos x="89" y="143"/>
                  </a:cxn>
                  <a:cxn ang="0">
                    <a:pos x="78" y="112"/>
                  </a:cxn>
                  <a:cxn ang="0">
                    <a:pos x="56" y="134"/>
                  </a:cxn>
                  <a:cxn ang="0">
                    <a:pos x="50" y="130"/>
                  </a:cxn>
                  <a:cxn ang="0">
                    <a:pos x="44" y="127"/>
                  </a:cxn>
                  <a:cxn ang="0">
                    <a:pos x="37" y="125"/>
                  </a:cxn>
                  <a:cxn ang="0">
                    <a:pos x="30" y="123"/>
                  </a:cxn>
                  <a:cxn ang="0">
                    <a:pos x="30" y="31"/>
                  </a:cxn>
                  <a:cxn ang="0">
                    <a:pos x="43" y="32"/>
                  </a:cxn>
                  <a:cxn ang="0">
                    <a:pos x="55" y="36"/>
                  </a:cxn>
                  <a:cxn ang="0">
                    <a:pos x="67" y="39"/>
                  </a:cxn>
                  <a:cxn ang="0">
                    <a:pos x="79" y="43"/>
                  </a:cxn>
                  <a:cxn ang="0">
                    <a:pos x="90" y="49"/>
                  </a:cxn>
                  <a:cxn ang="0">
                    <a:pos x="101" y="54"/>
                  </a:cxn>
                  <a:cxn ang="0">
                    <a:pos x="111" y="61"/>
                  </a:cxn>
                  <a:cxn ang="0">
                    <a:pos x="121" y="69"/>
                  </a:cxn>
                  <a:cxn ang="0">
                    <a:pos x="78" y="112"/>
                  </a:cxn>
                  <a:cxn ang="0">
                    <a:pos x="89" y="143"/>
                  </a:cxn>
                  <a:cxn ang="0">
                    <a:pos x="154" y="80"/>
                  </a:cxn>
                  <a:cxn ang="0">
                    <a:pos x="164" y="68"/>
                  </a:cxn>
                  <a:cxn ang="0">
                    <a:pos x="154" y="58"/>
                  </a:cxn>
                  <a:cxn ang="0">
                    <a:pos x="140" y="45"/>
                  </a:cxn>
                  <a:cxn ang="0">
                    <a:pos x="124" y="34"/>
                  </a:cxn>
                  <a:cxn ang="0">
                    <a:pos x="108" y="23"/>
                  </a:cxn>
                  <a:cxn ang="0">
                    <a:pos x="90" y="15"/>
                  </a:cxn>
                  <a:cxn ang="0">
                    <a:pos x="72" y="8"/>
                  </a:cxn>
                  <a:cxn ang="0">
                    <a:pos x="53" y="4"/>
                  </a:cxn>
                  <a:cxn ang="0">
                    <a:pos x="35" y="1"/>
                  </a:cxn>
                  <a:cxn ang="0">
                    <a:pos x="15" y="0"/>
                  </a:cxn>
                  <a:cxn ang="0">
                    <a:pos x="0" y="0"/>
                  </a:cxn>
                  <a:cxn ang="0">
                    <a:pos x="0" y="16"/>
                  </a:cxn>
                  <a:cxn ang="0">
                    <a:pos x="0" y="137"/>
                  </a:cxn>
                  <a:cxn ang="0">
                    <a:pos x="0" y="152"/>
                  </a:cxn>
                  <a:cxn ang="0">
                    <a:pos x="15" y="152"/>
                  </a:cxn>
                  <a:cxn ang="0">
                    <a:pos x="23" y="153"/>
                  </a:cxn>
                  <a:cxn ang="0">
                    <a:pos x="33" y="156"/>
                  </a:cxn>
                  <a:cxn ang="0">
                    <a:pos x="40" y="159"/>
                  </a:cxn>
                  <a:cxn ang="0">
                    <a:pos x="47" y="165"/>
                  </a:cxn>
                </a:cxnLst>
                <a:rect l="0" t="0" r="r" b="b"/>
                <a:pathLst>
                  <a:path w="164" h="175">
                    <a:moveTo>
                      <a:pt x="47" y="165"/>
                    </a:moveTo>
                    <a:lnTo>
                      <a:pt x="57" y="175"/>
                    </a:lnTo>
                    <a:lnTo>
                      <a:pt x="68" y="165"/>
                    </a:lnTo>
                    <a:lnTo>
                      <a:pt x="89" y="143"/>
                    </a:lnTo>
                    <a:lnTo>
                      <a:pt x="78" y="112"/>
                    </a:lnTo>
                    <a:lnTo>
                      <a:pt x="56" y="134"/>
                    </a:lnTo>
                    <a:lnTo>
                      <a:pt x="50" y="130"/>
                    </a:lnTo>
                    <a:lnTo>
                      <a:pt x="44" y="127"/>
                    </a:lnTo>
                    <a:lnTo>
                      <a:pt x="37" y="125"/>
                    </a:lnTo>
                    <a:lnTo>
                      <a:pt x="30" y="123"/>
                    </a:lnTo>
                    <a:lnTo>
                      <a:pt x="30" y="31"/>
                    </a:lnTo>
                    <a:lnTo>
                      <a:pt x="43" y="32"/>
                    </a:lnTo>
                    <a:lnTo>
                      <a:pt x="55" y="36"/>
                    </a:lnTo>
                    <a:lnTo>
                      <a:pt x="67" y="39"/>
                    </a:lnTo>
                    <a:lnTo>
                      <a:pt x="79" y="43"/>
                    </a:lnTo>
                    <a:lnTo>
                      <a:pt x="90" y="49"/>
                    </a:lnTo>
                    <a:lnTo>
                      <a:pt x="101" y="54"/>
                    </a:lnTo>
                    <a:lnTo>
                      <a:pt x="111" y="61"/>
                    </a:lnTo>
                    <a:lnTo>
                      <a:pt x="121" y="69"/>
                    </a:lnTo>
                    <a:lnTo>
                      <a:pt x="78" y="112"/>
                    </a:lnTo>
                    <a:lnTo>
                      <a:pt x="89" y="143"/>
                    </a:lnTo>
                    <a:lnTo>
                      <a:pt x="154" y="80"/>
                    </a:lnTo>
                    <a:lnTo>
                      <a:pt x="164" y="68"/>
                    </a:lnTo>
                    <a:lnTo>
                      <a:pt x="154" y="58"/>
                    </a:lnTo>
                    <a:lnTo>
                      <a:pt x="140" y="45"/>
                    </a:lnTo>
                    <a:lnTo>
                      <a:pt x="124" y="34"/>
                    </a:lnTo>
                    <a:lnTo>
                      <a:pt x="108" y="23"/>
                    </a:lnTo>
                    <a:lnTo>
                      <a:pt x="90" y="15"/>
                    </a:lnTo>
                    <a:lnTo>
                      <a:pt x="72" y="8"/>
                    </a:lnTo>
                    <a:lnTo>
                      <a:pt x="53" y="4"/>
                    </a:lnTo>
                    <a:lnTo>
                      <a:pt x="35" y="1"/>
                    </a:lnTo>
                    <a:lnTo>
                      <a:pt x="15" y="0"/>
                    </a:lnTo>
                    <a:lnTo>
                      <a:pt x="0" y="0"/>
                    </a:lnTo>
                    <a:lnTo>
                      <a:pt x="0" y="16"/>
                    </a:lnTo>
                    <a:lnTo>
                      <a:pt x="0" y="137"/>
                    </a:lnTo>
                    <a:lnTo>
                      <a:pt x="0" y="152"/>
                    </a:lnTo>
                    <a:lnTo>
                      <a:pt x="15" y="152"/>
                    </a:lnTo>
                    <a:lnTo>
                      <a:pt x="23" y="153"/>
                    </a:lnTo>
                    <a:lnTo>
                      <a:pt x="33" y="156"/>
                    </a:lnTo>
                    <a:lnTo>
                      <a:pt x="40" y="159"/>
                    </a:lnTo>
                    <a:lnTo>
                      <a:pt x="47" y="165"/>
                    </a:lnTo>
                    <a:close/>
                  </a:path>
                </a:pathLst>
              </a:custGeom>
              <a:solidFill>
                <a:srgbClr val="000000"/>
              </a:solidFill>
              <a:ln w="9525">
                <a:noFill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1039" name="Freeform 15"/>
              <p:cNvSpPr>
                <a:spLocks/>
              </p:cNvSpPr>
              <p:nvPr/>
            </p:nvSpPr>
            <p:spPr bwMode="auto">
              <a:xfrm>
                <a:off x="9783763" y="3036888"/>
                <a:ext cx="76200" cy="36513"/>
              </a:xfrm>
              <a:custGeom>
                <a:avLst/>
                <a:gdLst/>
                <a:ahLst/>
                <a:cxnLst>
                  <a:cxn ang="0">
                    <a:pos x="33" y="30"/>
                  </a:cxn>
                  <a:cxn ang="0">
                    <a:pos x="96" y="30"/>
                  </a:cxn>
                  <a:cxn ang="0">
                    <a:pos x="96" y="0"/>
                  </a:cxn>
                  <a:cxn ang="0">
                    <a:pos x="19" y="0"/>
                  </a:cxn>
                  <a:cxn ang="0">
                    <a:pos x="4" y="0"/>
                  </a:cxn>
                  <a:cxn ang="0">
                    <a:pos x="4" y="15"/>
                  </a:cxn>
                  <a:cxn ang="0">
                    <a:pos x="4" y="20"/>
                  </a:cxn>
                  <a:cxn ang="0">
                    <a:pos x="3" y="24"/>
                  </a:cxn>
                  <a:cxn ang="0">
                    <a:pos x="2" y="29"/>
                  </a:cxn>
                  <a:cxn ang="0">
                    <a:pos x="0" y="33"/>
                  </a:cxn>
                  <a:cxn ang="0">
                    <a:pos x="27" y="46"/>
                  </a:cxn>
                  <a:cxn ang="0">
                    <a:pos x="28" y="43"/>
                  </a:cxn>
                  <a:cxn ang="0">
                    <a:pos x="31" y="38"/>
                  </a:cxn>
                  <a:cxn ang="0">
                    <a:pos x="32" y="35"/>
                  </a:cxn>
                  <a:cxn ang="0">
                    <a:pos x="33" y="30"/>
                  </a:cxn>
                </a:cxnLst>
                <a:rect l="0" t="0" r="r" b="b"/>
                <a:pathLst>
                  <a:path w="96" h="46">
                    <a:moveTo>
                      <a:pt x="33" y="30"/>
                    </a:moveTo>
                    <a:lnTo>
                      <a:pt x="96" y="30"/>
                    </a:lnTo>
                    <a:lnTo>
                      <a:pt x="96" y="0"/>
                    </a:lnTo>
                    <a:lnTo>
                      <a:pt x="19" y="0"/>
                    </a:lnTo>
                    <a:lnTo>
                      <a:pt x="4" y="0"/>
                    </a:lnTo>
                    <a:lnTo>
                      <a:pt x="4" y="15"/>
                    </a:lnTo>
                    <a:lnTo>
                      <a:pt x="4" y="20"/>
                    </a:lnTo>
                    <a:lnTo>
                      <a:pt x="3" y="24"/>
                    </a:lnTo>
                    <a:lnTo>
                      <a:pt x="2" y="29"/>
                    </a:lnTo>
                    <a:lnTo>
                      <a:pt x="0" y="33"/>
                    </a:lnTo>
                    <a:lnTo>
                      <a:pt x="27" y="46"/>
                    </a:lnTo>
                    <a:lnTo>
                      <a:pt x="28" y="43"/>
                    </a:lnTo>
                    <a:lnTo>
                      <a:pt x="31" y="38"/>
                    </a:lnTo>
                    <a:lnTo>
                      <a:pt x="32" y="35"/>
                    </a:lnTo>
                    <a:lnTo>
                      <a:pt x="33" y="30"/>
                    </a:lnTo>
                    <a:close/>
                  </a:path>
                </a:pathLst>
              </a:custGeom>
              <a:solidFill>
                <a:srgbClr val="000000"/>
              </a:solidFill>
              <a:ln w="9525">
                <a:noFill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1040" name="Freeform 16"/>
              <p:cNvSpPr>
                <a:spLocks/>
              </p:cNvSpPr>
              <p:nvPr/>
            </p:nvSpPr>
            <p:spPr bwMode="auto">
              <a:xfrm>
                <a:off x="9769475" y="3036888"/>
                <a:ext cx="138113" cy="128588"/>
              </a:xfrm>
              <a:custGeom>
                <a:avLst/>
                <a:gdLst/>
                <a:ahLst/>
                <a:cxnLst>
                  <a:cxn ang="0">
                    <a:pos x="175" y="0"/>
                  </a:cxn>
                  <a:cxn ang="0">
                    <a:pos x="159" y="0"/>
                  </a:cxn>
                  <a:cxn ang="0">
                    <a:pos x="115" y="0"/>
                  </a:cxn>
                  <a:cxn ang="0">
                    <a:pos x="115" y="30"/>
                  </a:cxn>
                  <a:cxn ang="0">
                    <a:pos x="144" y="30"/>
                  </a:cxn>
                  <a:cxn ang="0">
                    <a:pos x="143" y="43"/>
                  </a:cxn>
                  <a:cxn ang="0">
                    <a:pos x="139" y="54"/>
                  </a:cxn>
                  <a:cxn ang="0">
                    <a:pos x="136" y="67"/>
                  </a:cxn>
                  <a:cxn ang="0">
                    <a:pos x="133" y="78"/>
                  </a:cxn>
                  <a:cxn ang="0">
                    <a:pos x="127" y="89"/>
                  </a:cxn>
                  <a:cxn ang="0">
                    <a:pos x="121" y="100"/>
                  </a:cxn>
                  <a:cxn ang="0">
                    <a:pos x="114" y="111"/>
                  </a:cxn>
                  <a:cxn ang="0">
                    <a:pos x="106" y="120"/>
                  </a:cxn>
                  <a:cxn ang="0">
                    <a:pos x="42" y="55"/>
                  </a:cxn>
                  <a:cxn ang="0">
                    <a:pos x="43" y="53"/>
                  </a:cxn>
                  <a:cxn ang="0">
                    <a:pos x="44" y="51"/>
                  </a:cxn>
                  <a:cxn ang="0">
                    <a:pos x="45" y="48"/>
                  </a:cxn>
                  <a:cxn ang="0">
                    <a:pos x="46" y="46"/>
                  </a:cxn>
                  <a:cxn ang="0">
                    <a:pos x="19" y="33"/>
                  </a:cxn>
                  <a:cxn ang="0">
                    <a:pos x="16" y="37"/>
                  </a:cxn>
                  <a:cxn ang="0">
                    <a:pos x="15" y="40"/>
                  </a:cxn>
                  <a:cxn ang="0">
                    <a:pos x="13" y="44"/>
                  </a:cxn>
                  <a:cxn ang="0">
                    <a:pos x="11" y="46"/>
                  </a:cxn>
                  <a:cxn ang="0">
                    <a:pos x="0" y="56"/>
                  </a:cxn>
                  <a:cxn ang="0">
                    <a:pos x="11" y="67"/>
                  </a:cxn>
                  <a:cxn ang="0">
                    <a:pos x="96" y="152"/>
                  </a:cxn>
                  <a:cxn ang="0">
                    <a:pos x="107" y="164"/>
                  </a:cxn>
                  <a:cxn ang="0">
                    <a:pos x="118" y="152"/>
                  </a:cxn>
                  <a:cxn ang="0">
                    <a:pos x="130" y="138"/>
                  </a:cxn>
                  <a:cxn ang="0">
                    <a:pos x="142" y="122"/>
                  </a:cxn>
                  <a:cxn ang="0">
                    <a:pos x="152" y="106"/>
                  </a:cxn>
                  <a:cxn ang="0">
                    <a:pos x="160" y="89"/>
                  </a:cxn>
                  <a:cxn ang="0">
                    <a:pos x="167" y="71"/>
                  </a:cxn>
                  <a:cxn ang="0">
                    <a:pos x="172" y="53"/>
                  </a:cxn>
                  <a:cxn ang="0">
                    <a:pos x="174" y="35"/>
                  </a:cxn>
                  <a:cxn ang="0">
                    <a:pos x="175" y="15"/>
                  </a:cxn>
                  <a:cxn ang="0">
                    <a:pos x="175" y="0"/>
                  </a:cxn>
                </a:cxnLst>
                <a:rect l="0" t="0" r="r" b="b"/>
                <a:pathLst>
                  <a:path w="175" h="164">
                    <a:moveTo>
                      <a:pt x="175" y="0"/>
                    </a:moveTo>
                    <a:lnTo>
                      <a:pt x="159" y="0"/>
                    </a:lnTo>
                    <a:lnTo>
                      <a:pt x="115" y="0"/>
                    </a:lnTo>
                    <a:lnTo>
                      <a:pt x="115" y="30"/>
                    </a:lnTo>
                    <a:lnTo>
                      <a:pt x="144" y="30"/>
                    </a:lnTo>
                    <a:lnTo>
                      <a:pt x="143" y="43"/>
                    </a:lnTo>
                    <a:lnTo>
                      <a:pt x="139" y="54"/>
                    </a:lnTo>
                    <a:lnTo>
                      <a:pt x="136" y="67"/>
                    </a:lnTo>
                    <a:lnTo>
                      <a:pt x="133" y="78"/>
                    </a:lnTo>
                    <a:lnTo>
                      <a:pt x="127" y="89"/>
                    </a:lnTo>
                    <a:lnTo>
                      <a:pt x="121" y="100"/>
                    </a:lnTo>
                    <a:lnTo>
                      <a:pt x="114" y="111"/>
                    </a:lnTo>
                    <a:lnTo>
                      <a:pt x="106" y="120"/>
                    </a:lnTo>
                    <a:lnTo>
                      <a:pt x="42" y="55"/>
                    </a:lnTo>
                    <a:lnTo>
                      <a:pt x="43" y="53"/>
                    </a:lnTo>
                    <a:lnTo>
                      <a:pt x="44" y="51"/>
                    </a:lnTo>
                    <a:lnTo>
                      <a:pt x="45" y="48"/>
                    </a:lnTo>
                    <a:lnTo>
                      <a:pt x="46" y="46"/>
                    </a:lnTo>
                    <a:lnTo>
                      <a:pt x="19" y="33"/>
                    </a:lnTo>
                    <a:lnTo>
                      <a:pt x="16" y="37"/>
                    </a:lnTo>
                    <a:lnTo>
                      <a:pt x="15" y="40"/>
                    </a:lnTo>
                    <a:lnTo>
                      <a:pt x="13" y="44"/>
                    </a:lnTo>
                    <a:lnTo>
                      <a:pt x="11" y="46"/>
                    </a:lnTo>
                    <a:lnTo>
                      <a:pt x="0" y="56"/>
                    </a:lnTo>
                    <a:lnTo>
                      <a:pt x="11" y="67"/>
                    </a:lnTo>
                    <a:lnTo>
                      <a:pt x="96" y="152"/>
                    </a:lnTo>
                    <a:lnTo>
                      <a:pt x="107" y="164"/>
                    </a:lnTo>
                    <a:lnTo>
                      <a:pt x="118" y="152"/>
                    </a:lnTo>
                    <a:lnTo>
                      <a:pt x="130" y="138"/>
                    </a:lnTo>
                    <a:lnTo>
                      <a:pt x="142" y="122"/>
                    </a:lnTo>
                    <a:lnTo>
                      <a:pt x="152" y="106"/>
                    </a:lnTo>
                    <a:lnTo>
                      <a:pt x="160" y="89"/>
                    </a:lnTo>
                    <a:lnTo>
                      <a:pt x="167" y="71"/>
                    </a:lnTo>
                    <a:lnTo>
                      <a:pt x="172" y="53"/>
                    </a:lnTo>
                    <a:lnTo>
                      <a:pt x="174" y="35"/>
                    </a:lnTo>
                    <a:lnTo>
                      <a:pt x="175" y="15"/>
                    </a:lnTo>
                    <a:lnTo>
                      <a:pt x="175" y="0"/>
                    </a:lnTo>
                    <a:close/>
                  </a:path>
                </a:pathLst>
              </a:custGeom>
              <a:solidFill>
                <a:srgbClr val="000000"/>
              </a:solidFill>
              <a:ln w="9525">
                <a:noFill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1041" name="Freeform 17"/>
              <p:cNvSpPr>
                <a:spLocks/>
              </p:cNvSpPr>
              <p:nvPr/>
            </p:nvSpPr>
            <p:spPr bwMode="auto">
              <a:xfrm>
                <a:off x="9634538" y="3063875"/>
                <a:ext cx="130175" cy="138113"/>
              </a:xfrm>
              <a:custGeom>
                <a:avLst/>
                <a:gdLst/>
                <a:ahLst/>
                <a:cxnLst>
                  <a:cxn ang="0">
                    <a:pos x="163" y="24"/>
                  </a:cxn>
                  <a:cxn ang="0">
                    <a:pos x="148" y="24"/>
                  </a:cxn>
                  <a:cxn ang="0">
                    <a:pos x="140" y="23"/>
                  </a:cxn>
                  <a:cxn ang="0">
                    <a:pos x="132" y="20"/>
                  </a:cxn>
                  <a:cxn ang="0">
                    <a:pos x="124" y="17"/>
                  </a:cxn>
                  <a:cxn ang="0">
                    <a:pos x="117" y="11"/>
                  </a:cxn>
                  <a:cxn ang="0">
                    <a:pos x="107" y="0"/>
                  </a:cxn>
                  <a:cxn ang="0">
                    <a:pos x="97" y="11"/>
                  </a:cxn>
                  <a:cxn ang="0">
                    <a:pos x="11" y="96"/>
                  </a:cxn>
                  <a:cxn ang="0">
                    <a:pos x="0" y="107"/>
                  </a:cxn>
                  <a:cxn ang="0">
                    <a:pos x="11" y="117"/>
                  </a:cxn>
                  <a:cxn ang="0">
                    <a:pos x="25" y="130"/>
                  </a:cxn>
                  <a:cxn ang="0">
                    <a:pos x="41" y="141"/>
                  </a:cxn>
                  <a:cxn ang="0">
                    <a:pos x="57" y="152"/>
                  </a:cxn>
                  <a:cxn ang="0">
                    <a:pos x="75" y="160"/>
                  </a:cxn>
                  <a:cxn ang="0">
                    <a:pos x="92" y="167"/>
                  </a:cxn>
                  <a:cxn ang="0">
                    <a:pos x="110" y="171"/>
                  </a:cxn>
                  <a:cxn ang="0">
                    <a:pos x="129" y="174"/>
                  </a:cxn>
                  <a:cxn ang="0">
                    <a:pos x="148" y="175"/>
                  </a:cxn>
                  <a:cxn ang="0">
                    <a:pos x="163" y="175"/>
                  </a:cxn>
                  <a:cxn ang="0">
                    <a:pos x="163" y="160"/>
                  </a:cxn>
                  <a:cxn ang="0">
                    <a:pos x="163" y="86"/>
                  </a:cxn>
                  <a:cxn ang="0">
                    <a:pos x="133" y="88"/>
                  </a:cxn>
                  <a:cxn ang="0">
                    <a:pos x="133" y="144"/>
                  </a:cxn>
                  <a:cxn ang="0">
                    <a:pos x="121" y="142"/>
                  </a:cxn>
                  <a:cxn ang="0">
                    <a:pos x="109" y="139"/>
                  </a:cxn>
                  <a:cxn ang="0">
                    <a:pos x="97" y="136"/>
                  </a:cxn>
                  <a:cxn ang="0">
                    <a:pos x="85" y="132"/>
                  </a:cxn>
                  <a:cxn ang="0">
                    <a:pos x="75" y="126"/>
                  </a:cxn>
                  <a:cxn ang="0">
                    <a:pos x="63" y="121"/>
                  </a:cxn>
                  <a:cxn ang="0">
                    <a:pos x="53" y="114"/>
                  </a:cxn>
                  <a:cxn ang="0">
                    <a:pos x="44" y="107"/>
                  </a:cxn>
                  <a:cxn ang="0">
                    <a:pos x="108" y="42"/>
                  </a:cxn>
                  <a:cxn ang="0">
                    <a:pos x="114" y="46"/>
                  </a:cxn>
                  <a:cxn ang="0">
                    <a:pos x="121" y="48"/>
                  </a:cxn>
                  <a:cxn ang="0">
                    <a:pos x="127" y="50"/>
                  </a:cxn>
                  <a:cxn ang="0">
                    <a:pos x="133" y="53"/>
                  </a:cxn>
                  <a:cxn ang="0">
                    <a:pos x="133" y="88"/>
                  </a:cxn>
                  <a:cxn ang="0">
                    <a:pos x="163" y="86"/>
                  </a:cxn>
                  <a:cxn ang="0">
                    <a:pos x="163" y="39"/>
                  </a:cxn>
                  <a:cxn ang="0">
                    <a:pos x="163" y="24"/>
                  </a:cxn>
                </a:cxnLst>
                <a:rect l="0" t="0" r="r" b="b"/>
                <a:pathLst>
                  <a:path w="163" h="175">
                    <a:moveTo>
                      <a:pt x="163" y="24"/>
                    </a:moveTo>
                    <a:lnTo>
                      <a:pt x="148" y="24"/>
                    </a:lnTo>
                    <a:lnTo>
                      <a:pt x="140" y="23"/>
                    </a:lnTo>
                    <a:lnTo>
                      <a:pt x="132" y="20"/>
                    </a:lnTo>
                    <a:lnTo>
                      <a:pt x="124" y="17"/>
                    </a:lnTo>
                    <a:lnTo>
                      <a:pt x="117" y="11"/>
                    </a:lnTo>
                    <a:lnTo>
                      <a:pt x="107" y="0"/>
                    </a:lnTo>
                    <a:lnTo>
                      <a:pt x="97" y="11"/>
                    </a:lnTo>
                    <a:lnTo>
                      <a:pt x="11" y="96"/>
                    </a:lnTo>
                    <a:lnTo>
                      <a:pt x="0" y="107"/>
                    </a:lnTo>
                    <a:lnTo>
                      <a:pt x="11" y="117"/>
                    </a:lnTo>
                    <a:lnTo>
                      <a:pt x="25" y="130"/>
                    </a:lnTo>
                    <a:lnTo>
                      <a:pt x="41" y="141"/>
                    </a:lnTo>
                    <a:lnTo>
                      <a:pt x="57" y="152"/>
                    </a:lnTo>
                    <a:lnTo>
                      <a:pt x="75" y="160"/>
                    </a:lnTo>
                    <a:lnTo>
                      <a:pt x="92" y="167"/>
                    </a:lnTo>
                    <a:lnTo>
                      <a:pt x="110" y="171"/>
                    </a:lnTo>
                    <a:lnTo>
                      <a:pt x="129" y="174"/>
                    </a:lnTo>
                    <a:lnTo>
                      <a:pt x="148" y="175"/>
                    </a:lnTo>
                    <a:lnTo>
                      <a:pt x="163" y="175"/>
                    </a:lnTo>
                    <a:lnTo>
                      <a:pt x="163" y="160"/>
                    </a:lnTo>
                    <a:lnTo>
                      <a:pt x="163" y="86"/>
                    </a:lnTo>
                    <a:lnTo>
                      <a:pt x="133" y="88"/>
                    </a:lnTo>
                    <a:lnTo>
                      <a:pt x="133" y="144"/>
                    </a:lnTo>
                    <a:lnTo>
                      <a:pt x="121" y="142"/>
                    </a:lnTo>
                    <a:lnTo>
                      <a:pt x="109" y="139"/>
                    </a:lnTo>
                    <a:lnTo>
                      <a:pt x="97" y="136"/>
                    </a:lnTo>
                    <a:lnTo>
                      <a:pt x="85" y="132"/>
                    </a:lnTo>
                    <a:lnTo>
                      <a:pt x="75" y="126"/>
                    </a:lnTo>
                    <a:lnTo>
                      <a:pt x="63" y="121"/>
                    </a:lnTo>
                    <a:lnTo>
                      <a:pt x="53" y="114"/>
                    </a:lnTo>
                    <a:lnTo>
                      <a:pt x="44" y="107"/>
                    </a:lnTo>
                    <a:lnTo>
                      <a:pt x="108" y="42"/>
                    </a:lnTo>
                    <a:lnTo>
                      <a:pt x="114" y="46"/>
                    </a:lnTo>
                    <a:lnTo>
                      <a:pt x="121" y="48"/>
                    </a:lnTo>
                    <a:lnTo>
                      <a:pt x="127" y="50"/>
                    </a:lnTo>
                    <a:lnTo>
                      <a:pt x="133" y="53"/>
                    </a:lnTo>
                    <a:lnTo>
                      <a:pt x="133" y="88"/>
                    </a:lnTo>
                    <a:lnTo>
                      <a:pt x="163" y="86"/>
                    </a:lnTo>
                    <a:lnTo>
                      <a:pt x="163" y="39"/>
                    </a:lnTo>
                    <a:lnTo>
                      <a:pt x="163" y="24"/>
                    </a:lnTo>
                    <a:close/>
                  </a:path>
                </a:pathLst>
              </a:custGeom>
              <a:solidFill>
                <a:srgbClr val="000000"/>
              </a:solidFill>
              <a:ln w="9525">
                <a:noFill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</p:grpSp>
        <p:grpSp>
          <p:nvGrpSpPr>
            <p:cNvPr id="64" name="Group 63"/>
            <p:cNvGrpSpPr/>
            <p:nvPr/>
          </p:nvGrpSpPr>
          <p:grpSpPr>
            <a:xfrm>
              <a:off x="1600200" y="4572000"/>
              <a:ext cx="381000" cy="381000"/>
              <a:chOff x="9378950" y="2674938"/>
              <a:chExt cx="746125" cy="746125"/>
            </a:xfrm>
          </p:grpSpPr>
          <p:sp>
            <p:nvSpPr>
              <p:cNvPr id="65" name="Oval 64"/>
              <p:cNvSpPr/>
              <p:nvPr/>
            </p:nvSpPr>
            <p:spPr>
              <a:xfrm>
                <a:off x="9525000" y="2819400"/>
                <a:ext cx="457200" cy="457200"/>
              </a:xfrm>
              <a:prstGeom prst="ellipse">
                <a:avLst/>
              </a:prstGeom>
              <a:solidFill>
                <a:schemeClr val="bg1">
                  <a:lumMod val="8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66" name="Freeform 12"/>
              <p:cNvSpPr>
                <a:spLocks/>
              </p:cNvSpPr>
              <p:nvPr/>
            </p:nvSpPr>
            <p:spPr bwMode="auto">
              <a:xfrm>
                <a:off x="9378950" y="2674938"/>
                <a:ext cx="746125" cy="746125"/>
              </a:xfrm>
              <a:custGeom>
                <a:avLst/>
                <a:gdLst/>
                <a:ahLst/>
                <a:cxnLst>
                  <a:cxn ang="0">
                    <a:pos x="930" y="378"/>
                  </a:cxn>
                  <a:cxn ang="0">
                    <a:pos x="884" y="249"/>
                  </a:cxn>
                  <a:cxn ang="0">
                    <a:pos x="802" y="137"/>
                  </a:cxn>
                  <a:cxn ang="0">
                    <a:pos x="749" y="91"/>
                  </a:cxn>
                  <a:cxn ang="0">
                    <a:pos x="690" y="55"/>
                  </a:cxn>
                  <a:cxn ang="0">
                    <a:pos x="628" y="28"/>
                  </a:cxn>
                  <a:cxn ang="0">
                    <a:pos x="562" y="9"/>
                  </a:cxn>
                  <a:cxn ang="0">
                    <a:pos x="492" y="0"/>
                  </a:cxn>
                  <a:cxn ang="0">
                    <a:pos x="375" y="9"/>
                  </a:cxn>
                  <a:cxn ang="0">
                    <a:pos x="246" y="56"/>
                  </a:cxn>
                  <a:cxn ang="0">
                    <a:pos x="138" y="138"/>
                  </a:cxn>
                  <a:cxn ang="0">
                    <a:pos x="56" y="247"/>
                  </a:cxn>
                  <a:cxn ang="0">
                    <a:pos x="9" y="376"/>
                  </a:cxn>
                  <a:cxn ang="0">
                    <a:pos x="2" y="517"/>
                  </a:cxn>
                  <a:cxn ang="0">
                    <a:pos x="35" y="650"/>
                  </a:cxn>
                  <a:cxn ang="0">
                    <a:pos x="107" y="767"/>
                  </a:cxn>
                  <a:cxn ang="0">
                    <a:pos x="172" y="833"/>
                  </a:cxn>
                  <a:cxn ang="0">
                    <a:pos x="229" y="873"/>
                  </a:cxn>
                  <a:cxn ang="0">
                    <a:pos x="290" y="904"/>
                  </a:cxn>
                  <a:cxn ang="0">
                    <a:pos x="354" y="926"/>
                  </a:cxn>
                  <a:cxn ang="0">
                    <a:pos x="422" y="938"/>
                  </a:cxn>
                  <a:cxn ang="0">
                    <a:pos x="490" y="940"/>
                  </a:cxn>
                  <a:cxn ang="0">
                    <a:pos x="552" y="933"/>
                  </a:cxn>
                  <a:cxn ang="0">
                    <a:pos x="611" y="918"/>
                  </a:cxn>
                  <a:cxn ang="0">
                    <a:pos x="669" y="896"/>
                  </a:cxn>
                  <a:cxn ang="0">
                    <a:pos x="722" y="866"/>
                  </a:cxn>
                  <a:cxn ang="0">
                    <a:pos x="771" y="829"/>
                  </a:cxn>
                  <a:cxn ang="0">
                    <a:pos x="556" y="680"/>
                  </a:cxn>
                  <a:cxn ang="0">
                    <a:pos x="513" y="692"/>
                  </a:cxn>
                  <a:cxn ang="0">
                    <a:pos x="469" y="697"/>
                  </a:cxn>
                  <a:cxn ang="0">
                    <a:pos x="404" y="687"/>
                  </a:cxn>
                  <a:cxn ang="0">
                    <a:pos x="344" y="659"/>
                  </a:cxn>
                  <a:cxn ang="0">
                    <a:pos x="294" y="614"/>
                  </a:cxn>
                  <a:cxn ang="0">
                    <a:pos x="260" y="556"/>
                  </a:cxn>
                  <a:cxn ang="0">
                    <a:pos x="244" y="492"/>
                  </a:cxn>
                  <a:cxn ang="0">
                    <a:pos x="247" y="425"/>
                  </a:cxn>
                  <a:cxn ang="0">
                    <a:pos x="269" y="363"/>
                  </a:cxn>
                  <a:cxn ang="0">
                    <a:pos x="309" y="309"/>
                  </a:cxn>
                  <a:cxn ang="0">
                    <a:pos x="364" y="270"/>
                  </a:cxn>
                  <a:cxn ang="0">
                    <a:pos x="426" y="248"/>
                  </a:cxn>
                  <a:cxn ang="0">
                    <a:pos x="492" y="244"/>
                  </a:cxn>
                  <a:cxn ang="0">
                    <a:pos x="557" y="260"/>
                  </a:cxn>
                  <a:cxn ang="0">
                    <a:pos x="613" y="294"/>
                  </a:cxn>
                  <a:cxn ang="0">
                    <a:pos x="659" y="343"/>
                  </a:cxn>
                  <a:cxn ang="0">
                    <a:pos x="687" y="403"/>
                  </a:cxn>
                  <a:cxn ang="0">
                    <a:pos x="696" y="470"/>
                  </a:cxn>
                  <a:cxn ang="0">
                    <a:pos x="678" y="559"/>
                  </a:cxn>
                  <a:cxn ang="0">
                    <a:pos x="628" y="632"/>
                  </a:cxn>
                  <a:cxn ang="0">
                    <a:pos x="771" y="829"/>
                  </a:cxn>
                  <a:cxn ang="0">
                    <a:pos x="794" y="810"/>
                  </a:cxn>
                  <a:cxn ang="0">
                    <a:pos x="861" y="730"/>
                  </a:cxn>
                  <a:cxn ang="0">
                    <a:pos x="920" y="607"/>
                  </a:cxn>
                  <a:cxn ang="0">
                    <a:pos x="939" y="470"/>
                  </a:cxn>
                </a:cxnLst>
                <a:rect l="0" t="0" r="r" b="b"/>
                <a:pathLst>
                  <a:path w="939" h="940">
                    <a:moveTo>
                      <a:pt x="939" y="470"/>
                    </a:moveTo>
                    <a:lnTo>
                      <a:pt x="937" y="423"/>
                    </a:lnTo>
                    <a:lnTo>
                      <a:pt x="930" y="378"/>
                    </a:lnTo>
                    <a:lnTo>
                      <a:pt x="920" y="333"/>
                    </a:lnTo>
                    <a:lnTo>
                      <a:pt x="903" y="289"/>
                    </a:lnTo>
                    <a:lnTo>
                      <a:pt x="884" y="249"/>
                    </a:lnTo>
                    <a:lnTo>
                      <a:pt x="861" y="208"/>
                    </a:lnTo>
                    <a:lnTo>
                      <a:pt x="833" y="172"/>
                    </a:lnTo>
                    <a:lnTo>
                      <a:pt x="802" y="137"/>
                    </a:lnTo>
                    <a:lnTo>
                      <a:pt x="785" y="121"/>
                    </a:lnTo>
                    <a:lnTo>
                      <a:pt x="768" y="106"/>
                    </a:lnTo>
                    <a:lnTo>
                      <a:pt x="749" y="91"/>
                    </a:lnTo>
                    <a:lnTo>
                      <a:pt x="731" y="78"/>
                    </a:lnTo>
                    <a:lnTo>
                      <a:pt x="711" y="66"/>
                    </a:lnTo>
                    <a:lnTo>
                      <a:pt x="690" y="55"/>
                    </a:lnTo>
                    <a:lnTo>
                      <a:pt x="671" y="45"/>
                    </a:lnTo>
                    <a:lnTo>
                      <a:pt x="650" y="36"/>
                    </a:lnTo>
                    <a:lnTo>
                      <a:pt x="628" y="28"/>
                    </a:lnTo>
                    <a:lnTo>
                      <a:pt x="606" y="20"/>
                    </a:lnTo>
                    <a:lnTo>
                      <a:pt x="585" y="14"/>
                    </a:lnTo>
                    <a:lnTo>
                      <a:pt x="562" y="9"/>
                    </a:lnTo>
                    <a:lnTo>
                      <a:pt x="540" y="5"/>
                    </a:lnTo>
                    <a:lnTo>
                      <a:pt x="517" y="2"/>
                    </a:lnTo>
                    <a:lnTo>
                      <a:pt x="492" y="0"/>
                    </a:lnTo>
                    <a:lnTo>
                      <a:pt x="469" y="0"/>
                    </a:lnTo>
                    <a:lnTo>
                      <a:pt x="421" y="2"/>
                    </a:lnTo>
                    <a:lnTo>
                      <a:pt x="375" y="9"/>
                    </a:lnTo>
                    <a:lnTo>
                      <a:pt x="330" y="21"/>
                    </a:lnTo>
                    <a:lnTo>
                      <a:pt x="286" y="37"/>
                    </a:lnTo>
                    <a:lnTo>
                      <a:pt x="246" y="56"/>
                    </a:lnTo>
                    <a:lnTo>
                      <a:pt x="207" y="81"/>
                    </a:lnTo>
                    <a:lnTo>
                      <a:pt x="171" y="107"/>
                    </a:lnTo>
                    <a:lnTo>
                      <a:pt x="138" y="138"/>
                    </a:lnTo>
                    <a:lnTo>
                      <a:pt x="107" y="172"/>
                    </a:lnTo>
                    <a:lnTo>
                      <a:pt x="80" y="207"/>
                    </a:lnTo>
                    <a:lnTo>
                      <a:pt x="56" y="247"/>
                    </a:lnTo>
                    <a:lnTo>
                      <a:pt x="37" y="287"/>
                    </a:lnTo>
                    <a:lnTo>
                      <a:pt x="20" y="331"/>
                    </a:lnTo>
                    <a:lnTo>
                      <a:pt x="9" y="376"/>
                    </a:lnTo>
                    <a:lnTo>
                      <a:pt x="2" y="422"/>
                    </a:lnTo>
                    <a:lnTo>
                      <a:pt x="0" y="470"/>
                    </a:lnTo>
                    <a:lnTo>
                      <a:pt x="2" y="517"/>
                    </a:lnTo>
                    <a:lnTo>
                      <a:pt x="9" y="562"/>
                    </a:lnTo>
                    <a:lnTo>
                      <a:pt x="20" y="607"/>
                    </a:lnTo>
                    <a:lnTo>
                      <a:pt x="35" y="650"/>
                    </a:lnTo>
                    <a:lnTo>
                      <a:pt x="55" y="691"/>
                    </a:lnTo>
                    <a:lnTo>
                      <a:pt x="79" y="730"/>
                    </a:lnTo>
                    <a:lnTo>
                      <a:pt x="107" y="767"/>
                    </a:lnTo>
                    <a:lnTo>
                      <a:pt x="138" y="802"/>
                    </a:lnTo>
                    <a:lnTo>
                      <a:pt x="155" y="818"/>
                    </a:lnTo>
                    <a:lnTo>
                      <a:pt x="172" y="833"/>
                    </a:lnTo>
                    <a:lnTo>
                      <a:pt x="191" y="848"/>
                    </a:lnTo>
                    <a:lnTo>
                      <a:pt x="209" y="861"/>
                    </a:lnTo>
                    <a:lnTo>
                      <a:pt x="229" y="873"/>
                    </a:lnTo>
                    <a:lnTo>
                      <a:pt x="248" y="885"/>
                    </a:lnTo>
                    <a:lnTo>
                      <a:pt x="269" y="895"/>
                    </a:lnTo>
                    <a:lnTo>
                      <a:pt x="290" y="904"/>
                    </a:lnTo>
                    <a:lnTo>
                      <a:pt x="311" y="912"/>
                    </a:lnTo>
                    <a:lnTo>
                      <a:pt x="332" y="919"/>
                    </a:lnTo>
                    <a:lnTo>
                      <a:pt x="354" y="926"/>
                    </a:lnTo>
                    <a:lnTo>
                      <a:pt x="377" y="931"/>
                    </a:lnTo>
                    <a:lnTo>
                      <a:pt x="400" y="935"/>
                    </a:lnTo>
                    <a:lnTo>
                      <a:pt x="422" y="938"/>
                    </a:lnTo>
                    <a:lnTo>
                      <a:pt x="446" y="939"/>
                    </a:lnTo>
                    <a:lnTo>
                      <a:pt x="469" y="940"/>
                    </a:lnTo>
                    <a:lnTo>
                      <a:pt x="490" y="940"/>
                    </a:lnTo>
                    <a:lnTo>
                      <a:pt x="511" y="938"/>
                    </a:lnTo>
                    <a:lnTo>
                      <a:pt x="532" y="935"/>
                    </a:lnTo>
                    <a:lnTo>
                      <a:pt x="552" y="933"/>
                    </a:lnTo>
                    <a:lnTo>
                      <a:pt x="572" y="928"/>
                    </a:lnTo>
                    <a:lnTo>
                      <a:pt x="591" y="924"/>
                    </a:lnTo>
                    <a:lnTo>
                      <a:pt x="611" y="918"/>
                    </a:lnTo>
                    <a:lnTo>
                      <a:pt x="631" y="911"/>
                    </a:lnTo>
                    <a:lnTo>
                      <a:pt x="649" y="904"/>
                    </a:lnTo>
                    <a:lnTo>
                      <a:pt x="669" y="896"/>
                    </a:lnTo>
                    <a:lnTo>
                      <a:pt x="686" y="887"/>
                    </a:lnTo>
                    <a:lnTo>
                      <a:pt x="704" y="877"/>
                    </a:lnTo>
                    <a:lnTo>
                      <a:pt x="722" y="866"/>
                    </a:lnTo>
                    <a:lnTo>
                      <a:pt x="739" y="855"/>
                    </a:lnTo>
                    <a:lnTo>
                      <a:pt x="755" y="842"/>
                    </a:lnTo>
                    <a:lnTo>
                      <a:pt x="771" y="829"/>
                    </a:lnTo>
                    <a:lnTo>
                      <a:pt x="581" y="667"/>
                    </a:lnTo>
                    <a:lnTo>
                      <a:pt x="568" y="674"/>
                    </a:lnTo>
                    <a:lnTo>
                      <a:pt x="556" y="680"/>
                    </a:lnTo>
                    <a:lnTo>
                      <a:pt x="542" y="685"/>
                    </a:lnTo>
                    <a:lnTo>
                      <a:pt x="528" y="689"/>
                    </a:lnTo>
                    <a:lnTo>
                      <a:pt x="513" y="692"/>
                    </a:lnTo>
                    <a:lnTo>
                      <a:pt x="499" y="695"/>
                    </a:lnTo>
                    <a:lnTo>
                      <a:pt x="484" y="697"/>
                    </a:lnTo>
                    <a:lnTo>
                      <a:pt x="469" y="697"/>
                    </a:lnTo>
                    <a:lnTo>
                      <a:pt x="448" y="696"/>
                    </a:lnTo>
                    <a:lnTo>
                      <a:pt x="426" y="692"/>
                    </a:lnTo>
                    <a:lnTo>
                      <a:pt x="404" y="687"/>
                    </a:lnTo>
                    <a:lnTo>
                      <a:pt x="383" y="680"/>
                    </a:lnTo>
                    <a:lnTo>
                      <a:pt x="364" y="670"/>
                    </a:lnTo>
                    <a:lnTo>
                      <a:pt x="344" y="659"/>
                    </a:lnTo>
                    <a:lnTo>
                      <a:pt x="326" y="645"/>
                    </a:lnTo>
                    <a:lnTo>
                      <a:pt x="309" y="630"/>
                    </a:lnTo>
                    <a:lnTo>
                      <a:pt x="294" y="614"/>
                    </a:lnTo>
                    <a:lnTo>
                      <a:pt x="281" y="596"/>
                    </a:lnTo>
                    <a:lnTo>
                      <a:pt x="269" y="576"/>
                    </a:lnTo>
                    <a:lnTo>
                      <a:pt x="260" y="556"/>
                    </a:lnTo>
                    <a:lnTo>
                      <a:pt x="253" y="536"/>
                    </a:lnTo>
                    <a:lnTo>
                      <a:pt x="247" y="514"/>
                    </a:lnTo>
                    <a:lnTo>
                      <a:pt x="244" y="492"/>
                    </a:lnTo>
                    <a:lnTo>
                      <a:pt x="243" y="470"/>
                    </a:lnTo>
                    <a:lnTo>
                      <a:pt x="244" y="447"/>
                    </a:lnTo>
                    <a:lnTo>
                      <a:pt x="247" y="425"/>
                    </a:lnTo>
                    <a:lnTo>
                      <a:pt x="253" y="403"/>
                    </a:lnTo>
                    <a:lnTo>
                      <a:pt x="260" y="382"/>
                    </a:lnTo>
                    <a:lnTo>
                      <a:pt x="269" y="363"/>
                    </a:lnTo>
                    <a:lnTo>
                      <a:pt x="281" y="343"/>
                    </a:lnTo>
                    <a:lnTo>
                      <a:pt x="294" y="326"/>
                    </a:lnTo>
                    <a:lnTo>
                      <a:pt x="309" y="309"/>
                    </a:lnTo>
                    <a:lnTo>
                      <a:pt x="326" y="294"/>
                    </a:lnTo>
                    <a:lnTo>
                      <a:pt x="344" y="280"/>
                    </a:lnTo>
                    <a:lnTo>
                      <a:pt x="364" y="270"/>
                    </a:lnTo>
                    <a:lnTo>
                      <a:pt x="383" y="260"/>
                    </a:lnTo>
                    <a:lnTo>
                      <a:pt x="404" y="252"/>
                    </a:lnTo>
                    <a:lnTo>
                      <a:pt x="426" y="248"/>
                    </a:lnTo>
                    <a:lnTo>
                      <a:pt x="448" y="244"/>
                    </a:lnTo>
                    <a:lnTo>
                      <a:pt x="469" y="243"/>
                    </a:lnTo>
                    <a:lnTo>
                      <a:pt x="492" y="244"/>
                    </a:lnTo>
                    <a:lnTo>
                      <a:pt x="514" y="248"/>
                    </a:lnTo>
                    <a:lnTo>
                      <a:pt x="536" y="252"/>
                    </a:lnTo>
                    <a:lnTo>
                      <a:pt x="557" y="260"/>
                    </a:lnTo>
                    <a:lnTo>
                      <a:pt x="576" y="270"/>
                    </a:lnTo>
                    <a:lnTo>
                      <a:pt x="596" y="280"/>
                    </a:lnTo>
                    <a:lnTo>
                      <a:pt x="613" y="294"/>
                    </a:lnTo>
                    <a:lnTo>
                      <a:pt x="631" y="309"/>
                    </a:lnTo>
                    <a:lnTo>
                      <a:pt x="646" y="326"/>
                    </a:lnTo>
                    <a:lnTo>
                      <a:pt x="659" y="343"/>
                    </a:lnTo>
                    <a:lnTo>
                      <a:pt x="670" y="363"/>
                    </a:lnTo>
                    <a:lnTo>
                      <a:pt x="679" y="382"/>
                    </a:lnTo>
                    <a:lnTo>
                      <a:pt x="687" y="403"/>
                    </a:lnTo>
                    <a:lnTo>
                      <a:pt x="692" y="425"/>
                    </a:lnTo>
                    <a:lnTo>
                      <a:pt x="695" y="447"/>
                    </a:lnTo>
                    <a:lnTo>
                      <a:pt x="696" y="470"/>
                    </a:lnTo>
                    <a:lnTo>
                      <a:pt x="694" y="501"/>
                    </a:lnTo>
                    <a:lnTo>
                      <a:pt x="688" y="531"/>
                    </a:lnTo>
                    <a:lnTo>
                      <a:pt x="678" y="559"/>
                    </a:lnTo>
                    <a:lnTo>
                      <a:pt x="665" y="585"/>
                    </a:lnTo>
                    <a:lnTo>
                      <a:pt x="648" y="611"/>
                    </a:lnTo>
                    <a:lnTo>
                      <a:pt x="628" y="632"/>
                    </a:lnTo>
                    <a:lnTo>
                      <a:pt x="606" y="651"/>
                    </a:lnTo>
                    <a:lnTo>
                      <a:pt x="581" y="667"/>
                    </a:lnTo>
                    <a:lnTo>
                      <a:pt x="771" y="829"/>
                    </a:lnTo>
                    <a:lnTo>
                      <a:pt x="779" y="824"/>
                    </a:lnTo>
                    <a:lnTo>
                      <a:pt x="787" y="817"/>
                    </a:lnTo>
                    <a:lnTo>
                      <a:pt x="794" y="810"/>
                    </a:lnTo>
                    <a:lnTo>
                      <a:pt x="802" y="802"/>
                    </a:lnTo>
                    <a:lnTo>
                      <a:pt x="833" y="767"/>
                    </a:lnTo>
                    <a:lnTo>
                      <a:pt x="861" y="730"/>
                    </a:lnTo>
                    <a:lnTo>
                      <a:pt x="884" y="691"/>
                    </a:lnTo>
                    <a:lnTo>
                      <a:pt x="903" y="650"/>
                    </a:lnTo>
                    <a:lnTo>
                      <a:pt x="920" y="607"/>
                    </a:lnTo>
                    <a:lnTo>
                      <a:pt x="930" y="562"/>
                    </a:lnTo>
                    <a:lnTo>
                      <a:pt x="937" y="517"/>
                    </a:lnTo>
                    <a:lnTo>
                      <a:pt x="939" y="470"/>
                    </a:lnTo>
                    <a:close/>
                  </a:path>
                </a:pathLst>
              </a:custGeom>
              <a:solidFill>
                <a:srgbClr val="000000"/>
              </a:solidFill>
              <a:ln w="9525">
                <a:noFill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67" name="Freeform 13"/>
              <p:cNvSpPr>
                <a:spLocks/>
              </p:cNvSpPr>
              <p:nvPr/>
            </p:nvSpPr>
            <p:spPr bwMode="auto">
              <a:xfrm>
                <a:off x="9598025" y="2930525"/>
                <a:ext cx="138113" cy="128588"/>
              </a:xfrm>
              <a:custGeom>
                <a:avLst/>
                <a:gdLst/>
                <a:ahLst/>
                <a:cxnLst>
                  <a:cxn ang="0">
                    <a:pos x="151" y="164"/>
                  </a:cxn>
                  <a:cxn ang="0">
                    <a:pos x="151" y="149"/>
                  </a:cxn>
                  <a:cxn ang="0">
                    <a:pos x="152" y="141"/>
                  </a:cxn>
                  <a:cxn ang="0">
                    <a:pos x="154" y="132"/>
                  </a:cxn>
                  <a:cxn ang="0">
                    <a:pos x="158" y="125"/>
                  </a:cxn>
                  <a:cxn ang="0">
                    <a:pos x="163" y="118"/>
                  </a:cxn>
                  <a:cxn ang="0">
                    <a:pos x="175" y="108"/>
                  </a:cxn>
                  <a:cxn ang="0">
                    <a:pos x="163" y="96"/>
                  </a:cxn>
                  <a:cxn ang="0">
                    <a:pos x="114" y="46"/>
                  </a:cxn>
                  <a:cxn ang="0">
                    <a:pos x="99" y="74"/>
                  </a:cxn>
                  <a:cxn ang="0">
                    <a:pos x="132" y="109"/>
                  </a:cxn>
                  <a:cxn ang="0">
                    <a:pos x="129" y="114"/>
                  </a:cxn>
                  <a:cxn ang="0">
                    <a:pos x="127" y="120"/>
                  </a:cxn>
                  <a:cxn ang="0">
                    <a:pos x="124" y="127"/>
                  </a:cxn>
                  <a:cxn ang="0">
                    <a:pos x="122" y="134"/>
                  </a:cxn>
                  <a:cxn ang="0">
                    <a:pos x="31" y="134"/>
                  </a:cxn>
                  <a:cxn ang="0">
                    <a:pos x="32" y="121"/>
                  </a:cxn>
                  <a:cxn ang="0">
                    <a:pos x="36" y="110"/>
                  </a:cxn>
                  <a:cxn ang="0">
                    <a:pos x="39" y="97"/>
                  </a:cxn>
                  <a:cxn ang="0">
                    <a:pos x="42" y="86"/>
                  </a:cxn>
                  <a:cxn ang="0">
                    <a:pos x="48" y="74"/>
                  </a:cxn>
                  <a:cxn ang="0">
                    <a:pos x="54" y="64"/>
                  </a:cxn>
                  <a:cxn ang="0">
                    <a:pos x="61" y="53"/>
                  </a:cxn>
                  <a:cxn ang="0">
                    <a:pos x="68" y="43"/>
                  </a:cxn>
                  <a:cxn ang="0">
                    <a:pos x="99" y="74"/>
                  </a:cxn>
                  <a:cxn ang="0">
                    <a:pos x="114" y="46"/>
                  </a:cxn>
                  <a:cxn ang="0">
                    <a:pos x="78" y="11"/>
                  </a:cxn>
                  <a:cxn ang="0">
                    <a:pos x="68" y="0"/>
                  </a:cxn>
                  <a:cxn ang="0">
                    <a:pos x="57" y="11"/>
                  </a:cxn>
                  <a:cxn ang="0">
                    <a:pos x="45" y="25"/>
                  </a:cxn>
                  <a:cxn ang="0">
                    <a:pos x="33" y="41"/>
                  </a:cxn>
                  <a:cxn ang="0">
                    <a:pos x="23" y="57"/>
                  </a:cxn>
                  <a:cxn ang="0">
                    <a:pos x="15" y="74"/>
                  </a:cxn>
                  <a:cxn ang="0">
                    <a:pos x="8" y="93"/>
                  </a:cxn>
                  <a:cxn ang="0">
                    <a:pos x="3" y="111"/>
                  </a:cxn>
                  <a:cxn ang="0">
                    <a:pos x="1" y="129"/>
                  </a:cxn>
                  <a:cxn ang="0">
                    <a:pos x="0" y="149"/>
                  </a:cxn>
                  <a:cxn ang="0">
                    <a:pos x="0" y="164"/>
                  </a:cxn>
                  <a:cxn ang="0">
                    <a:pos x="15" y="164"/>
                  </a:cxn>
                  <a:cxn ang="0">
                    <a:pos x="136" y="164"/>
                  </a:cxn>
                  <a:cxn ang="0">
                    <a:pos x="151" y="164"/>
                  </a:cxn>
                </a:cxnLst>
                <a:rect l="0" t="0" r="r" b="b"/>
                <a:pathLst>
                  <a:path w="175" h="164">
                    <a:moveTo>
                      <a:pt x="151" y="164"/>
                    </a:moveTo>
                    <a:lnTo>
                      <a:pt x="151" y="149"/>
                    </a:lnTo>
                    <a:lnTo>
                      <a:pt x="152" y="141"/>
                    </a:lnTo>
                    <a:lnTo>
                      <a:pt x="154" y="132"/>
                    </a:lnTo>
                    <a:lnTo>
                      <a:pt x="158" y="125"/>
                    </a:lnTo>
                    <a:lnTo>
                      <a:pt x="163" y="118"/>
                    </a:lnTo>
                    <a:lnTo>
                      <a:pt x="175" y="108"/>
                    </a:lnTo>
                    <a:lnTo>
                      <a:pt x="163" y="96"/>
                    </a:lnTo>
                    <a:lnTo>
                      <a:pt x="114" y="46"/>
                    </a:lnTo>
                    <a:lnTo>
                      <a:pt x="99" y="74"/>
                    </a:lnTo>
                    <a:lnTo>
                      <a:pt x="132" y="109"/>
                    </a:lnTo>
                    <a:lnTo>
                      <a:pt x="129" y="114"/>
                    </a:lnTo>
                    <a:lnTo>
                      <a:pt x="127" y="120"/>
                    </a:lnTo>
                    <a:lnTo>
                      <a:pt x="124" y="127"/>
                    </a:lnTo>
                    <a:lnTo>
                      <a:pt x="122" y="134"/>
                    </a:lnTo>
                    <a:lnTo>
                      <a:pt x="31" y="134"/>
                    </a:lnTo>
                    <a:lnTo>
                      <a:pt x="32" y="121"/>
                    </a:lnTo>
                    <a:lnTo>
                      <a:pt x="36" y="110"/>
                    </a:lnTo>
                    <a:lnTo>
                      <a:pt x="39" y="97"/>
                    </a:lnTo>
                    <a:lnTo>
                      <a:pt x="42" y="86"/>
                    </a:lnTo>
                    <a:lnTo>
                      <a:pt x="48" y="74"/>
                    </a:lnTo>
                    <a:lnTo>
                      <a:pt x="54" y="64"/>
                    </a:lnTo>
                    <a:lnTo>
                      <a:pt x="61" y="53"/>
                    </a:lnTo>
                    <a:lnTo>
                      <a:pt x="68" y="43"/>
                    </a:lnTo>
                    <a:lnTo>
                      <a:pt x="99" y="74"/>
                    </a:lnTo>
                    <a:lnTo>
                      <a:pt x="114" y="46"/>
                    </a:lnTo>
                    <a:lnTo>
                      <a:pt x="78" y="11"/>
                    </a:lnTo>
                    <a:lnTo>
                      <a:pt x="68" y="0"/>
                    </a:lnTo>
                    <a:lnTo>
                      <a:pt x="57" y="11"/>
                    </a:lnTo>
                    <a:lnTo>
                      <a:pt x="45" y="25"/>
                    </a:lnTo>
                    <a:lnTo>
                      <a:pt x="33" y="41"/>
                    </a:lnTo>
                    <a:lnTo>
                      <a:pt x="23" y="57"/>
                    </a:lnTo>
                    <a:lnTo>
                      <a:pt x="15" y="74"/>
                    </a:lnTo>
                    <a:lnTo>
                      <a:pt x="8" y="93"/>
                    </a:lnTo>
                    <a:lnTo>
                      <a:pt x="3" y="111"/>
                    </a:lnTo>
                    <a:lnTo>
                      <a:pt x="1" y="129"/>
                    </a:lnTo>
                    <a:lnTo>
                      <a:pt x="0" y="149"/>
                    </a:lnTo>
                    <a:lnTo>
                      <a:pt x="0" y="164"/>
                    </a:lnTo>
                    <a:lnTo>
                      <a:pt x="15" y="164"/>
                    </a:lnTo>
                    <a:lnTo>
                      <a:pt x="136" y="164"/>
                    </a:lnTo>
                    <a:lnTo>
                      <a:pt x="151" y="164"/>
                    </a:lnTo>
                    <a:close/>
                  </a:path>
                </a:pathLst>
              </a:custGeom>
              <a:solidFill>
                <a:srgbClr val="000000"/>
              </a:solidFill>
              <a:ln w="9525">
                <a:noFill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68" name="Freeform 14"/>
              <p:cNvSpPr>
                <a:spLocks/>
              </p:cNvSpPr>
              <p:nvPr/>
            </p:nvSpPr>
            <p:spPr bwMode="auto">
              <a:xfrm>
                <a:off x="9740900" y="2892425"/>
                <a:ext cx="128588" cy="139700"/>
              </a:xfrm>
              <a:custGeom>
                <a:avLst/>
                <a:gdLst/>
                <a:ahLst/>
                <a:cxnLst>
                  <a:cxn ang="0">
                    <a:pos x="47" y="165"/>
                  </a:cxn>
                  <a:cxn ang="0">
                    <a:pos x="57" y="175"/>
                  </a:cxn>
                  <a:cxn ang="0">
                    <a:pos x="68" y="165"/>
                  </a:cxn>
                  <a:cxn ang="0">
                    <a:pos x="89" y="143"/>
                  </a:cxn>
                  <a:cxn ang="0">
                    <a:pos x="78" y="112"/>
                  </a:cxn>
                  <a:cxn ang="0">
                    <a:pos x="56" y="134"/>
                  </a:cxn>
                  <a:cxn ang="0">
                    <a:pos x="50" y="130"/>
                  </a:cxn>
                  <a:cxn ang="0">
                    <a:pos x="44" y="127"/>
                  </a:cxn>
                  <a:cxn ang="0">
                    <a:pos x="37" y="125"/>
                  </a:cxn>
                  <a:cxn ang="0">
                    <a:pos x="30" y="123"/>
                  </a:cxn>
                  <a:cxn ang="0">
                    <a:pos x="30" y="31"/>
                  </a:cxn>
                  <a:cxn ang="0">
                    <a:pos x="43" y="32"/>
                  </a:cxn>
                  <a:cxn ang="0">
                    <a:pos x="55" y="36"/>
                  </a:cxn>
                  <a:cxn ang="0">
                    <a:pos x="67" y="39"/>
                  </a:cxn>
                  <a:cxn ang="0">
                    <a:pos x="79" y="43"/>
                  </a:cxn>
                  <a:cxn ang="0">
                    <a:pos x="90" y="49"/>
                  </a:cxn>
                  <a:cxn ang="0">
                    <a:pos x="101" y="54"/>
                  </a:cxn>
                  <a:cxn ang="0">
                    <a:pos x="111" y="61"/>
                  </a:cxn>
                  <a:cxn ang="0">
                    <a:pos x="121" y="69"/>
                  </a:cxn>
                  <a:cxn ang="0">
                    <a:pos x="78" y="112"/>
                  </a:cxn>
                  <a:cxn ang="0">
                    <a:pos x="89" y="143"/>
                  </a:cxn>
                  <a:cxn ang="0">
                    <a:pos x="154" y="80"/>
                  </a:cxn>
                  <a:cxn ang="0">
                    <a:pos x="164" y="68"/>
                  </a:cxn>
                  <a:cxn ang="0">
                    <a:pos x="154" y="58"/>
                  </a:cxn>
                  <a:cxn ang="0">
                    <a:pos x="140" y="45"/>
                  </a:cxn>
                  <a:cxn ang="0">
                    <a:pos x="124" y="34"/>
                  </a:cxn>
                  <a:cxn ang="0">
                    <a:pos x="108" y="23"/>
                  </a:cxn>
                  <a:cxn ang="0">
                    <a:pos x="90" y="15"/>
                  </a:cxn>
                  <a:cxn ang="0">
                    <a:pos x="72" y="8"/>
                  </a:cxn>
                  <a:cxn ang="0">
                    <a:pos x="53" y="4"/>
                  </a:cxn>
                  <a:cxn ang="0">
                    <a:pos x="35" y="1"/>
                  </a:cxn>
                  <a:cxn ang="0">
                    <a:pos x="15" y="0"/>
                  </a:cxn>
                  <a:cxn ang="0">
                    <a:pos x="0" y="0"/>
                  </a:cxn>
                  <a:cxn ang="0">
                    <a:pos x="0" y="16"/>
                  </a:cxn>
                  <a:cxn ang="0">
                    <a:pos x="0" y="137"/>
                  </a:cxn>
                  <a:cxn ang="0">
                    <a:pos x="0" y="152"/>
                  </a:cxn>
                  <a:cxn ang="0">
                    <a:pos x="15" y="152"/>
                  </a:cxn>
                  <a:cxn ang="0">
                    <a:pos x="23" y="153"/>
                  </a:cxn>
                  <a:cxn ang="0">
                    <a:pos x="33" y="156"/>
                  </a:cxn>
                  <a:cxn ang="0">
                    <a:pos x="40" y="159"/>
                  </a:cxn>
                  <a:cxn ang="0">
                    <a:pos x="47" y="165"/>
                  </a:cxn>
                </a:cxnLst>
                <a:rect l="0" t="0" r="r" b="b"/>
                <a:pathLst>
                  <a:path w="164" h="175">
                    <a:moveTo>
                      <a:pt x="47" y="165"/>
                    </a:moveTo>
                    <a:lnTo>
                      <a:pt x="57" y="175"/>
                    </a:lnTo>
                    <a:lnTo>
                      <a:pt x="68" y="165"/>
                    </a:lnTo>
                    <a:lnTo>
                      <a:pt x="89" y="143"/>
                    </a:lnTo>
                    <a:lnTo>
                      <a:pt x="78" y="112"/>
                    </a:lnTo>
                    <a:lnTo>
                      <a:pt x="56" y="134"/>
                    </a:lnTo>
                    <a:lnTo>
                      <a:pt x="50" y="130"/>
                    </a:lnTo>
                    <a:lnTo>
                      <a:pt x="44" y="127"/>
                    </a:lnTo>
                    <a:lnTo>
                      <a:pt x="37" y="125"/>
                    </a:lnTo>
                    <a:lnTo>
                      <a:pt x="30" y="123"/>
                    </a:lnTo>
                    <a:lnTo>
                      <a:pt x="30" y="31"/>
                    </a:lnTo>
                    <a:lnTo>
                      <a:pt x="43" y="32"/>
                    </a:lnTo>
                    <a:lnTo>
                      <a:pt x="55" y="36"/>
                    </a:lnTo>
                    <a:lnTo>
                      <a:pt x="67" y="39"/>
                    </a:lnTo>
                    <a:lnTo>
                      <a:pt x="79" y="43"/>
                    </a:lnTo>
                    <a:lnTo>
                      <a:pt x="90" y="49"/>
                    </a:lnTo>
                    <a:lnTo>
                      <a:pt x="101" y="54"/>
                    </a:lnTo>
                    <a:lnTo>
                      <a:pt x="111" y="61"/>
                    </a:lnTo>
                    <a:lnTo>
                      <a:pt x="121" y="69"/>
                    </a:lnTo>
                    <a:lnTo>
                      <a:pt x="78" y="112"/>
                    </a:lnTo>
                    <a:lnTo>
                      <a:pt x="89" y="143"/>
                    </a:lnTo>
                    <a:lnTo>
                      <a:pt x="154" y="80"/>
                    </a:lnTo>
                    <a:lnTo>
                      <a:pt x="164" y="68"/>
                    </a:lnTo>
                    <a:lnTo>
                      <a:pt x="154" y="58"/>
                    </a:lnTo>
                    <a:lnTo>
                      <a:pt x="140" y="45"/>
                    </a:lnTo>
                    <a:lnTo>
                      <a:pt x="124" y="34"/>
                    </a:lnTo>
                    <a:lnTo>
                      <a:pt x="108" y="23"/>
                    </a:lnTo>
                    <a:lnTo>
                      <a:pt x="90" y="15"/>
                    </a:lnTo>
                    <a:lnTo>
                      <a:pt x="72" y="8"/>
                    </a:lnTo>
                    <a:lnTo>
                      <a:pt x="53" y="4"/>
                    </a:lnTo>
                    <a:lnTo>
                      <a:pt x="35" y="1"/>
                    </a:lnTo>
                    <a:lnTo>
                      <a:pt x="15" y="0"/>
                    </a:lnTo>
                    <a:lnTo>
                      <a:pt x="0" y="0"/>
                    </a:lnTo>
                    <a:lnTo>
                      <a:pt x="0" y="16"/>
                    </a:lnTo>
                    <a:lnTo>
                      <a:pt x="0" y="137"/>
                    </a:lnTo>
                    <a:lnTo>
                      <a:pt x="0" y="152"/>
                    </a:lnTo>
                    <a:lnTo>
                      <a:pt x="15" y="152"/>
                    </a:lnTo>
                    <a:lnTo>
                      <a:pt x="23" y="153"/>
                    </a:lnTo>
                    <a:lnTo>
                      <a:pt x="33" y="156"/>
                    </a:lnTo>
                    <a:lnTo>
                      <a:pt x="40" y="159"/>
                    </a:lnTo>
                    <a:lnTo>
                      <a:pt x="47" y="165"/>
                    </a:lnTo>
                    <a:close/>
                  </a:path>
                </a:pathLst>
              </a:custGeom>
              <a:solidFill>
                <a:srgbClr val="000000"/>
              </a:solidFill>
              <a:ln w="9525">
                <a:noFill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69" name="Freeform 15"/>
              <p:cNvSpPr>
                <a:spLocks/>
              </p:cNvSpPr>
              <p:nvPr/>
            </p:nvSpPr>
            <p:spPr bwMode="auto">
              <a:xfrm>
                <a:off x="9783763" y="3036888"/>
                <a:ext cx="76200" cy="36513"/>
              </a:xfrm>
              <a:custGeom>
                <a:avLst/>
                <a:gdLst/>
                <a:ahLst/>
                <a:cxnLst>
                  <a:cxn ang="0">
                    <a:pos x="33" y="30"/>
                  </a:cxn>
                  <a:cxn ang="0">
                    <a:pos x="96" y="30"/>
                  </a:cxn>
                  <a:cxn ang="0">
                    <a:pos x="96" y="0"/>
                  </a:cxn>
                  <a:cxn ang="0">
                    <a:pos x="19" y="0"/>
                  </a:cxn>
                  <a:cxn ang="0">
                    <a:pos x="4" y="0"/>
                  </a:cxn>
                  <a:cxn ang="0">
                    <a:pos x="4" y="15"/>
                  </a:cxn>
                  <a:cxn ang="0">
                    <a:pos x="4" y="20"/>
                  </a:cxn>
                  <a:cxn ang="0">
                    <a:pos x="3" y="24"/>
                  </a:cxn>
                  <a:cxn ang="0">
                    <a:pos x="2" y="29"/>
                  </a:cxn>
                  <a:cxn ang="0">
                    <a:pos x="0" y="33"/>
                  </a:cxn>
                  <a:cxn ang="0">
                    <a:pos x="27" y="46"/>
                  </a:cxn>
                  <a:cxn ang="0">
                    <a:pos x="28" y="43"/>
                  </a:cxn>
                  <a:cxn ang="0">
                    <a:pos x="31" y="38"/>
                  </a:cxn>
                  <a:cxn ang="0">
                    <a:pos x="32" y="35"/>
                  </a:cxn>
                  <a:cxn ang="0">
                    <a:pos x="33" y="30"/>
                  </a:cxn>
                </a:cxnLst>
                <a:rect l="0" t="0" r="r" b="b"/>
                <a:pathLst>
                  <a:path w="96" h="46">
                    <a:moveTo>
                      <a:pt x="33" y="30"/>
                    </a:moveTo>
                    <a:lnTo>
                      <a:pt x="96" y="30"/>
                    </a:lnTo>
                    <a:lnTo>
                      <a:pt x="96" y="0"/>
                    </a:lnTo>
                    <a:lnTo>
                      <a:pt x="19" y="0"/>
                    </a:lnTo>
                    <a:lnTo>
                      <a:pt x="4" y="0"/>
                    </a:lnTo>
                    <a:lnTo>
                      <a:pt x="4" y="15"/>
                    </a:lnTo>
                    <a:lnTo>
                      <a:pt x="4" y="20"/>
                    </a:lnTo>
                    <a:lnTo>
                      <a:pt x="3" y="24"/>
                    </a:lnTo>
                    <a:lnTo>
                      <a:pt x="2" y="29"/>
                    </a:lnTo>
                    <a:lnTo>
                      <a:pt x="0" y="33"/>
                    </a:lnTo>
                    <a:lnTo>
                      <a:pt x="27" y="46"/>
                    </a:lnTo>
                    <a:lnTo>
                      <a:pt x="28" y="43"/>
                    </a:lnTo>
                    <a:lnTo>
                      <a:pt x="31" y="38"/>
                    </a:lnTo>
                    <a:lnTo>
                      <a:pt x="32" y="35"/>
                    </a:lnTo>
                    <a:lnTo>
                      <a:pt x="33" y="30"/>
                    </a:lnTo>
                    <a:close/>
                  </a:path>
                </a:pathLst>
              </a:custGeom>
              <a:solidFill>
                <a:srgbClr val="000000"/>
              </a:solidFill>
              <a:ln w="9525">
                <a:noFill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70" name="Freeform 16"/>
              <p:cNvSpPr>
                <a:spLocks/>
              </p:cNvSpPr>
              <p:nvPr/>
            </p:nvSpPr>
            <p:spPr bwMode="auto">
              <a:xfrm>
                <a:off x="9769475" y="3036888"/>
                <a:ext cx="138113" cy="128588"/>
              </a:xfrm>
              <a:custGeom>
                <a:avLst/>
                <a:gdLst/>
                <a:ahLst/>
                <a:cxnLst>
                  <a:cxn ang="0">
                    <a:pos x="175" y="0"/>
                  </a:cxn>
                  <a:cxn ang="0">
                    <a:pos x="159" y="0"/>
                  </a:cxn>
                  <a:cxn ang="0">
                    <a:pos x="115" y="0"/>
                  </a:cxn>
                  <a:cxn ang="0">
                    <a:pos x="115" y="30"/>
                  </a:cxn>
                  <a:cxn ang="0">
                    <a:pos x="144" y="30"/>
                  </a:cxn>
                  <a:cxn ang="0">
                    <a:pos x="143" y="43"/>
                  </a:cxn>
                  <a:cxn ang="0">
                    <a:pos x="139" y="54"/>
                  </a:cxn>
                  <a:cxn ang="0">
                    <a:pos x="136" y="67"/>
                  </a:cxn>
                  <a:cxn ang="0">
                    <a:pos x="133" y="78"/>
                  </a:cxn>
                  <a:cxn ang="0">
                    <a:pos x="127" y="89"/>
                  </a:cxn>
                  <a:cxn ang="0">
                    <a:pos x="121" y="100"/>
                  </a:cxn>
                  <a:cxn ang="0">
                    <a:pos x="114" y="111"/>
                  </a:cxn>
                  <a:cxn ang="0">
                    <a:pos x="106" y="120"/>
                  </a:cxn>
                  <a:cxn ang="0">
                    <a:pos x="42" y="55"/>
                  </a:cxn>
                  <a:cxn ang="0">
                    <a:pos x="43" y="53"/>
                  </a:cxn>
                  <a:cxn ang="0">
                    <a:pos x="44" y="51"/>
                  </a:cxn>
                  <a:cxn ang="0">
                    <a:pos x="45" y="48"/>
                  </a:cxn>
                  <a:cxn ang="0">
                    <a:pos x="46" y="46"/>
                  </a:cxn>
                  <a:cxn ang="0">
                    <a:pos x="19" y="33"/>
                  </a:cxn>
                  <a:cxn ang="0">
                    <a:pos x="16" y="37"/>
                  </a:cxn>
                  <a:cxn ang="0">
                    <a:pos x="15" y="40"/>
                  </a:cxn>
                  <a:cxn ang="0">
                    <a:pos x="13" y="44"/>
                  </a:cxn>
                  <a:cxn ang="0">
                    <a:pos x="11" y="46"/>
                  </a:cxn>
                  <a:cxn ang="0">
                    <a:pos x="0" y="56"/>
                  </a:cxn>
                  <a:cxn ang="0">
                    <a:pos x="11" y="67"/>
                  </a:cxn>
                  <a:cxn ang="0">
                    <a:pos x="96" y="152"/>
                  </a:cxn>
                  <a:cxn ang="0">
                    <a:pos x="107" y="164"/>
                  </a:cxn>
                  <a:cxn ang="0">
                    <a:pos x="118" y="152"/>
                  </a:cxn>
                  <a:cxn ang="0">
                    <a:pos x="130" y="138"/>
                  </a:cxn>
                  <a:cxn ang="0">
                    <a:pos x="142" y="122"/>
                  </a:cxn>
                  <a:cxn ang="0">
                    <a:pos x="152" y="106"/>
                  </a:cxn>
                  <a:cxn ang="0">
                    <a:pos x="160" y="89"/>
                  </a:cxn>
                  <a:cxn ang="0">
                    <a:pos x="167" y="71"/>
                  </a:cxn>
                  <a:cxn ang="0">
                    <a:pos x="172" y="53"/>
                  </a:cxn>
                  <a:cxn ang="0">
                    <a:pos x="174" y="35"/>
                  </a:cxn>
                  <a:cxn ang="0">
                    <a:pos x="175" y="15"/>
                  </a:cxn>
                  <a:cxn ang="0">
                    <a:pos x="175" y="0"/>
                  </a:cxn>
                </a:cxnLst>
                <a:rect l="0" t="0" r="r" b="b"/>
                <a:pathLst>
                  <a:path w="175" h="164">
                    <a:moveTo>
                      <a:pt x="175" y="0"/>
                    </a:moveTo>
                    <a:lnTo>
                      <a:pt x="159" y="0"/>
                    </a:lnTo>
                    <a:lnTo>
                      <a:pt x="115" y="0"/>
                    </a:lnTo>
                    <a:lnTo>
                      <a:pt x="115" y="30"/>
                    </a:lnTo>
                    <a:lnTo>
                      <a:pt x="144" y="30"/>
                    </a:lnTo>
                    <a:lnTo>
                      <a:pt x="143" y="43"/>
                    </a:lnTo>
                    <a:lnTo>
                      <a:pt x="139" y="54"/>
                    </a:lnTo>
                    <a:lnTo>
                      <a:pt x="136" y="67"/>
                    </a:lnTo>
                    <a:lnTo>
                      <a:pt x="133" y="78"/>
                    </a:lnTo>
                    <a:lnTo>
                      <a:pt x="127" y="89"/>
                    </a:lnTo>
                    <a:lnTo>
                      <a:pt x="121" y="100"/>
                    </a:lnTo>
                    <a:lnTo>
                      <a:pt x="114" y="111"/>
                    </a:lnTo>
                    <a:lnTo>
                      <a:pt x="106" y="120"/>
                    </a:lnTo>
                    <a:lnTo>
                      <a:pt x="42" y="55"/>
                    </a:lnTo>
                    <a:lnTo>
                      <a:pt x="43" y="53"/>
                    </a:lnTo>
                    <a:lnTo>
                      <a:pt x="44" y="51"/>
                    </a:lnTo>
                    <a:lnTo>
                      <a:pt x="45" y="48"/>
                    </a:lnTo>
                    <a:lnTo>
                      <a:pt x="46" y="46"/>
                    </a:lnTo>
                    <a:lnTo>
                      <a:pt x="19" y="33"/>
                    </a:lnTo>
                    <a:lnTo>
                      <a:pt x="16" y="37"/>
                    </a:lnTo>
                    <a:lnTo>
                      <a:pt x="15" y="40"/>
                    </a:lnTo>
                    <a:lnTo>
                      <a:pt x="13" y="44"/>
                    </a:lnTo>
                    <a:lnTo>
                      <a:pt x="11" y="46"/>
                    </a:lnTo>
                    <a:lnTo>
                      <a:pt x="0" y="56"/>
                    </a:lnTo>
                    <a:lnTo>
                      <a:pt x="11" y="67"/>
                    </a:lnTo>
                    <a:lnTo>
                      <a:pt x="96" y="152"/>
                    </a:lnTo>
                    <a:lnTo>
                      <a:pt x="107" y="164"/>
                    </a:lnTo>
                    <a:lnTo>
                      <a:pt x="118" y="152"/>
                    </a:lnTo>
                    <a:lnTo>
                      <a:pt x="130" y="138"/>
                    </a:lnTo>
                    <a:lnTo>
                      <a:pt x="142" y="122"/>
                    </a:lnTo>
                    <a:lnTo>
                      <a:pt x="152" y="106"/>
                    </a:lnTo>
                    <a:lnTo>
                      <a:pt x="160" y="89"/>
                    </a:lnTo>
                    <a:lnTo>
                      <a:pt x="167" y="71"/>
                    </a:lnTo>
                    <a:lnTo>
                      <a:pt x="172" y="53"/>
                    </a:lnTo>
                    <a:lnTo>
                      <a:pt x="174" y="35"/>
                    </a:lnTo>
                    <a:lnTo>
                      <a:pt x="175" y="15"/>
                    </a:lnTo>
                    <a:lnTo>
                      <a:pt x="175" y="0"/>
                    </a:lnTo>
                    <a:close/>
                  </a:path>
                </a:pathLst>
              </a:custGeom>
              <a:solidFill>
                <a:srgbClr val="000000"/>
              </a:solidFill>
              <a:ln w="9525">
                <a:noFill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71" name="Freeform 17"/>
              <p:cNvSpPr>
                <a:spLocks/>
              </p:cNvSpPr>
              <p:nvPr/>
            </p:nvSpPr>
            <p:spPr bwMode="auto">
              <a:xfrm>
                <a:off x="9634538" y="3063875"/>
                <a:ext cx="130175" cy="138113"/>
              </a:xfrm>
              <a:custGeom>
                <a:avLst/>
                <a:gdLst/>
                <a:ahLst/>
                <a:cxnLst>
                  <a:cxn ang="0">
                    <a:pos x="163" y="24"/>
                  </a:cxn>
                  <a:cxn ang="0">
                    <a:pos x="148" y="24"/>
                  </a:cxn>
                  <a:cxn ang="0">
                    <a:pos x="140" y="23"/>
                  </a:cxn>
                  <a:cxn ang="0">
                    <a:pos x="132" y="20"/>
                  </a:cxn>
                  <a:cxn ang="0">
                    <a:pos x="124" y="17"/>
                  </a:cxn>
                  <a:cxn ang="0">
                    <a:pos x="117" y="11"/>
                  </a:cxn>
                  <a:cxn ang="0">
                    <a:pos x="107" y="0"/>
                  </a:cxn>
                  <a:cxn ang="0">
                    <a:pos x="97" y="11"/>
                  </a:cxn>
                  <a:cxn ang="0">
                    <a:pos x="11" y="96"/>
                  </a:cxn>
                  <a:cxn ang="0">
                    <a:pos x="0" y="107"/>
                  </a:cxn>
                  <a:cxn ang="0">
                    <a:pos x="11" y="117"/>
                  </a:cxn>
                  <a:cxn ang="0">
                    <a:pos x="25" y="130"/>
                  </a:cxn>
                  <a:cxn ang="0">
                    <a:pos x="41" y="141"/>
                  </a:cxn>
                  <a:cxn ang="0">
                    <a:pos x="57" y="152"/>
                  </a:cxn>
                  <a:cxn ang="0">
                    <a:pos x="75" y="160"/>
                  </a:cxn>
                  <a:cxn ang="0">
                    <a:pos x="92" y="167"/>
                  </a:cxn>
                  <a:cxn ang="0">
                    <a:pos x="110" y="171"/>
                  </a:cxn>
                  <a:cxn ang="0">
                    <a:pos x="129" y="174"/>
                  </a:cxn>
                  <a:cxn ang="0">
                    <a:pos x="148" y="175"/>
                  </a:cxn>
                  <a:cxn ang="0">
                    <a:pos x="163" y="175"/>
                  </a:cxn>
                  <a:cxn ang="0">
                    <a:pos x="163" y="160"/>
                  </a:cxn>
                  <a:cxn ang="0">
                    <a:pos x="163" y="86"/>
                  </a:cxn>
                  <a:cxn ang="0">
                    <a:pos x="133" y="88"/>
                  </a:cxn>
                  <a:cxn ang="0">
                    <a:pos x="133" y="144"/>
                  </a:cxn>
                  <a:cxn ang="0">
                    <a:pos x="121" y="142"/>
                  </a:cxn>
                  <a:cxn ang="0">
                    <a:pos x="109" y="139"/>
                  </a:cxn>
                  <a:cxn ang="0">
                    <a:pos x="97" y="136"/>
                  </a:cxn>
                  <a:cxn ang="0">
                    <a:pos x="85" y="132"/>
                  </a:cxn>
                  <a:cxn ang="0">
                    <a:pos x="75" y="126"/>
                  </a:cxn>
                  <a:cxn ang="0">
                    <a:pos x="63" y="121"/>
                  </a:cxn>
                  <a:cxn ang="0">
                    <a:pos x="53" y="114"/>
                  </a:cxn>
                  <a:cxn ang="0">
                    <a:pos x="44" y="107"/>
                  </a:cxn>
                  <a:cxn ang="0">
                    <a:pos x="108" y="42"/>
                  </a:cxn>
                  <a:cxn ang="0">
                    <a:pos x="114" y="46"/>
                  </a:cxn>
                  <a:cxn ang="0">
                    <a:pos x="121" y="48"/>
                  </a:cxn>
                  <a:cxn ang="0">
                    <a:pos x="127" y="50"/>
                  </a:cxn>
                  <a:cxn ang="0">
                    <a:pos x="133" y="53"/>
                  </a:cxn>
                  <a:cxn ang="0">
                    <a:pos x="133" y="88"/>
                  </a:cxn>
                  <a:cxn ang="0">
                    <a:pos x="163" y="86"/>
                  </a:cxn>
                  <a:cxn ang="0">
                    <a:pos x="163" y="39"/>
                  </a:cxn>
                  <a:cxn ang="0">
                    <a:pos x="163" y="24"/>
                  </a:cxn>
                </a:cxnLst>
                <a:rect l="0" t="0" r="r" b="b"/>
                <a:pathLst>
                  <a:path w="163" h="175">
                    <a:moveTo>
                      <a:pt x="163" y="24"/>
                    </a:moveTo>
                    <a:lnTo>
                      <a:pt x="148" y="24"/>
                    </a:lnTo>
                    <a:lnTo>
                      <a:pt x="140" y="23"/>
                    </a:lnTo>
                    <a:lnTo>
                      <a:pt x="132" y="20"/>
                    </a:lnTo>
                    <a:lnTo>
                      <a:pt x="124" y="17"/>
                    </a:lnTo>
                    <a:lnTo>
                      <a:pt x="117" y="11"/>
                    </a:lnTo>
                    <a:lnTo>
                      <a:pt x="107" y="0"/>
                    </a:lnTo>
                    <a:lnTo>
                      <a:pt x="97" y="11"/>
                    </a:lnTo>
                    <a:lnTo>
                      <a:pt x="11" y="96"/>
                    </a:lnTo>
                    <a:lnTo>
                      <a:pt x="0" y="107"/>
                    </a:lnTo>
                    <a:lnTo>
                      <a:pt x="11" y="117"/>
                    </a:lnTo>
                    <a:lnTo>
                      <a:pt x="25" y="130"/>
                    </a:lnTo>
                    <a:lnTo>
                      <a:pt x="41" y="141"/>
                    </a:lnTo>
                    <a:lnTo>
                      <a:pt x="57" y="152"/>
                    </a:lnTo>
                    <a:lnTo>
                      <a:pt x="75" y="160"/>
                    </a:lnTo>
                    <a:lnTo>
                      <a:pt x="92" y="167"/>
                    </a:lnTo>
                    <a:lnTo>
                      <a:pt x="110" y="171"/>
                    </a:lnTo>
                    <a:lnTo>
                      <a:pt x="129" y="174"/>
                    </a:lnTo>
                    <a:lnTo>
                      <a:pt x="148" y="175"/>
                    </a:lnTo>
                    <a:lnTo>
                      <a:pt x="163" y="175"/>
                    </a:lnTo>
                    <a:lnTo>
                      <a:pt x="163" y="160"/>
                    </a:lnTo>
                    <a:lnTo>
                      <a:pt x="163" y="86"/>
                    </a:lnTo>
                    <a:lnTo>
                      <a:pt x="133" y="88"/>
                    </a:lnTo>
                    <a:lnTo>
                      <a:pt x="133" y="144"/>
                    </a:lnTo>
                    <a:lnTo>
                      <a:pt x="121" y="142"/>
                    </a:lnTo>
                    <a:lnTo>
                      <a:pt x="109" y="139"/>
                    </a:lnTo>
                    <a:lnTo>
                      <a:pt x="97" y="136"/>
                    </a:lnTo>
                    <a:lnTo>
                      <a:pt x="85" y="132"/>
                    </a:lnTo>
                    <a:lnTo>
                      <a:pt x="75" y="126"/>
                    </a:lnTo>
                    <a:lnTo>
                      <a:pt x="63" y="121"/>
                    </a:lnTo>
                    <a:lnTo>
                      <a:pt x="53" y="114"/>
                    </a:lnTo>
                    <a:lnTo>
                      <a:pt x="44" y="107"/>
                    </a:lnTo>
                    <a:lnTo>
                      <a:pt x="108" y="42"/>
                    </a:lnTo>
                    <a:lnTo>
                      <a:pt x="114" y="46"/>
                    </a:lnTo>
                    <a:lnTo>
                      <a:pt x="121" y="48"/>
                    </a:lnTo>
                    <a:lnTo>
                      <a:pt x="127" y="50"/>
                    </a:lnTo>
                    <a:lnTo>
                      <a:pt x="133" y="53"/>
                    </a:lnTo>
                    <a:lnTo>
                      <a:pt x="133" y="88"/>
                    </a:lnTo>
                    <a:lnTo>
                      <a:pt x="163" y="86"/>
                    </a:lnTo>
                    <a:lnTo>
                      <a:pt x="163" y="39"/>
                    </a:lnTo>
                    <a:lnTo>
                      <a:pt x="163" y="24"/>
                    </a:lnTo>
                    <a:close/>
                  </a:path>
                </a:pathLst>
              </a:custGeom>
              <a:solidFill>
                <a:srgbClr val="000000"/>
              </a:solidFill>
              <a:ln w="9525">
                <a:noFill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</p:grpSp>
      </p:grpSp>
      <p:grpSp>
        <p:nvGrpSpPr>
          <p:cNvPr id="91" name="Group 90"/>
          <p:cNvGrpSpPr/>
          <p:nvPr/>
        </p:nvGrpSpPr>
        <p:grpSpPr>
          <a:xfrm>
            <a:off x="3828905" y="3581400"/>
            <a:ext cx="1666948" cy="762000"/>
            <a:chOff x="2295452" y="3733800"/>
            <a:chExt cx="1666948" cy="762000"/>
          </a:xfrm>
        </p:grpSpPr>
        <p:sp>
          <p:nvSpPr>
            <p:cNvPr id="90" name="Cloud 89"/>
            <p:cNvSpPr/>
            <p:nvPr/>
          </p:nvSpPr>
          <p:spPr>
            <a:xfrm rot="571012">
              <a:off x="2295452" y="4075347"/>
              <a:ext cx="457200" cy="152400"/>
            </a:xfrm>
            <a:prstGeom prst="cloud">
              <a:avLst/>
            </a:prstGeom>
          </p:spPr>
          <p:style>
            <a:lnRef idx="1">
              <a:schemeClr val="dk1"/>
            </a:lnRef>
            <a:fillRef idx="2">
              <a:schemeClr val="dk1"/>
            </a:fillRef>
            <a:effectRef idx="1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5" name="Rectangle 44"/>
            <p:cNvSpPr/>
            <p:nvPr/>
          </p:nvSpPr>
          <p:spPr>
            <a:xfrm>
              <a:off x="2743200" y="3733800"/>
              <a:ext cx="1219200" cy="533400"/>
            </a:xfrm>
            <a:prstGeom prst="rect">
              <a:avLst/>
            </a:prstGeom>
          </p:spPr>
          <p:style>
            <a:lnRef idx="2">
              <a:schemeClr val="accent2">
                <a:shade val="50000"/>
              </a:schemeClr>
            </a:lnRef>
            <a:fillRef idx="1">
              <a:schemeClr val="accent2"/>
            </a:fillRef>
            <a:effectRef idx="0">
              <a:schemeClr val="accent2"/>
            </a:effectRef>
            <a:fontRef idx="minor">
              <a:schemeClr val="lt1"/>
            </a:fontRef>
          </p:style>
          <p:txBody>
            <a:bodyPr rtlCol="0" anchor="t" anchorCtr="0"/>
            <a:lstStyle/>
            <a:p>
              <a:pPr algn="ctr"/>
              <a:r>
                <a:rPr lang="en-US" sz="2400" b="1" dirty="0" smtClean="0"/>
                <a:t>Packet</a:t>
              </a:r>
              <a:endParaRPr lang="en-US" sz="2400" b="1" dirty="0"/>
            </a:p>
          </p:txBody>
        </p:sp>
        <p:grpSp>
          <p:nvGrpSpPr>
            <p:cNvPr id="72" name="Group 71"/>
            <p:cNvGrpSpPr/>
            <p:nvPr/>
          </p:nvGrpSpPr>
          <p:grpSpPr>
            <a:xfrm>
              <a:off x="2743200" y="4114800"/>
              <a:ext cx="381000" cy="381000"/>
              <a:chOff x="9378950" y="2674938"/>
              <a:chExt cx="746125" cy="746125"/>
            </a:xfrm>
          </p:grpSpPr>
          <p:sp>
            <p:nvSpPr>
              <p:cNvPr id="73" name="Oval 72"/>
              <p:cNvSpPr/>
              <p:nvPr/>
            </p:nvSpPr>
            <p:spPr>
              <a:xfrm>
                <a:off x="9525000" y="2819400"/>
                <a:ext cx="457200" cy="457200"/>
              </a:xfrm>
              <a:prstGeom prst="ellipse">
                <a:avLst/>
              </a:prstGeom>
              <a:solidFill>
                <a:schemeClr val="bg1">
                  <a:lumMod val="8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74" name="Freeform 12"/>
              <p:cNvSpPr>
                <a:spLocks/>
              </p:cNvSpPr>
              <p:nvPr/>
            </p:nvSpPr>
            <p:spPr bwMode="auto">
              <a:xfrm>
                <a:off x="9378950" y="2674938"/>
                <a:ext cx="746125" cy="746125"/>
              </a:xfrm>
              <a:custGeom>
                <a:avLst/>
                <a:gdLst/>
                <a:ahLst/>
                <a:cxnLst>
                  <a:cxn ang="0">
                    <a:pos x="930" y="378"/>
                  </a:cxn>
                  <a:cxn ang="0">
                    <a:pos x="884" y="249"/>
                  </a:cxn>
                  <a:cxn ang="0">
                    <a:pos x="802" y="137"/>
                  </a:cxn>
                  <a:cxn ang="0">
                    <a:pos x="749" y="91"/>
                  </a:cxn>
                  <a:cxn ang="0">
                    <a:pos x="690" y="55"/>
                  </a:cxn>
                  <a:cxn ang="0">
                    <a:pos x="628" y="28"/>
                  </a:cxn>
                  <a:cxn ang="0">
                    <a:pos x="562" y="9"/>
                  </a:cxn>
                  <a:cxn ang="0">
                    <a:pos x="492" y="0"/>
                  </a:cxn>
                  <a:cxn ang="0">
                    <a:pos x="375" y="9"/>
                  </a:cxn>
                  <a:cxn ang="0">
                    <a:pos x="246" y="56"/>
                  </a:cxn>
                  <a:cxn ang="0">
                    <a:pos x="138" y="138"/>
                  </a:cxn>
                  <a:cxn ang="0">
                    <a:pos x="56" y="247"/>
                  </a:cxn>
                  <a:cxn ang="0">
                    <a:pos x="9" y="376"/>
                  </a:cxn>
                  <a:cxn ang="0">
                    <a:pos x="2" y="517"/>
                  </a:cxn>
                  <a:cxn ang="0">
                    <a:pos x="35" y="650"/>
                  </a:cxn>
                  <a:cxn ang="0">
                    <a:pos x="107" y="767"/>
                  </a:cxn>
                  <a:cxn ang="0">
                    <a:pos x="172" y="833"/>
                  </a:cxn>
                  <a:cxn ang="0">
                    <a:pos x="229" y="873"/>
                  </a:cxn>
                  <a:cxn ang="0">
                    <a:pos x="290" y="904"/>
                  </a:cxn>
                  <a:cxn ang="0">
                    <a:pos x="354" y="926"/>
                  </a:cxn>
                  <a:cxn ang="0">
                    <a:pos x="422" y="938"/>
                  </a:cxn>
                  <a:cxn ang="0">
                    <a:pos x="490" y="940"/>
                  </a:cxn>
                  <a:cxn ang="0">
                    <a:pos x="552" y="933"/>
                  </a:cxn>
                  <a:cxn ang="0">
                    <a:pos x="611" y="918"/>
                  </a:cxn>
                  <a:cxn ang="0">
                    <a:pos x="669" y="896"/>
                  </a:cxn>
                  <a:cxn ang="0">
                    <a:pos x="722" y="866"/>
                  </a:cxn>
                  <a:cxn ang="0">
                    <a:pos x="771" y="829"/>
                  </a:cxn>
                  <a:cxn ang="0">
                    <a:pos x="556" y="680"/>
                  </a:cxn>
                  <a:cxn ang="0">
                    <a:pos x="513" y="692"/>
                  </a:cxn>
                  <a:cxn ang="0">
                    <a:pos x="469" y="697"/>
                  </a:cxn>
                  <a:cxn ang="0">
                    <a:pos x="404" y="687"/>
                  </a:cxn>
                  <a:cxn ang="0">
                    <a:pos x="344" y="659"/>
                  </a:cxn>
                  <a:cxn ang="0">
                    <a:pos x="294" y="614"/>
                  </a:cxn>
                  <a:cxn ang="0">
                    <a:pos x="260" y="556"/>
                  </a:cxn>
                  <a:cxn ang="0">
                    <a:pos x="244" y="492"/>
                  </a:cxn>
                  <a:cxn ang="0">
                    <a:pos x="247" y="425"/>
                  </a:cxn>
                  <a:cxn ang="0">
                    <a:pos x="269" y="363"/>
                  </a:cxn>
                  <a:cxn ang="0">
                    <a:pos x="309" y="309"/>
                  </a:cxn>
                  <a:cxn ang="0">
                    <a:pos x="364" y="270"/>
                  </a:cxn>
                  <a:cxn ang="0">
                    <a:pos x="426" y="248"/>
                  </a:cxn>
                  <a:cxn ang="0">
                    <a:pos x="492" y="244"/>
                  </a:cxn>
                  <a:cxn ang="0">
                    <a:pos x="557" y="260"/>
                  </a:cxn>
                  <a:cxn ang="0">
                    <a:pos x="613" y="294"/>
                  </a:cxn>
                  <a:cxn ang="0">
                    <a:pos x="659" y="343"/>
                  </a:cxn>
                  <a:cxn ang="0">
                    <a:pos x="687" y="403"/>
                  </a:cxn>
                  <a:cxn ang="0">
                    <a:pos x="696" y="470"/>
                  </a:cxn>
                  <a:cxn ang="0">
                    <a:pos x="678" y="559"/>
                  </a:cxn>
                  <a:cxn ang="0">
                    <a:pos x="628" y="632"/>
                  </a:cxn>
                  <a:cxn ang="0">
                    <a:pos x="771" y="829"/>
                  </a:cxn>
                  <a:cxn ang="0">
                    <a:pos x="794" y="810"/>
                  </a:cxn>
                  <a:cxn ang="0">
                    <a:pos x="861" y="730"/>
                  </a:cxn>
                  <a:cxn ang="0">
                    <a:pos x="920" y="607"/>
                  </a:cxn>
                  <a:cxn ang="0">
                    <a:pos x="939" y="470"/>
                  </a:cxn>
                </a:cxnLst>
                <a:rect l="0" t="0" r="r" b="b"/>
                <a:pathLst>
                  <a:path w="939" h="940">
                    <a:moveTo>
                      <a:pt x="939" y="470"/>
                    </a:moveTo>
                    <a:lnTo>
                      <a:pt x="937" y="423"/>
                    </a:lnTo>
                    <a:lnTo>
                      <a:pt x="930" y="378"/>
                    </a:lnTo>
                    <a:lnTo>
                      <a:pt x="920" y="333"/>
                    </a:lnTo>
                    <a:lnTo>
                      <a:pt x="903" y="289"/>
                    </a:lnTo>
                    <a:lnTo>
                      <a:pt x="884" y="249"/>
                    </a:lnTo>
                    <a:lnTo>
                      <a:pt x="861" y="208"/>
                    </a:lnTo>
                    <a:lnTo>
                      <a:pt x="833" y="172"/>
                    </a:lnTo>
                    <a:lnTo>
                      <a:pt x="802" y="137"/>
                    </a:lnTo>
                    <a:lnTo>
                      <a:pt x="785" y="121"/>
                    </a:lnTo>
                    <a:lnTo>
                      <a:pt x="768" y="106"/>
                    </a:lnTo>
                    <a:lnTo>
                      <a:pt x="749" y="91"/>
                    </a:lnTo>
                    <a:lnTo>
                      <a:pt x="731" y="78"/>
                    </a:lnTo>
                    <a:lnTo>
                      <a:pt x="711" y="66"/>
                    </a:lnTo>
                    <a:lnTo>
                      <a:pt x="690" y="55"/>
                    </a:lnTo>
                    <a:lnTo>
                      <a:pt x="671" y="45"/>
                    </a:lnTo>
                    <a:lnTo>
                      <a:pt x="650" y="36"/>
                    </a:lnTo>
                    <a:lnTo>
                      <a:pt x="628" y="28"/>
                    </a:lnTo>
                    <a:lnTo>
                      <a:pt x="606" y="20"/>
                    </a:lnTo>
                    <a:lnTo>
                      <a:pt x="585" y="14"/>
                    </a:lnTo>
                    <a:lnTo>
                      <a:pt x="562" y="9"/>
                    </a:lnTo>
                    <a:lnTo>
                      <a:pt x="540" y="5"/>
                    </a:lnTo>
                    <a:lnTo>
                      <a:pt x="517" y="2"/>
                    </a:lnTo>
                    <a:lnTo>
                      <a:pt x="492" y="0"/>
                    </a:lnTo>
                    <a:lnTo>
                      <a:pt x="469" y="0"/>
                    </a:lnTo>
                    <a:lnTo>
                      <a:pt x="421" y="2"/>
                    </a:lnTo>
                    <a:lnTo>
                      <a:pt x="375" y="9"/>
                    </a:lnTo>
                    <a:lnTo>
                      <a:pt x="330" y="21"/>
                    </a:lnTo>
                    <a:lnTo>
                      <a:pt x="286" y="37"/>
                    </a:lnTo>
                    <a:lnTo>
                      <a:pt x="246" y="56"/>
                    </a:lnTo>
                    <a:lnTo>
                      <a:pt x="207" y="81"/>
                    </a:lnTo>
                    <a:lnTo>
                      <a:pt x="171" y="107"/>
                    </a:lnTo>
                    <a:lnTo>
                      <a:pt x="138" y="138"/>
                    </a:lnTo>
                    <a:lnTo>
                      <a:pt x="107" y="172"/>
                    </a:lnTo>
                    <a:lnTo>
                      <a:pt x="80" y="207"/>
                    </a:lnTo>
                    <a:lnTo>
                      <a:pt x="56" y="247"/>
                    </a:lnTo>
                    <a:lnTo>
                      <a:pt x="37" y="287"/>
                    </a:lnTo>
                    <a:lnTo>
                      <a:pt x="20" y="331"/>
                    </a:lnTo>
                    <a:lnTo>
                      <a:pt x="9" y="376"/>
                    </a:lnTo>
                    <a:lnTo>
                      <a:pt x="2" y="422"/>
                    </a:lnTo>
                    <a:lnTo>
                      <a:pt x="0" y="470"/>
                    </a:lnTo>
                    <a:lnTo>
                      <a:pt x="2" y="517"/>
                    </a:lnTo>
                    <a:lnTo>
                      <a:pt x="9" y="562"/>
                    </a:lnTo>
                    <a:lnTo>
                      <a:pt x="20" y="607"/>
                    </a:lnTo>
                    <a:lnTo>
                      <a:pt x="35" y="650"/>
                    </a:lnTo>
                    <a:lnTo>
                      <a:pt x="55" y="691"/>
                    </a:lnTo>
                    <a:lnTo>
                      <a:pt x="79" y="730"/>
                    </a:lnTo>
                    <a:lnTo>
                      <a:pt x="107" y="767"/>
                    </a:lnTo>
                    <a:lnTo>
                      <a:pt x="138" y="802"/>
                    </a:lnTo>
                    <a:lnTo>
                      <a:pt x="155" y="818"/>
                    </a:lnTo>
                    <a:lnTo>
                      <a:pt x="172" y="833"/>
                    </a:lnTo>
                    <a:lnTo>
                      <a:pt x="191" y="848"/>
                    </a:lnTo>
                    <a:lnTo>
                      <a:pt x="209" y="861"/>
                    </a:lnTo>
                    <a:lnTo>
                      <a:pt x="229" y="873"/>
                    </a:lnTo>
                    <a:lnTo>
                      <a:pt x="248" y="885"/>
                    </a:lnTo>
                    <a:lnTo>
                      <a:pt x="269" y="895"/>
                    </a:lnTo>
                    <a:lnTo>
                      <a:pt x="290" y="904"/>
                    </a:lnTo>
                    <a:lnTo>
                      <a:pt x="311" y="912"/>
                    </a:lnTo>
                    <a:lnTo>
                      <a:pt x="332" y="919"/>
                    </a:lnTo>
                    <a:lnTo>
                      <a:pt x="354" y="926"/>
                    </a:lnTo>
                    <a:lnTo>
                      <a:pt x="377" y="931"/>
                    </a:lnTo>
                    <a:lnTo>
                      <a:pt x="400" y="935"/>
                    </a:lnTo>
                    <a:lnTo>
                      <a:pt x="422" y="938"/>
                    </a:lnTo>
                    <a:lnTo>
                      <a:pt x="446" y="939"/>
                    </a:lnTo>
                    <a:lnTo>
                      <a:pt x="469" y="940"/>
                    </a:lnTo>
                    <a:lnTo>
                      <a:pt x="490" y="940"/>
                    </a:lnTo>
                    <a:lnTo>
                      <a:pt x="511" y="938"/>
                    </a:lnTo>
                    <a:lnTo>
                      <a:pt x="532" y="935"/>
                    </a:lnTo>
                    <a:lnTo>
                      <a:pt x="552" y="933"/>
                    </a:lnTo>
                    <a:lnTo>
                      <a:pt x="572" y="928"/>
                    </a:lnTo>
                    <a:lnTo>
                      <a:pt x="591" y="924"/>
                    </a:lnTo>
                    <a:lnTo>
                      <a:pt x="611" y="918"/>
                    </a:lnTo>
                    <a:lnTo>
                      <a:pt x="631" y="911"/>
                    </a:lnTo>
                    <a:lnTo>
                      <a:pt x="649" y="904"/>
                    </a:lnTo>
                    <a:lnTo>
                      <a:pt x="669" y="896"/>
                    </a:lnTo>
                    <a:lnTo>
                      <a:pt x="686" y="887"/>
                    </a:lnTo>
                    <a:lnTo>
                      <a:pt x="704" y="877"/>
                    </a:lnTo>
                    <a:lnTo>
                      <a:pt x="722" y="866"/>
                    </a:lnTo>
                    <a:lnTo>
                      <a:pt x="739" y="855"/>
                    </a:lnTo>
                    <a:lnTo>
                      <a:pt x="755" y="842"/>
                    </a:lnTo>
                    <a:lnTo>
                      <a:pt x="771" y="829"/>
                    </a:lnTo>
                    <a:lnTo>
                      <a:pt x="581" y="667"/>
                    </a:lnTo>
                    <a:lnTo>
                      <a:pt x="568" y="674"/>
                    </a:lnTo>
                    <a:lnTo>
                      <a:pt x="556" y="680"/>
                    </a:lnTo>
                    <a:lnTo>
                      <a:pt x="542" y="685"/>
                    </a:lnTo>
                    <a:lnTo>
                      <a:pt x="528" y="689"/>
                    </a:lnTo>
                    <a:lnTo>
                      <a:pt x="513" y="692"/>
                    </a:lnTo>
                    <a:lnTo>
                      <a:pt x="499" y="695"/>
                    </a:lnTo>
                    <a:lnTo>
                      <a:pt x="484" y="697"/>
                    </a:lnTo>
                    <a:lnTo>
                      <a:pt x="469" y="697"/>
                    </a:lnTo>
                    <a:lnTo>
                      <a:pt x="448" y="696"/>
                    </a:lnTo>
                    <a:lnTo>
                      <a:pt x="426" y="692"/>
                    </a:lnTo>
                    <a:lnTo>
                      <a:pt x="404" y="687"/>
                    </a:lnTo>
                    <a:lnTo>
                      <a:pt x="383" y="680"/>
                    </a:lnTo>
                    <a:lnTo>
                      <a:pt x="364" y="670"/>
                    </a:lnTo>
                    <a:lnTo>
                      <a:pt x="344" y="659"/>
                    </a:lnTo>
                    <a:lnTo>
                      <a:pt x="326" y="645"/>
                    </a:lnTo>
                    <a:lnTo>
                      <a:pt x="309" y="630"/>
                    </a:lnTo>
                    <a:lnTo>
                      <a:pt x="294" y="614"/>
                    </a:lnTo>
                    <a:lnTo>
                      <a:pt x="281" y="596"/>
                    </a:lnTo>
                    <a:lnTo>
                      <a:pt x="269" y="576"/>
                    </a:lnTo>
                    <a:lnTo>
                      <a:pt x="260" y="556"/>
                    </a:lnTo>
                    <a:lnTo>
                      <a:pt x="253" y="536"/>
                    </a:lnTo>
                    <a:lnTo>
                      <a:pt x="247" y="514"/>
                    </a:lnTo>
                    <a:lnTo>
                      <a:pt x="244" y="492"/>
                    </a:lnTo>
                    <a:lnTo>
                      <a:pt x="243" y="470"/>
                    </a:lnTo>
                    <a:lnTo>
                      <a:pt x="244" y="447"/>
                    </a:lnTo>
                    <a:lnTo>
                      <a:pt x="247" y="425"/>
                    </a:lnTo>
                    <a:lnTo>
                      <a:pt x="253" y="403"/>
                    </a:lnTo>
                    <a:lnTo>
                      <a:pt x="260" y="382"/>
                    </a:lnTo>
                    <a:lnTo>
                      <a:pt x="269" y="363"/>
                    </a:lnTo>
                    <a:lnTo>
                      <a:pt x="281" y="343"/>
                    </a:lnTo>
                    <a:lnTo>
                      <a:pt x="294" y="326"/>
                    </a:lnTo>
                    <a:lnTo>
                      <a:pt x="309" y="309"/>
                    </a:lnTo>
                    <a:lnTo>
                      <a:pt x="326" y="294"/>
                    </a:lnTo>
                    <a:lnTo>
                      <a:pt x="344" y="280"/>
                    </a:lnTo>
                    <a:lnTo>
                      <a:pt x="364" y="270"/>
                    </a:lnTo>
                    <a:lnTo>
                      <a:pt x="383" y="260"/>
                    </a:lnTo>
                    <a:lnTo>
                      <a:pt x="404" y="252"/>
                    </a:lnTo>
                    <a:lnTo>
                      <a:pt x="426" y="248"/>
                    </a:lnTo>
                    <a:lnTo>
                      <a:pt x="448" y="244"/>
                    </a:lnTo>
                    <a:lnTo>
                      <a:pt x="469" y="243"/>
                    </a:lnTo>
                    <a:lnTo>
                      <a:pt x="492" y="244"/>
                    </a:lnTo>
                    <a:lnTo>
                      <a:pt x="514" y="248"/>
                    </a:lnTo>
                    <a:lnTo>
                      <a:pt x="536" y="252"/>
                    </a:lnTo>
                    <a:lnTo>
                      <a:pt x="557" y="260"/>
                    </a:lnTo>
                    <a:lnTo>
                      <a:pt x="576" y="270"/>
                    </a:lnTo>
                    <a:lnTo>
                      <a:pt x="596" y="280"/>
                    </a:lnTo>
                    <a:lnTo>
                      <a:pt x="613" y="294"/>
                    </a:lnTo>
                    <a:lnTo>
                      <a:pt x="631" y="309"/>
                    </a:lnTo>
                    <a:lnTo>
                      <a:pt x="646" y="326"/>
                    </a:lnTo>
                    <a:lnTo>
                      <a:pt x="659" y="343"/>
                    </a:lnTo>
                    <a:lnTo>
                      <a:pt x="670" y="363"/>
                    </a:lnTo>
                    <a:lnTo>
                      <a:pt x="679" y="382"/>
                    </a:lnTo>
                    <a:lnTo>
                      <a:pt x="687" y="403"/>
                    </a:lnTo>
                    <a:lnTo>
                      <a:pt x="692" y="425"/>
                    </a:lnTo>
                    <a:lnTo>
                      <a:pt x="695" y="447"/>
                    </a:lnTo>
                    <a:lnTo>
                      <a:pt x="696" y="470"/>
                    </a:lnTo>
                    <a:lnTo>
                      <a:pt x="694" y="501"/>
                    </a:lnTo>
                    <a:lnTo>
                      <a:pt x="688" y="531"/>
                    </a:lnTo>
                    <a:lnTo>
                      <a:pt x="678" y="559"/>
                    </a:lnTo>
                    <a:lnTo>
                      <a:pt x="665" y="585"/>
                    </a:lnTo>
                    <a:lnTo>
                      <a:pt x="648" y="611"/>
                    </a:lnTo>
                    <a:lnTo>
                      <a:pt x="628" y="632"/>
                    </a:lnTo>
                    <a:lnTo>
                      <a:pt x="606" y="651"/>
                    </a:lnTo>
                    <a:lnTo>
                      <a:pt x="581" y="667"/>
                    </a:lnTo>
                    <a:lnTo>
                      <a:pt x="771" y="829"/>
                    </a:lnTo>
                    <a:lnTo>
                      <a:pt x="779" y="824"/>
                    </a:lnTo>
                    <a:lnTo>
                      <a:pt x="787" y="817"/>
                    </a:lnTo>
                    <a:lnTo>
                      <a:pt x="794" y="810"/>
                    </a:lnTo>
                    <a:lnTo>
                      <a:pt x="802" y="802"/>
                    </a:lnTo>
                    <a:lnTo>
                      <a:pt x="833" y="767"/>
                    </a:lnTo>
                    <a:lnTo>
                      <a:pt x="861" y="730"/>
                    </a:lnTo>
                    <a:lnTo>
                      <a:pt x="884" y="691"/>
                    </a:lnTo>
                    <a:lnTo>
                      <a:pt x="903" y="650"/>
                    </a:lnTo>
                    <a:lnTo>
                      <a:pt x="920" y="607"/>
                    </a:lnTo>
                    <a:lnTo>
                      <a:pt x="930" y="562"/>
                    </a:lnTo>
                    <a:lnTo>
                      <a:pt x="937" y="517"/>
                    </a:lnTo>
                    <a:lnTo>
                      <a:pt x="939" y="470"/>
                    </a:lnTo>
                    <a:close/>
                  </a:path>
                </a:pathLst>
              </a:custGeom>
              <a:solidFill>
                <a:srgbClr val="000000"/>
              </a:solidFill>
              <a:ln w="9525">
                <a:noFill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75" name="Freeform 13"/>
              <p:cNvSpPr>
                <a:spLocks/>
              </p:cNvSpPr>
              <p:nvPr/>
            </p:nvSpPr>
            <p:spPr bwMode="auto">
              <a:xfrm>
                <a:off x="9598025" y="2930525"/>
                <a:ext cx="138113" cy="128588"/>
              </a:xfrm>
              <a:custGeom>
                <a:avLst/>
                <a:gdLst/>
                <a:ahLst/>
                <a:cxnLst>
                  <a:cxn ang="0">
                    <a:pos x="151" y="164"/>
                  </a:cxn>
                  <a:cxn ang="0">
                    <a:pos x="151" y="149"/>
                  </a:cxn>
                  <a:cxn ang="0">
                    <a:pos x="152" y="141"/>
                  </a:cxn>
                  <a:cxn ang="0">
                    <a:pos x="154" y="132"/>
                  </a:cxn>
                  <a:cxn ang="0">
                    <a:pos x="158" y="125"/>
                  </a:cxn>
                  <a:cxn ang="0">
                    <a:pos x="163" y="118"/>
                  </a:cxn>
                  <a:cxn ang="0">
                    <a:pos x="175" y="108"/>
                  </a:cxn>
                  <a:cxn ang="0">
                    <a:pos x="163" y="96"/>
                  </a:cxn>
                  <a:cxn ang="0">
                    <a:pos x="114" y="46"/>
                  </a:cxn>
                  <a:cxn ang="0">
                    <a:pos x="99" y="74"/>
                  </a:cxn>
                  <a:cxn ang="0">
                    <a:pos x="132" y="109"/>
                  </a:cxn>
                  <a:cxn ang="0">
                    <a:pos x="129" y="114"/>
                  </a:cxn>
                  <a:cxn ang="0">
                    <a:pos x="127" y="120"/>
                  </a:cxn>
                  <a:cxn ang="0">
                    <a:pos x="124" y="127"/>
                  </a:cxn>
                  <a:cxn ang="0">
                    <a:pos x="122" y="134"/>
                  </a:cxn>
                  <a:cxn ang="0">
                    <a:pos x="31" y="134"/>
                  </a:cxn>
                  <a:cxn ang="0">
                    <a:pos x="32" y="121"/>
                  </a:cxn>
                  <a:cxn ang="0">
                    <a:pos x="36" y="110"/>
                  </a:cxn>
                  <a:cxn ang="0">
                    <a:pos x="39" y="97"/>
                  </a:cxn>
                  <a:cxn ang="0">
                    <a:pos x="42" y="86"/>
                  </a:cxn>
                  <a:cxn ang="0">
                    <a:pos x="48" y="74"/>
                  </a:cxn>
                  <a:cxn ang="0">
                    <a:pos x="54" y="64"/>
                  </a:cxn>
                  <a:cxn ang="0">
                    <a:pos x="61" y="53"/>
                  </a:cxn>
                  <a:cxn ang="0">
                    <a:pos x="68" y="43"/>
                  </a:cxn>
                  <a:cxn ang="0">
                    <a:pos x="99" y="74"/>
                  </a:cxn>
                  <a:cxn ang="0">
                    <a:pos x="114" y="46"/>
                  </a:cxn>
                  <a:cxn ang="0">
                    <a:pos x="78" y="11"/>
                  </a:cxn>
                  <a:cxn ang="0">
                    <a:pos x="68" y="0"/>
                  </a:cxn>
                  <a:cxn ang="0">
                    <a:pos x="57" y="11"/>
                  </a:cxn>
                  <a:cxn ang="0">
                    <a:pos x="45" y="25"/>
                  </a:cxn>
                  <a:cxn ang="0">
                    <a:pos x="33" y="41"/>
                  </a:cxn>
                  <a:cxn ang="0">
                    <a:pos x="23" y="57"/>
                  </a:cxn>
                  <a:cxn ang="0">
                    <a:pos x="15" y="74"/>
                  </a:cxn>
                  <a:cxn ang="0">
                    <a:pos x="8" y="93"/>
                  </a:cxn>
                  <a:cxn ang="0">
                    <a:pos x="3" y="111"/>
                  </a:cxn>
                  <a:cxn ang="0">
                    <a:pos x="1" y="129"/>
                  </a:cxn>
                  <a:cxn ang="0">
                    <a:pos x="0" y="149"/>
                  </a:cxn>
                  <a:cxn ang="0">
                    <a:pos x="0" y="164"/>
                  </a:cxn>
                  <a:cxn ang="0">
                    <a:pos x="15" y="164"/>
                  </a:cxn>
                  <a:cxn ang="0">
                    <a:pos x="136" y="164"/>
                  </a:cxn>
                  <a:cxn ang="0">
                    <a:pos x="151" y="164"/>
                  </a:cxn>
                </a:cxnLst>
                <a:rect l="0" t="0" r="r" b="b"/>
                <a:pathLst>
                  <a:path w="175" h="164">
                    <a:moveTo>
                      <a:pt x="151" y="164"/>
                    </a:moveTo>
                    <a:lnTo>
                      <a:pt x="151" y="149"/>
                    </a:lnTo>
                    <a:lnTo>
                      <a:pt x="152" y="141"/>
                    </a:lnTo>
                    <a:lnTo>
                      <a:pt x="154" y="132"/>
                    </a:lnTo>
                    <a:lnTo>
                      <a:pt x="158" y="125"/>
                    </a:lnTo>
                    <a:lnTo>
                      <a:pt x="163" y="118"/>
                    </a:lnTo>
                    <a:lnTo>
                      <a:pt x="175" y="108"/>
                    </a:lnTo>
                    <a:lnTo>
                      <a:pt x="163" y="96"/>
                    </a:lnTo>
                    <a:lnTo>
                      <a:pt x="114" y="46"/>
                    </a:lnTo>
                    <a:lnTo>
                      <a:pt x="99" y="74"/>
                    </a:lnTo>
                    <a:lnTo>
                      <a:pt x="132" y="109"/>
                    </a:lnTo>
                    <a:lnTo>
                      <a:pt x="129" y="114"/>
                    </a:lnTo>
                    <a:lnTo>
                      <a:pt x="127" y="120"/>
                    </a:lnTo>
                    <a:lnTo>
                      <a:pt x="124" y="127"/>
                    </a:lnTo>
                    <a:lnTo>
                      <a:pt x="122" y="134"/>
                    </a:lnTo>
                    <a:lnTo>
                      <a:pt x="31" y="134"/>
                    </a:lnTo>
                    <a:lnTo>
                      <a:pt x="32" y="121"/>
                    </a:lnTo>
                    <a:lnTo>
                      <a:pt x="36" y="110"/>
                    </a:lnTo>
                    <a:lnTo>
                      <a:pt x="39" y="97"/>
                    </a:lnTo>
                    <a:lnTo>
                      <a:pt x="42" y="86"/>
                    </a:lnTo>
                    <a:lnTo>
                      <a:pt x="48" y="74"/>
                    </a:lnTo>
                    <a:lnTo>
                      <a:pt x="54" y="64"/>
                    </a:lnTo>
                    <a:lnTo>
                      <a:pt x="61" y="53"/>
                    </a:lnTo>
                    <a:lnTo>
                      <a:pt x="68" y="43"/>
                    </a:lnTo>
                    <a:lnTo>
                      <a:pt x="99" y="74"/>
                    </a:lnTo>
                    <a:lnTo>
                      <a:pt x="114" y="46"/>
                    </a:lnTo>
                    <a:lnTo>
                      <a:pt x="78" y="11"/>
                    </a:lnTo>
                    <a:lnTo>
                      <a:pt x="68" y="0"/>
                    </a:lnTo>
                    <a:lnTo>
                      <a:pt x="57" y="11"/>
                    </a:lnTo>
                    <a:lnTo>
                      <a:pt x="45" y="25"/>
                    </a:lnTo>
                    <a:lnTo>
                      <a:pt x="33" y="41"/>
                    </a:lnTo>
                    <a:lnTo>
                      <a:pt x="23" y="57"/>
                    </a:lnTo>
                    <a:lnTo>
                      <a:pt x="15" y="74"/>
                    </a:lnTo>
                    <a:lnTo>
                      <a:pt x="8" y="93"/>
                    </a:lnTo>
                    <a:lnTo>
                      <a:pt x="3" y="111"/>
                    </a:lnTo>
                    <a:lnTo>
                      <a:pt x="1" y="129"/>
                    </a:lnTo>
                    <a:lnTo>
                      <a:pt x="0" y="149"/>
                    </a:lnTo>
                    <a:lnTo>
                      <a:pt x="0" y="164"/>
                    </a:lnTo>
                    <a:lnTo>
                      <a:pt x="15" y="164"/>
                    </a:lnTo>
                    <a:lnTo>
                      <a:pt x="136" y="164"/>
                    </a:lnTo>
                    <a:lnTo>
                      <a:pt x="151" y="164"/>
                    </a:lnTo>
                    <a:close/>
                  </a:path>
                </a:pathLst>
              </a:custGeom>
              <a:solidFill>
                <a:srgbClr val="000000"/>
              </a:solidFill>
              <a:ln w="9525">
                <a:noFill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76" name="Freeform 14"/>
              <p:cNvSpPr>
                <a:spLocks/>
              </p:cNvSpPr>
              <p:nvPr/>
            </p:nvSpPr>
            <p:spPr bwMode="auto">
              <a:xfrm>
                <a:off x="9740900" y="2892425"/>
                <a:ext cx="128588" cy="139700"/>
              </a:xfrm>
              <a:custGeom>
                <a:avLst/>
                <a:gdLst/>
                <a:ahLst/>
                <a:cxnLst>
                  <a:cxn ang="0">
                    <a:pos x="47" y="165"/>
                  </a:cxn>
                  <a:cxn ang="0">
                    <a:pos x="57" y="175"/>
                  </a:cxn>
                  <a:cxn ang="0">
                    <a:pos x="68" y="165"/>
                  </a:cxn>
                  <a:cxn ang="0">
                    <a:pos x="89" y="143"/>
                  </a:cxn>
                  <a:cxn ang="0">
                    <a:pos x="78" y="112"/>
                  </a:cxn>
                  <a:cxn ang="0">
                    <a:pos x="56" y="134"/>
                  </a:cxn>
                  <a:cxn ang="0">
                    <a:pos x="50" y="130"/>
                  </a:cxn>
                  <a:cxn ang="0">
                    <a:pos x="44" y="127"/>
                  </a:cxn>
                  <a:cxn ang="0">
                    <a:pos x="37" y="125"/>
                  </a:cxn>
                  <a:cxn ang="0">
                    <a:pos x="30" y="123"/>
                  </a:cxn>
                  <a:cxn ang="0">
                    <a:pos x="30" y="31"/>
                  </a:cxn>
                  <a:cxn ang="0">
                    <a:pos x="43" y="32"/>
                  </a:cxn>
                  <a:cxn ang="0">
                    <a:pos x="55" y="36"/>
                  </a:cxn>
                  <a:cxn ang="0">
                    <a:pos x="67" y="39"/>
                  </a:cxn>
                  <a:cxn ang="0">
                    <a:pos x="79" y="43"/>
                  </a:cxn>
                  <a:cxn ang="0">
                    <a:pos x="90" y="49"/>
                  </a:cxn>
                  <a:cxn ang="0">
                    <a:pos x="101" y="54"/>
                  </a:cxn>
                  <a:cxn ang="0">
                    <a:pos x="111" y="61"/>
                  </a:cxn>
                  <a:cxn ang="0">
                    <a:pos x="121" y="69"/>
                  </a:cxn>
                  <a:cxn ang="0">
                    <a:pos x="78" y="112"/>
                  </a:cxn>
                  <a:cxn ang="0">
                    <a:pos x="89" y="143"/>
                  </a:cxn>
                  <a:cxn ang="0">
                    <a:pos x="154" y="80"/>
                  </a:cxn>
                  <a:cxn ang="0">
                    <a:pos x="164" y="68"/>
                  </a:cxn>
                  <a:cxn ang="0">
                    <a:pos x="154" y="58"/>
                  </a:cxn>
                  <a:cxn ang="0">
                    <a:pos x="140" y="45"/>
                  </a:cxn>
                  <a:cxn ang="0">
                    <a:pos x="124" y="34"/>
                  </a:cxn>
                  <a:cxn ang="0">
                    <a:pos x="108" y="23"/>
                  </a:cxn>
                  <a:cxn ang="0">
                    <a:pos x="90" y="15"/>
                  </a:cxn>
                  <a:cxn ang="0">
                    <a:pos x="72" y="8"/>
                  </a:cxn>
                  <a:cxn ang="0">
                    <a:pos x="53" y="4"/>
                  </a:cxn>
                  <a:cxn ang="0">
                    <a:pos x="35" y="1"/>
                  </a:cxn>
                  <a:cxn ang="0">
                    <a:pos x="15" y="0"/>
                  </a:cxn>
                  <a:cxn ang="0">
                    <a:pos x="0" y="0"/>
                  </a:cxn>
                  <a:cxn ang="0">
                    <a:pos x="0" y="16"/>
                  </a:cxn>
                  <a:cxn ang="0">
                    <a:pos x="0" y="137"/>
                  </a:cxn>
                  <a:cxn ang="0">
                    <a:pos x="0" y="152"/>
                  </a:cxn>
                  <a:cxn ang="0">
                    <a:pos x="15" y="152"/>
                  </a:cxn>
                  <a:cxn ang="0">
                    <a:pos x="23" y="153"/>
                  </a:cxn>
                  <a:cxn ang="0">
                    <a:pos x="33" y="156"/>
                  </a:cxn>
                  <a:cxn ang="0">
                    <a:pos x="40" y="159"/>
                  </a:cxn>
                  <a:cxn ang="0">
                    <a:pos x="47" y="165"/>
                  </a:cxn>
                </a:cxnLst>
                <a:rect l="0" t="0" r="r" b="b"/>
                <a:pathLst>
                  <a:path w="164" h="175">
                    <a:moveTo>
                      <a:pt x="47" y="165"/>
                    </a:moveTo>
                    <a:lnTo>
                      <a:pt x="57" y="175"/>
                    </a:lnTo>
                    <a:lnTo>
                      <a:pt x="68" y="165"/>
                    </a:lnTo>
                    <a:lnTo>
                      <a:pt x="89" y="143"/>
                    </a:lnTo>
                    <a:lnTo>
                      <a:pt x="78" y="112"/>
                    </a:lnTo>
                    <a:lnTo>
                      <a:pt x="56" y="134"/>
                    </a:lnTo>
                    <a:lnTo>
                      <a:pt x="50" y="130"/>
                    </a:lnTo>
                    <a:lnTo>
                      <a:pt x="44" y="127"/>
                    </a:lnTo>
                    <a:lnTo>
                      <a:pt x="37" y="125"/>
                    </a:lnTo>
                    <a:lnTo>
                      <a:pt x="30" y="123"/>
                    </a:lnTo>
                    <a:lnTo>
                      <a:pt x="30" y="31"/>
                    </a:lnTo>
                    <a:lnTo>
                      <a:pt x="43" y="32"/>
                    </a:lnTo>
                    <a:lnTo>
                      <a:pt x="55" y="36"/>
                    </a:lnTo>
                    <a:lnTo>
                      <a:pt x="67" y="39"/>
                    </a:lnTo>
                    <a:lnTo>
                      <a:pt x="79" y="43"/>
                    </a:lnTo>
                    <a:lnTo>
                      <a:pt x="90" y="49"/>
                    </a:lnTo>
                    <a:lnTo>
                      <a:pt x="101" y="54"/>
                    </a:lnTo>
                    <a:lnTo>
                      <a:pt x="111" y="61"/>
                    </a:lnTo>
                    <a:lnTo>
                      <a:pt x="121" y="69"/>
                    </a:lnTo>
                    <a:lnTo>
                      <a:pt x="78" y="112"/>
                    </a:lnTo>
                    <a:lnTo>
                      <a:pt x="89" y="143"/>
                    </a:lnTo>
                    <a:lnTo>
                      <a:pt x="154" y="80"/>
                    </a:lnTo>
                    <a:lnTo>
                      <a:pt x="164" y="68"/>
                    </a:lnTo>
                    <a:lnTo>
                      <a:pt x="154" y="58"/>
                    </a:lnTo>
                    <a:lnTo>
                      <a:pt x="140" y="45"/>
                    </a:lnTo>
                    <a:lnTo>
                      <a:pt x="124" y="34"/>
                    </a:lnTo>
                    <a:lnTo>
                      <a:pt x="108" y="23"/>
                    </a:lnTo>
                    <a:lnTo>
                      <a:pt x="90" y="15"/>
                    </a:lnTo>
                    <a:lnTo>
                      <a:pt x="72" y="8"/>
                    </a:lnTo>
                    <a:lnTo>
                      <a:pt x="53" y="4"/>
                    </a:lnTo>
                    <a:lnTo>
                      <a:pt x="35" y="1"/>
                    </a:lnTo>
                    <a:lnTo>
                      <a:pt x="15" y="0"/>
                    </a:lnTo>
                    <a:lnTo>
                      <a:pt x="0" y="0"/>
                    </a:lnTo>
                    <a:lnTo>
                      <a:pt x="0" y="16"/>
                    </a:lnTo>
                    <a:lnTo>
                      <a:pt x="0" y="137"/>
                    </a:lnTo>
                    <a:lnTo>
                      <a:pt x="0" y="152"/>
                    </a:lnTo>
                    <a:lnTo>
                      <a:pt x="15" y="152"/>
                    </a:lnTo>
                    <a:lnTo>
                      <a:pt x="23" y="153"/>
                    </a:lnTo>
                    <a:lnTo>
                      <a:pt x="33" y="156"/>
                    </a:lnTo>
                    <a:lnTo>
                      <a:pt x="40" y="159"/>
                    </a:lnTo>
                    <a:lnTo>
                      <a:pt x="47" y="165"/>
                    </a:lnTo>
                    <a:close/>
                  </a:path>
                </a:pathLst>
              </a:custGeom>
              <a:solidFill>
                <a:srgbClr val="000000"/>
              </a:solidFill>
              <a:ln w="9525">
                <a:noFill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77" name="Freeform 15"/>
              <p:cNvSpPr>
                <a:spLocks/>
              </p:cNvSpPr>
              <p:nvPr/>
            </p:nvSpPr>
            <p:spPr bwMode="auto">
              <a:xfrm>
                <a:off x="9783763" y="3036888"/>
                <a:ext cx="76200" cy="36513"/>
              </a:xfrm>
              <a:custGeom>
                <a:avLst/>
                <a:gdLst/>
                <a:ahLst/>
                <a:cxnLst>
                  <a:cxn ang="0">
                    <a:pos x="33" y="30"/>
                  </a:cxn>
                  <a:cxn ang="0">
                    <a:pos x="96" y="30"/>
                  </a:cxn>
                  <a:cxn ang="0">
                    <a:pos x="96" y="0"/>
                  </a:cxn>
                  <a:cxn ang="0">
                    <a:pos x="19" y="0"/>
                  </a:cxn>
                  <a:cxn ang="0">
                    <a:pos x="4" y="0"/>
                  </a:cxn>
                  <a:cxn ang="0">
                    <a:pos x="4" y="15"/>
                  </a:cxn>
                  <a:cxn ang="0">
                    <a:pos x="4" y="20"/>
                  </a:cxn>
                  <a:cxn ang="0">
                    <a:pos x="3" y="24"/>
                  </a:cxn>
                  <a:cxn ang="0">
                    <a:pos x="2" y="29"/>
                  </a:cxn>
                  <a:cxn ang="0">
                    <a:pos x="0" y="33"/>
                  </a:cxn>
                  <a:cxn ang="0">
                    <a:pos x="27" y="46"/>
                  </a:cxn>
                  <a:cxn ang="0">
                    <a:pos x="28" y="43"/>
                  </a:cxn>
                  <a:cxn ang="0">
                    <a:pos x="31" y="38"/>
                  </a:cxn>
                  <a:cxn ang="0">
                    <a:pos x="32" y="35"/>
                  </a:cxn>
                  <a:cxn ang="0">
                    <a:pos x="33" y="30"/>
                  </a:cxn>
                </a:cxnLst>
                <a:rect l="0" t="0" r="r" b="b"/>
                <a:pathLst>
                  <a:path w="96" h="46">
                    <a:moveTo>
                      <a:pt x="33" y="30"/>
                    </a:moveTo>
                    <a:lnTo>
                      <a:pt x="96" y="30"/>
                    </a:lnTo>
                    <a:lnTo>
                      <a:pt x="96" y="0"/>
                    </a:lnTo>
                    <a:lnTo>
                      <a:pt x="19" y="0"/>
                    </a:lnTo>
                    <a:lnTo>
                      <a:pt x="4" y="0"/>
                    </a:lnTo>
                    <a:lnTo>
                      <a:pt x="4" y="15"/>
                    </a:lnTo>
                    <a:lnTo>
                      <a:pt x="4" y="20"/>
                    </a:lnTo>
                    <a:lnTo>
                      <a:pt x="3" y="24"/>
                    </a:lnTo>
                    <a:lnTo>
                      <a:pt x="2" y="29"/>
                    </a:lnTo>
                    <a:lnTo>
                      <a:pt x="0" y="33"/>
                    </a:lnTo>
                    <a:lnTo>
                      <a:pt x="27" y="46"/>
                    </a:lnTo>
                    <a:lnTo>
                      <a:pt x="28" y="43"/>
                    </a:lnTo>
                    <a:lnTo>
                      <a:pt x="31" y="38"/>
                    </a:lnTo>
                    <a:lnTo>
                      <a:pt x="32" y="35"/>
                    </a:lnTo>
                    <a:lnTo>
                      <a:pt x="33" y="30"/>
                    </a:lnTo>
                    <a:close/>
                  </a:path>
                </a:pathLst>
              </a:custGeom>
              <a:solidFill>
                <a:srgbClr val="000000"/>
              </a:solidFill>
              <a:ln w="9525">
                <a:noFill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78" name="Freeform 16"/>
              <p:cNvSpPr>
                <a:spLocks/>
              </p:cNvSpPr>
              <p:nvPr/>
            </p:nvSpPr>
            <p:spPr bwMode="auto">
              <a:xfrm>
                <a:off x="9769475" y="3036888"/>
                <a:ext cx="138113" cy="128588"/>
              </a:xfrm>
              <a:custGeom>
                <a:avLst/>
                <a:gdLst/>
                <a:ahLst/>
                <a:cxnLst>
                  <a:cxn ang="0">
                    <a:pos x="175" y="0"/>
                  </a:cxn>
                  <a:cxn ang="0">
                    <a:pos x="159" y="0"/>
                  </a:cxn>
                  <a:cxn ang="0">
                    <a:pos x="115" y="0"/>
                  </a:cxn>
                  <a:cxn ang="0">
                    <a:pos x="115" y="30"/>
                  </a:cxn>
                  <a:cxn ang="0">
                    <a:pos x="144" y="30"/>
                  </a:cxn>
                  <a:cxn ang="0">
                    <a:pos x="143" y="43"/>
                  </a:cxn>
                  <a:cxn ang="0">
                    <a:pos x="139" y="54"/>
                  </a:cxn>
                  <a:cxn ang="0">
                    <a:pos x="136" y="67"/>
                  </a:cxn>
                  <a:cxn ang="0">
                    <a:pos x="133" y="78"/>
                  </a:cxn>
                  <a:cxn ang="0">
                    <a:pos x="127" y="89"/>
                  </a:cxn>
                  <a:cxn ang="0">
                    <a:pos x="121" y="100"/>
                  </a:cxn>
                  <a:cxn ang="0">
                    <a:pos x="114" y="111"/>
                  </a:cxn>
                  <a:cxn ang="0">
                    <a:pos x="106" y="120"/>
                  </a:cxn>
                  <a:cxn ang="0">
                    <a:pos x="42" y="55"/>
                  </a:cxn>
                  <a:cxn ang="0">
                    <a:pos x="43" y="53"/>
                  </a:cxn>
                  <a:cxn ang="0">
                    <a:pos x="44" y="51"/>
                  </a:cxn>
                  <a:cxn ang="0">
                    <a:pos x="45" y="48"/>
                  </a:cxn>
                  <a:cxn ang="0">
                    <a:pos x="46" y="46"/>
                  </a:cxn>
                  <a:cxn ang="0">
                    <a:pos x="19" y="33"/>
                  </a:cxn>
                  <a:cxn ang="0">
                    <a:pos x="16" y="37"/>
                  </a:cxn>
                  <a:cxn ang="0">
                    <a:pos x="15" y="40"/>
                  </a:cxn>
                  <a:cxn ang="0">
                    <a:pos x="13" y="44"/>
                  </a:cxn>
                  <a:cxn ang="0">
                    <a:pos x="11" y="46"/>
                  </a:cxn>
                  <a:cxn ang="0">
                    <a:pos x="0" y="56"/>
                  </a:cxn>
                  <a:cxn ang="0">
                    <a:pos x="11" y="67"/>
                  </a:cxn>
                  <a:cxn ang="0">
                    <a:pos x="96" y="152"/>
                  </a:cxn>
                  <a:cxn ang="0">
                    <a:pos x="107" y="164"/>
                  </a:cxn>
                  <a:cxn ang="0">
                    <a:pos x="118" y="152"/>
                  </a:cxn>
                  <a:cxn ang="0">
                    <a:pos x="130" y="138"/>
                  </a:cxn>
                  <a:cxn ang="0">
                    <a:pos x="142" y="122"/>
                  </a:cxn>
                  <a:cxn ang="0">
                    <a:pos x="152" y="106"/>
                  </a:cxn>
                  <a:cxn ang="0">
                    <a:pos x="160" y="89"/>
                  </a:cxn>
                  <a:cxn ang="0">
                    <a:pos x="167" y="71"/>
                  </a:cxn>
                  <a:cxn ang="0">
                    <a:pos x="172" y="53"/>
                  </a:cxn>
                  <a:cxn ang="0">
                    <a:pos x="174" y="35"/>
                  </a:cxn>
                  <a:cxn ang="0">
                    <a:pos x="175" y="15"/>
                  </a:cxn>
                  <a:cxn ang="0">
                    <a:pos x="175" y="0"/>
                  </a:cxn>
                </a:cxnLst>
                <a:rect l="0" t="0" r="r" b="b"/>
                <a:pathLst>
                  <a:path w="175" h="164">
                    <a:moveTo>
                      <a:pt x="175" y="0"/>
                    </a:moveTo>
                    <a:lnTo>
                      <a:pt x="159" y="0"/>
                    </a:lnTo>
                    <a:lnTo>
                      <a:pt x="115" y="0"/>
                    </a:lnTo>
                    <a:lnTo>
                      <a:pt x="115" y="30"/>
                    </a:lnTo>
                    <a:lnTo>
                      <a:pt x="144" y="30"/>
                    </a:lnTo>
                    <a:lnTo>
                      <a:pt x="143" y="43"/>
                    </a:lnTo>
                    <a:lnTo>
                      <a:pt x="139" y="54"/>
                    </a:lnTo>
                    <a:lnTo>
                      <a:pt x="136" y="67"/>
                    </a:lnTo>
                    <a:lnTo>
                      <a:pt x="133" y="78"/>
                    </a:lnTo>
                    <a:lnTo>
                      <a:pt x="127" y="89"/>
                    </a:lnTo>
                    <a:lnTo>
                      <a:pt x="121" y="100"/>
                    </a:lnTo>
                    <a:lnTo>
                      <a:pt x="114" y="111"/>
                    </a:lnTo>
                    <a:lnTo>
                      <a:pt x="106" y="120"/>
                    </a:lnTo>
                    <a:lnTo>
                      <a:pt x="42" y="55"/>
                    </a:lnTo>
                    <a:lnTo>
                      <a:pt x="43" y="53"/>
                    </a:lnTo>
                    <a:lnTo>
                      <a:pt x="44" y="51"/>
                    </a:lnTo>
                    <a:lnTo>
                      <a:pt x="45" y="48"/>
                    </a:lnTo>
                    <a:lnTo>
                      <a:pt x="46" y="46"/>
                    </a:lnTo>
                    <a:lnTo>
                      <a:pt x="19" y="33"/>
                    </a:lnTo>
                    <a:lnTo>
                      <a:pt x="16" y="37"/>
                    </a:lnTo>
                    <a:lnTo>
                      <a:pt x="15" y="40"/>
                    </a:lnTo>
                    <a:lnTo>
                      <a:pt x="13" y="44"/>
                    </a:lnTo>
                    <a:lnTo>
                      <a:pt x="11" y="46"/>
                    </a:lnTo>
                    <a:lnTo>
                      <a:pt x="0" y="56"/>
                    </a:lnTo>
                    <a:lnTo>
                      <a:pt x="11" y="67"/>
                    </a:lnTo>
                    <a:lnTo>
                      <a:pt x="96" y="152"/>
                    </a:lnTo>
                    <a:lnTo>
                      <a:pt x="107" y="164"/>
                    </a:lnTo>
                    <a:lnTo>
                      <a:pt x="118" y="152"/>
                    </a:lnTo>
                    <a:lnTo>
                      <a:pt x="130" y="138"/>
                    </a:lnTo>
                    <a:lnTo>
                      <a:pt x="142" y="122"/>
                    </a:lnTo>
                    <a:lnTo>
                      <a:pt x="152" y="106"/>
                    </a:lnTo>
                    <a:lnTo>
                      <a:pt x="160" y="89"/>
                    </a:lnTo>
                    <a:lnTo>
                      <a:pt x="167" y="71"/>
                    </a:lnTo>
                    <a:lnTo>
                      <a:pt x="172" y="53"/>
                    </a:lnTo>
                    <a:lnTo>
                      <a:pt x="174" y="35"/>
                    </a:lnTo>
                    <a:lnTo>
                      <a:pt x="175" y="15"/>
                    </a:lnTo>
                    <a:lnTo>
                      <a:pt x="175" y="0"/>
                    </a:lnTo>
                    <a:close/>
                  </a:path>
                </a:pathLst>
              </a:custGeom>
              <a:solidFill>
                <a:srgbClr val="000000"/>
              </a:solidFill>
              <a:ln w="9525">
                <a:noFill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79" name="Freeform 17"/>
              <p:cNvSpPr>
                <a:spLocks/>
              </p:cNvSpPr>
              <p:nvPr/>
            </p:nvSpPr>
            <p:spPr bwMode="auto">
              <a:xfrm>
                <a:off x="9634538" y="3063875"/>
                <a:ext cx="130175" cy="138113"/>
              </a:xfrm>
              <a:custGeom>
                <a:avLst/>
                <a:gdLst/>
                <a:ahLst/>
                <a:cxnLst>
                  <a:cxn ang="0">
                    <a:pos x="163" y="24"/>
                  </a:cxn>
                  <a:cxn ang="0">
                    <a:pos x="148" y="24"/>
                  </a:cxn>
                  <a:cxn ang="0">
                    <a:pos x="140" y="23"/>
                  </a:cxn>
                  <a:cxn ang="0">
                    <a:pos x="132" y="20"/>
                  </a:cxn>
                  <a:cxn ang="0">
                    <a:pos x="124" y="17"/>
                  </a:cxn>
                  <a:cxn ang="0">
                    <a:pos x="117" y="11"/>
                  </a:cxn>
                  <a:cxn ang="0">
                    <a:pos x="107" y="0"/>
                  </a:cxn>
                  <a:cxn ang="0">
                    <a:pos x="97" y="11"/>
                  </a:cxn>
                  <a:cxn ang="0">
                    <a:pos x="11" y="96"/>
                  </a:cxn>
                  <a:cxn ang="0">
                    <a:pos x="0" y="107"/>
                  </a:cxn>
                  <a:cxn ang="0">
                    <a:pos x="11" y="117"/>
                  </a:cxn>
                  <a:cxn ang="0">
                    <a:pos x="25" y="130"/>
                  </a:cxn>
                  <a:cxn ang="0">
                    <a:pos x="41" y="141"/>
                  </a:cxn>
                  <a:cxn ang="0">
                    <a:pos x="57" y="152"/>
                  </a:cxn>
                  <a:cxn ang="0">
                    <a:pos x="75" y="160"/>
                  </a:cxn>
                  <a:cxn ang="0">
                    <a:pos x="92" y="167"/>
                  </a:cxn>
                  <a:cxn ang="0">
                    <a:pos x="110" y="171"/>
                  </a:cxn>
                  <a:cxn ang="0">
                    <a:pos x="129" y="174"/>
                  </a:cxn>
                  <a:cxn ang="0">
                    <a:pos x="148" y="175"/>
                  </a:cxn>
                  <a:cxn ang="0">
                    <a:pos x="163" y="175"/>
                  </a:cxn>
                  <a:cxn ang="0">
                    <a:pos x="163" y="160"/>
                  </a:cxn>
                  <a:cxn ang="0">
                    <a:pos x="163" y="86"/>
                  </a:cxn>
                  <a:cxn ang="0">
                    <a:pos x="133" y="88"/>
                  </a:cxn>
                  <a:cxn ang="0">
                    <a:pos x="133" y="144"/>
                  </a:cxn>
                  <a:cxn ang="0">
                    <a:pos x="121" y="142"/>
                  </a:cxn>
                  <a:cxn ang="0">
                    <a:pos x="109" y="139"/>
                  </a:cxn>
                  <a:cxn ang="0">
                    <a:pos x="97" y="136"/>
                  </a:cxn>
                  <a:cxn ang="0">
                    <a:pos x="85" y="132"/>
                  </a:cxn>
                  <a:cxn ang="0">
                    <a:pos x="75" y="126"/>
                  </a:cxn>
                  <a:cxn ang="0">
                    <a:pos x="63" y="121"/>
                  </a:cxn>
                  <a:cxn ang="0">
                    <a:pos x="53" y="114"/>
                  </a:cxn>
                  <a:cxn ang="0">
                    <a:pos x="44" y="107"/>
                  </a:cxn>
                  <a:cxn ang="0">
                    <a:pos x="108" y="42"/>
                  </a:cxn>
                  <a:cxn ang="0">
                    <a:pos x="114" y="46"/>
                  </a:cxn>
                  <a:cxn ang="0">
                    <a:pos x="121" y="48"/>
                  </a:cxn>
                  <a:cxn ang="0">
                    <a:pos x="127" y="50"/>
                  </a:cxn>
                  <a:cxn ang="0">
                    <a:pos x="133" y="53"/>
                  </a:cxn>
                  <a:cxn ang="0">
                    <a:pos x="133" y="88"/>
                  </a:cxn>
                  <a:cxn ang="0">
                    <a:pos x="163" y="86"/>
                  </a:cxn>
                  <a:cxn ang="0">
                    <a:pos x="163" y="39"/>
                  </a:cxn>
                  <a:cxn ang="0">
                    <a:pos x="163" y="24"/>
                  </a:cxn>
                </a:cxnLst>
                <a:rect l="0" t="0" r="r" b="b"/>
                <a:pathLst>
                  <a:path w="163" h="175">
                    <a:moveTo>
                      <a:pt x="163" y="24"/>
                    </a:moveTo>
                    <a:lnTo>
                      <a:pt x="148" y="24"/>
                    </a:lnTo>
                    <a:lnTo>
                      <a:pt x="140" y="23"/>
                    </a:lnTo>
                    <a:lnTo>
                      <a:pt x="132" y="20"/>
                    </a:lnTo>
                    <a:lnTo>
                      <a:pt x="124" y="17"/>
                    </a:lnTo>
                    <a:lnTo>
                      <a:pt x="117" y="11"/>
                    </a:lnTo>
                    <a:lnTo>
                      <a:pt x="107" y="0"/>
                    </a:lnTo>
                    <a:lnTo>
                      <a:pt x="97" y="11"/>
                    </a:lnTo>
                    <a:lnTo>
                      <a:pt x="11" y="96"/>
                    </a:lnTo>
                    <a:lnTo>
                      <a:pt x="0" y="107"/>
                    </a:lnTo>
                    <a:lnTo>
                      <a:pt x="11" y="117"/>
                    </a:lnTo>
                    <a:lnTo>
                      <a:pt x="25" y="130"/>
                    </a:lnTo>
                    <a:lnTo>
                      <a:pt x="41" y="141"/>
                    </a:lnTo>
                    <a:lnTo>
                      <a:pt x="57" y="152"/>
                    </a:lnTo>
                    <a:lnTo>
                      <a:pt x="75" y="160"/>
                    </a:lnTo>
                    <a:lnTo>
                      <a:pt x="92" y="167"/>
                    </a:lnTo>
                    <a:lnTo>
                      <a:pt x="110" y="171"/>
                    </a:lnTo>
                    <a:lnTo>
                      <a:pt x="129" y="174"/>
                    </a:lnTo>
                    <a:lnTo>
                      <a:pt x="148" y="175"/>
                    </a:lnTo>
                    <a:lnTo>
                      <a:pt x="163" y="175"/>
                    </a:lnTo>
                    <a:lnTo>
                      <a:pt x="163" y="160"/>
                    </a:lnTo>
                    <a:lnTo>
                      <a:pt x="163" y="86"/>
                    </a:lnTo>
                    <a:lnTo>
                      <a:pt x="133" y="88"/>
                    </a:lnTo>
                    <a:lnTo>
                      <a:pt x="133" y="144"/>
                    </a:lnTo>
                    <a:lnTo>
                      <a:pt x="121" y="142"/>
                    </a:lnTo>
                    <a:lnTo>
                      <a:pt x="109" y="139"/>
                    </a:lnTo>
                    <a:lnTo>
                      <a:pt x="97" y="136"/>
                    </a:lnTo>
                    <a:lnTo>
                      <a:pt x="85" y="132"/>
                    </a:lnTo>
                    <a:lnTo>
                      <a:pt x="75" y="126"/>
                    </a:lnTo>
                    <a:lnTo>
                      <a:pt x="63" y="121"/>
                    </a:lnTo>
                    <a:lnTo>
                      <a:pt x="53" y="114"/>
                    </a:lnTo>
                    <a:lnTo>
                      <a:pt x="44" y="107"/>
                    </a:lnTo>
                    <a:lnTo>
                      <a:pt x="108" y="42"/>
                    </a:lnTo>
                    <a:lnTo>
                      <a:pt x="114" y="46"/>
                    </a:lnTo>
                    <a:lnTo>
                      <a:pt x="121" y="48"/>
                    </a:lnTo>
                    <a:lnTo>
                      <a:pt x="127" y="50"/>
                    </a:lnTo>
                    <a:lnTo>
                      <a:pt x="133" y="53"/>
                    </a:lnTo>
                    <a:lnTo>
                      <a:pt x="133" y="88"/>
                    </a:lnTo>
                    <a:lnTo>
                      <a:pt x="163" y="86"/>
                    </a:lnTo>
                    <a:lnTo>
                      <a:pt x="163" y="39"/>
                    </a:lnTo>
                    <a:lnTo>
                      <a:pt x="163" y="24"/>
                    </a:lnTo>
                    <a:close/>
                  </a:path>
                </a:pathLst>
              </a:custGeom>
              <a:solidFill>
                <a:srgbClr val="000000"/>
              </a:solidFill>
              <a:ln w="9525">
                <a:noFill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</p:grpSp>
        <p:grpSp>
          <p:nvGrpSpPr>
            <p:cNvPr id="80" name="Group 79"/>
            <p:cNvGrpSpPr/>
            <p:nvPr/>
          </p:nvGrpSpPr>
          <p:grpSpPr>
            <a:xfrm>
              <a:off x="3581400" y="4114800"/>
              <a:ext cx="381000" cy="381000"/>
              <a:chOff x="9378950" y="2674938"/>
              <a:chExt cx="746125" cy="746125"/>
            </a:xfrm>
          </p:grpSpPr>
          <p:sp>
            <p:nvSpPr>
              <p:cNvPr id="81" name="Oval 80"/>
              <p:cNvSpPr/>
              <p:nvPr/>
            </p:nvSpPr>
            <p:spPr>
              <a:xfrm>
                <a:off x="9525000" y="2819400"/>
                <a:ext cx="457200" cy="457200"/>
              </a:xfrm>
              <a:prstGeom prst="ellipse">
                <a:avLst/>
              </a:prstGeom>
              <a:solidFill>
                <a:schemeClr val="bg1">
                  <a:lumMod val="8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82" name="Freeform 12"/>
              <p:cNvSpPr>
                <a:spLocks/>
              </p:cNvSpPr>
              <p:nvPr/>
            </p:nvSpPr>
            <p:spPr bwMode="auto">
              <a:xfrm>
                <a:off x="9378950" y="2674938"/>
                <a:ext cx="746125" cy="746125"/>
              </a:xfrm>
              <a:custGeom>
                <a:avLst/>
                <a:gdLst/>
                <a:ahLst/>
                <a:cxnLst>
                  <a:cxn ang="0">
                    <a:pos x="930" y="378"/>
                  </a:cxn>
                  <a:cxn ang="0">
                    <a:pos x="884" y="249"/>
                  </a:cxn>
                  <a:cxn ang="0">
                    <a:pos x="802" y="137"/>
                  </a:cxn>
                  <a:cxn ang="0">
                    <a:pos x="749" y="91"/>
                  </a:cxn>
                  <a:cxn ang="0">
                    <a:pos x="690" y="55"/>
                  </a:cxn>
                  <a:cxn ang="0">
                    <a:pos x="628" y="28"/>
                  </a:cxn>
                  <a:cxn ang="0">
                    <a:pos x="562" y="9"/>
                  </a:cxn>
                  <a:cxn ang="0">
                    <a:pos x="492" y="0"/>
                  </a:cxn>
                  <a:cxn ang="0">
                    <a:pos x="375" y="9"/>
                  </a:cxn>
                  <a:cxn ang="0">
                    <a:pos x="246" y="56"/>
                  </a:cxn>
                  <a:cxn ang="0">
                    <a:pos x="138" y="138"/>
                  </a:cxn>
                  <a:cxn ang="0">
                    <a:pos x="56" y="247"/>
                  </a:cxn>
                  <a:cxn ang="0">
                    <a:pos x="9" y="376"/>
                  </a:cxn>
                  <a:cxn ang="0">
                    <a:pos x="2" y="517"/>
                  </a:cxn>
                  <a:cxn ang="0">
                    <a:pos x="35" y="650"/>
                  </a:cxn>
                  <a:cxn ang="0">
                    <a:pos x="107" y="767"/>
                  </a:cxn>
                  <a:cxn ang="0">
                    <a:pos x="172" y="833"/>
                  </a:cxn>
                  <a:cxn ang="0">
                    <a:pos x="229" y="873"/>
                  </a:cxn>
                  <a:cxn ang="0">
                    <a:pos x="290" y="904"/>
                  </a:cxn>
                  <a:cxn ang="0">
                    <a:pos x="354" y="926"/>
                  </a:cxn>
                  <a:cxn ang="0">
                    <a:pos x="422" y="938"/>
                  </a:cxn>
                  <a:cxn ang="0">
                    <a:pos x="490" y="940"/>
                  </a:cxn>
                  <a:cxn ang="0">
                    <a:pos x="552" y="933"/>
                  </a:cxn>
                  <a:cxn ang="0">
                    <a:pos x="611" y="918"/>
                  </a:cxn>
                  <a:cxn ang="0">
                    <a:pos x="669" y="896"/>
                  </a:cxn>
                  <a:cxn ang="0">
                    <a:pos x="722" y="866"/>
                  </a:cxn>
                  <a:cxn ang="0">
                    <a:pos x="771" y="829"/>
                  </a:cxn>
                  <a:cxn ang="0">
                    <a:pos x="556" y="680"/>
                  </a:cxn>
                  <a:cxn ang="0">
                    <a:pos x="513" y="692"/>
                  </a:cxn>
                  <a:cxn ang="0">
                    <a:pos x="469" y="697"/>
                  </a:cxn>
                  <a:cxn ang="0">
                    <a:pos x="404" y="687"/>
                  </a:cxn>
                  <a:cxn ang="0">
                    <a:pos x="344" y="659"/>
                  </a:cxn>
                  <a:cxn ang="0">
                    <a:pos x="294" y="614"/>
                  </a:cxn>
                  <a:cxn ang="0">
                    <a:pos x="260" y="556"/>
                  </a:cxn>
                  <a:cxn ang="0">
                    <a:pos x="244" y="492"/>
                  </a:cxn>
                  <a:cxn ang="0">
                    <a:pos x="247" y="425"/>
                  </a:cxn>
                  <a:cxn ang="0">
                    <a:pos x="269" y="363"/>
                  </a:cxn>
                  <a:cxn ang="0">
                    <a:pos x="309" y="309"/>
                  </a:cxn>
                  <a:cxn ang="0">
                    <a:pos x="364" y="270"/>
                  </a:cxn>
                  <a:cxn ang="0">
                    <a:pos x="426" y="248"/>
                  </a:cxn>
                  <a:cxn ang="0">
                    <a:pos x="492" y="244"/>
                  </a:cxn>
                  <a:cxn ang="0">
                    <a:pos x="557" y="260"/>
                  </a:cxn>
                  <a:cxn ang="0">
                    <a:pos x="613" y="294"/>
                  </a:cxn>
                  <a:cxn ang="0">
                    <a:pos x="659" y="343"/>
                  </a:cxn>
                  <a:cxn ang="0">
                    <a:pos x="687" y="403"/>
                  </a:cxn>
                  <a:cxn ang="0">
                    <a:pos x="696" y="470"/>
                  </a:cxn>
                  <a:cxn ang="0">
                    <a:pos x="678" y="559"/>
                  </a:cxn>
                  <a:cxn ang="0">
                    <a:pos x="628" y="632"/>
                  </a:cxn>
                  <a:cxn ang="0">
                    <a:pos x="771" y="829"/>
                  </a:cxn>
                  <a:cxn ang="0">
                    <a:pos x="794" y="810"/>
                  </a:cxn>
                  <a:cxn ang="0">
                    <a:pos x="861" y="730"/>
                  </a:cxn>
                  <a:cxn ang="0">
                    <a:pos x="920" y="607"/>
                  </a:cxn>
                  <a:cxn ang="0">
                    <a:pos x="939" y="470"/>
                  </a:cxn>
                </a:cxnLst>
                <a:rect l="0" t="0" r="r" b="b"/>
                <a:pathLst>
                  <a:path w="939" h="940">
                    <a:moveTo>
                      <a:pt x="939" y="470"/>
                    </a:moveTo>
                    <a:lnTo>
                      <a:pt x="937" y="423"/>
                    </a:lnTo>
                    <a:lnTo>
                      <a:pt x="930" y="378"/>
                    </a:lnTo>
                    <a:lnTo>
                      <a:pt x="920" y="333"/>
                    </a:lnTo>
                    <a:lnTo>
                      <a:pt x="903" y="289"/>
                    </a:lnTo>
                    <a:lnTo>
                      <a:pt x="884" y="249"/>
                    </a:lnTo>
                    <a:lnTo>
                      <a:pt x="861" y="208"/>
                    </a:lnTo>
                    <a:lnTo>
                      <a:pt x="833" y="172"/>
                    </a:lnTo>
                    <a:lnTo>
                      <a:pt x="802" y="137"/>
                    </a:lnTo>
                    <a:lnTo>
                      <a:pt x="785" y="121"/>
                    </a:lnTo>
                    <a:lnTo>
                      <a:pt x="768" y="106"/>
                    </a:lnTo>
                    <a:lnTo>
                      <a:pt x="749" y="91"/>
                    </a:lnTo>
                    <a:lnTo>
                      <a:pt x="731" y="78"/>
                    </a:lnTo>
                    <a:lnTo>
                      <a:pt x="711" y="66"/>
                    </a:lnTo>
                    <a:lnTo>
                      <a:pt x="690" y="55"/>
                    </a:lnTo>
                    <a:lnTo>
                      <a:pt x="671" y="45"/>
                    </a:lnTo>
                    <a:lnTo>
                      <a:pt x="650" y="36"/>
                    </a:lnTo>
                    <a:lnTo>
                      <a:pt x="628" y="28"/>
                    </a:lnTo>
                    <a:lnTo>
                      <a:pt x="606" y="20"/>
                    </a:lnTo>
                    <a:lnTo>
                      <a:pt x="585" y="14"/>
                    </a:lnTo>
                    <a:lnTo>
                      <a:pt x="562" y="9"/>
                    </a:lnTo>
                    <a:lnTo>
                      <a:pt x="540" y="5"/>
                    </a:lnTo>
                    <a:lnTo>
                      <a:pt x="517" y="2"/>
                    </a:lnTo>
                    <a:lnTo>
                      <a:pt x="492" y="0"/>
                    </a:lnTo>
                    <a:lnTo>
                      <a:pt x="469" y="0"/>
                    </a:lnTo>
                    <a:lnTo>
                      <a:pt x="421" y="2"/>
                    </a:lnTo>
                    <a:lnTo>
                      <a:pt x="375" y="9"/>
                    </a:lnTo>
                    <a:lnTo>
                      <a:pt x="330" y="21"/>
                    </a:lnTo>
                    <a:lnTo>
                      <a:pt x="286" y="37"/>
                    </a:lnTo>
                    <a:lnTo>
                      <a:pt x="246" y="56"/>
                    </a:lnTo>
                    <a:lnTo>
                      <a:pt x="207" y="81"/>
                    </a:lnTo>
                    <a:lnTo>
                      <a:pt x="171" y="107"/>
                    </a:lnTo>
                    <a:lnTo>
                      <a:pt x="138" y="138"/>
                    </a:lnTo>
                    <a:lnTo>
                      <a:pt x="107" y="172"/>
                    </a:lnTo>
                    <a:lnTo>
                      <a:pt x="80" y="207"/>
                    </a:lnTo>
                    <a:lnTo>
                      <a:pt x="56" y="247"/>
                    </a:lnTo>
                    <a:lnTo>
                      <a:pt x="37" y="287"/>
                    </a:lnTo>
                    <a:lnTo>
                      <a:pt x="20" y="331"/>
                    </a:lnTo>
                    <a:lnTo>
                      <a:pt x="9" y="376"/>
                    </a:lnTo>
                    <a:lnTo>
                      <a:pt x="2" y="422"/>
                    </a:lnTo>
                    <a:lnTo>
                      <a:pt x="0" y="470"/>
                    </a:lnTo>
                    <a:lnTo>
                      <a:pt x="2" y="517"/>
                    </a:lnTo>
                    <a:lnTo>
                      <a:pt x="9" y="562"/>
                    </a:lnTo>
                    <a:lnTo>
                      <a:pt x="20" y="607"/>
                    </a:lnTo>
                    <a:lnTo>
                      <a:pt x="35" y="650"/>
                    </a:lnTo>
                    <a:lnTo>
                      <a:pt x="55" y="691"/>
                    </a:lnTo>
                    <a:lnTo>
                      <a:pt x="79" y="730"/>
                    </a:lnTo>
                    <a:lnTo>
                      <a:pt x="107" y="767"/>
                    </a:lnTo>
                    <a:lnTo>
                      <a:pt x="138" y="802"/>
                    </a:lnTo>
                    <a:lnTo>
                      <a:pt x="155" y="818"/>
                    </a:lnTo>
                    <a:lnTo>
                      <a:pt x="172" y="833"/>
                    </a:lnTo>
                    <a:lnTo>
                      <a:pt x="191" y="848"/>
                    </a:lnTo>
                    <a:lnTo>
                      <a:pt x="209" y="861"/>
                    </a:lnTo>
                    <a:lnTo>
                      <a:pt x="229" y="873"/>
                    </a:lnTo>
                    <a:lnTo>
                      <a:pt x="248" y="885"/>
                    </a:lnTo>
                    <a:lnTo>
                      <a:pt x="269" y="895"/>
                    </a:lnTo>
                    <a:lnTo>
                      <a:pt x="290" y="904"/>
                    </a:lnTo>
                    <a:lnTo>
                      <a:pt x="311" y="912"/>
                    </a:lnTo>
                    <a:lnTo>
                      <a:pt x="332" y="919"/>
                    </a:lnTo>
                    <a:lnTo>
                      <a:pt x="354" y="926"/>
                    </a:lnTo>
                    <a:lnTo>
                      <a:pt x="377" y="931"/>
                    </a:lnTo>
                    <a:lnTo>
                      <a:pt x="400" y="935"/>
                    </a:lnTo>
                    <a:lnTo>
                      <a:pt x="422" y="938"/>
                    </a:lnTo>
                    <a:lnTo>
                      <a:pt x="446" y="939"/>
                    </a:lnTo>
                    <a:lnTo>
                      <a:pt x="469" y="940"/>
                    </a:lnTo>
                    <a:lnTo>
                      <a:pt x="490" y="940"/>
                    </a:lnTo>
                    <a:lnTo>
                      <a:pt x="511" y="938"/>
                    </a:lnTo>
                    <a:lnTo>
                      <a:pt x="532" y="935"/>
                    </a:lnTo>
                    <a:lnTo>
                      <a:pt x="552" y="933"/>
                    </a:lnTo>
                    <a:lnTo>
                      <a:pt x="572" y="928"/>
                    </a:lnTo>
                    <a:lnTo>
                      <a:pt x="591" y="924"/>
                    </a:lnTo>
                    <a:lnTo>
                      <a:pt x="611" y="918"/>
                    </a:lnTo>
                    <a:lnTo>
                      <a:pt x="631" y="911"/>
                    </a:lnTo>
                    <a:lnTo>
                      <a:pt x="649" y="904"/>
                    </a:lnTo>
                    <a:lnTo>
                      <a:pt x="669" y="896"/>
                    </a:lnTo>
                    <a:lnTo>
                      <a:pt x="686" y="887"/>
                    </a:lnTo>
                    <a:lnTo>
                      <a:pt x="704" y="877"/>
                    </a:lnTo>
                    <a:lnTo>
                      <a:pt x="722" y="866"/>
                    </a:lnTo>
                    <a:lnTo>
                      <a:pt x="739" y="855"/>
                    </a:lnTo>
                    <a:lnTo>
                      <a:pt x="755" y="842"/>
                    </a:lnTo>
                    <a:lnTo>
                      <a:pt x="771" y="829"/>
                    </a:lnTo>
                    <a:lnTo>
                      <a:pt x="581" y="667"/>
                    </a:lnTo>
                    <a:lnTo>
                      <a:pt x="568" y="674"/>
                    </a:lnTo>
                    <a:lnTo>
                      <a:pt x="556" y="680"/>
                    </a:lnTo>
                    <a:lnTo>
                      <a:pt x="542" y="685"/>
                    </a:lnTo>
                    <a:lnTo>
                      <a:pt x="528" y="689"/>
                    </a:lnTo>
                    <a:lnTo>
                      <a:pt x="513" y="692"/>
                    </a:lnTo>
                    <a:lnTo>
                      <a:pt x="499" y="695"/>
                    </a:lnTo>
                    <a:lnTo>
                      <a:pt x="484" y="697"/>
                    </a:lnTo>
                    <a:lnTo>
                      <a:pt x="469" y="697"/>
                    </a:lnTo>
                    <a:lnTo>
                      <a:pt x="448" y="696"/>
                    </a:lnTo>
                    <a:lnTo>
                      <a:pt x="426" y="692"/>
                    </a:lnTo>
                    <a:lnTo>
                      <a:pt x="404" y="687"/>
                    </a:lnTo>
                    <a:lnTo>
                      <a:pt x="383" y="680"/>
                    </a:lnTo>
                    <a:lnTo>
                      <a:pt x="364" y="670"/>
                    </a:lnTo>
                    <a:lnTo>
                      <a:pt x="344" y="659"/>
                    </a:lnTo>
                    <a:lnTo>
                      <a:pt x="326" y="645"/>
                    </a:lnTo>
                    <a:lnTo>
                      <a:pt x="309" y="630"/>
                    </a:lnTo>
                    <a:lnTo>
                      <a:pt x="294" y="614"/>
                    </a:lnTo>
                    <a:lnTo>
                      <a:pt x="281" y="596"/>
                    </a:lnTo>
                    <a:lnTo>
                      <a:pt x="269" y="576"/>
                    </a:lnTo>
                    <a:lnTo>
                      <a:pt x="260" y="556"/>
                    </a:lnTo>
                    <a:lnTo>
                      <a:pt x="253" y="536"/>
                    </a:lnTo>
                    <a:lnTo>
                      <a:pt x="247" y="514"/>
                    </a:lnTo>
                    <a:lnTo>
                      <a:pt x="244" y="492"/>
                    </a:lnTo>
                    <a:lnTo>
                      <a:pt x="243" y="470"/>
                    </a:lnTo>
                    <a:lnTo>
                      <a:pt x="244" y="447"/>
                    </a:lnTo>
                    <a:lnTo>
                      <a:pt x="247" y="425"/>
                    </a:lnTo>
                    <a:lnTo>
                      <a:pt x="253" y="403"/>
                    </a:lnTo>
                    <a:lnTo>
                      <a:pt x="260" y="382"/>
                    </a:lnTo>
                    <a:lnTo>
                      <a:pt x="269" y="363"/>
                    </a:lnTo>
                    <a:lnTo>
                      <a:pt x="281" y="343"/>
                    </a:lnTo>
                    <a:lnTo>
                      <a:pt x="294" y="326"/>
                    </a:lnTo>
                    <a:lnTo>
                      <a:pt x="309" y="309"/>
                    </a:lnTo>
                    <a:lnTo>
                      <a:pt x="326" y="294"/>
                    </a:lnTo>
                    <a:lnTo>
                      <a:pt x="344" y="280"/>
                    </a:lnTo>
                    <a:lnTo>
                      <a:pt x="364" y="270"/>
                    </a:lnTo>
                    <a:lnTo>
                      <a:pt x="383" y="260"/>
                    </a:lnTo>
                    <a:lnTo>
                      <a:pt x="404" y="252"/>
                    </a:lnTo>
                    <a:lnTo>
                      <a:pt x="426" y="248"/>
                    </a:lnTo>
                    <a:lnTo>
                      <a:pt x="448" y="244"/>
                    </a:lnTo>
                    <a:lnTo>
                      <a:pt x="469" y="243"/>
                    </a:lnTo>
                    <a:lnTo>
                      <a:pt x="492" y="244"/>
                    </a:lnTo>
                    <a:lnTo>
                      <a:pt x="514" y="248"/>
                    </a:lnTo>
                    <a:lnTo>
                      <a:pt x="536" y="252"/>
                    </a:lnTo>
                    <a:lnTo>
                      <a:pt x="557" y="260"/>
                    </a:lnTo>
                    <a:lnTo>
                      <a:pt x="576" y="270"/>
                    </a:lnTo>
                    <a:lnTo>
                      <a:pt x="596" y="280"/>
                    </a:lnTo>
                    <a:lnTo>
                      <a:pt x="613" y="294"/>
                    </a:lnTo>
                    <a:lnTo>
                      <a:pt x="631" y="309"/>
                    </a:lnTo>
                    <a:lnTo>
                      <a:pt x="646" y="326"/>
                    </a:lnTo>
                    <a:lnTo>
                      <a:pt x="659" y="343"/>
                    </a:lnTo>
                    <a:lnTo>
                      <a:pt x="670" y="363"/>
                    </a:lnTo>
                    <a:lnTo>
                      <a:pt x="679" y="382"/>
                    </a:lnTo>
                    <a:lnTo>
                      <a:pt x="687" y="403"/>
                    </a:lnTo>
                    <a:lnTo>
                      <a:pt x="692" y="425"/>
                    </a:lnTo>
                    <a:lnTo>
                      <a:pt x="695" y="447"/>
                    </a:lnTo>
                    <a:lnTo>
                      <a:pt x="696" y="470"/>
                    </a:lnTo>
                    <a:lnTo>
                      <a:pt x="694" y="501"/>
                    </a:lnTo>
                    <a:lnTo>
                      <a:pt x="688" y="531"/>
                    </a:lnTo>
                    <a:lnTo>
                      <a:pt x="678" y="559"/>
                    </a:lnTo>
                    <a:lnTo>
                      <a:pt x="665" y="585"/>
                    </a:lnTo>
                    <a:lnTo>
                      <a:pt x="648" y="611"/>
                    </a:lnTo>
                    <a:lnTo>
                      <a:pt x="628" y="632"/>
                    </a:lnTo>
                    <a:lnTo>
                      <a:pt x="606" y="651"/>
                    </a:lnTo>
                    <a:lnTo>
                      <a:pt x="581" y="667"/>
                    </a:lnTo>
                    <a:lnTo>
                      <a:pt x="771" y="829"/>
                    </a:lnTo>
                    <a:lnTo>
                      <a:pt x="779" y="824"/>
                    </a:lnTo>
                    <a:lnTo>
                      <a:pt x="787" y="817"/>
                    </a:lnTo>
                    <a:lnTo>
                      <a:pt x="794" y="810"/>
                    </a:lnTo>
                    <a:lnTo>
                      <a:pt x="802" y="802"/>
                    </a:lnTo>
                    <a:lnTo>
                      <a:pt x="833" y="767"/>
                    </a:lnTo>
                    <a:lnTo>
                      <a:pt x="861" y="730"/>
                    </a:lnTo>
                    <a:lnTo>
                      <a:pt x="884" y="691"/>
                    </a:lnTo>
                    <a:lnTo>
                      <a:pt x="903" y="650"/>
                    </a:lnTo>
                    <a:lnTo>
                      <a:pt x="920" y="607"/>
                    </a:lnTo>
                    <a:lnTo>
                      <a:pt x="930" y="562"/>
                    </a:lnTo>
                    <a:lnTo>
                      <a:pt x="937" y="517"/>
                    </a:lnTo>
                    <a:lnTo>
                      <a:pt x="939" y="470"/>
                    </a:lnTo>
                    <a:close/>
                  </a:path>
                </a:pathLst>
              </a:custGeom>
              <a:solidFill>
                <a:srgbClr val="000000"/>
              </a:solidFill>
              <a:ln w="9525">
                <a:noFill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83" name="Freeform 13"/>
              <p:cNvSpPr>
                <a:spLocks/>
              </p:cNvSpPr>
              <p:nvPr/>
            </p:nvSpPr>
            <p:spPr bwMode="auto">
              <a:xfrm>
                <a:off x="9598025" y="2930525"/>
                <a:ext cx="138113" cy="128588"/>
              </a:xfrm>
              <a:custGeom>
                <a:avLst/>
                <a:gdLst/>
                <a:ahLst/>
                <a:cxnLst>
                  <a:cxn ang="0">
                    <a:pos x="151" y="164"/>
                  </a:cxn>
                  <a:cxn ang="0">
                    <a:pos x="151" y="149"/>
                  </a:cxn>
                  <a:cxn ang="0">
                    <a:pos x="152" y="141"/>
                  </a:cxn>
                  <a:cxn ang="0">
                    <a:pos x="154" y="132"/>
                  </a:cxn>
                  <a:cxn ang="0">
                    <a:pos x="158" y="125"/>
                  </a:cxn>
                  <a:cxn ang="0">
                    <a:pos x="163" y="118"/>
                  </a:cxn>
                  <a:cxn ang="0">
                    <a:pos x="175" y="108"/>
                  </a:cxn>
                  <a:cxn ang="0">
                    <a:pos x="163" y="96"/>
                  </a:cxn>
                  <a:cxn ang="0">
                    <a:pos x="114" y="46"/>
                  </a:cxn>
                  <a:cxn ang="0">
                    <a:pos x="99" y="74"/>
                  </a:cxn>
                  <a:cxn ang="0">
                    <a:pos x="132" y="109"/>
                  </a:cxn>
                  <a:cxn ang="0">
                    <a:pos x="129" y="114"/>
                  </a:cxn>
                  <a:cxn ang="0">
                    <a:pos x="127" y="120"/>
                  </a:cxn>
                  <a:cxn ang="0">
                    <a:pos x="124" y="127"/>
                  </a:cxn>
                  <a:cxn ang="0">
                    <a:pos x="122" y="134"/>
                  </a:cxn>
                  <a:cxn ang="0">
                    <a:pos x="31" y="134"/>
                  </a:cxn>
                  <a:cxn ang="0">
                    <a:pos x="32" y="121"/>
                  </a:cxn>
                  <a:cxn ang="0">
                    <a:pos x="36" y="110"/>
                  </a:cxn>
                  <a:cxn ang="0">
                    <a:pos x="39" y="97"/>
                  </a:cxn>
                  <a:cxn ang="0">
                    <a:pos x="42" y="86"/>
                  </a:cxn>
                  <a:cxn ang="0">
                    <a:pos x="48" y="74"/>
                  </a:cxn>
                  <a:cxn ang="0">
                    <a:pos x="54" y="64"/>
                  </a:cxn>
                  <a:cxn ang="0">
                    <a:pos x="61" y="53"/>
                  </a:cxn>
                  <a:cxn ang="0">
                    <a:pos x="68" y="43"/>
                  </a:cxn>
                  <a:cxn ang="0">
                    <a:pos x="99" y="74"/>
                  </a:cxn>
                  <a:cxn ang="0">
                    <a:pos x="114" y="46"/>
                  </a:cxn>
                  <a:cxn ang="0">
                    <a:pos x="78" y="11"/>
                  </a:cxn>
                  <a:cxn ang="0">
                    <a:pos x="68" y="0"/>
                  </a:cxn>
                  <a:cxn ang="0">
                    <a:pos x="57" y="11"/>
                  </a:cxn>
                  <a:cxn ang="0">
                    <a:pos x="45" y="25"/>
                  </a:cxn>
                  <a:cxn ang="0">
                    <a:pos x="33" y="41"/>
                  </a:cxn>
                  <a:cxn ang="0">
                    <a:pos x="23" y="57"/>
                  </a:cxn>
                  <a:cxn ang="0">
                    <a:pos x="15" y="74"/>
                  </a:cxn>
                  <a:cxn ang="0">
                    <a:pos x="8" y="93"/>
                  </a:cxn>
                  <a:cxn ang="0">
                    <a:pos x="3" y="111"/>
                  </a:cxn>
                  <a:cxn ang="0">
                    <a:pos x="1" y="129"/>
                  </a:cxn>
                  <a:cxn ang="0">
                    <a:pos x="0" y="149"/>
                  </a:cxn>
                  <a:cxn ang="0">
                    <a:pos x="0" y="164"/>
                  </a:cxn>
                  <a:cxn ang="0">
                    <a:pos x="15" y="164"/>
                  </a:cxn>
                  <a:cxn ang="0">
                    <a:pos x="136" y="164"/>
                  </a:cxn>
                  <a:cxn ang="0">
                    <a:pos x="151" y="164"/>
                  </a:cxn>
                </a:cxnLst>
                <a:rect l="0" t="0" r="r" b="b"/>
                <a:pathLst>
                  <a:path w="175" h="164">
                    <a:moveTo>
                      <a:pt x="151" y="164"/>
                    </a:moveTo>
                    <a:lnTo>
                      <a:pt x="151" y="149"/>
                    </a:lnTo>
                    <a:lnTo>
                      <a:pt x="152" y="141"/>
                    </a:lnTo>
                    <a:lnTo>
                      <a:pt x="154" y="132"/>
                    </a:lnTo>
                    <a:lnTo>
                      <a:pt x="158" y="125"/>
                    </a:lnTo>
                    <a:lnTo>
                      <a:pt x="163" y="118"/>
                    </a:lnTo>
                    <a:lnTo>
                      <a:pt x="175" y="108"/>
                    </a:lnTo>
                    <a:lnTo>
                      <a:pt x="163" y="96"/>
                    </a:lnTo>
                    <a:lnTo>
                      <a:pt x="114" y="46"/>
                    </a:lnTo>
                    <a:lnTo>
                      <a:pt x="99" y="74"/>
                    </a:lnTo>
                    <a:lnTo>
                      <a:pt x="132" y="109"/>
                    </a:lnTo>
                    <a:lnTo>
                      <a:pt x="129" y="114"/>
                    </a:lnTo>
                    <a:lnTo>
                      <a:pt x="127" y="120"/>
                    </a:lnTo>
                    <a:lnTo>
                      <a:pt x="124" y="127"/>
                    </a:lnTo>
                    <a:lnTo>
                      <a:pt x="122" y="134"/>
                    </a:lnTo>
                    <a:lnTo>
                      <a:pt x="31" y="134"/>
                    </a:lnTo>
                    <a:lnTo>
                      <a:pt x="32" y="121"/>
                    </a:lnTo>
                    <a:lnTo>
                      <a:pt x="36" y="110"/>
                    </a:lnTo>
                    <a:lnTo>
                      <a:pt x="39" y="97"/>
                    </a:lnTo>
                    <a:lnTo>
                      <a:pt x="42" y="86"/>
                    </a:lnTo>
                    <a:lnTo>
                      <a:pt x="48" y="74"/>
                    </a:lnTo>
                    <a:lnTo>
                      <a:pt x="54" y="64"/>
                    </a:lnTo>
                    <a:lnTo>
                      <a:pt x="61" y="53"/>
                    </a:lnTo>
                    <a:lnTo>
                      <a:pt x="68" y="43"/>
                    </a:lnTo>
                    <a:lnTo>
                      <a:pt x="99" y="74"/>
                    </a:lnTo>
                    <a:lnTo>
                      <a:pt x="114" y="46"/>
                    </a:lnTo>
                    <a:lnTo>
                      <a:pt x="78" y="11"/>
                    </a:lnTo>
                    <a:lnTo>
                      <a:pt x="68" y="0"/>
                    </a:lnTo>
                    <a:lnTo>
                      <a:pt x="57" y="11"/>
                    </a:lnTo>
                    <a:lnTo>
                      <a:pt x="45" y="25"/>
                    </a:lnTo>
                    <a:lnTo>
                      <a:pt x="33" y="41"/>
                    </a:lnTo>
                    <a:lnTo>
                      <a:pt x="23" y="57"/>
                    </a:lnTo>
                    <a:lnTo>
                      <a:pt x="15" y="74"/>
                    </a:lnTo>
                    <a:lnTo>
                      <a:pt x="8" y="93"/>
                    </a:lnTo>
                    <a:lnTo>
                      <a:pt x="3" y="111"/>
                    </a:lnTo>
                    <a:lnTo>
                      <a:pt x="1" y="129"/>
                    </a:lnTo>
                    <a:lnTo>
                      <a:pt x="0" y="149"/>
                    </a:lnTo>
                    <a:lnTo>
                      <a:pt x="0" y="164"/>
                    </a:lnTo>
                    <a:lnTo>
                      <a:pt x="15" y="164"/>
                    </a:lnTo>
                    <a:lnTo>
                      <a:pt x="136" y="164"/>
                    </a:lnTo>
                    <a:lnTo>
                      <a:pt x="151" y="164"/>
                    </a:lnTo>
                    <a:close/>
                  </a:path>
                </a:pathLst>
              </a:custGeom>
              <a:solidFill>
                <a:srgbClr val="000000"/>
              </a:solidFill>
              <a:ln w="9525">
                <a:noFill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84" name="Freeform 14"/>
              <p:cNvSpPr>
                <a:spLocks/>
              </p:cNvSpPr>
              <p:nvPr/>
            </p:nvSpPr>
            <p:spPr bwMode="auto">
              <a:xfrm>
                <a:off x="9740900" y="2892425"/>
                <a:ext cx="128588" cy="139700"/>
              </a:xfrm>
              <a:custGeom>
                <a:avLst/>
                <a:gdLst/>
                <a:ahLst/>
                <a:cxnLst>
                  <a:cxn ang="0">
                    <a:pos x="47" y="165"/>
                  </a:cxn>
                  <a:cxn ang="0">
                    <a:pos x="57" y="175"/>
                  </a:cxn>
                  <a:cxn ang="0">
                    <a:pos x="68" y="165"/>
                  </a:cxn>
                  <a:cxn ang="0">
                    <a:pos x="89" y="143"/>
                  </a:cxn>
                  <a:cxn ang="0">
                    <a:pos x="78" y="112"/>
                  </a:cxn>
                  <a:cxn ang="0">
                    <a:pos x="56" y="134"/>
                  </a:cxn>
                  <a:cxn ang="0">
                    <a:pos x="50" y="130"/>
                  </a:cxn>
                  <a:cxn ang="0">
                    <a:pos x="44" y="127"/>
                  </a:cxn>
                  <a:cxn ang="0">
                    <a:pos x="37" y="125"/>
                  </a:cxn>
                  <a:cxn ang="0">
                    <a:pos x="30" y="123"/>
                  </a:cxn>
                  <a:cxn ang="0">
                    <a:pos x="30" y="31"/>
                  </a:cxn>
                  <a:cxn ang="0">
                    <a:pos x="43" y="32"/>
                  </a:cxn>
                  <a:cxn ang="0">
                    <a:pos x="55" y="36"/>
                  </a:cxn>
                  <a:cxn ang="0">
                    <a:pos x="67" y="39"/>
                  </a:cxn>
                  <a:cxn ang="0">
                    <a:pos x="79" y="43"/>
                  </a:cxn>
                  <a:cxn ang="0">
                    <a:pos x="90" y="49"/>
                  </a:cxn>
                  <a:cxn ang="0">
                    <a:pos x="101" y="54"/>
                  </a:cxn>
                  <a:cxn ang="0">
                    <a:pos x="111" y="61"/>
                  </a:cxn>
                  <a:cxn ang="0">
                    <a:pos x="121" y="69"/>
                  </a:cxn>
                  <a:cxn ang="0">
                    <a:pos x="78" y="112"/>
                  </a:cxn>
                  <a:cxn ang="0">
                    <a:pos x="89" y="143"/>
                  </a:cxn>
                  <a:cxn ang="0">
                    <a:pos x="154" y="80"/>
                  </a:cxn>
                  <a:cxn ang="0">
                    <a:pos x="164" y="68"/>
                  </a:cxn>
                  <a:cxn ang="0">
                    <a:pos x="154" y="58"/>
                  </a:cxn>
                  <a:cxn ang="0">
                    <a:pos x="140" y="45"/>
                  </a:cxn>
                  <a:cxn ang="0">
                    <a:pos x="124" y="34"/>
                  </a:cxn>
                  <a:cxn ang="0">
                    <a:pos x="108" y="23"/>
                  </a:cxn>
                  <a:cxn ang="0">
                    <a:pos x="90" y="15"/>
                  </a:cxn>
                  <a:cxn ang="0">
                    <a:pos x="72" y="8"/>
                  </a:cxn>
                  <a:cxn ang="0">
                    <a:pos x="53" y="4"/>
                  </a:cxn>
                  <a:cxn ang="0">
                    <a:pos x="35" y="1"/>
                  </a:cxn>
                  <a:cxn ang="0">
                    <a:pos x="15" y="0"/>
                  </a:cxn>
                  <a:cxn ang="0">
                    <a:pos x="0" y="0"/>
                  </a:cxn>
                  <a:cxn ang="0">
                    <a:pos x="0" y="16"/>
                  </a:cxn>
                  <a:cxn ang="0">
                    <a:pos x="0" y="137"/>
                  </a:cxn>
                  <a:cxn ang="0">
                    <a:pos x="0" y="152"/>
                  </a:cxn>
                  <a:cxn ang="0">
                    <a:pos x="15" y="152"/>
                  </a:cxn>
                  <a:cxn ang="0">
                    <a:pos x="23" y="153"/>
                  </a:cxn>
                  <a:cxn ang="0">
                    <a:pos x="33" y="156"/>
                  </a:cxn>
                  <a:cxn ang="0">
                    <a:pos x="40" y="159"/>
                  </a:cxn>
                  <a:cxn ang="0">
                    <a:pos x="47" y="165"/>
                  </a:cxn>
                </a:cxnLst>
                <a:rect l="0" t="0" r="r" b="b"/>
                <a:pathLst>
                  <a:path w="164" h="175">
                    <a:moveTo>
                      <a:pt x="47" y="165"/>
                    </a:moveTo>
                    <a:lnTo>
                      <a:pt x="57" y="175"/>
                    </a:lnTo>
                    <a:lnTo>
                      <a:pt x="68" y="165"/>
                    </a:lnTo>
                    <a:lnTo>
                      <a:pt x="89" y="143"/>
                    </a:lnTo>
                    <a:lnTo>
                      <a:pt x="78" y="112"/>
                    </a:lnTo>
                    <a:lnTo>
                      <a:pt x="56" y="134"/>
                    </a:lnTo>
                    <a:lnTo>
                      <a:pt x="50" y="130"/>
                    </a:lnTo>
                    <a:lnTo>
                      <a:pt x="44" y="127"/>
                    </a:lnTo>
                    <a:lnTo>
                      <a:pt x="37" y="125"/>
                    </a:lnTo>
                    <a:lnTo>
                      <a:pt x="30" y="123"/>
                    </a:lnTo>
                    <a:lnTo>
                      <a:pt x="30" y="31"/>
                    </a:lnTo>
                    <a:lnTo>
                      <a:pt x="43" y="32"/>
                    </a:lnTo>
                    <a:lnTo>
                      <a:pt x="55" y="36"/>
                    </a:lnTo>
                    <a:lnTo>
                      <a:pt x="67" y="39"/>
                    </a:lnTo>
                    <a:lnTo>
                      <a:pt x="79" y="43"/>
                    </a:lnTo>
                    <a:lnTo>
                      <a:pt x="90" y="49"/>
                    </a:lnTo>
                    <a:lnTo>
                      <a:pt x="101" y="54"/>
                    </a:lnTo>
                    <a:lnTo>
                      <a:pt x="111" y="61"/>
                    </a:lnTo>
                    <a:lnTo>
                      <a:pt x="121" y="69"/>
                    </a:lnTo>
                    <a:lnTo>
                      <a:pt x="78" y="112"/>
                    </a:lnTo>
                    <a:lnTo>
                      <a:pt x="89" y="143"/>
                    </a:lnTo>
                    <a:lnTo>
                      <a:pt x="154" y="80"/>
                    </a:lnTo>
                    <a:lnTo>
                      <a:pt x="164" y="68"/>
                    </a:lnTo>
                    <a:lnTo>
                      <a:pt x="154" y="58"/>
                    </a:lnTo>
                    <a:lnTo>
                      <a:pt x="140" y="45"/>
                    </a:lnTo>
                    <a:lnTo>
                      <a:pt x="124" y="34"/>
                    </a:lnTo>
                    <a:lnTo>
                      <a:pt x="108" y="23"/>
                    </a:lnTo>
                    <a:lnTo>
                      <a:pt x="90" y="15"/>
                    </a:lnTo>
                    <a:lnTo>
                      <a:pt x="72" y="8"/>
                    </a:lnTo>
                    <a:lnTo>
                      <a:pt x="53" y="4"/>
                    </a:lnTo>
                    <a:lnTo>
                      <a:pt x="35" y="1"/>
                    </a:lnTo>
                    <a:lnTo>
                      <a:pt x="15" y="0"/>
                    </a:lnTo>
                    <a:lnTo>
                      <a:pt x="0" y="0"/>
                    </a:lnTo>
                    <a:lnTo>
                      <a:pt x="0" y="16"/>
                    </a:lnTo>
                    <a:lnTo>
                      <a:pt x="0" y="137"/>
                    </a:lnTo>
                    <a:lnTo>
                      <a:pt x="0" y="152"/>
                    </a:lnTo>
                    <a:lnTo>
                      <a:pt x="15" y="152"/>
                    </a:lnTo>
                    <a:lnTo>
                      <a:pt x="23" y="153"/>
                    </a:lnTo>
                    <a:lnTo>
                      <a:pt x="33" y="156"/>
                    </a:lnTo>
                    <a:lnTo>
                      <a:pt x="40" y="159"/>
                    </a:lnTo>
                    <a:lnTo>
                      <a:pt x="47" y="165"/>
                    </a:lnTo>
                    <a:close/>
                  </a:path>
                </a:pathLst>
              </a:custGeom>
              <a:solidFill>
                <a:srgbClr val="000000"/>
              </a:solidFill>
              <a:ln w="9525">
                <a:noFill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85" name="Freeform 15"/>
              <p:cNvSpPr>
                <a:spLocks/>
              </p:cNvSpPr>
              <p:nvPr/>
            </p:nvSpPr>
            <p:spPr bwMode="auto">
              <a:xfrm>
                <a:off x="9783763" y="3036888"/>
                <a:ext cx="76200" cy="36513"/>
              </a:xfrm>
              <a:custGeom>
                <a:avLst/>
                <a:gdLst/>
                <a:ahLst/>
                <a:cxnLst>
                  <a:cxn ang="0">
                    <a:pos x="33" y="30"/>
                  </a:cxn>
                  <a:cxn ang="0">
                    <a:pos x="96" y="30"/>
                  </a:cxn>
                  <a:cxn ang="0">
                    <a:pos x="96" y="0"/>
                  </a:cxn>
                  <a:cxn ang="0">
                    <a:pos x="19" y="0"/>
                  </a:cxn>
                  <a:cxn ang="0">
                    <a:pos x="4" y="0"/>
                  </a:cxn>
                  <a:cxn ang="0">
                    <a:pos x="4" y="15"/>
                  </a:cxn>
                  <a:cxn ang="0">
                    <a:pos x="4" y="20"/>
                  </a:cxn>
                  <a:cxn ang="0">
                    <a:pos x="3" y="24"/>
                  </a:cxn>
                  <a:cxn ang="0">
                    <a:pos x="2" y="29"/>
                  </a:cxn>
                  <a:cxn ang="0">
                    <a:pos x="0" y="33"/>
                  </a:cxn>
                  <a:cxn ang="0">
                    <a:pos x="27" y="46"/>
                  </a:cxn>
                  <a:cxn ang="0">
                    <a:pos x="28" y="43"/>
                  </a:cxn>
                  <a:cxn ang="0">
                    <a:pos x="31" y="38"/>
                  </a:cxn>
                  <a:cxn ang="0">
                    <a:pos x="32" y="35"/>
                  </a:cxn>
                  <a:cxn ang="0">
                    <a:pos x="33" y="30"/>
                  </a:cxn>
                </a:cxnLst>
                <a:rect l="0" t="0" r="r" b="b"/>
                <a:pathLst>
                  <a:path w="96" h="46">
                    <a:moveTo>
                      <a:pt x="33" y="30"/>
                    </a:moveTo>
                    <a:lnTo>
                      <a:pt x="96" y="30"/>
                    </a:lnTo>
                    <a:lnTo>
                      <a:pt x="96" y="0"/>
                    </a:lnTo>
                    <a:lnTo>
                      <a:pt x="19" y="0"/>
                    </a:lnTo>
                    <a:lnTo>
                      <a:pt x="4" y="0"/>
                    </a:lnTo>
                    <a:lnTo>
                      <a:pt x="4" y="15"/>
                    </a:lnTo>
                    <a:lnTo>
                      <a:pt x="4" y="20"/>
                    </a:lnTo>
                    <a:lnTo>
                      <a:pt x="3" y="24"/>
                    </a:lnTo>
                    <a:lnTo>
                      <a:pt x="2" y="29"/>
                    </a:lnTo>
                    <a:lnTo>
                      <a:pt x="0" y="33"/>
                    </a:lnTo>
                    <a:lnTo>
                      <a:pt x="27" y="46"/>
                    </a:lnTo>
                    <a:lnTo>
                      <a:pt x="28" y="43"/>
                    </a:lnTo>
                    <a:lnTo>
                      <a:pt x="31" y="38"/>
                    </a:lnTo>
                    <a:lnTo>
                      <a:pt x="32" y="35"/>
                    </a:lnTo>
                    <a:lnTo>
                      <a:pt x="33" y="30"/>
                    </a:lnTo>
                    <a:close/>
                  </a:path>
                </a:pathLst>
              </a:custGeom>
              <a:solidFill>
                <a:srgbClr val="000000"/>
              </a:solidFill>
              <a:ln w="9525">
                <a:noFill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86" name="Freeform 16"/>
              <p:cNvSpPr>
                <a:spLocks/>
              </p:cNvSpPr>
              <p:nvPr/>
            </p:nvSpPr>
            <p:spPr bwMode="auto">
              <a:xfrm>
                <a:off x="9769475" y="3036888"/>
                <a:ext cx="138113" cy="128588"/>
              </a:xfrm>
              <a:custGeom>
                <a:avLst/>
                <a:gdLst/>
                <a:ahLst/>
                <a:cxnLst>
                  <a:cxn ang="0">
                    <a:pos x="175" y="0"/>
                  </a:cxn>
                  <a:cxn ang="0">
                    <a:pos x="159" y="0"/>
                  </a:cxn>
                  <a:cxn ang="0">
                    <a:pos x="115" y="0"/>
                  </a:cxn>
                  <a:cxn ang="0">
                    <a:pos x="115" y="30"/>
                  </a:cxn>
                  <a:cxn ang="0">
                    <a:pos x="144" y="30"/>
                  </a:cxn>
                  <a:cxn ang="0">
                    <a:pos x="143" y="43"/>
                  </a:cxn>
                  <a:cxn ang="0">
                    <a:pos x="139" y="54"/>
                  </a:cxn>
                  <a:cxn ang="0">
                    <a:pos x="136" y="67"/>
                  </a:cxn>
                  <a:cxn ang="0">
                    <a:pos x="133" y="78"/>
                  </a:cxn>
                  <a:cxn ang="0">
                    <a:pos x="127" y="89"/>
                  </a:cxn>
                  <a:cxn ang="0">
                    <a:pos x="121" y="100"/>
                  </a:cxn>
                  <a:cxn ang="0">
                    <a:pos x="114" y="111"/>
                  </a:cxn>
                  <a:cxn ang="0">
                    <a:pos x="106" y="120"/>
                  </a:cxn>
                  <a:cxn ang="0">
                    <a:pos x="42" y="55"/>
                  </a:cxn>
                  <a:cxn ang="0">
                    <a:pos x="43" y="53"/>
                  </a:cxn>
                  <a:cxn ang="0">
                    <a:pos x="44" y="51"/>
                  </a:cxn>
                  <a:cxn ang="0">
                    <a:pos x="45" y="48"/>
                  </a:cxn>
                  <a:cxn ang="0">
                    <a:pos x="46" y="46"/>
                  </a:cxn>
                  <a:cxn ang="0">
                    <a:pos x="19" y="33"/>
                  </a:cxn>
                  <a:cxn ang="0">
                    <a:pos x="16" y="37"/>
                  </a:cxn>
                  <a:cxn ang="0">
                    <a:pos x="15" y="40"/>
                  </a:cxn>
                  <a:cxn ang="0">
                    <a:pos x="13" y="44"/>
                  </a:cxn>
                  <a:cxn ang="0">
                    <a:pos x="11" y="46"/>
                  </a:cxn>
                  <a:cxn ang="0">
                    <a:pos x="0" y="56"/>
                  </a:cxn>
                  <a:cxn ang="0">
                    <a:pos x="11" y="67"/>
                  </a:cxn>
                  <a:cxn ang="0">
                    <a:pos x="96" y="152"/>
                  </a:cxn>
                  <a:cxn ang="0">
                    <a:pos x="107" y="164"/>
                  </a:cxn>
                  <a:cxn ang="0">
                    <a:pos x="118" y="152"/>
                  </a:cxn>
                  <a:cxn ang="0">
                    <a:pos x="130" y="138"/>
                  </a:cxn>
                  <a:cxn ang="0">
                    <a:pos x="142" y="122"/>
                  </a:cxn>
                  <a:cxn ang="0">
                    <a:pos x="152" y="106"/>
                  </a:cxn>
                  <a:cxn ang="0">
                    <a:pos x="160" y="89"/>
                  </a:cxn>
                  <a:cxn ang="0">
                    <a:pos x="167" y="71"/>
                  </a:cxn>
                  <a:cxn ang="0">
                    <a:pos x="172" y="53"/>
                  </a:cxn>
                  <a:cxn ang="0">
                    <a:pos x="174" y="35"/>
                  </a:cxn>
                  <a:cxn ang="0">
                    <a:pos x="175" y="15"/>
                  </a:cxn>
                  <a:cxn ang="0">
                    <a:pos x="175" y="0"/>
                  </a:cxn>
                </a:cxnLst>
                <a:rect l="0" t="0" r="r" b="b"/>
                <a:pathLst>
                  <a:path w="175" h="164">
                    <a:moveTo>
                      <a:pt x="175" y="0"/>
                    </a:moveTo>
                    <a:lnTo>
                      <a:pt x="159" y="0"/>
                    </a:lnTo>
                    <a:lnTo>
                      <a:pt x="115" y="0"/>
                    </a:lnTo>
                    <a:lnTo>
                      <a:pt x="115" y="30"/>
                    </a:lnTo>
                    <a:lnTo>
                      <a:pt x="144" y="30"/>
                    </a:lnTo>
                    <a:lnTo>
                      <a:pt x="143" y="43"/>
                    </a:lnTo>
                    <a:lnTo>
                      <a:pt x="139" y="54"/>
                    </a:lnTo>
                    <a:lnTo>
                      <a:pt x="136" y="67"/>
                    </a:lnTo>
                    <a:lnTo>
                      <a:pt x="133" y="78"/>
                    </a:lnTo>
                    <a:lnTo>
                      <a:pt x="127" y="89"/>
                    </a:lnTo>
                    <a:lnTo>
                      <a:pt x="121" y="100"/>
                    </a:lnTo>
                    <a:lnTo>
                      <a:pt x="114" y="111"/>
                    </a:lnTo>
                    <a:lnTo>
                      <a:pt x="106" y="120"/>
                    </a:lnTo>
                    <a:lnTo>
                      <a:pt x="42" y="55"/>
                    </a:lnTo>
                    <a:lnTo>
                      <a:pt x="43" y="53"/>
                    </a:lnTo>
                    <a:lnTo>
                      <a:pt x="44" y="51"/>
                    </a:lnTo>
                    <a:lnTo>
                      <a:pt x="45" y="48"/>
                    </a:lnTo>
                    <a:lnTo>
                      <a:pt x="46" y="46"/>
                    </a:lnTo>
                    <a:lnTo>
                      <a:pt x="19" y="33"/>
                    </a:lnTo>
                    <a:lnTo>
                      <a:pt x="16" y="37"/>
                    </a:lnTo>
                    <a:lnTo>
                      <a:pt x="15" y="40"/>
                    </a:lnTo>
                    <a:lnTo>
                      <a:pt x="13" y="44"/>
                    </a:lnTo>
                    <a:lnTo>
                      <a:pt x="11" y="46"/>
                    </a:lnTo>
                    <a:lnTo>
                      <a:pt x="0" y="56"/>
                    </a:lnTo>
                    <a:lnTo>
                      <a:pt x="11" y="67"/>
                    </a:lnTo>
                    <a:lnTo>
                      <a:pt x="96" y="152"/>
                    </a:lnTo>
                    <a:lnTo>
                      <a:pt x="107" y="164"/>
                    </a:lnTo>
                    <a:lnTo>
                      <a:pt x="118" y="152"/>
                    </a:lnTo>
                    <a:lnTo>
                      <a:pt x="130" y="138"/>
                    </a:lnTo>
                    <a:lnTo>
                      <a:pt x="142" y="122"/>
                    </a:lnTo>
                    <a:lnTo>
                      <a:pt x="152" y="106"/>
                    </a:lnTo>
                    <a:lnTo>
                      <a:pt x="160" y="89"/>
                    </a:lnTo>
                    <a:lnTo>
                      <a:pt x="167" y="71"/>
                    </a:lnTo>
                    <a:lnTo>
                      <a:pt x="172" y="53"/>
                    </a:lnTo>
                    <a:lnTo>
                      <a:pt x="174" y="35"/>
                    </a:lnTo>
                    <a:lnTo>
                      <a:pt x="175" y="15"/>
                    </a:lnTo>
                    <a:lnTo>
                      <a:pt x="175" y="0"/>
                    </a:lnTo>
                    <a:close/>
                  </a:path>
                </a:pathLst>
              </a:custGeom>
              <a:solidFill>
                <a:srgbClr val="000000"/>
              </a:solidFill>
              <a:ln w="9525">
                <a:noFill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87" name="Freeform 17"/>
              <p:cNvSpPr>
                <a:spLocks/>
              </p:cNvSpPr>
              <p:nvPr/>
            </p:nvSpPr>
            <p:spPr bwMode="auto">
              <a:xfrm>
                <a:off x="9634538" y="3063875"/>
                <a:ext cx="130175" cy="138113"/>
              </a:xfrm>
              <a:custGeom>
                <a:avLst/>
                <a:gdLst/>
                <a:ahLst/>
                <a:cxnLst>
                  <a:cxn ang="0">
                    <a:pos x="163" y="24"/>
                  </a:cxn>
                  <a:cxn ang="0">
                    <a:pos x="148" y="24"/>
                  </a:cxn>
                  <a:cxn ang="0">
                    <a:pos x="140" y="23"/>
                  </a:cxn>
                  <a:cxn ang="0">
                    <a:pos x="132" y="20"/>
                  </a:cxn>
                  <a:cxn ang="0">
                    <a:pos x="124" y="17"/>
                  </a:cxn>
                  <a:cxn ang="0">
                    <a:pos x="117" y="11"/>
                  </a:cxn>
                  <a:cxn ang="0">
                    <a:pos x="107" y="0"/>
                  </a:cxn>
                  <a:cxn ang="0">
                    <a:pos x="97" y="11"/>
                  </a:cxn>
                  <a:cxn ang="0">
                    <a:pos x="11" y="96"/>
                  </a:cxn>
                  <a:cxn ang="0">
                    <a:pos x="0" y="107"/>
                  </a:cxn>
                  <a:cxn ang="0">
                    <a:pos x="11" y="117"/>
                  </a:cxn>
                  <a:cxn ang="0">
                    <a:pos x="25" y="130"/>
                  </a:cxn>
                  <a:cxn ang="0">
                    <a:pos x="41" y="141"/>
                  </a:cxn>
                  <a:cxn ang="0">
                    <a:pos x="57" y="152"/>
                  </a:cxn>
                  <a:cxn ang="0">
                    <a:pos x="75" y="160"/>
                  </a:cxn>
                  <a:cxn ang="0">
                    <a:pos x="92" y="167"/>
                  </a:cxn>
                  <a:cxn ang="0">
                    <a:pos x="110" y="171"/>
                  </a:cxn>
                  <a:cxn ang="0">
                    <a:pos x="129" y="174"/>
                  </a:cxn>
                  <a:cxn ang="0">
                    <a:pos x="148" y="175"/>
                  </a:cxn>
                  <a:cxn ang="0">
                    <a:pos x="163" y="175"/>
                  </a:cxn>
                  <a:cxn ang="0">
                    <a:pos x="163" y="160"/>
                  </a:cxn>
                  <a:cxn ang="0">
                    <a:pos x="163" y="86"/>
                  </a:cxn>
                  <a:cxn ang="0">
                    <a:pos x="133" y="88"/>
                  </a:cxn>
                  <a:cxn ang="0">
                    <a:pos x="133" y="144"/>
                  </a:cxn>
                  <a:cxn ang="0">
                    <a:pos x="121" y="142"/>
                  </a:cxn>
                  <a:cxn ang="0">
                    <a:pos x="109" y="139"/>
                  </a:cxn>
                  <a:cxn ang="0">
                    <a:pos x="97" y="136"/>
                  </a:cxn>
                  <a:cxn ang="0">
                    <a:pos x="85" y="132"/>
                  </a:cxn>
                  <a:cxn ang="0">
                    <a:pos x="75" y="126"/>
                  </a:cxn>
                  <a:cxn ang="0">
                    <a:pos x="63" y="121"/>
                  </a:cxn>
                  <a:cxn ang="0">
                    <a:pos x="53" y="114"/>
                  </a:cxn>
                  <a:cxn ang="0">
                    <a:pos x="44" y="107"/>
                  </a:cxn>
                  <a:cxn ang="0">
                    <a:pos x="108" y="42"/>
                  </a:cxn>
                  <a:cxn ang="0">
                    <a:pos x="114" y="46"/>
                  </a:cxn>
                  <a:cxn ang="0">
                    <a:pos x="121" y="48"/>
                  </a:cxn>
                  <a:cxn ang="0">
                    <a:pos x="127" y="50"/>
                  </a:cxn>
                  <a:cxn ang="0">
                    <a:pos x="133" y="53"/>
                  </a:cxn>
                  <a:cxn ang="0">
                    <a:pos x="133" y="88"/>
                  </a:cxn>
                  <a:cxn ang="0">
                    <a:pos x="163" y="86"/>
                  </a:cxn>
                  <a:cxn ang="0">
                    <a:pos x="163" y="39"/>
                  </a:cxn>
                  <a:cxn ang="0">
                    <a:pos x="163" y="24"/>
                  </a:cxn>
                </a:cxnLst>
                <a:rect l="0" t="0" r="r" b="b"/>
                <a:pathLst>
                  <a:path w="163" h="175">
                    <a:moveTo>
                      <a:pt x="163" y="24"/>
                    </a:moveTo>
                    <a:lnTo>
                      <a:pt x="148" y="24"/>
                    </a:lnTo>
                    <a:lnTo>
                      <a:pt x="140" y="23"/>
                    </a:lnTo>
                    <a:lnTo>
                      <a:pt x="132" y="20"/>
                    </a:lnTo>
                    <a:lnTo>
                      <a:pt x="124" y="17"/>
                    </a:lnTo>
                    <a:lnTo>
                      <a:pt x="117" y="11"/>
                    </a:lnTo>
                    <a:lnTo>
                      <a:pt x="107" y="0"/>
                    </a:lnTo>
                    <a:lnTo>
                      <a:pt x="97" y="11"/>
                    </a:lnTo>
                    <a:lnTo>
                      <a:pt x="11" y="96"/>
                    </a:lnTo>
                    <a:lnTo>
                      <a:pt x="0" y="107"/>
                    </a:lnTo>
                    <a:lnTo>
                      <a:pt x="11" y="117"/>
                    </a:lnTo>
                    <a:lnTo>
                      <a:pt x="25" y="130"/>
                    </a:lnTo>
                    <a:lnTo>
                      <a:pt x="41" y="141"/>
                    </a:lnTo>
                    <a:lnTo>
                      <a:pt x="57" y="152"/>
                    </a:lnTo>
                    <a:lnTo>
                      <a:pt x="75" y="160"/>
                    </a:lnTo>
                    <a:lnTo>
                      <a:pt x="92" y="167"/>
                    </a:lnTo>
                    <a:lnTo>
                      <a:pt x="110" y="171"/>
                    </a:lnTo>
                    <a:lnTo>
                      <a:pt x="129" y="174"/>
                    </a:lnTo>
                    <a:lnTo>
                      <a:pt x="148" y="175"/>
                    </a:lnTo>
                    <a:lnTo>
                      <a:pt x="163" y="175"/>
                    </a:lnTo>
                    <a:lnTo>
                      <a:pt x="163" y="160"/>
                    </a:lnTo>
                    <a:lnTo>
                      <a:pt x="163" y="86"/>
                    </a:lnTo>
                    <a:lnTo>
                      <a:pt x="133" y="88"/>
                    </a:lnTo>
                    <a:lnTo>
                      <a:pt x="133" y="144"/>
                    </a:lnTo>
                    <a:lnTo>
                      <a:pt x="121" y="142"/>
                    </a:lnTo>
                    <a:lnTo>
                      <a:pt x="109" y="139"/>
                    </a:lnTo>
                    <a:lnTo>
                      <a:pt x="97" y="136"/>
                    </a:lnTo>
                    <a:lnTo>
                      <a:pt x="85" y="132"/>
                    </a:lnTo>
                    <a:lnTo>
                      <a:pt x="75" y="126"/>
                    </a:lnTo>
                    <a:lnTo>
                      <a:pt x="63" y="121"/>
                    </a:lnTo>
                    <a:lnTo>
                      <a:pt x="53" y="114"/>
                    </a:lnTo>
                    <a:lnTo>
                      <a:pt x="44" y="107"/>
                    </a:lnTo>
                    <a:lnTo>
                      <a:pt x="108" y="42"/>
                    </a:lnTo>
                    <a:lnTo>
                      <a:pt x="114" y="46"/>
                    </a:lnTo>
                    <a:lnTo>
                      <a:pt x="121" y="48"/>
                    </a:lnTo>
                    <a:lnTo>
                      <a:pt x="127" y="50"/>
                    </a:lnTo>
                    <a:lnTo>
                      <a:pt x="133" y="53"/>
                    </a:lnTo>
                    <a:lnTo>
                      <a:pt x="133" y="88"/>
                    </a:lnTo>
                    <a:lnTo>
                      <a:pt x="163" y="86"/>
                    </a:lnTo>
                    <a:lnTo>
                      <a:pt x="163" y="39"/>
                    </a:lnTo>
                    <a:lnTo>
                      <a:pt x="163" y="24"/>
                    </a:lnTo>
                    <a:close/>
                  </a:path>
                </a:pathLst>
              </a:custGeom>
              <a:solidFill>
                <a:srgbClr val="000000"/>
              </a:solidFill>
              <a:ln w="9525">
                <a:noFill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</p:grpSp>
      </p:grpSp>
      <p:grpSp>
        <p:nvGrpSpPr>
          <p:cNvPr id="114" name="Group 113"/>
          <p:cNvGrpSpPr/>
          <p:nvPr/>
        </p:nvGrpSpPr>
        <p:grpSpPr>
          <a:xfrm>
            <a:off x="1914453" y="3657600"/>
            <a:ext cx="1666947" cy="990600"/>
            <a:chOff x="3971853" y="4267200"/>
            <a:chExt cx="1666947" cy="990600"/>
          </a:xfrm>
        </p:grpSpPr>
        <p:sp>
          <p:nvSpPr>
            <p:cNvPr id="96" name="Cloud 95"/>
            <p:cNvSpPr/>
            <p:nvPr/>
          </p:nvSpPr>
          <p:spPr>
            <a:xfrm rot="571012">
              <a:off x="3971853" y="4761148"/>
              <a:ext cx="457200" cy="152400"/>
            </a:xfrm>
            <a:prstGeom prst="cloud">
              <a:avLst/>
            </a:prstGeom>
          </p:spPr>
          <p:style>
            <a:lnRef idx="1">
              <a:schemeClr val="dk1"/>
            </a:lnRef>
            <a:fillRef idx="2">
              <a:schemeClr val="dk1"/>
            </a:fillRef>
            <a:effectRef idx="1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94" name="Rounded Rectangle 93"/>
            <p:cNvSpPr/>
            <p:nvPr/>
          </p:nvSpPr>
          <p:spPr>
            <a:xfrm>
              <a:off x="4419600" y="4267200"/>
              <a:ext cx="1219200" cy="685800"/>
            </a:xfrm>
            <a:prstGeom prst="roundRect">
              <a:avLst/>
            </a:prstGeom>
          </p:spPr>
          <p:style>
            <a:lnRef idx="2">
              <a:schemeClr val="accent5">
                <a:shade val="50000"/>
              </a:schemeClr>
            </a:lnRef>
            <a:fillRef idx="1">
              <a:schemeClr val="accent5"/>
            </a:fillRef>
            <a:effectRef idx="0">
              <a:schemeClr val="accent5"/>
            </a:effectRef>
            <a:fontRef idx="minor">
              <a:schemeClr val="lt1"/>
            </a:fontRef>
          </p:style>
          <p:txBody>
            <a:bodyPr tIns="0" bIns="0" rtlCol="0" anchor="b" anchorCtr="0"/>
            <a:lstStyle/>
            <a:p>
              <a:pPr algn="ctr"/>
              <a:r>
                <a:rPr lang="en-US" sz="2200" b="1" dirty="0" smtClean="0"/>
                <a:t>Route</a:t>
              </a:r>
              <a:br>
                <a:rPr lang="en-US" sz="2200" b="1" dirty="0" smtClean="0"/>
              </a:br>
              <a:r>
                <a:rPr lang="en-US" sz="2200" b="1" dirty="0" smtClean="0"/>
                <a:t>Update</a:t>
              </a:r>
              <a:endParaRPr lang="en-US" sz="2200" b="1" dirty="0"/>
            </a:p>
          </p:txBody>
        </p:sp>
        <p:grpSp>
          <p:nvGrpSpPr>
            <p:cNvPr id="98" name="Group 71"/>
            <p:cNvGrpSpPr/>
            <p:nvPr/>
          </p:nvGrpSpPr>
          <p:grpSpPr>
            <a:xfrm>
              <a:off x="4410148" y="4876800"/>
              <a:ext cx="381000" cy="381000"/>
              <a:chOff x="9378950" y="2674938"/>
              <a:chExt cx="746125" cy="746125"/>
            </a:xfrm>
          </p:grpSpPr>
          <p:sp>
            <p:nvSpPr>
              <p:cNvPr id="107" name="Oval 106"/>
              <p:cNvSpPr/>
              <p:nvPr/>
            </p:nvSpPr>
            <p:spPr>
              <a:xfrm>
                <a:off x="9525000" y="2819400"/>
                <a:ext cx="457200" cy="457200"/>
              </a:xfrm>
              <a:prstGeom prst="ellipse">
                <a:avLst/>
              </a:prstGeom>
              <a:solidFill>
                <a:schemeClr val="bg1">
                  <a:lumMod val="8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08" name="Freeform 12"/>
              <p:cNvSpPr>
                <a:spLocks/>
              </p:cNvSpPr>
              <p:nvPr/>
            </p:nvSpPr>
            <p:spPr bwMode="auto">
              <a:xfrm>
                <a:off x="9378950" y="2674938"/>
                <a:ext cx="746125" cy="746125"/>
              </a:xfrm>
              <a:custGeom>
                <a:avLst/>
                <a:gdLst/>
                <a:ahLst/>
                <a:cxnLst>
                  <a:cxn ang="0">
                    <a:pos x="930" y="378"/>
                  </a:cxn>
                  <a:cxn ang="0">
                    <a:pos x="884" y="249"/>
                  </a:cxn>
                  <a:cxn ang="0">
                    <a:pos x="802" y="137"/>
                  </a:cxn>
                  <a:cxn ang="0">
                    <a:pos x="749" y="91"/>
                  </a:cxn>
                  <a:cxn ang="0">
                    <a:pos x="690" y="55"/>
                  </a:cxn>
                  <a:cxn ang="0">
                    <a:pos x="628" y="28"/>
                  </a:cxn>
                  <a:cxn ang="0">
                    <a:pos x="562" y="9"/>
                  </a:cxn>
                  <a:cxn ang="0">
                    <a:pos x="492" y="0"/>
                  </a:cxn>
                  <a:cxn ang="0">
                    <a:pos x="375" y="9"/>
                  </a:cxn>
                  <a:cxn ang="0">
                    <a:pos x="246" y="56"/>
                  </a:cxn>
                  <a:cxn ang="0">
                    <a:pos x="138" y="138"/>
                  </a:cxn>
                  <a:cxn ang="0">
                    <a:pos x="56" y="247"/>
                  </a:cxn>
                  <a:cxn ang="0">
                    <a:pos x="9" y="376"/>
                  </a:cxn>
                  <a:cxn ang="0">
                    <a:pos x="2" y="517"/>
                  </a:cxn>
                  <a:cxn ang="0">
                    <a:pos x="35" y="650"/>
                  </a:cxn>
                  <a:cxn ang="0">
                    <a:pos x="107" y="767"/>
                  </a:cxn>
                  <a:cxn ang="0">
                    <a:pos x="172" y="833"/>
                  </a:cxn>
                  <a:cxn ang="0">
                    <a:pos x="229" y="873"/>
                  </a:cxn>
                  <a:cxn ang="0">
                    <a:pos x="290" y="904"/>
                  </a:cxn>
                  <a:cxn ang="0">
                    <a:pos x="354" y="926"/>
                  </a:cxn>
                  <a:cxn ang="0">
                    <a:pos x="422" y="938"/>
                  </a:cxn>
                  <a:cxn ang="0">
                    <a:pos x="490" y="940"/>
                  </a:cxn>
                  <a:cxn ang="0">
                    <a:pos x="552" y="933"/>
                  </a:cxn>
                  <a:cxn ang="0">
                    <a:pos x="611" y="918"/>
                  </a:cxn>
                  <a:cxn ang="0">
                    <a:pos x="669" y="896"/>
                  </a:cxn>
                  <a:cxn ang="0">
                    <a:pos x="722" y="866"/>
                  </a:cxn>
                  <a:cxn ang="0">
                    <a:pos x="771" y="829"/>
                  </a:cxn>
                  <a:cxn ang="0">
                    <a:pos x="556" y="680"/>
                  </a:cxn>
                  <a:cxn ang="0">
                    <a:pos x="513" y="692"/>
                  </a:cxn>
                  <a:cxn ang="0">
                    <a:pos x="469" y="697"/>
                  </a:cxn>
                  <a:cxn ang="0">
                    <a:pos x="404" y="687"/>
                  </a:cxn>
                  <a:cxn ang="0">
                    <a:pos x="344" y="659"/>
                  </a:cxn>
                  <a:cxn ang="0">
                    <a:pos x="294" y="614"/>
                  </a:cxn>
                  <a:cxn ang="0">
                    <a:pos x="260" y="556"/>
                  </a:cxn>
                  <a:cxn ang="0">
                    <a:pos x="244" y="492"/>
                  </a:cxn>
                  <a:cxn ang="0">
                    <a:pos x="247" y="425"/>
                  </a:cxn>
                  <a:cxn ang="0">
                    <a:pos x="269" y="363"/>
                  </a:cxn>
                  <a:cxn ang="0">
                    <a:pos x="309" y="309"/>
                  </a:cxn>
                  <a:cxn ang="0">
                    <a:pos x="364" y="270"/>
                  </a:cxn>
                  <a:cxn ang="0">
                    <a:pos x="426" y="248"/>
                  </a:cxn>
                  <a:cxn ang="0">
                    <a:pos x="492" y="244"/>
                  </a:cxn>
                  <a:cxn ang="0">
                    <a:pos x="557" y="260"/>
                  </a:cxn>
                  <a:cxn ang="0">
                    <a:pos x="613" y="294"/>
                  </a:cxn>
                  <a:cxn ang="0">
                    <a:pos x="659" y="343"/>
                  </a:cxn>
                  <a:cxn ang="0">
                    <a:pos x="687" y="403"/>
                  </a:cxn>
                  <a:cxn ang="0">
                    <a:pos x="696" y="470"/>
                  </a:cxn>
                  <a:cxn ang="0">
                    <a:pos x="678" y="559"/>
                  </a:cxn>
                  <a:cxn ang="0">
                    <a:pos x="628" y="632"/>
                  </a:cxn>
                  <a:cxn ang="0">
                    <a:pos x="771" y="829"/>
                  </a:cxn>
                  <a:cxn ang="0">
                    <a:pos x="794" y="810"/>
                  </a:cxn>
                  <a:cxn ang="0">
                    <a:pos x="861" y="730"/>
                  </a:cxn>
                  <a:cxn ang="0">
                    <a:pos x="920" y="607"/>
                  </a:cxn>
                  <a:cxn ang="0">
                    <a:pos x="939" y="470"/>
                  </a:cxn>
                </a:cxnLst>
                <a:rect l="0" t="0" r="r" b="b"/>
                <a:pathLst>
                  <a:path w="939" h="940">
                    <a:moveTo>
                      <a:pt x="939" y="470"/>
                    </a:moveTo>
                    <a:lnTo>
                      <a:pt x="937" y="423"/>
                    </a:lnTo>
                    <a:lnTo>
                      <a:pt x="930" y="378"/>
                    </a:lnTo>
                    <a:lnTo>
                      <a:pt x="920" y="333"/>
                    </a:lnTo>
                    <a:lnTo>
                      <a:pt x="903" y="289"/>
                    </a:lnTo>
                    <a:lnTo>
                      <a:pt x="884" y="249"/>
                    </a:lnTo>
                    <a:lnTo>
                      <a:pt x="861" y="208"/>
                    </a:lnTo>
                    <a:lnTo>
                      <a:pt x="833" y="172"/>
                    </a:lnTo>
                    <a:lnTo>
                      <a:pt x="802" y="137"/>
                    </a:lnTo>
                    <a:lnTo>
                      <a:pt x="785" y="121"/>
                    </a:lnTo>
                    <a:lnTo>
                      <a:pt x="768" y="106"/>
                    </a:lnTo>
                    <a:lnTo>
                      <a:pt x="749" y="91"/>
                    </a:lnTo>
                    <a:lnTo>
                      <a:pt x="731" y="78"/>
                    </a:lnTo>
                    <a:lnTo>
                      <a:pt x="711" y="66"/>
                    </a:lnTo>
                    <a:lnTo>
                      <a:pt x="690" y="55"/>
                    </a:lnTo>
                    <a:lnTo>
                      <a:pt x="671" y="45"/>
                    </a:lnTo>
                    <a:lnTo>
                      <a:pt x="650" y="36"/>
                    </a:lnTo>
                    <a:lnTo>
                      <a:pt x="628" y="28"/>
                    </a:lnTo>
                    <a:lnTo>
                      <a:pt x="606" y="20"/>
                    </a:lnTo>
                    <a:lnTo>
                      <a:pt x="585" y="14"/>
                    </a:lnTo>
                    <a:lnTo>
                      <a:pt x="562" y="9"/>
                    </a:lnTo>
                    <a:lnTo>
                      <a:pt x="540" y="5"/>
                    </a:lnTo>
                    <a:lnTo>
                      <a:pt x="517" y="2"/>
                    </a:lnTo>
                    <a:lnTo>
                      <a:pt x="492" y="0"/>
                    </a:lnTo>
                    <a:lnTo>
                      <a:pt x="469" y="0"/>
                    </a:lnTo>
                    <a:lnTo>
                      <a:pt x="421" y="2"/>
                    </a:lnTo>
                    <a:lnTo>
                      <a:pt x="375" y="9"/>
                    </a:lnTo>
                    <a:lnTo>
                      <a:pt x="330" y="21"/>
                    </a:lnTo>
                    <a:lnTo>
                      <a:pt x="286" y="37"/>
                    </a:lnTo>
                    <a:lnTo>
                      <a:pt x="246" y="56"/>
                    </a:lnTo>
                    <a:lnTo>
                      <a:pt x="207" y="81"/>
                    </a:lnTo>
                    <a:lnTo>
                      <a:pt x="171" y="107"/>
                    </a:lnTo>
                    <a:lnTo>
                      <a:pt x="138" y="138"/>
                    </a:lnTo>
                    <a:lnTo>
                      <a:pt x="107" y="172"/>
                    </a:lnTo>
                    <a:lnTo>
                      <a:pt x="80" y="207"/>
                    </a:lnTo>
                    <a:lnTo>
                      <a:pt x="56" y="247"/>
                    </a:lnTo>
                    <a:lnTo>
                      <a:pt x="37" y="287"/>
                    </a:lnTo>
                    <a:lnTo>
                      <a:pt x="20" y="331"/>
                    </a:lnTo>
                    <a:lnTo>
                      <a:pt x="9" y="376"/>
                    </a:lnTo>
                    <a:lnTo>
                      <a:pt x="2" y="422"/>
                    </a:lnTo>
                    <a:lnTo>
                      <a:pt x="0" y="470"/>
                    </a:lnTo>
                    <a:lnTo>
                      <a:pt x="2" y="517"/>
                    </a:lnTo>
                    <a:lnTo>
                      <a:pt x="9" y="562"/>
                    </a:lnTo>
                    <a:lnTo>
                      <a:pt x="20" y="607"/>
                    </a:lnTo>
                    <a:lnTo>
                      <a:pt x="35" y="650"/>
                    </a:lnTo>
                    <a:lnTo>
                      <a:pt x="55" y="691"/>
                    </a:lnTo>
                    <a:lnTo>
                      <a:pt x="79" y="730"/>
                    </a:lnTo>
                    <a:lnTo>
                      <a:pt x="107" y="767"/>
                    </a:lnTo>
                    <a:lnTo>
                      <a:pt x="138" y="802"/>
                    </a:lnTo>
                    <a:lnTo>
                      <a:pt x="155" y="818"/>
                    </a:lnTo>
                    <a:lnTo>
                      <a:pt x="172" y="833"/>
                    </a:lnTo>
                    <a:lnTo>
                      <a:pt x="191" y="848"/>
                    </a:lnTo>
                    <a:lnTo>
                      <a:pt x="209" y="861"/>
                    </a:lnTo>
                    <a:lnTo>
                      <a:pt x="229" y="873"/>
                    </a:lnTo>
                    <a:lnTo>
                      <a:pt x="248" y="885"/>
                    </a:lnTo>
                    <a:lnTo>
                      <a:pt x="269" y="895"/>
                    </a:lnTo>
                    <a:lnTo>
                      <a:pt x="290" y="904"/>
                    </a:lnTo>
                    <a:lnTo>
                      <a:pt x="311" y="912"/>
                    </a:lnTo>
                    <a:lnTo>
                      <a:pt x="332" y="919"/>
                    </a:lnTo>
                    <a:lnTo>
                      <a:pt x="354" y="926"/>
                    </a:lnTo>
                    <a:lnTo>
                      <a:pt x="377" y="931"/>
                    </a:lnTo>
                    <a:lnTo>
                      <a:pt x="400" y="935"/>
                    </a:lnTo>
                    <a:lnTo>
                      <a:pt x="422" y="938"/>
                    </a:lnTo>
                    <a:lnTo>
                      <a:pt x="446" y="939"/>
                    </a:lnTo>
                    <a:lnTo>
                      <a:pt x="469" y="940"/>
                    </a:lnTo>
                    <a:lnTo>
                      <a:pt x="490" y="940"/>
                    </a:lnTo>
                    <a:lnTo>
                      <a:pt x="511" y="938"/>
                    </a:lnTo>
                    <a:lnTo>
                      <a:pt x="532" y="935"/>
                    </a:lnTo>
                    <a:lnTo>
                      <a:pt x="552" y="933"/>
                    </a:lnTo>
                    <a:lnTo>
                      <a:pt x="572" y="928"/>
                    </a:lnTo>
                    <a:lnTo>
                      <a:pt x="591" y="924"/>
                    </a:lnTo>
                    <a:lnTo>
                      <a:pt x="611" y="918"/>
                    </a:lnTo>
                    <a:lnTo>
                      <a:pt x="631" y="911"/>
                    </a:lnTo>
                    <a:lnTo>
                      <a:pt x="649" y="904"/>
                    </a:lnTo>
                    <a:lnTo>
                      <a:pt x="669" y="896"/>
                    </a:lnTo>
                    <a:lnTo>
                      <a:pt x="686" y="887"/>
                    </a:lnTo>
                    <a:lnTo>
                      <a:pt x="704" y="877"/>
                    </a:lnTo>
                    <a:lnTo>
                      <a:pt x="722" y="866"/>
                    </a:lnTo>
                    <a:lnTo>
                      <a:pt x="739" y="855"/>
                    </a:lnTo>
                    <a:lnTo>
                      <a:pt x="755" y="842"/>
                    </a:lnTo>
                    <a:lnTo>
                      <a:pt x="771" y="829"/>
                    </a:lnTo>
                    <a:lnTo>
                      <a:pt x="581" y="667"/>
                    </a:lnTo>
                    <a:lnTo>
                      <a:pt x="568" y="674"/>
                    </a:lnTo>
                    <a:lnTo>
                      <a:pt x="556" y="680"/>
                    </a:lnTo>
                    <a:lnTo>
                      <a:pt x="542" y="685"/>
                    </a:lnTo>
                    <a:lnTo>
                      <a:pt x="528" y="689"/>
                    </a:lnTo>
                    <a:lnTo>
                      <a:pt x="513" y="692"/>
                    </a:lnTo>
                    <a:lnTo>
                      <a:pt x="499" y="695"/>
                    </a:lnTo>
                    <a:lnTo>
                      <a:pt x="484" y="697"/>
                    </a:lnTo>
                    <a:lnTo>
                      <a:pt x="469" y="697"/>
                    </a:lnTo>
                    <a:lnTo>
                      <a:pt x="448" y="696"/>
                    </a:lnTo>
                    <a:lnTo>
                      <a:pt x="426" y="692"/>
                    </a:lnTo>
                    <a:lnTo>
                      <a:pt x="404" y="687"/>
                    </a:lnTo>
                    <a:lnTo>
                      <a:pt x="383" y="680"/>
                    </a:lnTo>
                    <a:lnTo>
                      <a:pt x="364" y="670"/>
                    </a:lnTo>
                    <a:lnTo>
                      <a:pt x="344" y="659"/>
                    </a:lnTo>
                    <a:lnTo>
                      <a:pt x="326" y="645"/>
                    </a:lnTo>
                    <a:lnTo>
                      <a:pt x="309" y="630"/>
                    </a:lnTo>
                    <a:lnTo>
                      <a:pt x="294" y="614"/>
                    </a:lnTo>
                    <a:lnTo>
                      <a:pt x="281" y="596"/>
                    </a:lnTo>
                    <a:lnTo>
                      <a:pt x="269" y="576"/>
                    </a:lnTo>
                    <a:lnTo>
                      <a:pt x="260" y="556"/>
                    </a:lnTo>
                    <a:lnTo>
                      <a:pt x="253" y="536"/>
                    </a:lnTo>
                    <a:lnTo>
                      <a:pt x="247" y="514"/>
                    </a:lnTo>
                    <a:lnTo>
                      <a:pt x="244" y="492"/>
                    </a:lnTo>
                    <a:lnTo>
                      <a:pt x="243" y="470"/>
                    </a:lnTo>
                    <a:lnTo>
                      <a:pt x="244" y="447"/>
                    </a:lnTo>
                    <a:lnTo>
                      <a:pt x="247" y="425"/>
                    </a:lnTo>
                    <a:lnTo>
                      <a:pt x="253" y="403"/>
                    </a:lnTo>
                    <a:lnTo>
                      <a:pt x="260" y="382"/>
                    </a:lnTo>
                    <a:lnTo>
                      <a:pt x="269" y="363"/>
                    </a:lnTo>
                    <a:lnTo>
                      <a:pt x="281" y="343"/>
                    </a:lnTo>
                    <a:lnTo>
                      <a:pt x="294" y="326"/>
                    </a:lnTo>
                    <a:lnTo>
                      <a:pt x="309" y="309"/>
                    </a:lnTo>
                    <a:lnTo>
                      <a:pt x="326" y="294"/>
                    </a:lnTo>
                    <a:lnTo>
                      <a:pt x="344" y="280"/>
                    </a:lnTo>
                    <a:lnTo>
                      <a:pt x="364" y="270"/>
                    </a:lnTo>
                    <a:lnTo>
                      <a:pt x="383" y="260"/>
                    </a:lnTo>
                    <a:lnTo>
                      <a:pt x="404" y="252"/>
                    </a:lnTo>
                    <a:lnTo>
                      <a:pt x="426" y="248"/>
                    </a:lnTo>
                    <a:lnTo>
                      <a:pt x="448" y="244"/>
                    </a:lnTo>
                    <a:lnTo>
                      <a:pt x="469" y="243"/>
                    </a:lnTo>
                    <a:lnTo>
                      <a:pt x="492" y="244"/>
                    </a:lnTo>
                    <a:lnTo>
                      <a:pt x="514" y="248"/>
                    </a:lnTo>
                    <a:lnTo>
                      <a:pt x="536" y="252"/>
                    </a:lnTo>
                    <a:lnTo>
                      <a:pt x="557" y="260"/>
                    </a:lnTo>
                    <a:lnTo>
                      <a:pt x="576" y="270"/>
                    </a:lnTo>
                    <a:lnTo>
                      <a:pt x="596" y="280"/>
                    </a:lnTo>
                    <a:lnTo>
                      <a:pt x="613" y="294"/>
                    </a:lnTo>
                    <a:lnTo>
                      <a:pt x="631" y="309"/>
                    </a:lnTo>
                    <a:lnTo>
                      <a:pt x="646" y="326"/>
                    </a:lnTo>
                    <a:lnTo>
                      <a:pt x="659" y="343"/>
                    </a:lnTo>
                    <a:lnTo>
                      <a:pt x="670" y="363"/>
                    </a:lnTo>
                    <a:lnTo>
                      <a:pt x="679" y="382"/>
                    </a:lnTo>
                    <a:lnTo>
                      <a:pt x="687" y="403"/>
                    </a:lnTo>
                    <a:lnTo>
                      <a:pt x="692" y="425"/>
                    </a:lnTo>
                    <a:lnTo>
                      <a:pt x="695" y="447"/>
                    </a:lnTo>
                    <a:lnTo>
                      <a:pt x="696" y="470"/>
                    </a:lnTo>
                    <a:lnTo>
                      <a:pt x="694" y="501"/>
                    </a:lnTo>
                    <a:lnTo>
                      <a:pt x="688" y="531"/>
                    </a:lnTo>
                    <a:lnTo>
                      <a:pt x="678" y="559"/>
                    </a:lnTo>
                    <a:lnTo>
                      <a:pt x="665" y="585"/>
                    </a:lnTo>
                    <a:lnTo>
                      <a:pt x="648" y="611"/>
                    </a:lnTo>
                    <a:lnTo>
                      <a:pt x="628" y="632"/>
                    </a:lnTo>
                    <a:lnTo>
                      <a:pt x="606" y="651"/>
                    </a:lnTo>
                    <a:lnTo>
                      <a:pt x="581" y="667"/>
                    </a:lnTo>
                    <a:lnTo>
                      <a:pt x="771" y="829"/>
                    </a:lnTo>
                    <a:lnTo>
                      <a:pt x="779" y="824"/>
                    </a:lnTo>
                    <a:lnTo>
                      <a:pt x="787" y="817"/>
                    </a:lnTo>
                    <a:lnTo>
                      <a:pt x="794" y="810"/>
                    </a:lnTo>
                    <a:lnTo>
                      <a:pt x="802" y="802"/>
                    </a:lnTo>
                    <a:lnTo>
                      <a:pt x="833" y="767"/>
                    </a:lnTo>
                    <a:lnTo>
                      <a:pt x="861" y="730"/>
                    </a:lnTo>
                    <a:lnTo>
                      <a:pt x="884" y="691"/>
                    </a:lnTo>
                    <a:lnTo>
                      <a:pt x="903" y="650"/>
                    </a:lnTo>
                    <a:lnTo>
                      <a:pt x="920" y="607"/>
                    </a:lnTo>
                    <a:lnTo>
                      <a:pt x="930" y="562"/>
                    </a:lnTo>
                    <a:lnTo>
                      <a:pt x="937" y="517"/>
                    </a:lnTo>
                    <a:lnTo>
                      <a:pt x="939" y="470"/>
                    </a:lnTo>
                    <a:close/>
                  </a:path>
                </a:pathLst>
              </a:custGeom>
              <a:solidFill>
                <a:srgbClr val="000000"/>
              </a:solidFill>
              <a:ln w="9525">
                <a:noFill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109" name="Freeform 13"/>
              <p:cNvSpPr>
                <a:spLocks/>
              </p:cNvSpPr>
              <p:nvPr/>
            </p:nvSpPr>
            <p:spPr bwMode="auto">
              <a:xfrm>
                <a:off x="9598025" y="2930525"/>
                <a:ext cx="138113" cy="128588"/>
              </a:xfrm>
              <a:custGeom>
                <a:avLst/>
                <a:gdLst/>
                <a:ahLst/>
                <a:cxnLst>
                  <a:cxn ang="0">
                    <a:pos x="151" y="164"/>
                  </a:cxn>
                  <a:cxn ang="0">
                    <a:pos x="151" y="149"/>
                  </a:cxn>
                  <a:cxn ang="0">
                    <a:pos x="152" y="141"/>
                  </a:cxn>
                  <a:cxn ang="0">
                    <a:pos x="154" y="132"/>
                  </a:cxn>
                  <a:cxn ang="0">
                    <a:pos x="158" y="125"/>
                  </a:cxn>
                  <a:cxn ang="0">
                    <a:pos x="163" y="118"/>
                  </a:cxn>
                  <a:cxn ang="0">
                    <a:pos x="175" y="108"/>
                  </a:cxn>
                  <a:cxn ang="0">
                    <a:pos x="163" y="96"/>
                  </a:cxn>
                  <a:cxn ang="0">
                    <a:pos x="114" y="46"/>
                  </a:cxn>
                  <a:cxn ang="0">
                    <a:pos x="99" y="74"/>
                  </a:cxn>
                  <a:cxn ang="0">
                    <a:pos x="132" y="109"/>
                  </a:cxn>
                  <a:cxn ang="0">
                    <a:pos x="129" y="114"/>
                  </a:cxn>
                  <a:cxn ang="0">
                    <a:pos x="127" y="120"/>
                  </a:cxn>
                  <a:cxn ang="0">
                    <a:pos x="124" y="127"/>
                  </a:cxn>
                  <a:cxn ang="0">
                    <a:pos x="122" y="134"/>
                  </a:cxn>
                  <a:cxn ang="0">
                    <a:pos x="31" y="134"/>
                  </a:cxn>
                  <a:cxn ang="0">
                    <a:pos x="32" y="121"/>
                  </a:cxn>
                  <a:cxn ang="0">
                    <a:pos x="36" y="110"/>
                  </a:cxn>
                  <a:cxn ang="0">
                    <a:pos x="39" y="97"/>
                  </a:cxn>
                  <a:cxn ang="0">
                    <a:pos x="42" y="86"/>
                  </a:cxn>
                  <a:cxn ang="0">
                    <a:pos x="48" y="74"/>
                  </a:cxn>
                  <a:cxn ang="0">
                    <a:pos x="54" y="64"/>
                  </a:cxn>
                  <a:cxn ang="0">
                    <a:pos x="61" y="53"/>
                  </a:cxn>
                  <a:cxn ang="0">
                    <a:pos x="68" y="43"/>
                  </a:cxn>
                  <a:cxn ang="0">
                    <a:pos x="99" y="74"/>
                  </a:cxn>
                  <a:cxn ang="0">
                    <a:pos x="114" y="46"/>
                  </a:cxn>
                  <a:cxn ang="0">
                    <a:pos x="78" y="11"/>
                  </a:cxn>
                  <a:cxn ang="0">
                    <a:pos x="68" y="0"/>
                  </a:cxn>
                  <a:cxn ang="0">
                    <a:pos x="57" y="11"/>
                  </a:cxn>
                  <a:cxn ang="0">
                    <a:pos x="45" y="25"/>
                  </a:cxn>
                  <a:cxn ang="0">
                    <a:pos x="33" y="41"/>
                  </a:cxn>
                  <a:cxn ang="0">
                    <a:pos x="23" y="57"/>
                  </a:cxn>
                  <a:cxn ang="0">
                    <a:pos x="15" y="74"/>
                  </a:cxn>
                  <a:cxn ang="0">
                    <a:pos x="8" y="93"/>
                  </a:cxn>
                  <a:cxn ang="0">
                    <a:pos x="3" y="111"/>
                  </a:cxn>
                  <a:cxn ang="0">
                    <a:pos x="1" y="129"/>
                  </a:cxn>
                  <a:cxn ang="0">
                    <a:pos x="0" y="149"/>
                  </a:cxn>
                  <a:cxn ang="0">
                    <a:pos x="0" y="164"/>
                  </a:cxn>
                  <a:cxn ang="0">
                    <a:pos x="15" y="164"/>
                  </a:cxn>
                  <a:cxn ang="0">
                    <a:pos x="136" y="164"/>
                  </a:cxn>
                  <a:cxn ang="0">
                    <a:pos x="151" y="164"/>
                  </a:cxn>
                </a:cxnLst>
                <a:rect l="0" t="0" r="r" b="b"/>
                <a:pathLst>
                  <a:path w="175" h="164">
                    <a:moveTo>
                      <a:pt x="151" y="164"/>
                    </a:moveTo>
                    <a:lnTo>
                      <a:pt x="151" y="149"/>
                    </a:lnTo>
                    <a:lnTo>
                      <a:pt x="152" y="141"/>
                    </a:lnTo>
                    <a:lnTo>
                      <a:pt x="154" y="132"/>
                    </a:lnTo>
                    <a:lnTo>
                      <a:pt x="158" y="125"/>
                    </a:lnTo>
                    <a:lnTo>
                      <a:pt x="163" y="118"/>
                    </a:lnTo>
                    <a:lnTo>
                      <a:pt x="175" y="108"/>
                    </a:lnTo>
                    <a:lnTo>
                      <a:pt x="163" y="96"/>
                    </a:lnTo>
                    <a:lnTo>
                      <a:pt x="114" y="46"/>
                    </a:lnTo>
                    <a:lnTo>
                      <a:pt x="99" y="74"/>
                    </a:lnTo>
                    <a:lnTo>
                      <a:pt x="132" y="109"/>
                    </a:lnTo>
                    <a:lnTo>
                      <a:pt x="129" y="114"/>
                    </a:lnTo>
                    <a:lnTo>
                      <a:pt x="127" y="120"/>
                    </a:lnTo>
                    <a:lnTo>
                      <a:pt x="124" y="127"/>
                    </a:lnTo>
                    <a:lnTo>
                      <a:pt x="122" y="134"/>
                    </a:lnTo>
                    <a:lnTo>
                      <a:pt x="31" y="134"/>
                    </a:lnTo>
                    <a:lnTo>
                      <a:pt x="32" y="121"/>
                    </a:lnTo>
                    <a:lnTo>
                      <a:pt x="36" y="110"/>
                    </a:lnTo>
                    <a:lnTo>
                      <a:pt x="39" y="97"/>
                    </a:lnTo>
                    <a:lnTo>
                      <a:pt x="42" y="86"/>
                    </a:lnTo>
                    <a:lnTo>
                      <a:pt x="48" y="74"/>
                    </a:lnTo>
                    <a:lnTo>
                      <a:pt x="54" y="64"/>
                    </a:lnTo>
                    <a:lnTo>
                      <a:pt x="61" y="53"/>
                    </a:lnTo>
                    <a:lnTo>
                      <a:pt x="68" y="43"/>
                    </a:lnTo>
                    <a:lnTo>
                      <a:pt x="99" y="74"/>
                    </a:lnTo>
                    <a:lnTo>
                      <a:pt x="114" y="46"/>
                    </a:lnTo>
                    <a:lnTo>
                      <a:pt x="78" y="11"/>
                    </a:lnTo>
                    <a:lnTo>
                      <a:pt x="68" y="0"/>
                    </a:lnTo>
                    <a:lnTo>
                      <a:pt x="57" y="11"/>
                    </a:lnTo>
                    <a:lnTo>
                      <a:pt x="45" y="25"/>
                    </a:lnTo>
                    <a:lnTo>
                      <a:pt x="33" y="41"/>
                    </a:lnTo>
                    <a:lnTo>
                      <a:pt x="23" y="57"/>
                    </a:lnTo>
                    <a:lnTo>
                      <a:pt x="15" y="74"/>
                    </a:lnTo>
                    <a:lnTo>
                      <a:pt x="8" y="93"/>
                    </a:lnTo>
                    <a:lnTo>
                      <a:pt x="3" y="111"/>
                    </a:lnTo>
                    <a:lnTo>
                      <a:pt x="1" y="129"/>
                    </a:lnTo>
                    <a:lnTo>
                      <a:pt x="0" y="149"/>
                    </a:lnTo>
                    <a:lnTo>
                      <a:pt x="0" y="164"/>
                    </a:lnTo>
                    <a:lnTo>
                      <a:pt x="15" y="164"/>
                    </a:lnTo>
                    <a:lnTo>
                      <a:pt x="136" y="164"/>
                    </a:lnTo>
                    <a:lnTo>
                      <a:pt x="151" y="164"/>
                    </a:lnTo>
                    <a:close/>
                  </a:path>
                </a:pathLst>
              </a:custGeom>
              <a:solidFill>
                <a:srgbClr val="000000"/>
              </a:solidFill>
              <a:ln w="9525">
                <a:noFill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110" name="Freeform 14"/>
              <p:cNvSpPr>
                <a:spLocks/>
              </p:cNvSpPr>
              <p:nvPr/>
            </p:nvSpPr>
            <p:spPr bwMode="auto">
              <a:xfrm>
                <a:off x="9740900" y="2892425"/>
                <a:ext cx="128588" cy="139700"/>
              </a:xfrm>
              <a:custGeom>
                <a:avLst/>
                <a:gdLst/>
                <a:ahLst/>
                <a:cxnLst>
                  <a:cxn ang="0">
                    <a:pos x="47" y="165"/>
                  </a:cxn>
                  <a:cxn ang="0">
                    <a:pos x="57" y="175"/>
                  </a:cxn>
                  <a:cxn ang="0">
                    <a:pos x="68" y="165"/>
                  </a:cxn>
                  <a:cxn ang="0">
                    <a:pos x="89" y="143"/>
                  </a:cxn>
                  <a:cxn ang="0">
                    <a:pos x="78" y="112"/>
                  </a:cxn>
                  <a:cxn ang="0">
                    <a:pos x="56" y="134"/>
                  </a:cxn>
                  <a:cxn ang="0">
                    <a:pos x="50" y="130"/>
                  </a:cxn>
                  <a:cxn ang="0">
                    <a:pos x="44" y="127"/>
                  </a:cxn>
                  <a:cxn ang="0">
                    <a:pos x="37" y="125"/>
                  </a:cxn>
                  <a:cxn ang="0">
                    <a:pos x="30" y="123"/>
                  </a:cxn>
                  <a:cxn ang="0">
                    <a:pos x="30" y="31"/>
                  </a:cxn>
                  <a:cxn ang="0">
                    <a:pos x="43" y="32"/>
                  </a:cxn>
                  <a:cxn ang="0">
                    <a:pos x="55" y="36"/>
                  </a:cxn>
                  <a:cxn ang="0">
                    <a:pos x="67" y="39"/>
                  </a:cxn>
                  <a:cxn ang="0">
                    <a:pos x="79" y="43"/>
                  </a:cxn>
                  <a:cxn ang="0">
                    <a:pos x="90" y="49"/>
                  </a:cxn>
                  <a:cxn ang="0">
                    <a:pos x="101" y="54"/>
                  </a:cxn>
                  <a:cxn ang="0">
                    <a:pos x="111" y="61"/>
                  </a:cxn>
                  <a:cxn ang="0">
                    <a:pos x="121" y="69"/>
                  </a:cxn>
                  <a:cxn ang="0">
                    <a:pos x="78" y="112"/>
                  </a:cxn>
                  <a:cxn ang="0">
                    <a:pos x="89" y="143"/>
                  </a:cxn>
                  <a:cxn ang="0">
                    <a:pos x="154" y="80"/>
                  </a:cxn>
                  <a:cxn ang="0">
                    <a:pos x="164" y="68"/>
                  </a:cxn>
                  <a:cxn ang="0">
                    <a:pos x="154" y="58"/>
                  </a:cxn>
                  <a:cxn ang="0">
                    <a:pos x="140" y="45"/>
                  </a:cxn>
                  <a:cxn ang="0">
                    <a:pos x="124" y="34"/>
                  </a:cxn>
                  <a:cxn ang="0">
                    <a:pos x="108" y="23"/>
                  </a:cxn>
                  <a:cxn ang="0">
                    <a:pos x="90" y="15"/>
                  </a:cxn>
                  <a:cxn ang="0">
                    <a:pos x="72" y="8"/>
                  </a:cxn>
                  <a:cxn ang="0">
                    <a:pos x="53" y="4"/>
                  </a:cxn>
                  <a:cxn ang="0">
                    <a:pos x="35" y="1"/>
                  </a:cxn>
                  <a:cxn ang="0">
                    <a:pos x="15" y="0"/>
                  </a:cxn>
                  <a:cxn ang="0">
                    <a:pos x="0" y="0"/>
                  </a:cxn>
                  <a:cxn ang="0">
                    <a:pos x="0" y="16"/>
                  </a:cxn>
                  <a:cxn ang="0">
                    <a:pos x="0" y="137"/>
                  </a:cxn>
                  <a:cxn ang="0">
                    <a:pos x="0" y="152"/>
                  </a:cxn>
                  <a:cxn ang="0">
                    <a:pos x="15" y="152"/>
                  </a:cxn>
                  <a:cxn ang="0">
                    <a:pos x="23" y="153"/>
                  </a:cxn>
                  <a:cxn ang="0">
                    <a:pos x="33" y="156"/>
                  </a:cxn>
                  <a:cxn ang="0">
                    <a:pos x="40" y="159"/>
                  </a:cxn>
                  <a:cxn ang="0">
                    <a:pos x="47" y="165"/>
                  </a:cxn>
                </a:cxnLst>
                <a:rect l="0" t="0" r="r" b="b"/>
                <a:pathLst>
                  <a:path w="164" h="175">
                    <a:moveTo>
                      <a:pt x="47" y="165"/>
                    </a:moveTo>
                    <a:lnTo>
                      <a:pt x="57" y="175"/>
                    </a:lnTo>
                    <a:lnTo>
                      <a:pt x="68" y="165"/>
                    </a:lnTo>
                    <a:lnTo>
                      <a:pt x="89" y="143"/>
                    </a:lnTo>
                    <a:lnTo>
                      <a:pt x="78" y="112"/>
                    </a:lnTo>
                    <a:lnTo>
                      <a:pt x="56" y="134"/>
                    </a:lnTo>
                    <a:lnTo>
                      <a:pt x="50" y="130"/>
                    </a:lnTo>
                    <a:lnTo>
                      <a:pt x="44" y="127"/>
                    </a:lnTo>
                    <a:lnTo>
                      <a:pt x="37" y="125"/>
                    </a:lnTo>
                    <a:lnTo>
                      <a:pt x="30" y="123"/>
                    </a:lnTo>
                    <a:lnTo>
                      <a:pt x="30" y="31"/>
                    </a:lnTo>
                    <a:lnTo>
                      <a:pt x="43" y="32"/>
                    </a:lnTo>
                    <a:lnTo>
                      <a:pt x="55" y="36"/>
                    </a:lnTo>
                    <a:lnTo>
                      <a:pt x="67" y="39"/>
                    </a:lnTo>
                    <a:lnTo>
                      <a:pt x="79" y="43"/>
                    </a:lnTo>
                    <a:lnTo>
                      <a:pt x="90" y="49"/>
                    </a:lnTo>
                    <a:lnTo>
                      <a:pt x="101" y="54"/>
                    </a:lnTo>
                    <a:lnTo>
                      <a:pt x="111" y="61"/>
                    </a:lnTo>
                    <a:lnTo>
                      <a:pt x="121" y="69"/>
                    </a:lnTo>
                    <a:lnTo>
                      <a:pt x="78" y="112"/>
                    </a:lnTo>
                    <a:lnTo>
                      <a:pt x="89" y="143"/>
                    </a:lnTo>
                    <a:lnTo>
                      <a:pt x="154" y="80"/>
                    </a:lnTo>
                    <a:lnTo>
                      <a:pt x="164" y="68"/>
                    </a:lnTo>
                    <a:lnTo>
                      <a:pt x="154" y="58"/>
                    </a:lnTo>
                    <a:lnTo>
                      <a:pt x="140" y="45"/>
                    </a:lnTo>
                    <a:lnTo>
                      <a:pt x="124" y="34"/>
                    </a:lnTo>
                    <a:lnTo>
                      <a:pt x="108" y="23"/>
                    </a:lnTo>
                    <a:lnTo>
                      <a:pt x="90" y="15"/>
                    </a:lnTo>
                    <a:lnTo>
                      <a:pt x="72" y="8"/>
                    </a:lnTo>
                    <a:lnTo>
                      <a:pt x="53" y="4"/>
                    </a:lnTo>
                    <a:lnTo>
                      <a:pt x="35" y="1"/>
                    </a:lnTo>
                    <a:lnTo>
                      <a:pt x="15" y="0"/>
                    </a:lnTo>
                    <a:lnTo>
                      <a:pt x="0" y="0"/>
                    </a:lnTo>
                    <a:lnTo>
                      <a:pt x="0" y="16"/>
                    </a:lnTo>
                    <a:lnTo>
                      <a:pt x="0" y="137"/>
                    </a:lnTo>
                    <a:lnTo>
                      <a:pt x="0" y="152"/>
                    </a:lnTo>
                    <a:lnTo>
                      <a:pt x="15" y="152"/>
                    </a:lnTo>
                    <a:lnTo>
                      <a:pt x="23" y="153"/>
                    </a:lnTo>
                    <a:lnTo>
                      <a:pt x="33" y="156"/>
                    </a:lnTo>
                    <a:lnTo>
                      <a:pt x="40" y="159"/>
                    </a:lnTo>
                    <a:lnTo>
                      <a:pt x="47" y="165"/>
                    </a:lnTo>
                    <a:close/>
                  </a:path>
                </a:pathLst>
              </a:custGeom>
              <a:solidFill>
                <a:srgbClr val="000000"/>
              </a:solidFill>
              <a:ln w="9525">
                <a:noFill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111" name="Freeform 15"/>
              <p:cNvSpPr>
                <a:spLocks/>
              </p:cNvSpPr>
              <p:nvPr/>
            </p:nvSpPr>
            <p:spPr bwMode="auto">
              <a:xfrm>
                <a:off x="9783763" y="3036888"/>
                <a:ext cx="76200" cy="36513"/>
              </a:xfrm>
              <a:custGeom>
                <a:avLst/>
                <a:gdLst/>
                <a:ahLst/>
                <a:cxnLst>
                  <a:cxn ang="0">
                    <a:pos x="33" y="30"/>
                  </a:cxn>
                  <a:cxn ang="0">
                    <a:pos x="96" y="30"/>
                  </a:cxn>
                  <a:cxn ang="0">
                    <a:pos x="96" y="0"/>
                  </a:cxn>
                  <a:cxn ang="0">
                    <a:pos x="19" y="0"/>
                  </a:cxn>
                  <a:cxn ang="0">
                    <a:pos x="4" y="0"/>
                  </a:cxn>
                  <a:cxn ang="0">
                    <a:pos x="4" y="15"/>
                  </a:cxn>
                  <a:cxn ang="0">
                    <a:pos x="4" y="20"/>
                  </a:cxn>
                  <a:cxn ang="0">
                    <a:pos x="3" y="24"/>
                  </a:cxn>
                  <a:cxn ang="0">
                    <a:pos x="2" y="29"/>
                  </a:cxn>
                  <a:cxn ang="0">
                    <a:pos x="0" y="33"/>
                  </a:cxn>
                  <a:cxn ang="0">
                    <a:pos x="27" y="46"/>
                  </a:cxn>
                  <a:cxn ang="0">
                    <a:pos x="28" y="43"/>
                  </a:cxn>
                  <a:cxn ang="0">
                    <a:pos x="31" y="38"/>
                  </a:cxn>
                  <a:cxn ang="0">
                    <a:pos x="32" y="35"/>
                  </a:cxn>
                  <a:cxn ang="0">
                    <a:pos x="33" y="30"/>
                  </a:cxn>
                </a:cxnLst>
                <a:rect l="0" t="0" r="r" b="b"/>
                <a:pathLst>
                  <a:path w="96" h="46">
                    <a:moveTo>
                      <a:pt x="33" y="30"/>
                    </a:moveTo>
                    <a:lnTo>
                      <a:pt x="96" y="30"/>
                    </a:lnTo>
                    <a:lnTo>
                      <a:pt x="96" y="0"/>
                    </a:lnTo>
                    <a:lnTo>
                      <a:pt x="19" y="0"/>
                    </a:lnTo>
                    <a:lnTo>
                      <a:pt x="4" y="0"/>
                    </a:lnTo>
                    <a:lnTo>
                      <a:pt x="4" y="15"/>
                    </a:lnTo>
                    <a:lnTo>
                      <a:pt x="4" y="20"/>
                    </a:lnTo>
                    <a:lnTo>
                      <a:pt x="3" y="24"/>
                    </a:lnTo>
                    <a:lnTo>
                      <a:pt x="2" y="29"/>
                    </a:lnTo>
                    <a:lnTo>
                      <a:pt x="0" y="33"/>
                    </a:lnTo>
                    <a:lnTo>
                      <a:pt x="27" y="46"/>
                    </a:lnTo>
                    <a:lnTo>
                      <a:pt x="28" y="43"/>
                    </a:lnTo>
                    <a:lnTo>
                      <a:pt x="31" y="38"/>
                    </a:lnTo>
                    <a:lnTo>
                      <a:pt x="32" y="35"/>
                    </a:lnTo>
                    <a:lnTo>
                      <a:pt x="33" y="30"/>
                    </a:lnTo>
                    <a:close/>
                  </a:path>
                </a:pathLst>
              </a:custGeom>
              <a:solidFill>
                <a:srgbClr val="000000"/>
              </a:solidFill>
              <a:ln w="9525">
                <a:noFill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112" name="Freeform 16"/>
              <p:cNvSpPr>
                <a:spLocks/>
              </p:cNvSpPr>
              <p:nvPr/>
            </p:nvSpPr>
            <p:spPr bwMode="auto">
              <a:xfrm>
                <a:off x="9769475" y="3036888"/>
                <a:ext cx="138113" cy="128588"/>
              </a:xfrm>
              <a:custGeom>
                <a:avLst/>
                <a:gdLst/>
                <a:ahLst/>
                <a:cxnLst>
                  <a:cxn ang="0">
                    <a:pos x="175" y="0"/>
                  </a:cxn>
                  <a:cxn ang="0">
                    <a:pos x="159" y="0"/>
                  </a:cxn>
                  <a:cxn ang="0">
                    <a:pos x="115" y="0"/>
                  </a:cxn>
                  <a:cxn ang="0">
                    <a:pos x="115" y="30"/>
                  </a:cxn>
                  <a:cxn ang="0">
                    <a:pos x="144" y="30"/>
                  </a:cxn>
                  <a:cxn ang="0">
                    <a:pos x="143" y="43"/>
                  </a:cxn>
                  <a:cxn ang="0">
                    <a:pos x="139" y="54"/>
                  </a:cxn>
                  <a:cxn ang="0">
                    <a:pos x="136" y="67"/>
                  </a:cxn>
                  <a:cxn ang="0">
                    <a:pos x="133" y="78"/>
                  </a:cxn>
                  <a:cxn ang="0">
                    <a:pos x="127" y="89"/>
                  </a:cxn>
                  <a:cxn ang="0">
                    <a:pos x="121" y="100"/>
                  </a:cxn>
                  <a:cxn ang="0">
                    <a:pos x="114" y="111"/>
                  </a:cxn>
                  <a:cxn ang="0">
                    <a:pos x="106" y="120"/>
                  </a:cxn>
                  <a:cxn ang="0">
                    <a:pos x="42" y="55"/>
                  </a:cxn>
                  <a:cxn ang="0">
                    <a:pos x="43" y="53"/>
                  </a:cxn>
                  <a:cxn ang="0">
                    <a:pos x="44" y="51"/>
                  </a:cxn>
                  <a:cxn ang="0">
                    <a:pos x="45" y="48"/>
                  </a:cxn>
                  <a:cxn ang="0">
                    <a:pos x="46" y="46"/>
                  </a:cxn>
                  <a:cxn ang="0">
                    <a:pos x="19" y="33"/>
                  </a:cxn>
                  <a:cxn ang="0">
                    <a:pos x="16" y="37"/>
                  </a:cxn>
                  <a:cxn ang="0">
                    <a:pos x="15" y="40"/>
                  </a:cxn>
                  <a:cxn ang="0">
                    <a:pos x="13" y="44"/>
                  </a:cxn>
                  <a:cxn ang="0">
                    <a:pos x="11" y="46"/>
                  </a:cxn>
                  <a:cxn ang="0">
                    <a:pos x="0" y="56"/>
                  </a:cxn>
                  <a:cxn ang="0">
                    <a:pos x="11" y="67"/>
                  </a:cxn>
                  <a:cxn ang="0">
                    <a:pos x="96" y="152"/>
                  </a:cxn>
                  <a:cxn ang="0">
                    <a:pos x="107" y="164"/>
                  </a:cxn>
                  <a:cxn ang="0">
                    <a:pos x="118" y="152"/>
                  </a:cxn>
                  <a:cxn ang="0">
                    <a:pos x="130" y="138"/>
                  </a:cxn>
                  <a:cxn ang="0">
                    <a:pos x="142" y="122"/>
                  </a:cxn>
                  <a:cxn ang="0">
                    <a:pos x="152" y="106"/>
                  </a:cxn>
                  <a:cxn ang="0">
                    <a:pos x="160" y="89"/>
                  </a:cxn>
                  <a:cxn ang="0">
                    <a:pos x="167" y="71"/>
                  </a:cxn>
                  <a:cxn ang="0">
                    <a:pos x="172" y="53"/>
                  </a:cxn>
                  <a:cxn ang="0">
                    <a:pos x="174" y="35"/>
                  </a:cxn>
                  <a:cxn ang="0">
                    <a:pos x="175" y="15"/>
                  </a:cxn>
                  <a:cxn ang="0">
                    <a:pos x="175" y="0"/>
                  </a:cxn>
                </a:cxnLst>
                <a:rect l="0" t="0" r="r" b="b"/>
                <a:pathLst>
                  <a:path w="175" h="164">
                    <a:moveTo>
                      <a:pt x="175" y="0"/>
                    </a:moveTo>
                    <a:lnTo>
                      <a:pt x="159" y="0"/>
                    </a:lnTo>
                    <a:lnTo>
                      <a:pt x="115" y="0"/>
                    </a:lnTo>
                    <a:lnTo>
                      <a:pt x="115" y="30"/>
                    </a:lnTo>
                    <a:lnTo>
                      <a:pt x="144" y="30"/>
                    </a:lnTo>
                    <a:lnTo>
                      <a:pt x="143" y="43"/>
                    </a:lnTo>
                    <a:lnTo>
                      <a:pt x="139" y="54"/>
                    </a:lnTo>
                    <a:lnTo>
                      <a:pt x="136" y="67"/>
                    </a:lnTo>
                    <a:lnTo>
                      <a:pt x="133" y="78"/>
                    </a:lnTo>
                    <a:lnTo>
                      <a:pt x="127" y="89"/>
                    </a:lnTo>
                    <a:lnTo>
                      <a:pt x="121" y="100"/>
                    </a:lnTo>
                    <a:lnTo>
                      <a:pt x="114" y="111"/>
                    </a:lnTo>
                    <a:lnTo>
                      <a:pt x="106" y="120"/>
                    </a:lnTo>
                    <a:lnTo>
                      <a:pt x="42" y="55"/>
                    </a:lnTo>
                    <a:lnTo>
                      <a:pt x="43" y="53"/>
                    </a:lnTo>
                    <a:lnTo>
                      <a:pt x="44" y="51"/>
                    </a:lnTo>
                    <a:lnTo>
                      <a:pt x="45" y="48"/>
                    </a:lnTo>
                    <a:lnTo>
                      <a:pt x="46" y="46"/>
                    </a:lnTo>
                    <a:lnTo>
                      <a:pt x="19" y="33"/>
                    </a:lnTo>
                    <a:lnTo>
                      <a:pt x="16" y="37"/>
                    </a:lnTo>
                    <a:lnTo>
                      <a:pt x="15" y="40"/>
                    </a:lnTo>
                    <a:lnTo>
                      <a:pt x="13" y="44"/>
                    </a:lnTo>
                    <a:lnTo>
                      <a:pt x="11" y="46"/>
                    </a:lnTo>
                    <a:lnTo>
                      <a:pt x="0" y="56"/>
                    </a:lnTo>
                    <a:lnTo>
                      <a:pt x="11" y="67"/>
                    </a:lnTo>
                    <a:lnTo>
                      <a:pt x="96" y="152"/>
                    </a:lnTo>
                    <a:lnTo>
                      <a:pt x="107" y="164"/>
                    </a:lnTo>
                    <a:lnTo>
                      <a:pt x="118" y="152"/>
                    </a:lnTo>
                    <a:lnTo>
                      <a:pt x="130" y="138"/>
                    </a:lnTo>
                    <a:lnTo>
                      <a:pt x="142" y="122"/>
                    </a:lnTo>
                    <a:lnTo>
                      <a:pt x="152" y="106"/>
                    </a:lnTo>
                    <a:lnTo>
                      <a:pt x="160" y="89"/>
                    </a:lnTo>
                    <a:lnTo>
                      <a:pt x="167" y="71"/>
                    </a:lnTo>
                    <a:lnTo>
                      <a:pt x="172" y="53"/>
                    </a:lnTo>
                    <a:lnTo>
                      <a:pt x="174" y="35"/>
                    </a:lnTo>
                    <a:lnTo>
                      <a:pt x="175" y="15"/>
                    </a:lnTo>
                    <a:lnTo>
                      <a:pt x="175" y="0"/>
                    </a:lnTo>
                    <a:close/>
                  </a:path>
                </a:pathLst>
              </a:custGeom>
              <a:solidFill>
                <a:srgbClr val="000000"/>
              </a:solidFill>
              <a:ln w="9525">
                <a:noFill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113" name="Freeform 17"/>
              <p:cNvSpPr>
                <a:spLocks/>
              </p:cNvSpPr>
              <p:nvPr/>
            </p:nvSpPr>
            <p:spPr bwMode="auto">
              <a:xfrm>
                <a:off x="9634538" y="3063875"/>
                <a:ext cx="130175" cy="138113"/>
              </a:xfrm>
              <a:custGeom>
                <a:avLst/>
                <a:gdLst/>
                <a:ahLst/>
                <a:cxnLst>
                  <a:cxn ang="0">
                    <a:pos x="163" y="24"/>
                  </a:cxn>
                  <a:cxn ang="0">
                    <a:pos x="148" y="24"/>
                  </a:cxn>
                  <a:cxn ang="0">
                    <a:pos x="140" y="23"/>
                  </a:cxn>
                  <a:cxn ang="0">
                    <a:pos x="132" y="20"/>
                  </a:cxn>
                  <a:cxn ang="0">
                    <a:pos x="124" y="17"/>
                  </a:cxn>
                  <a:cxn ang="0">
                    <a:pos x="117" y="11"/>
                  </a:cxn>
                  <a:cxn ang="0">
                    <a:pos x="107" y="0"/>
                  </a:cxn>
                  <a:cxn ang="0">
                    <a:pos x="97" y="11"/>
                  </a:cxn>
                  <a:cxn ang="0">
                    <a:pos x="11" y="96"/>
                  </a:cxn>
                  <a:cxn ang="0">
                    <a:pos x="0" y="107"/>
                  </a:cxn>
                  <a:cxn ang="0">
                    <a:pos x="11" y="117"/>
                  </a:cxn>
                  <a:cxn ang="0">
                    <a:pos x="25" y="130"/>
                  </a:cxn>
                  <a:cxn ang="0">
                    <a:pos x="41" y="141"/>
                  </a:cxn>
                  <a:cxn ang="0">
                    <a:pos x="57" y="152"/>
                  </a:cxn>
                  <a:cxn ang="0">
                    <a:pos x="75" y="160"/>
                  </a:cxn>
                  <a:cxn ang="0">
                    <a:pos x="92" y="167"/>
                  </a:cxn>
                  <a:cxn ang="0">
                    <a:pos x="110" y="171"/>
                  </a:cxn>
                  <a:cxn ang="0">
                    <a:pos x="129" y="174"/>
                  </a:cxn>
                  <a:cxn ang="0">
                    <a:pos x="148" y="175"/>
                  </a:cxn>
                  <a:cxn ang="0">
                    <a:pos x="163" y="175"/>
                  </a:cxn>
                  <a:cxn ang="0">
                    <a:pos x="163" y="160"/>
                  </a:cxn>
                  <a:cxn ang="0">
                    <a:pos x="163" y="86"/>
                  </a:cxn>
                  <a:cxn ang="0">
                    <a:pos x="133" y="88"/>
                  </a:cxn>
                  <a:cxn ang="0">
                    <a:pos x="133" y="144"/>
                  </a:cxn>
                  <a:cxn ang="0">
                    <a:pos x="121" y="142"/>
                  </a:cxn>
                  <a:cxn ang="0">
                    <a:pos x="109" y="139"/>
                  </a:cxn>
                  <a:cxn ang="0">
                    <a:pos x="97" y="136"/>
                  </a:cxn>
                  <a:cxn ang="0">
                    <a:pos x="85" y="132"/>
                  </a:cxn>
                  <a:cxn ang="0">
                    <a:pos x="75" y="126"/>
                  </a:cxn>
                  <a:cxn ang="0">
                    <a:pos x="63" y="121"/>
                  </a:cxn>
                  <a:cxn ang="0">
                    <a:pos x="53" y="114"/>
                  </a:cxn>
                  <a:cxn ang="0">
                    <a:pos x="44" y="107"/>
                  </a:cxn>
                  <a:cxn ang="0">
                    <a:pos x="108" y="42"/>
                  </a:cxn>
                  <a:cxn ang="0">
                    <a:pos x="114" y="46"/>
                  </a:cxn>
                  <a:cxn ang="0">
                    <a:pos x="121" y="48"/>
                  </a:cxn>
                  <a:cxn ang="0">
                    <a:pos x="127" y="50"/>
                  </a:cxn>
                  <a:cxn ang="0">
                    <a:pos x="133" y="53"/>
                  </a:cxn>
                  <a:cxn ang="0">
                    <a:pos x="133" y="88"/>
                  </a:cxn>
                  <a:cxn ang="0">
                    <a:pos x="163" y="86"/>
                  </a:cxn>
                  <a:cxn ang="0">
                    <a:pos x="163" y="39"/>
                  </a:cxn>
                  <a:cxn ang="0">
                    <a:pos x="163" y="24"/>
                  </a:cxn>
                </a:cxnLst>
                <a:rect l="0" t="0" r="r" b="b"/>
                <a:pathLst>
                  <a:path w="163" h="175">
                    <a:moveTo>
                      <a:pt x="163" y="24"/>
                    </a:moveTo>
                    <a:lnTo>
                      <a:pt x="148" y="24"/>
                    </a:lnTo>
                    <a:lnTo>
                      <a:pt x="140" y="23"/>
                    </a:lnTo>
                    <a:lnTo>
                      <a:pt x="132" y="20"/>
                    </a:lnTo>
                    <a:lnTo>
                      <a:pt x="124" y="17"/>
                    </a:lnTo>
                    <a:lnTo>
                      <a:pt x="117" y="11"/>
                    </a:lnTo>
                    <a:lnTo>
                      <a:pt x="107" y="0"/>
                    </a:lnTo>
                    <a:lnTo>
                      <a:pt x="97" y="11"/>
                    </a:lnTo>
                    <a:lnTo>
                      <a:pt x="11" y="96"/>
                    </a:lnTo>
                    <a:lnTo>
                      <a:pt x="0" y="107"/>
                    </a:lnTo>
                    <a:lnTo>
                      <a:pt x="11" y="117"/>
                    </a:lnTo>
                    <a:lnTo>
                      <a:pt x="25" y="130"/>
                    </a:lnTo>
                    <a:lnTo>
                      <a:pt x="41" y="141"/>
                    </a:lnTo>
                    <a:lnTo>
                      <a:pt x="57" y="152"/>
                    </a:lnTo>
                    <a:lnTo>
                      <a:pt x="75" y="160"/>
                    </a:lnTo>
                    <a:lnTo>
                      <a:pt x="92" y="167"/>
                    </a:lnTo>
                    <a:lnTo>
                      <a:pt x="110" y="171"/>
                    </a:lnTo>
                    <a:lnTo>
                      <a:pt x="129" y="174"/>
                    </a:lnTo>
                    <a:lnTo>
                      <a:pt x="148" y="175"/>
                    </a:lnTo>
                    <a:lnTo>
                      <a:pt x="163" y="175"/>
                    </a:lnTo>
                    <a:lnTo>
                      <a:pt x="163" y="160"/>
                    </a:lnTo>
                    <a:lnTo>
                      <a:pt x="163" y="86"/>
                    </a:lnTo>
                    <a:lnTo>
                      <a:pt x="133" y="88"/>
                    </a:lnTo>
                    <a:lnTo>
                      <a:pt x="133" y="144"/>
                    </a:lnTo>
                    <a:lnTo>
                      <a:pt x="121" y="142"/>
                    </a:lnTo>
                    <a:lnTo>
                      <a:pt x="109" y="139"/>
                    </a:lnTo>
                    <a:lnTo>
                      <a:pt x="97" y="136"/>
                    </a:lnTo>
                    <a:lnTo>
                      <a:pt x="85" y="132"/>
                    </a:lnTo>
                    <a:lnTo>
                      <a:pt x="75" y="126"/>
                    </a:lnTo>
                    <a:lnTo>
                      <a:pt x="63" y="121"/>
                    </a:lnTo>
                    <a:lnTo>
                      <a:pt x="53" y="114"/>
                    </a:lnTo>
                    <a:lnTo>
                      <a:pt x="44" y="107"/>
                    </a:lnTo>
                    <a:lnTo>
                      <a:pt x="108" y="42"/>
                    </a:lnTo>
                    <a:lnTo>
                      <a:pt x="114" y="46"/>
                    </a:lnTo>
                    <a:lnTo>
                      <a:pt x="121" y="48"/>
                    </a:lnTo>
                    <a:lnTo>
                      <a:pt x="127" y="50"/>
                    </a:lnTo>
                    <a:lnTo>
                      <a:pt x="133" y="53"/>
                    </a:lnTo>
                    <a:lnTo>
                      <a:pt x="133" y="88"/>
                    </a:lnTo>
                    <a:lnTo>
                      <a:pt x="163" y="86"/>
                    </a:lnTo>
                    <a:lnTo>
                      <a:pt x="163" y="39"/>
                    </a:lnTo>
                    <a:lnTo>
                      <a:pt x="163" y="24"/>
                    </a:lnTo>
                    <a:close/>
                  </a:path>
                </a:pathLst>
              </a:custGeom>
              <a:solidFill>
                <a:srgbClr val="000000"/>
              </a:solidFill>
              <a:ln w="9525">
                <a:noFill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</p:grpSp>
        <p:grpSp>
          <p:nvGrpSpPr>
            <p:cNvPr id="99" name="Group 79"/>
            <p:cNvGrpSpPr/>
            <p:nvPr/>
          </p:nvGrpSpPr>
          <p:grpSpPr>
            <a:xfrm>
              <a:off x="5248348" y="4876800"/>
              <a:ext cx="381000" cy="381000"/>
              <a:chOff x="9378950" y="2674938"/>
              <a:chExt cx="746125" cy="746125"/>
            </a:xfrm>
          </p:grpSpPr>
          <p:sp>
            <p:nvSpPr>
              <p:cNvPr id="100" name="Oval 99"/>
              <p:cNvSpPr/>
              <p:nvPr/>
            </p:nvSpPr>
            <p:spPr>
              <a:xfrm>
                <a:off x="9525000" y="2819400"/>
                <a:ext cx="457200" cy="457200"/>
              </a:xfrm>
              <a:prstGeom prst="ellipse">
                <a:avLst/>
              </a:prstGeom>
              <a:solidFill>
                <a:schemeClr val="bg1">
                  <a:lumMod val="8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01" name="Freeform 12"/>
              <p:cNvSpPr>
                <a:spLocks/>
              </p:cNvSpPr>
              <p:nvPr/>
            </p:nvSpPr>
            <p:spPr bwMode="auto">
              <a:xfrm>
                <a:off x="9378950" y="2674938"/>
                <a:ext cx="746125" cy="746125"/>
              </a:xfrm>
              <a:custGeom>
                <a:avLst/>
                <a:gdLst/>
                <a:ahLst/>
                <a:cxnLst>
                  <a:cxn ang="0">
                    <a:pos x="930" y="378"/>
                  </a:cxn>
                  <a:cxn ang="0">
                    <a:pos x="884" y="249"/>
                  </a:cxn>
                  <a:cxn ang="0">
                    <a:pos x="802" y="137"/>
                  </a:cxn>
                  <a:cxn ang="0">
                    <a:pos x="749" y="91"/>
                  </a:cxn>
                  <a:cxn ang="0">
                    <a:pos x="690" y="55"/>
                  </a:cxn>
                  <a:cxn ang="0">
                    <a:pos x="628" y="28"/>
                  </a:cxn>
                  <a:cxn ang="0">
                    <a:pos x="562" y="9"/>
                  </a:cxn>
                  <a:cxn ang="0">
                    <a:pos x="492" y="0"/>
                  </a:cxn>
                  <a:cxn ang="0">
                    <a:pos x="375" y="9"/>
                  </a:cxn>
                  <a:cxn ang="0">
                    <a:pos x="246" y="56"/>
                  </a:cxn>
                  <a:cxn ang="0">
                    <a:pos x="138" y="138"/>
                  </a:cxn>
                  <a:cxn ang="0">
                    <a:pos x="56" y="247"/>
                  </a:cxn>
                  <a:cxn ang="0">
                    <a:pos x="9" y="376"/>
                  </a:cxn>
                  <a:cxn ang="0">
                    <a:pos x="2" y="517"/>
                  </a:cxn>
                  <a:cxn ang="0">
                    <a:pos x="35" y="650"/>
                  </a:cxn>
                  <a:cxn ang="0">
                    <a:pos x="107" y="767"/>
                  </a:cxn>
                  <a:cxn ang="0">
                    <a:pos x="172" y="833"/>
                  </a:cxn>
                  <a:cxn ang="0">
                    <a:pos x="229" y="873"/>
                  </a:cxn>
                  <a:cxn ang="0">
                    <a:pos x="290" y="904"/>
                  </a:cxn>
                  <a:cxn ang="0">
                    <a:pos x="354" y="926"/>
                  </a:cxn>
                  <a:cxn ang="0">
                    <a:pos x="422" y="938"/>
                  </a:cxn>
                  <a:cxn ang="0">
                    <a:pos x="490" y="940"/>
                  </a:cxn>
                  <a:cxn ang="0">
                    <a:pos x="552" y="933"/>
                  </a:cxn>
                  <a:cxn ang="0">
                    <a:pos x="611" y="918"/>
                  </a:cxn>
                  <a:cxn ang="0">
                    <a:pos x="669" y="896"/>
                  </a:cxn>
                  <a:cxn ang="0">
                    <a:pos x="722" y="866"/>
                  </a:cxn>
                  <a:cxn ang="0">
                    <a:pos x="771" y="829"/>
                  </a:cxn>
                  <a:cxn ang="0">
                    <a:pos x="556" y="680"/>
                  </a:cxn>
                  <a:cxn ang="0">
                    <a:pos x="513" y="692"/>
                  </a:cxn>
                  <a:cxn ang="0">
                    <a:pos x="469" y="697"/>
                  </a:cxn>
                  <a:cxn ang="0">
                    <a:pos x="404" y="687"/>
                  </a:cxn>
                  <a:cxn ang="0">
                    <a:pos x="344" y="659"/>
                  </a:cxn>
                  <a:cxn ang="0">
                    <a:pos x="294" y="614"/>
                  </a:cxn>
                  <a:cxn ang="0">
                    <a:pos x="260" y="556"/>
                  </a:cxn>
                  <a:cxn ang="0">
                    <a:pos x="244" y="492"/>
                  </a:cxn>
                  <a:cxn ang="0">
                    <a:pos x="247" y="425"/>
                  </a:cxn>
                  <a:cxn ang="0">
                    <a:pos x="269" y="363"/>
                  </a:cxn>
                  <a:cxn ang="0">
                    <a:pos x="309" y="309"/>
                  </a:cxn>
                  <a:cxn ang="0">
                    <a:pos x="364" y="270"/>
                  </a:cxn>
                  <a:cxn ang="0">
                    <a:pos x="426" y="248"/>
                  </a:cxn>
                  <a:cxn ang="0">
                    <a:pos x="492" y="244"/>
                  </a:cxn>
                  <a:cxn ang="0">
                    <a:pos x="557" y="260"/>
                  </a:cxn>
                  <a:cxn ang="0">
                    <a:pos x="613" y="294"/>
                  </a:cxn>
                  <a:cxn ang="0">
                    <a:pos x="659" y="343"/>
                  </a:cxn>
                  <a:cxn ang="0">
                    <a:pos x="687" y="403"/>
                  </a:cxn>
                  <a:cxn ang="0">
                    <a:pos x="696" y="470"/>
                  </a:cxn>
                  <a:cxn ang="0">
                    <a:pos x="678" y="559"/>
                  </a:cxn>
                  <a:cxn ang="0">
                    <a:pos x="628" y="632"/>
                  </a:cxn>
                  <a:cxn ang="0">
                    <a:pos x="771" y="829"/>
                  </a:cxn>
                  <a:cxn ang="0">
                    <a:pos x="794" y="810"/>
                  </a:cxn>
                  <a:cxn ang="0">
                    <a:pos x="861" y="730"/>
                  </a:cxn>
                  <a:cxn ang="0">
                    <a:pos x="920" y="607"/>
                  </a:cxn>
                  <a:cxn ang="0">
                    <a:pos x="939" y="470"/>
                  </a:cxn>
                </a:cxnLst>
                <a:rect l="0" t="0" r="r" b="b"/>
                <a:pathLst>
                  <a:path w="939" h="940">
                    <a:moveTo>
                      <a:pt x="939" y="470"/>
                    </a:moveTo>
                    <a:lnTo>
                      <a:pt x="937" y="423"/>
                    </a:lnTo>
                    <a:lnTo>
                      <a:pt x="930" y="378"/>
                    </a:lnTo>
                    <a:lnTo>
                      <a:pt x="920" y="333"/>
                    </a:lnTo>
                    <a:lnTo>
                      <a:pt x="903" y="289"/>
                    </a:lnTo>
                    <a:lnTo>
                      <a:pt x="884" y="249"/>
                    </a:lnTo>
                    <a:lnTo>
                      <a:pt x="861" y="208"/>
                    </a:lnTo>
                    <a:lnTo>
                      <a:pt x="833" y="172"/>
                    </a:lnTo>
                    <a:lnTo>
                      <a:pt x="802" y="137"/>
                    </a:lnTo>
                    <a:lnTo>
                      <a:pt x="785" y="121"/>
                    </a:lnTo>
                    <a:lnTo>
                      <a:pt x="768" y="106"/>
                    </a:lnTo>
                    <a:lnTo>
                      <a:pt x="749" y="91"/>
                    </a:lnTo>
                    <a:lnTo>
                      <a:pt x="731" y="78"/>
                    </a:lnTo>
                    <a:lnTo>
                      <a:pt x="711" y="66"/>
                    </a:lnTo>
                    <a:lnTo>
                      <a:pt x="690" y="55"/>
                    </a:lnTo>
                    <a:lnTo>
                      <a:pt x="671" y="45"/>
                    </a:lnTo>
                    <a:lnTo>
                      <a:pt x="650" y="36"/>
                    </a:lnTo>
                    <a:lnTo>
                      <a:pt x="628" y="28"/>
                    </a:lnTo>
                    <a:lnTo>
                      <a:pt x="606" y="20"/>
                    </a:lnTo>
                    <a:lnTo>
                      <a:pt x="585" y="14"/>
                    </a:lnTo>
                    <a:lnTo>
                      <a:pt x="562" y="9"/>
                    </a:lnTo>
                    <a:lnTo>
                      <a:pt x="540" y="5"/>
                    </a:lnTo>
                    <a:lnTo>
                      <a:pt x="517" y="2"/>
                    </a:lnTo>
                    <a:lnTo>
                      <a:pt x="492" y="0"/>
                    </a:lnTo>
                    <a:lnTo>
                      <a:pt x="469" y="0"/>
                    </a:lnTo>
                    <a:lnTo>
                      <a:pt x="421" y="2"/>
                    </a:lnTo>
                    <a:lnTo>
                      <a:pt x="375" y="9"/>
                    </a:lnTo>
                    <a:lnTo>
                      <a:pt x="330" y="21"/>
                    </a:lnTo>
                    <a:lnTo>
                      <a:pt x="286" y="37"/>
                    </a:lnTo>
                    <a:lnTo>
                      <a:pt x="246" y="56"/>
                    </a:lnTo>
                    <a:lnTo>
                      <a:pt x="207" y="81"/>
                    </a:lnTo>
                    <a:lnTo>
                      <a:pt x="171" y="107"/>
                    </a:lnTo>
                    <a:lnTo>
                      <a:pt x="138" y="138"/>
                    </a:lnTo>
                    <a:lnTo>
                      <a:pt x="107" y="172"/>
                    </a:lnTo>
                    <a:lnTo>
                      <a:pt x="80" y="207"/>
                    </a:lnTo>
                    <a:lnTo>
                      <a:pt x="56" y="247"/>
                    </a:lnTo>
                    <a:lnTo>
                      <a:pt x="37" y="287"/>
                    </a:lnTo>
                    <a:lnTo>
                      <a:pt x="20" y="331"/>
                    </a:lnTo>
                    <a:lnTo>
                      <a:pt x="9" y="376"/>
                    </a:lnTo>
                    <a:lnTo>
                      <a:pt x="2" y="422"/>
                    </a:lnTo>
                    <a:lnTo>
                      <a:pt x="0" y="470"/>
                    </a:lnTo>
                    <a:lnTo>
                      <a:pt x="2" y="517"/>
                    </a:lnTo>
                    <a:lnTo>
                      <a:pt x="9" y="562"/>
                    </a:lnTo>
                    <a:lnTo>
                      <a:pt x="20" y="607"/>
                    </a:lnTo>
                    <a:lnTo>
                      <a:pt x="35" y="650"/>
                    </a:lnTo>
                    <a:lnTo>
                      <a:pt x="55" y="691"/>
                    </a:lnTo>
                    <a:lnTo>
                      <a:pt x="79" y="730"/>
                    </a:lnTo>
                    <a:lnTo>
                      <a:pt x="107" y="767"/>
                    </a:lnTo>
                    <a:lnTo>
                      <a:pt x="138" y="802"/>
                    </a:lnTo>
                    <a:lnTo>
                      <a:pt x="155" y="818"/>
                    </a:lnTo>
                    <a:lnTo>
                      <a:pt x="172" y="833"/>
                    </a:lnTo>
                    <a:lnTo>
                      <a:pt x="191" y="848"/>
                    </a:lnTo>
                    <a:lnTo>
                      <a:pt x="209" y="861"/>
                    </a:lnTo>
                    <a:lnTo>
                      <a:pt x="229" y="873"/>
                    </a:lnTo>
                    <a:lnTo>
                      <a:pt x="248" y="885"/>
                    </a:lnTo>
                    <a:lnTo>
                      <a:pt x="269" y="895"/>
                    </a:lnTo>
                    <a:lnTo>
                      <a:pt x="290" y="904"/>
                    </a:lnTo>
                    <a:lnTo>
                      <a:pt x="311" y="912"/>
                    </a:lnTo>
                    <a:lnTo>
                      <a:pt x="332" y="919"/>
                    </a:lnTo>
                    <a:lnTo>
                      <a:pt x="354" y="926"/>
                    </a:lnTo>
                    <a:lnTo>
                      <a:pt x="377" y="931"/>
                    </a:lnTo>
                    <a:lnTo>
                      <a:pt x="400" y="935"/>
                    </a:lnTo>
                    <a:lnTo>
                      <a:pt x="422" y="938"/>
                    </a:lnTo>
                    <a:lnTo>
                      <a:pt x="446" y="939"/>
                    </a:lnTo>
                    <a:lnTo>
                      <a:pt x="469" y="940"/>
                    </a:lnTo>
                    <a:lnTo>
                      <a:pt x="490" y="940"/>
                    </a:lnTo>
                    <a:lnTo>
                      <a:pt x="511" y="938"/>
                    </a:lnTo>
                    <a:lnTo>
                      <a:pt x="532" y="935"/>
                    </a:lnTo>
                    <a:lnTo>
                      <a:pt x="552" y="933"/>
                    </a:lnTo>
                    <a:lnTo>
                      <a:pt x="572" y="928"/>
                    </a:lnTo>
                    <a:lnTo>
                      <a:pt x="591" y="924"/>
                    </a:lnTo>
                    <a:lnTo>
                      <a:pt x="611" y="918"/>
                    </a:lnTo>
                    <a:lnTo>
                      <a:pt x="631" y="911"/>
                    </a:lnTo>
                    <a:lnTo>
                      <a:pt x="649" y="904"/>
                    </a:lnTo>
                    <a:lnTo>
                      <a:pt x="669" y="896"/>
                    </a:lnTo>
                    <a:lnTo>
                      <a:pt x="686" y="887"/>
                    </a:lnTo>
                    <a:lnTo>
                      <a:pt x="704" y="877"/>
                    </a:lnTo>
                    <a:lnTo>
                      <a:pt x="722" y="866"/>
                    </a:lnTo>
                    <a:lnTo>
                      <a:pt x="739" y="855"/>
                    </a:lnTo>
                    <a:lnTo>
                      <a:pt x="755" y="842"/>
                    </a:lnTo>
                    <a:lnTo>
                      <a:pt x="771" y="829"/>
                    </a:lnTo>
                    <a:lnTo>
                      <a:pt x="581" y="667"/>
                    </a:lnTo>
                    <a:lnTo>
                      <a:pt x="568" y="674"/>
                    </a:lnTo>
                    <a:lnTo>
                      <a:pt x="556" y="680"/>
                    </a:lnTo>
                    <a:lnTo>
                      <a:pt x="542" y="685"/>
                    </a:lnTo>
                    <a:lnTo>
                      <a:pt x="528" y="689"/>
                    </a:lnTo>
                    <a:lnTo>
                      <a:pt x="513" y="692"/>
                    </a:lnTo>
                    <a:lnTo>
                      <a:pt x="499" y="695"/>
                    </a:lnTo>
                    <a:lnTo>
                      <a:pt x="484" y="697"/>
                    </a:lnTo>
                    <a:lnTo>
                      <a:pt x="469" y="697"/>
                    </a:lnTo>
                    <a:lnTo>
                      <a:pt x="448" y="696"/>
                    </a:lnTo>
                    <a:lnTo>
                      <a:pt x="426" y="692"/>
                    </a:lnTo>
                    <a:lnTo>
                      <a:pt x="404" y="687"/>
                    </a:lnTo>
                    <a:lnTo>
                      <a:pt x="383" y="680"/>
                    </a:lnTo>
                    <a:lnTo>
                      <a:pt x="364" y="670"/>
                    </a:lnTo>
                    <a:lnTo>
                      <a:pt x="344" y="659"/>
                    </a:lnTo>
                    <a:lnTo>
                      <a:pt x="326" y="645"/>
                    </a:lnTo>
                    <a:lnTo>
                      <a:pt x="309" y="630"/>
                    </a:lnTo>
                    <a:lnTo>
                      <a:pt x="294" y="614"/>
                    </a:lnTo>
                    <a:lnTo>
                      <a:pt x="281" y="596"/>
                    </a:lnTo>
                    <a:lnTo>
                      <a:pt x="269" y="576"/>
                    </a:lnTo>
                    <a:lnTo>
                      <a:pt x="260" y="556"/>
                    </a:lnTo>
                    <a:lnTo>
                      <a:pt x="253" y="536"/>
                    </a:lnTo>
                    <a:lnTo>
                      <a:pt x="247" y="514"/>
                    </a:lnTo>
                    <a:lnTo>
                      <a:pt x="244" y="492"/>
                    </a:lnTo>
                    <a:lnTo>
                      <a:pt x="243" y="470"/>
                    </a:lnTo>
                    <a:lnTo>
                      <a:pt x="244" y="447"/>
                    </a:lnTo>
                    <a:lnTo>
                      <a:pt x="247" y="425"/>
                    </a:lnTo>
                    <a:lnTo>
                      <a:pt x="253" y="403"/>
                    </a:lnTo>
                    <a:lnTo>
                      <a:pt x="260" y="382"/>
                    </a:lnTo>
                    <a:lnTo>
                      <a:pt x="269" y="363"/>
                    </a:lnTo>
                    <a:lnTo>
                      <a:pt x="281" y="343"/>
                    </a:lnTo>
                    <a:lnTo>
                      <a:pt x="294" y="326"/>
                    </a:lnTo>
                    <a:lnTo>
                      <a:pt x="309" y="309"/>
                    </a:lnTo>
                    <a:lnTo>
                      <a:pt x="326" y="294"/>
                    </a:lnTo>
                    <a:lnTo>
                      <a:pt x="344" y="280"/>
                    </a:lnTo>
                    <a:lnTo>
                      <a:pt x="364" y="270"/>
                    </a:lnTo>
                    <a:lnTo>
                      <a:pt x="383" y="260"/>
                    </a:lnTo>
                    <a:lnTo>
                      <a:pt x="404" y="252"/>
                    </a:lnTo>
                    <a:lnTo>
                      <a:pt x="426" y="248"/>
                    </a:lnTo>
                    <a:lnTo>
                      <a:pt x="448" y="244"/>
                    </a:lnTo>
                    <a:lnTo>
                      <a:pt x="469" y="243"/>
                    </a:lnTo>
                    <a:lnTo>
                      <a:pt x="492" y="244"/>
                    </a:lnTo>
                    <a:lnTo>
                      <a:pt x="514" y="248"/>
                    </a:lnTo>
                    <a:lnTo>
                      <a:pt x="536" y="252"/>
                    </a:lnTo>
                    <a:lnTo>
                      <a:pt x="557" y="260"/>
                    </a:lnTo>
                    <a:lnTo>
                      <a:pt x="576" y="270"/>
                    </a:lnTo>
                    <a:lnTo>
                      <a:pt x="596" y="280"/>
                    </a:lnTo>
                    <a:lnTo>
                      <a:pt x="613" y="294"/>
                    </a:lnTo>
                    <a:lnTo>
                      <a:pt x="631" y="309"/>
                    </a:lnTo>
                    <a:lnTo>
                      <a:pt x="646" y="326"/>
                    </a:lnTo>
                    <a:lnTo>
                      <a:pt x="659" y="343"/>
                    </a:lnTo>
                    <a:lnTo>
                      <a:pt x="670" y="363"/>
                    </a:lnTo>
                    <a:lnTo>
                      <a:pt x="679" y="382"/>
                    </a:lnTo>
                    <a:lnTo>
                      <a:pt x="687" y="403"/>
                    </a:lnTo>
                    <a:lnTo>
                      <a:pt x="692" y="425"/>
                    </a:lnTo>
                    <a:lnTo>
                      <a:pt x="695" y="447"/>
                    </a:lnTo>
                    <a:lnTo>
                      <a:pt x="696" y="470"/>
                    </a:lnTo>
                    <a:lnTo>
                      <a:pt x="694" y="501"/>
                    </a:lnTo>
                    <a:lnTo>
                      <a:pt x="688" y="531"/>
                    </a:lnTo>
                    <a:lnTo>
                      <a:pt x="678" y="559"/>
                    </a:lnTo>
                    <a:lnTo>
                      <a:pt x="665" y="585"/>
                    </a:lnTo>
                    <a:lnTo>
                      <a:pt x="648" y="611"/>
                    </a:lnTo>
                    <a:lnTo>
                      <a:pt x="628" y="632"/>
                    </a:lnTo>
                    <a:lnTo>
                      <a:pt x="606" y="651"/>
                    </a:lnTo>
                    <a:lnTo>
                      <a:pt x="581" y="667"/>
                    </a:lnTo>
                    <a:lnTo>
                      <a:pt x="771" y="829"/>
                    </a:lnTo>
                    <a:lnTo>
                      <a:pt x="779" y="824"/>
                    </a:lnTo>
                    <a:lnTo>
                      <a:pt x="787" y="817"/>
                    </a:lnTo>
                    <a:lnTo>
                      <a:pt x="794" y="810"/>
                    </a:lnTo>
                    <a:lnTo>
                      <a:pt x="802" y="802"/>
                    </a:lnTo>
                    <a:lnTo>
                      <a:pt x="833" y="767"/>
                    </a:lnTo>
                    <a:lnTo>
                      <a:pt x="861" y="730"/>
                    </a:lnTo>
                    <a:lnTo>
                      <a:pt x="884" y="691"/>
                    </a:lnTo>
                    <a:lnTo>
                      <a:pt x="903" y="650"/>
                    </a:lnTo>
                    <a:lnTo>
                      <a:pt x="920" y="607"/>
                    </a:lnTo>
                    <a:lnTo>
                      <a:pt x="930" y="562"/>
                    </a:lnTo>
                    <a:lnTo>
                      <a:pt x="937" y="517"/>
                    </a:lnTo>
                    <a:lnTo>
                      <a:pt x="939" y="470"/>
                    </a:lnTo>
                    <a:close/>
                  </a:path>
                </a:pathLst>
              </a:custGeom>
              <a:solidFill>
                <a:srgbClr val="000000"/>
              </a:solidFill>
              <a:ln w="9525">
                <a:noFill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102" name="Freeform 13"/>
              <p:cNvSpPr>
                <a:spLocks/>
              </p:cNvSpPr>
              <p:nvPr/>
            </p:nvSpPr>
            <p:spPr bwMode="auto">
              <a:xfrm>
                <a:off x="9598025" y="2930525"/>
                <a:ext cx="138113" cy="128588"/>
              </a:xfrm>
              <a:custGeom>
                <a:avLst/>
                <a:gdLst/>
                <a:ahLst/>
                <a:cxnLst>
                  <a:cxn ang="0">
                    <a:pos x="151" y="164"/>
                  </a:cxn>
                  <a:cxn ang="0">
                    <a:pos x="151" y="149"/>
                  </a:cxn>
                  <a:cxn ang="0">
                    <a:pos x="152" y="141"/>
                  </a:cxn>
                  <a:cxn ang="0">
                    <a:pos x="154" y="132"/>
                  </a:cxn>
                  <a:cxn ang="0">
                    <a:pos x="158" y="125"/>
                  </a:cxn>
                  <a:cxn ang="0">
                    <a:pos x="163" y="118"/>
                  </a:cxn>
                  <a:cxn ang="0">
                    <a:pos x="175" y="108"/>
                  </a:cxn>
                  <a:cxn ang="0">
                    <a:pos x="163" y="96"/>
                  </a:cxn>
                  <a:cxn ang="0">
                    <a:pos x="114" y="46"/>
                  </a:cxn>
                  <a:cxn ang="0">
                    <a:pos x="99" y="74"/>
                  </a:cxn>
                  <a:cxn ang="0">
                    <a:pos x="132" y="109"/>
                  </a:cxn>
                  <a:cxn ang="0">
                    <a:pos x="129" y="114"/>
                  </a:cxn>
                  <a:cxn ang="0">
                    <a:pos x="127" y="120"/>
                  </a:cxn>
                  <a:cxn ang="0">
                    <a:pos x="124" y="127"/>
                  </a:cxn>
                  <a:cxn ang="0">
                    <a:pos x="122" y="134"/>
                  </a:cxn>
                  <a:cxn ang="0">
                    <a:pos x="31" y="134"/>
                  </a:cxn>
                  <a:cxn ang="0">
                    <a:pos x="32" y="121"/>
                  </a:cxn>
                  <a:cxn ang="0">
                    <a:pos x="36" y="110"/>
                  </a:cxn>
                  <a:cxn ang="0">
                    <a:pos x="39" y="97"/>
                  </a:cxn>
                  <a:cxn ang="0">
                    <a:pos x="42" y="86"/>
                  </a:cxn>
                  <a:cxn ang="0">
                    <a:pos x="48" y="74"/>
                  </a:cxn>
                  <a:cxn ang="0">
                    <a:pos x="54" y="64"/>
                  </a:cxn>
                  <a:cxn ang="0">
                    <a:pos x="61" y="53"/>
                  </a:cxn>
                  <a:cxn ang="0">
                    <a:pos x="68" y="43"/>
                  </a:cxn>
                  <a:cxn ang="0">
                    <a:pos x="99" y="74"/>
                  </a:cxn>
                  <a:cxn ang="0">
                    <a:pos x="114" y="46"/>
                  </a:cxn>
                  <a:cxn ang="0">
                    <a:pos x="78" y="11"/>
                  </a:cxn>
                  <a:cxn ang="0">
                    <a:pos x="68" y="0"/>
                  </a:cxn>
                  <a:cxn ang="0">
                    <a:pos x="57" y="11"/>
                  </a:cxn>
                  <a:cxn ang="0">
                    <a:pos x="45" y="25"/>
                  </a:cxn>
                  <a:cxn ang="0">
                    <a:pos x="33" y="41"/>
                  </a:cxn>
                  <a:cxn ang="0">
                    <a:pos x="23" y="57"/>
                  </a:cxn>
                  <a:cxn ang="0">
                    <a:pos x="15" y="74"/>
                  </a:cxn>
                  <a:cxn ang="0">
                    <a:pos x="8" y="93"/>
                  </a:cxn>
                  <a:cxn ang="0">
                    <a:pos x="3" y="111"/>
                  </a:cxn>
                  <a:cxn ang="0">
                    <a:pos x="1" y="129"/>
                  </a:cxn>
                  <a:cxn ang="0">
                    <a:pos x="0" y="149"/>
                  </a:cxn>
                  <a:cxn ang="0">
                    <a:pos x="0" y="164"/>
                  </a:cxn>
                  <a:cxn ang="0">
                    <a:pos x="15" y="164"/>
                  </a:cxn>
                  <a:cxn ang="0">
                    <a:pos x="136" y="164"/>
                  </a:cxn>
                  <a:cxn ang="0">
                    <a:pos x="151" y="164"/>
                  </a:cxn>
                </a:cxnLst>
                <a:rect l="0" t="0" r="r" b="b"/>
                <a:pathLst>
                  <a:path w="175" h="164">
                    <a:moveTo>
                      <a:pt x="151" y="164"/>
                    </a:moveTo>
                    <a:lnTo>
                      <a:pt x="151" y="149"/>
                    </a:lnTo>
                    <a:lnTo>
                      <a:pt x="152" y="141"/>
                    </a:lnTo>
                    <a:lnTo>
                      <a:pt x="154" y="132"/>
                    </a:lnTo>
                    <a:lnTo>
                      <a:pt x="158" y="125"/>
                    </a:lnTo>
                    <a:lnTo>
                      <a:pt x="163" y="118"/>
                    </a:lnTo>
                    <a:lnTo>
                      <a:pt x="175" y="108"/>
                    </a:lnTo>
                    <a:lnTo>
                      <a:pt x="163" y="96"/>
                    </a:lnTo>
                    <a:lnTo>
                      <a:pt x="114" y="46"/>
                    </a:lnTo>
                    <a:lnTo>
                      <a:pt x="99" y="74"/>
                    </a:lnTo>
                    <a:lnTo>
                      <a:pt x="132" y="109"/>
                    </a:lnTo>
                    <a:lnTo>
                      <a:pt x="129" y="114"/>
                    </a:lnTo>
                    <a:lnTo>
                      <a:pt x="127" y="120"/>
                    </a:lnTo>
                    <a:lnTo>
                      <a:pt x="124" y="127"/>
                    </a:lnTo>
                    <a:lnTo>
                      <a:pt x="122" y="134"/>
                    </a:lnTo>
                    <a:lnTo>
                      <a:pt x="31" y="134"/>
                    </a:lnTo>
                    <a:lnTo>
                      <a:pt x="32" y="121"/>
                    </a:lnTo>
                    <a:lnTo>
                      <a:pt x="36" y="110"/>
                    </a:lnTo>
                    <a:lnTo>
                      <a:pt x="39" y="97"/>
                    </a:lnTo>
                    <a:lnTo>
                      <a:pt x="42" y="86"/>
                    </a:lnTo>
                    <a:lnTo>
                      <a:pt x="48" y="74"/>
                    </a:lnTo>
                    <a:lnTo>
                      <a:pt x="54" y="64"/>
                    </a:lnTo>
                    <a:lnTo>
                      <a:pt x="61" y="53"/>
                    </a:lnTo>
                    <a:lnTo>
                      <a:pt x="68" y="43"/>
                    </a:lnTo>
                    <a:lnTo>
                      <a:pt x="99" y="74"/>
                    </a:lnTo>
                    <a:lnTo>
                      <a:pt x="114" y="46"/>
                    </a:lnTo>
                    <a:lnTo>
                      <a:pt x="78" y="11"/>
                    </a:lnTo>
                    <a:lnTo>
                      <a:pt x="68" y="0"/>
                    </a:lnTo>
                    <a:lnTo>
                      <a:pt x="57" y="11"/>
                    </a:lnTo>
                    <a:lnTo>
                      <a:pt x="45" y="25"/>
                    </a:lnTo>
                    <a:lnTo>
                      <a:pt x="33" y="41"/>
                    </a:lnTo>
                    <a:lnTo>
                      <a:pt x="23" y="57"/>
                    </a:lnTo>
                    <a:lnTo>
                      <a:pt x="15" y="74"/>
                    </a:lnTo>
                    <a:lnTo>
                      <a:pt x="8" y="93"/>
                    </a:lnTo>
                    <a:lnTo>
                      <a:pt x="3" y="111"/>
                    </a:lnTo>
                    <a:lnTo>
                      <a:pt x="1" y="129"/>
                    </a:lnTo>
                    <a:lnTo>
                      <a:pt x="0" y="149"/>
                    </a:lnTo>
                    <a:lnTo>
                      <a:pt x="0" y="164"/>
                    </a:lnTo>
                    <a:lnTo>
                      <a:pt x="15" y="164"/>
                    </a:lnTo>
                    <a:lnTo>
                      <a:pt x="136" y="164"/>
                    </a:lnTo>
                    <a:lnTo>
                      <a:pt x="151" y="164"/>
                    </a:lnTo>
                    <a:close/>
                  </a:path>
                </a:pathLst>
              </a:custGeom>
              <a:solidFill>
                <a:srgbClr val="000000"/>
              </a:solidFill>
              <a:ln w="9525">
                <a:noFill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103" name="Freeform 14"/>
              <p:cNvSpPr>
                <a:spLocks/>
              </p:cNvSpPr>
              <p:nvPr/>
            </p:nvSpPr>
            <p:spPr bwMode="auto">
              <a:xfrm>
                <a:off x="9740900" y="2892425"/>
                <a:ext cx="128588" cy="139700"/>
              </a:xfrm>
              <a:custGeom>
                <a:avLst/>
                <a:gdLst/>
                <a:ahLst/>
                <a:cxnLst>
                  <a:cxn ang="0">
                    <a:pos x="47" y="165"/>
                  </a:cxn>
                  <a:cxn ang="0">
                    <a:pos x="57" y="175"/>
                  </a:cxn>
                  <a:cxn ang="0">
                    <a:pos x="68" y="165"/>
                  </a:cxn>
                  <a:cxn ang="0">
                    <a:pos x="89" y="143"/>
                  </a:cxn>
                  <a:cxn ang="0">
                    <a:pos x="78" y="112"/>
                  </a:cxn>
                  <a:cxn ang="0">
                    <a:pos x="56" y="134"/>
                  </a:cxn>
                  <a:cxn ang="0">
                    <a:pos x="50" y="130"/>
                  </a:cxn>
                  <a:cxn ang="0">
                    <a:pos x="44" y="127"/>
                  </a:cxn>
                  <a:cxn ang="0">
                    <a:pos x="37" y="125"/>
                  </a:cxn>
                  <a:cxn ang="0">
                    <a:pos x="30" y="123"/>
                  </a:cxn>
                  <a:cxn ang="0">
                    <a:pos x="30" y="31"/>
                  </a:cxn>
                  <a:cxn ang="0">
                    <a:pos x="43" y="32"/>
                  </a:cxn>
                  <a:cxn ang="0">
                    <a:pos x="55" y="36"/>
                  </a:cxn>
                  <a:cxn ang="0">
                    <a:pos x="67" y="39"/>
                  </a:cxn>
                  <a:cxn ang="0">
                    <a:pos x="79" y="43"/>
                  </a:cxn>
                  <a:cxn ang="0">
                    <a:pos x="90" y="49"/>
                  </a:cxn>
                  <a:cxn ang="0">
                    <a:pos x="101" y="54"/>
                  </a:cxn>
                  <a:cxn ang="0">
                    <a:pos x="111" y="61"/>
                  </a:cxn>
                  <a:cxn ang="0">
                    <a:pos x="121" y="69"/>
                  </a:cxn>
                  <a:cxn ang="0">
                    <a:pos x="78" y="112"/>
                  </a:cxn>
                  <a:cxn ang="0">
                    <a:pos x="89" y="143"/>
                  </a:cxn>
                  <a:cxn ang="0">
                    <a:pos x="154" y="80"/>
                  </a:cxn>
                  <a:cxn ang="0">
                    <a:pos x="164" y="68"/>
                  </a:cxn>
                  <a:cxn ang="0">
                    <a:pos x="154" y="58"/>
                  </a:cxn>
                  <a:cxn ang="0">
                    <a:pos x="140" y="45"/>
                  </a:cxn>
                  <a:cxn ang="0">
                    <a:pos x="124" y="34"/>
                  </a:cxn>
                  <a:cxn ang="0">
                    <a:pos x="108" y="23"/>
                  </a:cxn>
                  <a:cxn ang="0">
                    <a:pos x="90" y="15"/>
                  </a:cxn>
                  <a:cxn ang="0">
                    <a:pos x="72" y="8"/>
                  </a:cxn>
                  <a:cxn ang="0">
                    <a:pos x="53" y="4"/>
                  </a:cxn>
                  <a:cxn ang="0">
                    <a:pos x="35" y="1"/>
                  </a:cxn>
                  <a:cxn ang="0">
                    <a:pos x="15" y="0"/>
                  </a:cxn>
                  <a:cxn ang="0">
                    <a:pos x="0" y="0"/>
                  </a:cxn>
                  <a:cxn ang="0">
                    <a:pos x="0" y="16"/>
                  </a:cxn>
                  <a:cxn ang="0">
                    <a:pos x="0" y="137"/>
                  </a:cxn>
                  <a:cxn ang="0">
                    <a:pos x="0" y="152"/>
                  </a:cxn>
                  <a:cxn ang="0">
                    <a:pos x="15" y="152"/>
                  </a:cxn>
                  <a:cxn ang="0">
                    <a:pos x="23" y="153"/>
                  </a:cxn>
                  <a:cxn ang="0">
                    <a:pos x="33" y="156"/>
                  </a:cxn>
                  <a:cxn ang="0">
                    <a:pos x="40" y="159"/>
                  </a:cxn>
                  <a:cxn ang="0">
                    <a:pos x="47" y="165"/>
                  </a:cxn>
                </a:cxnLst>
                <a:rect l="0" t="0" r="r" b="b"/>
                <a:pathLst>
                  <a:path w="164" h="175">
                    <a:moveTo>
                      <a:pt x="47" y="165"/>
                    </a:moveTo>
                    <a:lnTo>
                      <a:pt x="57" y="175"/>
                    </a:lnTo>
                    <a:lnTo>
                      <a:pt x="68" y="165"/>
                    </a:lnTo>
                    <a:lnTo>
                      <a:pt x="89" y="143"/>
                    </a:lnTo>
                    <a:lnTo>
                      <a:pt x="78" y="112"/>
                    </a:lnTo>
                    <a:lnTo>
                      <a:pt x="56" y="134"/>
                    </a:lnTo>
                    <a:lnTo>
                      <a:pt x="50" y="130"/>
                    </a:lnTo>
                    <a:lnTo>
                      <a:pt x="44" y="127"/>
                    </a:lnTo>
                    <a:lnTo>
                      <a:pt x="37" y="125"/>
                    </a:lnTo>
                    <a:lnTo>
                      <a:pt x="30" y="123"/>
                    </a:lnTo>
                    <a:lnTo>
                      <a:pt x="30" y="31"/>
                    </a:lnTo>
                    <a:lnTo>
                      <a:pt x="43" y="32"/>
                    </a:lnTo>
                    <a:lnTo>
                      <a:pt x="55" y="36"/>
                    </a:lnTo>
                    <a:lnTo>
                      <a:pt x="67" y="39"/>
                    </a:lnTo>
                    <a:lnTo>
                      <a:pt x="79" y="43"/>
                    </a:lnTo>
                    <a:lnTo>
                      <a:pt x="90" y="49"/>
                    </a:lnTo>
                    <a:lnTo>
                      <a:pt x="101" y="54"/>
                    </a:lnTo>
                    <a:lnTo>
                      <a:pt x="111" y="61"/>
                    </a:lnTo>
                    <a:lnTo>
                      <a:pt x="121" y="69"/>
                    </a:lnTo>
                    <a:lnTo>
                      <a:pt x="78" y="112"/>
                    </a:lnTo>
                    <a:lnTo>
                      <a:pt x="89" y="143"/>
                    </a:lnTo>
                    <a:lnTo>
                      <a:pt x="154" y="80"/>
                    </a:lnTo>
                    <a:lnTo>
                      <a:pt x="164" y="68"/>
                    </a:lnTo>
                    <a:lnTo>
                      <a:pt x="154" y="58"/>
                    </a:lnTo>
                    <a:lnTo>
                      <a:pt x="140" y="45"/>
                    </a:lnTo>
                    <a:lnTo>
                      <a:pt x="124" y="34"/>
                    </a:lnTo>
                    <a:lnTo>
                      <a:pt x="108" y="23"/>
                    </a:lnTo>
                    <a:lnTo>
                      <a:pt x="90" y="15"/>
                    </a:lnTo>
                    <a:lnTo>
                      <a:pt x="72" y="8"/>
                    </a:lnTo>
                    <a:lnTo>
                      <a:pt x="53" y="4"/>
                    </a:lnTo>
                    <a:lnTo>
                      <a:pt x="35" y="1"/>
                    </a:lnTo>
                    <a:lnTo>
                      <a:pt x="15" y="0"/>
                    </a:lnTo>
                    <a:lnTo>
                      <a:pt x="0" y="0"/>
                    </a:lnTo>
                    <a:lnTo>
                      <a:pt x="0" y="16"/>
                    </a:lnTo>
                    <a:lnTo>
                      <a:pt x="0" y="137"/>
                    </a:lnTo>
                    <a:lnTo>
                      <a:pt x="0" y="152"/>
                    </a:lnTo>
                    <a:lnTo>
                      <a:pt x="15" y="152"/>
                    </a:lnTo>
                    <a:lnTo>
                      <a:pt x="23" y="153"/>
                    </a:lnTo>
                    <a:lnTo>
                      <a:pt x="33" y="156"/>
                    </a:lnTo>
                    <a:lnTo>
                      <a:pt x="40" y="159"/>
                    </a:lnTo>
                    <a:lnTo>
                      <a:pt x="47" y="165"/>
                    </a:lnTo>
                    <a:close/>
                  </a:path>
                </a:pathLst>
              </a:custGeom>
              <a:solidFill>
                <a:srgbClr val="000000"/>
              </a:solidFill>
              <a:ln w="9525">
                <a:noFill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104" name="Freeform 15"/>
              <p:cNvSpPr>
                <a:spLocks/>
              </p:cNvSpPr>
              <p:nvPr/>
            </p:nvSpPr>
            <p:spPr bwMode="auto">
              <a:xfrm>
                <a:off x="9783763" y="3036888"/>
                <a:ext cx="76200" cy="36513"/>
              </a:xfrm>
              <a:custGeom>
                <a:avLst/>
                <a:gdLst/>
                <a:ahLst/>
                <a:cxnLst>
                  <a:cxn ang="0">
                    <a:pos x="33" y="30"/>
                  </a:cxn>
                  <a:cxn ang="0">
                    <a:pos x="96" y="30"/>
                  </a:cxn>
                  <a:cxn ang="0">
                    <a:pos x="96" y="0"/>
                  </a:cxn>
                  <a:cxn ang="0">
                    <a:pos x="19" y="0"/>
                  </a:cxn>
                  <a:cxn ang="0">
                    <a:pos x="4" y="0"/>
                  </a:cxn>
                  <a:cxn ang="0">
                    <a:pos x="4" y="15"/>
                  </a:cxn>
                  <a:cxn ang="0">
                    <a:pos x="4" y="20"/>
                  </a:cxn>
                  <a:cxn ang="0">
                    <a:pos x="3" y="24"/>
                  </a:cxn>
                  <a:cxn ang="0">
                    <a:pos x="2" y="29"/>
                  </a:cxn>
                  <a:cxn ang="0">
                    <a:pos x="0" y="33"/>
                  </a:cxn>
                  <a:cxn ang="0">
                    <a:pos x="27" y="46"/>
                  </a:cxn>
                  <a:cxn ang="0">
                    <a:pos x="28" y="43"/>
                  </a:cxn>
                  <a:cxn ang="0">
                    <a:pos x="31" y="38"/>
                  </a:cxn>
                  <a:cxn ang="0">
                    <a:pos x="32" y="35"/>
                  </a:cxn>
                  <a:cxn ang="0">
                    <a:pos x="33" y="30"/>
                  </a:cxn>
                </a:cxnLst>
                <a:rect l="0" t="0" r="r" b="b"/>
                <a:pathLst>
                  <a:path w="96" h="46">
                    <a:moveTo>
                      <a:pt x="33" y="30"/>
                    </a:moveTo>
                    <a:lnTo>
                      <a:pt x="96" y="30"/>
                    </a:lnTo>
                    <a:lnTo>
                      <a:pt x="96" y="0"/>
                    </a:lnTo>
                    <a:lnTo>
                      <a:pt x="19" y="0"/>
                    </a:lnTo>
                    <a:lnTo>
                      <a:pt x="4" y="0"/>
                    </a:lnTo>
                    <a:lnTo>
                      <a:pt x="4" y="15"/>
                    </a:lnTo>
                    <a:lnTo>
                      <a:pt x="4" y="20"/>
                    </a:lnTo>
                    <a:lnTo>
                      <a:pt x="3" y="24"/>
                    </a:lnTo>
                    <a:lnTo>
                      <a:pt x="2" y="29"/>
                    </a:lnTo>
                    <a:lnTo>
                      <a:pt x="0" y="33"/>
                    </a:lnTo>
                    <a:lnTo>
                      <a:pt x="27" y="46"/>
                    </a:lnTo>
                    <a:lnTo>
                      <a:pt x="28" y="43"/>
                    </a:lnTo>
                    <a:lnTo>
                      <a:pt x="31" y="38"/>
                    </a:lnTo>
                    <a:lnTo>
                      <a:pt x="32" y="35"/>
                    </a:lnTo>
                    <a:lnTo>
                      <a:pt x="33" y="30"/>
                    </a:lnTo>
                    <a:close/>
                  </a:path>
                </a:pathLst>
              </a:custGeom>
              <a:solidFill>
                <a:srgbClr val="000000"/>
              </a:solidFill>
              <a:ln w="9525">
                <a:noFill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105" name="Freeform 16"/>
              <p:cNvSpPr>
                <a:spLocks/>
              </p:cNvSpPr>
              <p:nvPr/>
            </p:nvSpPr>
            <p:spPr bwMode="auto">
              <a:xfrm>
                <a:off x="9769475" y="3036888"/>
                <a:ext cx="138113" cy="128588"/>
              </a:xfrm>
              <a:custGeom>
                <a:avLst/>
                <a:gdLst/>
                <a:ahLst/>
                <a:cxnLst>
                  <a:cxn ang="0">
                    <a:pos x="175" y="0"/>
                  </a:cxn>
                  <a:cxn ang="0">
                    <a:pos x="159" y="0"/>
                  </a:cxn>
                  <a:cxn ang="0">
                    <a:pos x="115" y="0"/>
                  </a:cxn>
                  <a:cxn ang="0">
                    <a:pos x="115" y="30"/>
                  </a:cxn>
                  <a:cxn ang="0">
                    <a:pos x="144" y="30"/>
                  </a:cxn>
                  <a:cxn ang="0">
                    <a:pos x="143" y="43"/>
                  </a:cxn>
                  <a:cxn ang="0">
                    <a:pos x="139" y="54"/>
                  </a:cxn>
                  <a:cxn ang="0">
                    <a:pos x="136" y="67"/>
                  </a:cxn>
                  <a:cxn ang="0">
                    <a:pos x="133" y="78"/>
                  </a:cxn>
                  <a:cxn ang="0">
                    <a:pos x="127" y="89"/>
                  </a:cxn>
                  <a:cxn ang="0">
                    <a:pos x="121" y="100"/>
                  </a:cxn>
                  <a:cxn ang="0">
                    <a:pos x="114" y="111"/>
                  </a:cxn>
                  <a:cxn ang="0">
                    <a:pos x="106" y="120"/>
                  </a:cxn>
                  <a:cxn ang="0">
                    <a:pos x="42" y="55"/>
                  </a:cxn>
                  <a:cxn ang="0">
                    <a:pos x="43" y="53"/>
                  </a:cxn>
                  <a:cxn ang="0">
                    <a:pos x="44" y="51"/>
                  </a:cxn>
                  <a:cxn ang="0">
                    <a:pos x="45" y="48"/>
                  </a:cxn>
                  <a:cxn ang="0">
                    <a:pos x="46" y="46"/>
                  </a:cxn>
                  <a:cxn ang="0">
                    <a:pos x="19" y="33"/>
                  </a:cxn>
                  <a:cxn ang="0">
                    <a:pos x="16" y="37"/>
                  </a:cxn>
                  <a:cxn ang="0">
                    <a:pos x="15" y="40"/>
                  </a:cxn>
                  <a:cxn ang="0">
                    <a:pos x="13" y="44"/>
                  </a:cxn>
                  <a:cxn ang="0">
                    <a:pos x="11" y="46"/>
                  </a:cxn>
                  <a:cxn ang="0">
                    <a:pos x="0" y="56"/>
                  </a:cxn>
                  <a:cxn ang="0">
                    <a:pos x="11" y="67"/>
                  </a:cxn>
                  <a:cxn ang="0">
                    <a:pos x="96" y="152"/>
                  </a:cxn>
                  <a:cxn ang="0">
                    <a:pos x="107" y="164"/>
                  </a:cxn>
                  <a:cxn ang="0">
                    <a:pos x="118" y="152"/>
                  </a:cxn>
                  <a:cxn ang="0">
                    <a:pos x="130" y="138"/>
                  </a:cxn>
                  <a:cxn ang="0">
                    <a:pos x="142" y="122"/>
                  </a:cxn>
                  <a:cxn ang="0">
                    <a:pos x="152" y="106"/>
                  </a:cxn>
                  <a:cxn ang="0">
                    <a:pos x="160" y="89"/>
                  </a:cxn>
                  <a:cxn ang="0">
                    <a:pos x="167" y="71"/>
                  </a:cxn>
                  <a:cxn ang="0">
                    <a:pos x="172" y="53"/>
                  </a:cxn>
                  <a:cxn ang="0">
                    <a:pos x="174" y="35"/>
                  </a:cxn>
                  <a:cxn ang="0">
                    <a:pos x="175" y="15"/>
                  </a:cxn>
                  <a:cxn ang="0">
                    <a:pos x="175" y="0"/>
                  </a:cxn>
                </a:cxnLst>
                <a:rect l="0" t="0" r="r" b="b"/>
                <a:pathLst>
                  <a:path w="175" h="164">
                    <a:moveTo>
                      <a:pt x="175" y="0"/>
                    </a:moveTo>
                    <a:lnTo>
                      <a:pt x="159" y="0"/>
                    </a:lnTo>
                    <a:lnTo>
                      <a:pt x="115" y="0"/>
                    </a:lnTo>
                    <a:lnTo>
                      <a:pt x="115" y="30"/>
                    </a:lnTo>
                    <a:lnTo>
                      <a:pt x="144" y="30"/>
                    </a:lnTo>
                    <a:lnTo>
                      <a:pt x="143" y="43"/>
                    </a:lnTo>
                    <a:lnTo>
                      <a:pt x="139" y="54"/>
                    </a:lnTo>
                    <a:lnTo>
                      <a:pt x="136" y="67"/>
                    </a:lnTo>
                    <a:lnTo>
                      <a:pt x="133" y="78"/>
                    </a:lnTo>
                    <a:lnTo>
                      <a:pt x="127" y="89"/>
                    </a:lnTo>
                    <a:lnTo>
                      <a:pt x="121" y="100"/>
                    </a:lnTo>
                    <a:lnTo>
                      <a:pt x="114" y="111"/>
                    </a:lnTo>
                    <a:lnTo>
                      <a:pt x="106" y="120"/>
                    </a:lnTo>
                    <a:lnTo>
                      <a:pt x="42" y="55"/>
                    </a:lnTo>
                    <a:lnTo>
                      <a:pt x="43" y="53"/>
                    </a:lnTo>
                    <a:lnTo>
                      <a:pt x="44" y="51"/>
                    </a:lnTo>
                    <a:lnTo>
                      <a:pt x="45" y="48"/>
                    </a:lnTo>
                    <a:lnTo>
                      <a:pt x="46" y="46"/>
                    </a:lnTo>
                    <a:lnTo>
                      <a:pt x="19" y="33"/>
                    </a:lnTo>
                    <a:lnTo>
                      <a:pt x="16" y="37"/>
                    </a:lnTo>
                    <a:lnTo>
                      <a:pt x="15" y="40"/>
                    </a:lnTo>
                    <a:lnTo>
                      <a:pt x="13" y="44"/>
                    </a:lnTo>
                    <a:lnTo>
                      <a:pt x="11" y="46"/>
                    </a:lnTo>
                    <a:lnTo>
                      <a:pt x="0" y="56"/>
                    </a:lnTo>
                    <a:lnTo>
                      <a:pt x="11" y="67"/>
                    </a:lnTo>
                    <a:lnTo>
                      <a:pt x="96" y="152"/>
                    </a:lnTo>
                    <a:lnTo>
                      <a:pt x="107" y="164"/>
                    </a:lnTo>
                    <a:lnTo>
                      <a:pt x="118" y="152"/>
                    </a:lnTo>
                    <a:lnTo>
                      <a:pt x="130" y="138"/>
                    </a:lnTo>
                    <a:lnTo>
                      <a:pt x="142" y="122"/>
                    </a:lnTo>
                    <a:lnTo>
                      <a:pt x="152" y="106"/>
                    </a:lnTo>
                    <a:lnTo>
                      <a:pt x="160" y="89"/>
                    </a:lnTo>
                    <a:lnTo>
                      <a:pt x="167" y="71"/>
                    </a:lnTo>
                    <a:lnTo>
                      <a:pt x="172" y="53"/>
                    </a:lnTo>
                    <a:lnTo>
                      <a:pt x="174" y="35"/>
                    </a:lnTo>
                    <a:lnTo>
                      <a:pt x="175" y="15"/>
                    </a:lnTo>
                    <a:lnTo>
                      <a:pt x="175" y="0"/>
                    </a:lnTo>
                    <a:close/>
                  </a:path>
                </a:pathLst>
              </a:custGeom>
              <a:solidFill>
                <a:srgbClr val="000000"/>
              </a:solidFill>
              <a:ln w="9525">
                <a:noFill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106" name="Freeform 17"/>
              <p:cNvSpPr>
                <a:spLocks/>
              </p:cNvSpPr>
              <p:nvPr/>
            </p:nvSpPr>
            <p:spPr bwMode="auto">
              <a:xfrm>
                <a:off x="9634538" y="3063875"/>
                <a:ext cx="130175" cy="138113"/>
              </a:xfrm>
              <a:custGeom>
                <a:avLst/>
                <a:gdLst/>
                <a:ahLst/>
                <a:cxnLst>
                  <a:cxn ang="0">
                    <a:pos x="163" y="24"/>
                  </a:cxn>
                  <a:cxn ang="0">
                    <a:pos x="148" y="24"/>
                  </a:cxn>
                  <a:cxn ang="0">
                    <a:pos x="140" y="23"/>
                  </a:cxn>
                  <a:cxn ang="0">
                    <a:pos x="132" y="20"/>
                  </a:cxn>
                  <a:cxn ang="0">
                    <a:pos x="124" y="17"/>
                  </a:cxn>
                  <a:cxn ang="0">
                    <a:pos x="117" y="11"/>
                  </a:cxn>
                  <a:cxn ang="0">
                    <a:pos x="107" y="0"/>
                  </a:cxn>
                  <a:cxn ang="0">
                    <a:pos x="97" y="11"/>
                  </a:cxn>
                  <a:cxn ang="0">
                    <a:pos x="11" y="96"/>
                  </a:cxn>
                  <a:cxn ang="0">
                    <a:pos x="0" y="107"/>
                  </a:cxn>
                  <a:cxn ang="0">
                    <a:pos x="11" y="117"/>
                  </a:cxn>
                  <a:cxn ang="0">
                    <a:pos x="25" y="130"/>
                  </a:cxn>
                  <a:cxn ang="0">
                    <a:pos x="41" y="141"/>
                  </a:cxn>
                  <a:cxn ang="0">
                    <a:pos x="57" y="152"/>
                  </a:cxn>
                  <a:cxn ang="0">
                    <a:pos x="75" y="160"/>
                  </a:cxn>
                  <a:cxn ang="0">
                    <a:pos x="92" y="167"/>
                  </a:cxn>
                  <a:cxn ang="0">
                    <a:pos x="110" y="171"/>
                  </a:cxn>
                  <a:cxn ang="0">
                    <a:pos x="129" y="174"/>
                  </a:cxn>
                  <a:cxn ang="0">
                    <a:pos x="148" y="175"/>
                  </a:cxn>
                  <a:cxn ang="0">
                    <a:pos x="163" y="175"/>
                  </a:cxn>
                  <a:cxn ang="0">
                    <a:pos x="163" y="160"/>
                  </a:cxn>
                  <a:cxn ang="0">
                    <a:pos x="163" y="86"/>
                  </a:cxn>
                  <a:cxn ang="0">
                    <a:pos x="133" y="88"/>
                  </a:cxn>
                  <a:cxn ang="0">
                    <a:pos x="133" y="144"/>
                  </a:cxn>
                  <a:cxn ang="0">
                    <a:pos x="121" y="142"/>
                  </a:cxn>
                  <a:cxn ang="0">
                    <a:pos x="109" y="139"/>
                  </a:cxn>
                  <a:cxn ang="0">
                    <a:pos x="97" y="136"/>
                  </a:cxn>
                  <a:cxn ang="0">
                    <a:pos x="85" y="132"/>
                  </a:cxn>
                  <a:cxn ang="0">
                    <a:pos x="75" y="126"/>
                  </a:cxn>
                  <a:cxn ang="0">
                    <a:pos x="63" y="121"/>
                  </a:cxn>
                  <a:cxn ang="0">
                    <a:pos x="53" y="114"/>
                  </a:cxn>
                  <a:cxn ang="0">
                    <a:pos x="44" y="107"/>
                  </a:cxn>
                  <a:cxn ang="0">
                    <a:pos x="108" y="42"/>
                  </a:cxn>
                  <a:cxn ang="0">
                    <a:pos x="114" y="46"/>
                  </a:cxn>
                  <a:cxn ang="0">
                    <a:pos x="121" y="48"/>
                  </a:cxn>
                  <a:cxn ang="0">
                    <a:pos x="127" y="50"/>
                  </a:cxn>
                  <a:cxn ang="0">
                    <a:pos x="133" y="53"/>
                  </a:cxn>
                  <a:cxn ang="0">
                    <a:pos x="133" y="88"/>
                  </a:cxn>
                  <a:cxn ang="0">
                    <a:pos x="163" y="86"/>
                  </a:cxn>
                  <a:cxn ang="0">
                    <a:pos x="163" y="39"/>
                  </a:cxn>
                  <a:cxn ang="0">
                    <a:pos x="163" y="24"/>
                  </a:cxn>
                </a:cxnLst>
                <a:rect l="0" t="0" r="r" b="b"/>
                <a:pathLst>
                  <a:path w="163" h="175">
                    <a:moveTo>
                      <a:pt x="163" y="24"/>
                    </a:moveTo>
                    <a:lnTo>
                      <a:pt x="148" y="24"/>
                    </a:lnTo>
                    <a:lnTo>
                      <a:pt x="140" y="23"/>
                    </a:lnTo>
                    <a:lnTo>
                      <a:pt x="132" y="20"/>
                    </a:lnTo>
                    <a:lnTo>
                      <a:pt x="124" y="17"/>
                    </a:lnTo>
                    <a:lnTo>
                      <a:pt x="117" y="11"/>
                    </a:lnTo>
                    <a:lnTo>
                      <a:pt x="107" y="0"/>
                    </a:lnTo>
                    <a:lnTo>
                      <a:pt x="97" y="11"/>
                    </a:lnTo>
                    <a:lnTo>
                      <a:pt x="11" y="96"/>
                    </a:lnTo>
                    <a:lnTo>
                      <a:pt x="0" y="107"/>
                    </a:lnTo>
                    <a:lnTo>
                      <a:pt x="11" y="117"/>
                    </a:lnTo>
                    <a:lnTo>
                      <a:pt x="25" y="130"/>
                    </a:lnTo>
                    <a:lnTo>
                      <a:pt x="41" y="141"/>
                    </a:lnTo>
                    <a:lnTo>
                      <a:pt x="57" y="152"/>
                    </a:lnTo>
                    <a:lnTo>
                      <a:pt x="75" y="160"/>
                    </a:lnTo>
                    <a:lnTo>
                      <a:pt x="92" y="167"/>
                    </a:lnTo>
                    <a:lnTo>
                      <a:pt x="110" y="171"/>
                    </a:lnTo>
                    <a:lnTo>
                      <a:pt x="129" y="174"/>
                    </a:lnTo>
                    <a:lnTo>
                      <a:pt x="148" y="175"/>
                    </a:lnTo>
                    <a:lnTo>
                      <a:pt x="163" y="175"/>
                    </a:lnTo>
                    <a:lnTo>
                      <a:pt x="163" y="160"/>
                    </a:lnTo>
                    <a:lnTo>
                      <a:pt x="163" y="86"/>
                    </a:lnTo>
                    <a:lnTo>
                      <a:pt x="133" y="88"/>
                    </a:lnTo>
                    <a:lnTo>
                      <a:pt x="133" y="144"/>
                    </a:lnTo>
                    <a:lnTo>
                      <a:pt x="121" y="142"/>
                    </a:lnTo>
                    <a:lnTo>
                      <a:pt x="109" y="139"/>
                    </a:lnTo>
                    <a:lnTo>
                      <a:pt x="97" y="136"/>
                    </a:lnTo>
                    <a:lnTo>
                      <a:pt x="85" y="132"/>
                    </a:lnTo>
                    <a:lnTo>
                      <a:pt x="75" y="126"/>
                    </a:lnTo>
                    <a:lnTo>
                      <a:pt x="63" y="121"/>
                    </a:lnTo>
                    <a:lnTo>
                      <a:pt x="53" y="114"/>
                    </a:lnTo>
                    <a:lnTo>
                      <a:pt x="44" y="107"/>
                    </a:lnTo>
                    <a:lnTo>
                      <a:pt x="108" y="42"/>
                    </a:lnTo>
                    <a:lnTo>
                      <a:pt x="114" y="46"/>
                    </a:lnTo>
                    <a:lnTo>
                      <a:pt x="121" y="48"/>
                    </a:lnTo>
                    <a:lnTo>
                      <a:pt x="127" y="50"/>
                    </a:lnTo>
                    <a:lnTo>
                      <a:pt x="133" y="53"/>
                    </a:lnTo>
                    <a:lnTo>
                      <a:pt x="133" y="88"/>
                    </a:lnTo>
                    <a:lnTo>
                      <a:pt x="163" y="86"/>
                    </a:lnTo>
                    <a:lnTo>
                      <a:pt x="163" y="39"/>
                    </a:lnTo>
                    <a:lnTo>
                      <a:pt x="163" y="24"/>
                    </a:lnTo>
                    <a:close/>
                  </a:path>
                </a:pathLst>
              </a:custGeom>
              <a:solidFill>
                <a:srgbClr val="000000"/>
              </a:solidFill>
              <a:ln w="9525">
                <a:noFill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</p:grpSp>
      </p:grpSp>
      <p:pic>
        <p:nvPicPr>
          <p:cNvPr id="117" name="Picture 2" descr="C:\Users\agember\AppData\Local\Microsoft\Windows\Temporary Internet Files\Content.IE5\C0D333QZ\MC900355927[1].wmf"/>
          <p:cNvPicPr>
            <a:picLocks noChangeAspect="1" noChangeArrowheads="1"/>
          </p:cNvPicPr>
          <p:nvPr/>
        </p:nvPicPr>
        <p:blipFill>
          <a:blip r:embed="rId9" cstate="print"/>
          <a:srcRect/>
          <a:stretch>
            <a:fillRect/>
          </a:stretch>
        </p:blipFill>
        <p:spPr bwMode="auto">
          <a:xfrm>
            <a:off x="-1143000" y="5181600"/>
            <a:ext cx="1143000" cy="1375109"/>
          </a:xfrm>
          <a:prstGeom prst="rect">
            <a:avLst/>
          </a:prstGeom>
          <a:noFill/>
        </p:spPr>
      </p:pic>
      <p:pic>
        <p:nvPicPr>
          <p:cNvPr id="118" name="Picture 3" descr="C:\Users\agember\AppData\Local\Microsoft\Windows\Temporary Internet Files\Content.IE5\YJY5KOGY\MC900355929[1].wmf"/>
          <p:cNvPicPr>
            <a:picLocks noChangeAspect="1" noChangeArrowheads="1"/>
          </p:cNvPicPr>
          <p:nvPr/>
        </p:nvPicPr>
        <p:blipFill>
          <a:blip r:embed="rId10" cstate="print"/>
          <a:srcRect/>
          <a:stretch>
            <a:fillRect/>
          </a:stretch>
        </p:blipFill>
        <p:spPr bwMode="auto">
          <a:xfrm>
            <a:off x="9220200" y="5181600"/>
            <a:ext cx="1119882" cy="1295400"/>
          </a:xfrm>
          <a:prstGeom prst="rect">
            <a:avLst/>
          </a:prstGeom>
          <a:noFill/>
        </p:spPr>
      </p:pic>
      <p:pic>
        <p:nvPicPr>
          <p:cNvPr id="121" name="Picture 120" descr="memory.png"/>
          <p:cNvPicPr>
            <a:picLocks noChangeAspect="1"/>
          </p:cNvPicPr>
          <p:nvPr/>
        </p:nvPicPr>
        <p:blipFill>
          <a:blip r:embed="rId11" cstate="print"/>
          <a:stretch>
            <a:fillRect/>
          </a:stretch>
        </p:blipFill>
        <p:spPr>
          <a:xfrm>
            <a:off x="3067575" y="5969242"/>
            <a:ext cx="1961625" cy="431558"/>
          </a:xfrm>
          <a:prstGeom prst="rect">
            <a:avLst/>
          </a:prstGeom>
        </p:spPr>
      </p:pic>
      <p:pic>
        <p:nvPicPr>
          <p:cNvPr id="1042" name="Picture 18" descr="C:\Users\agember\AppData\Local\Microsoft\Windows\Temporary Internet Files\Content.IE5\C0D333QZ\MC900384022[1].wmf"/>
          <p:cNvPicPr>
            <a:picLocks noChangeAspect="1" noChangeArrowheads="1"/>
          </p:cNvPicPr>
          <p:nvPr/>
        </p:nvPicPr>
        <p:blipFill>
          <a:blip r:embed="rId12" cstate="print"/>
          <a:srcRect/>
          <a:stretch>
            <a:fillRect/>
          </a:stretch>
        </p:blipFill>
        <p:spPr bwMode="auto">
          <a:xfrm rot="18000000">
            <a:off x="5375253" y="5238125"/>
            <a:ext cx="1066800" cy="1239115"/>
          </a:xfrm>
          <a:prstGeom prst="rect">
            <a:avLst/>
          </a:prstGeom>
          <a:noFill/>
        </p:spPr>
      </p:pic>
      <p:sp>
        <p:nvSpPr>
          <p:cNvPr id="88" name="Rectangle 87"/>
          <p:cNvSpPr/>
          <p:nvPr/>
        </p:nvSpPr>
        <p:spPr>
          <a:xfrm>
            <a:off x="381000" y="4800600"/>
            <a:ext cx="8001000" cy="1828800"/>
          </a:xfrm>
          <a:prstGeom prst="rect">
            <a:avLst/>
          </a:prstGeom>
          <a:solidFill>
            <a:srgbClr val="FFFFFF">
              <a:alpha val="50196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262065306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53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1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" fill="hold">
                            <p:stCondLst>
                              <p:cond delay="1000"/>
                            </p:stCondLst>
                            <p:childTnLst>
                              <p:par>
                                <p:cTn id="15" presetID="53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7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1500"/>
                            </p:stCondLst>
                            <p:childTnLst>
                              <p:par>
                                <p:cTn id="21" presetID="53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3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6" fill="hold">
                            <p:stCondLst>
                              <p:cond delay="2000"/>
                            </p:stCondLst>
                            <p:childTnLst>
                              <p:par>
                                <p:cTn id="27" presetID="53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9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2" fill="hold">
                            <p:stCondLst>
                              <p:cond delay="2500"/>
                            </p:stCondLst>
                            <p:childTnLst>
                              <p:par>
                                <p:cTn id="33" presetID="53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5" dur="5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6" dur="5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4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3" fill="hold">
                            <p:stCondLst>
                              <p:cond delay="500"/>
                            </p:stCondLst>
                            <p:childTnLst>
                              <p:par>
                                <p:cTn id="44" presetID="34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from="(-#ppt_w/2)" to="(#ppt_x)" calcmode="lin" valueType="num">
                                      <p:cBhvr>
                                        <p:cTn id="46" dur="6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</p:anim>
                                    <p:anim from="0" to="-1.0" calcmode="lin" valueType="num">
                                      <p:cBhvr>
                                        <p:cTn id="47" dur="200" decel="50000" autoRev="1" fill="hold">
                                          <p:stCondLst>
                                            <p:cond delay="600"/>
                                          </p:stCondLst>
                                        </p:cTn>
                                        <p:tgtEl>
                                          <p:spTgt spid="92"/>
                                        </p:tgtEl>
                                        <p:attrNameLst>
                                          <p:attrName>xshear</p:attrName>
                                        </p:attrNameLst>
                                      </p:cBhvr>
                                    </p:anim>
                                    <p:animScale>
                                      <p:cBhvr>
                                        <p:cTn id="48" dur="200" decel="100000" autoRev="1" fill="hold">
                                          <p:stCondLst>
                                            <p:cond delay="600"/>
                                          </p:stCondLst>
                                        </p:cTn>
                                        <p:tgtEl>
                                          <p:spTgt spid="92"/>
                                        </p:tgtEl>
                                      </p:cBhvr>
                                      <p:from x="100000" y="100000"/>
                                      <p:to x="80000" y="100000"/>
                                    </p:animScale>
                                    <p:anim by="(#ppt_h/3+#ppt_w*0.1)" calcmode="lin" valueType="num">
                                      <p:cBhvr additive="sum">
                                        <p:cTn id="49" dur="200" decel="100000" autoRev="1" fill="hold">
                                          <p:stCondLst>
                                            <p:cond delay="600"/>
                                          </p:stCondLst>
                                        </p:cTn>
                                        <p:tgtEl>
                                          <p:spTgt spid="9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0" fill="hold">
                            <p:stCondLst>
                              <p:cond delay="1500"/>
                            </p:stCondLst>
                            <p:childTnLst>
                              <p:par>
                                <p:cTn id="51" presetID="34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from="(-#ppt_w/2)" to="(#ppt_x)" calcmode="lin" valueType="num">
                                      <p:cBhvr>
                                        <p:cTn id="53" dur="6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</p:anim>
                                    <p:anim from="0" to="-1.0" calcmode="lin" valueType="num">
                                      <p:cBhvr>
                                        <p:cTn id="54" dur="200" decel="50000" autoRev="1" fill="hold">
                                          <p:stCondLst>
                                            <p:cond delay="600"/>
                                          </p:stCondLst>
                                        </p:cTn>
                                        <p:tgtEl>
                                          <p:spTgt spid="91"/>
                                        </p:tgtEl>
                                        <p:attrNameLst>
                                          <p:attrName>xshear</p:attrName>
                                        </p:attrNameLst>
                                      </p:cBhvr>
                                    </p:anim>
                                    <p:animScale>
                                      <p:cBhvr>
                                        <p:cTn id="55" dur="200" decel="100000" autoRev="1" fill="hold">
                                          <p:stCondLst>
                                            <p:cond delay="600"/>
                                          </p:stCondLst>
                                        </p:cTn>
                                        <p:tgtEl>
                                          <p:spTgt spid="91"/>
                                        </p:tgtEl>
                                      </p:cBhvr>
                                      <p:from x="100000" y="100000"/>
                                      <p:to x="80000" y="100000"/>
                                    </p:animScale>
                                    <p:anim by="(#ppt_h/3+#ppt_w*0.1)" calcmode="lin" valueType="num">
                                      <p:cBhvr additive="sum">
                                        <p:cTn id="56" dur="200" decel="100000" autoRev="1" fill="hold">
                                          <p:stCondLst>
                                            <p:cond delay="600"/>
                                          </p:stCondLst>
                                        </p:cTn>
                                        <p:tgtEl>
                                          <p:spTgt spid="9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7" fill="hold">
                            <p:stCondLst>
                              <p:cond delay="2500"/>
                            </p:stCondLst>
                            <p:childTnLst>
                              <p:par>
                                <p:cTn id="58" presetID="34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from="(-#ppt_w/2)" to="(#ppt_x)" calcmode="lin" valueType="num">
                                      <p:cBhvr>
                                        <p:cTn id="60" dur="6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</p:anim>
                                    <p:anim from="0" to="-1.0" calcmode="lin" valueType="num">
                                      <p:cBhvr>
                                        <p:cTn id="61" dur="200" decel="50000" autoRev="1" fill="hold">
                                          <p:stCondLst>
                                            <p:cond delay="600"/>
                                          </p:stCondLst>
                                        </p:cTn>
                                        <p:tgtEl>
                                          <p:spTgt spid="114"/>
                                        </p:tgtEl>
                                        <p:attrNameLst>
                                          <p:attrName>xshear</p:attrName>
                                        </p:attrNameLst>
                                      </p:cBhvr>
                                    </p:anim>
                                    <p:animScale>
                                      <p:cBhvr>
                                        <p:cTn id="62" dur="200" decel="100000" autoRev="1" fill="hold">
                                          <p:stCondLst>
                                            <p:cond delay="600"/>
                                          </p:stCondLst>
                                        </p:cTn>
                                        <p:tgtEl>
                                          <p:spTgt spid="114"/>
                                        </p:tgtEl>
                                      </p:cBhvr>
                                      <p:from x="100000" y="100000"/>
                                      <p:to x="80000" y="100000"/>
                                    </p:animScale>
                                    <p:anim by="(#ppt_h/3+#ppt_w*0.1)" calcmode="lin" valueType="num">
                                      <p:cBhvr additive="sum">
                                        <p:cTn id="63" dur="200" decel="100000" autoRev="1" fill="hold">
                                          <p:stCondLst>
                                            <p:cond delay="600"/>
                                          </p:stCondLst>
                                        </p:cTn>
                                        <p:tgtEl>
                                          <p:spTgt spid="1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4" fill="hold">
                      <p:stCondLst>
                        <p:cond delay="indefinite"/>
                      </p:stCondLst>
                      <p:childTnLst>
                        <p:par>
                          <p:cTn id="65" fill="hold">
                            <p:stCondLst>
                              <p:cond delay="0"/>
                            </p:stCondLst>
                            <p:childTnLst>
                              <p:par>
                                <p:cTn id="66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8" fill="hold">
                            <p:stCondLst>
                              <p:cond delay="0"/>
                            </p:stCondLst>
                            <p:childTnLst>
                              <p:par>
                                <p:cTn id="69" presetID="53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1" dur="500" fill="hold"/>
                                        <p:tgtEl>
                                          <p:spTgt spid="12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2" dur="500" fill="hold"/>
                                        <p:tgtEl>
                                          <p:spTgt spid="12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3" dur="500"/>
                                        <p:tgtEl>
                                          <p:spTgt spid="1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4" presetID="53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6" dur="500" fill="hold"/>
                                        <p:tgtEl>
                                          <p:spTgt spid="104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7" dur="500" fill="hold"/>
                                        <p:tgtEl>
                                          <p:spTgt spid="104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8" dur="500"/>
                                        <p:tgtEl>
                                          <p:spTgt spid="10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9" fill="hold">
                            <p:stCondLst>
                              <p:cond delay="500"/>
                            </p:stCondLst>
                            <p:childTnLst>
                              <p:par>
                                <p:cTn id="80" presetID="38" presetClass="path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1.38778E-17 0.01086 L 0.02326 0.0222 L 0.04531 0.01086 L 0.06788 0.0222 L 0.09097 0.01086 L 0.11267 0.0222 L 0.13594 0.01086 L 0.15781 0.0222 L 0.18125 0.01086 L 0.20382 0.0222 L 0.22622 0.01086 L 0.24913 0.0222 L 0.27083 0.01086 L 0.2941 0.0222 L 0.31719 0.01086 L 0.33906 0.0222 L 0.3625 0.01086 " pathEditMode="relative" rAng="0" ptsTypes="FFFFFFFFFFFFFFFFF">
                                      <p:cBhvr>
                                        <p:cTn id="81" dur="2000" fill="hold"/>
                                        <p:tgtEl>
                                          <p:spTgt spid="117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181" y="6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2" fill="hold">
                            <p:stCondLst>
                              <p:cond delay="2500"/>
                            </p:stCondLst>
                            <p:childTnLst>
                              <p:par>
                                <p:cTn id="83" presetID="38" presetClass="path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0.31944 -4.10731E-6 L -0.29947 0.0111 L -0.27986 -4.10731E-6 L -0.25954 0.0111 L -0.23941 -4.10731E-6 L -0.21996 0.0111 L -0.19965 -4.10731E-6 L -0.18038 0.0111 L -0.15972 -4.10731E-6 L -0.13975 0.0111 L -0.12013 -4.10731E-6 L -0.09982 0.0111 L -0.08072 -4.10731E-6 L -0.06024 0.0111 L -0.03993 -4.10731E-6 L -0.02066 0.0111 L -4.44444E-6 -4.10731E-6 " pathEditMode="relative" rAng="0" ptsTypes="FFFFFFFFFFFFFFFFF">
                                      <p:cBhvr>
                                        <p:cTn id="84" dur="2000" spd="-100000" fill="hold"/>
                                        <p:tgtEl>
                                          <p:spTgt spid="118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160" y="6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5" fill="hold">
                      <p:stCondLst>
                        <p:cond delay="indefinite"/>
                      </p:stCondLst>
                      <p:childTnLst>
                        <p:par>
                          <p:cTn id="86" fill="hold">
                            <p:stCondLst>
                              <p:cond delay="0"/>
                            </p:stCondLst>
                            <p:childTnLst>
                              <p:par>
                                <p:cTn id="8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  <p:bldP spid="88" grpId="0" animBg="1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3" name="Group 22"/>
          <p:cNvGrpSpPr/>
          <p:nvPr/>
        </p:nvGrpSpPr>
        <p:grpSpPr>
          <a:xfrm>
            <a:off x="2667000" y="5105400"/>
            <a:ext cx="1905000" cy="559236"/>
            <a:chOff x="2667000" y="5334000"/>
            <a:chExt cx="1905000" cy="559236"/>
          </a:xfrm>
        </p:grpSpPr>
        <p:cxnSp>
          <p:nvCxnSpPr>
            <p:cNvPr id="43" name="Straight Connector 42"/>
            <p:cNvCxnSpPr/>
            <p:nvPr/>
          </p:nvCxnSpPr>
          <p:spPr>
            <a:xfrm flipH="1">
              <a:off x="3962400" y="5410200"/>
              <a:ext cx="609600" cy="483036"/>
            </a:xfrm>
            <a:prstGeom prst="line">
              <a:avLst/>
            </a:prstGeom>
          </p:spPr>
          <p:style>
            <a:lnRef idx="3">
              <a:schemeClr val="accent1"/>
            </a:lnRef>
            <a:fillRef idx="0">
              <a:schemeClr val="accent1"/>
            </a:fillRef>
            <a:effectRef idx="2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6" name="Straight Connector 55"/>
            <p:cNvCxnSpPr/>
            <p:nvPr/>
          </p:nvCxnSpPr>
          <p:spPr>
            <a:xfrm>
              <a:off x="2667000" y="5334000"/>
              <a:ext cx="609600" cy="483036"/>
            </a:xfrm>
            <a:prstGeom prst="line">
              <a:avLst/>
            </a:prstGeom>
          </p:spPr>
          <p:style>
            <a:lnRef idx="3">
              <a:schemeClr val="accent1"/>
            </a:lnRef>
            <a:fillRef idx="0">
              <a:schemeClr val="accent1"/>
            </a:fillRef>
            <a:effectRef idx="2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9" name="Rounded Rectangle 18"/>
          <p:cNvSpPr/>
          <p:nvPr/>
        </p:nvSpPr>
        <p:spPr>
          <a:xfrm>
            <a:off x="381000" y="2955197"/>
            <a:ext cx="8534400" cy="914400"/>
          </a:xfrm>
          <a:prstGeom prst="round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" name="Content Placeholder 4"/>
          <p:cNvPicPr>
            <a:picLocks noGrp="1" noChangeAspect="1"/>
          </p:cNvPicPr>
          <p:nvPr>
            <p:ph idx="1"/>
          </p:nvPr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tretch>
            <a:fillRect/>
          </a:stretch>
        </p:blipFill>
        <p:spPr>
          <a:xfrm>
            <a:off x="3276600" y="5486400"/>
            <a:ext cx="765448" cy="762000"/>
          </a:xfr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 smtClean="0"/>
              <a:t>OpenNF</a:t>
            </a:r>
            <a:r>
              <a:rPr lang="en-US" dirty="0" smtClean="0"/>
              <a:t> overview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2C5A87-65DC-41FD-9E53-7EAC48455B9A}" type="slidenum">
              <a:rPr lang="en-US" smtClean="0"/>
              <a:pPr/>
              <a:t>10</a:t>
            </a:fld>
            <a:endParaRPr lang="en-US" dirty="0"/>
          </a:p>
        </p:txBody>
      </p:sp>
      <p:sp>
        <p:nvSpPr>
          <p:cNvPr id="11" name="Cube 10"/>
          <p:cNvSpPr/>
          <p:nvPr/>
        </p:nvSpPr>
        <p:spPr>
          <a:xfrm>
            <a:off x="1676400" y="4672445"/>
            <a:ext cx="1295400" cy="626007"/>
          </a:xfrm>
          <a:prstGeom prst="cube">
            <a:avLst>
              <a:gd name="adj" fmla="val 46428"/>
            </a:avLst>
          </a:prstGeom>
        </p:spPr>
        <p:style>
          <a:lnRef idx="0">
            <a:schemeClr val="accent6"/>
          </a:lnRef>
          <a:fillRef idx="3">
            <a:schemeClr val="accent6"/>
          </a:fillRef>
          <a:effectRef idx="3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Cube 11"/>
          <p:cNvSpPr/>
          <p:nvPr/>
        </p:nvSpPr>
        <p:spPr>
          <a:xfrm>
            <a:off x="4495800" y="4648200"/>
            <a:ext cx="1219200" cy="589183"/>
          </a:xfrm>
          <a:prstGeom prst="cube">
            <a:avLst>
              <a:gd name="adj" fmla="val 46428"/>
            </a:avLst>
          </a:prstGeom>
        </p:spPr>
        <p:style>
          <a:lnRef idx="0">
            <a:schemeClr val="accent6"/>
          </a:lnRef>
          <a:fillRef idx="3">
            <a:schemeClr val="accent6"/>
          </a:fillRef>
          <a:effectRef idx="3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Rounded Rectangle 6"/>
          <p:cNvSpPr/>
          <p:nvPr/>
        </p:nvSpPr>
        <p:spPr>
          <a:xfrm>
            <a:off x="2057400" y="3107597"/>
            <a:ext cx="3276600" cy="609600"/>
          </a:xfrm>
          <a:prstGeom prst="roundRect">
            <a:avLst/>
          </a:prstGeom>
          <a:ln w="28575">
            <a:solidFill>
              <a:srgbClr val="CB6C1D"/>
            </a:solidFill>
          </a:ln>
        </p:spPr>
        <p:style>
          <a:lnRef idx="1">
            <a:schemeClr val="accent6"/>
          </a:lnRef>
          <a:fillRef idx="3">
            <a:schemeClr val="accent6"/>
          </a:fillRef>
          <a:effectRef idx="2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200" dirty="0" smtClean="0"/>
              <a:t>NF State Manager</a:t>
            </a:r>
            <a:endParaRPr lang="en-US" sz="3200" dirty="0"/>
          </a:p>
        </p:txBody>
      </p:sp>
      <p:cxnSp>
        <p:nvCxnSpPr>
          <p:cNvPr id="13" name="Straight Arrow Connector 12"/>
          <p:cNvCxnSpPr/>
          <p:nvPr/>
        </p:nvCxnSpPr>
        <p:spPr>
          <a:xfrm>
            <a:off x="4953000" y="2193197"/>
            <a:ext cx="0" cy="914400"/>
          </a:xfrm>
          <a:prstGeom prst="straightConnector1">
            <a:avLst/>
          </a:prstGeom>
          <a:ln>
            <a:tailEnd type="arrow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22" name="Straight Arrow Connector 21"/>
          <p:cNvCxnSpPr/>
          <p:nvPr/>
        </p:nvCxnSpPr>
        <p:spPr>
          <a:xfrm flipH="1">
            <a:off x="2362200" y="3726550"/>
            <a:ext cx="1" cy="877866"/>
          </a:xfrm>
          <a:prstGeom prst="straightConnector1">
            <a:avLst/>
          </a:prstGeom>
          <a:ln>
            <a:tailEnd type="arrow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29" name="Straight Arrow Connector 28"/>
          <p:cNvCxnSpPr/>
          <p:nvPr/>
        </p:nvCxnSpPr>
        <p:spPr>
          <a:xfrm flipH="1">
            <a:off x="5105400" y="3710458"/>
            <a:ext cx="1" cy="877866"/>
          </a:xfrm>
          <a:prstGeom prst="straightConnector1">
            <a:avLst/>
          </a:prstGeom>
          <a:ln>
            <a:tailEnd type="arrow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38" name="Straight Arrow Connector 37"/>
          <p:cNvCxnSpPr>
            <a:stCxn id="7" idx="3"/>
            <a:endCxn id="14" idx="1"/>
          </p:cNvCxnSpPr>
          <p:nvPr/>
        </p:nvCxnSpPr>
        <p:spPr>
          <a:xfrm>
            <a:off x="5334000" y="3412397"/>
            <a:ext cx="685800" cy="0"/>
          </a:xfrm>
          <a:prstGeom prst="straightConnector1">
            <a:avLst/>
          </a:prstGeom>
          <a:ln>
            <a:tailEnd type="arrow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14" name="Rounded Rectangle 13"/>
          <p:cNvSpPr/>
          <p:nvPr/>
        </p:nvSpPr>
        <p:spPr>
          <a:xfrm>
            <a:off x="6019800" y="3107597"/>
            <a:ext cx="2743200" cy="609600"/>
          </a:xfrm>
          <a:prstGeom prst="roundRect">
            <a:avLst/>
          </a:prstGeom>
          <a:gradFill>
            <a:gsLst>
              <a:gs pos="0">
                <a:srgbClr val="0070C0"/>
              </a:gs>
              <a:gs pos="80000">
                <a:srgbClr val="00B0F0"/>
              </a:gs>
              <a:gs pos="100000">
                <a:srgbClr val="00B0F0"/>
              </a:gs>
            </a:gsLst>
          </a:gradFill>
          <a:ln w="28575">
            <a:solidFill>
              <a:srgbClr val="0070C0"/>
            </a:solidFill>
          </a:ln>
        </p:spPr>
        <p:style>
          <a:lnRef idx="1">
            <a:schemeClr val="accent5"/>
          </a:lnRef>
          <a:fillRef idx="3">
            <a:schemeClr val="accent5"/>
          </a:fillRef>
          <a:effectRef idx="2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200" dirty="0" smtClean="0"/>
              <a:t>Flow Manager</a:t>
            </a:r>
            <a:endParaRPr lang="en-US" sz="3200" dirty="0"/>
          </a:p>
        </p:txBody>
      </p:sp>
      <p:sp>
        <p:nvSpPr>
          <p:cNvPr id="28" name="TextBox 27"/>
          <p:cNvSpPr txBox="1"/>
          <p:nvPr/>
        </p:nvSpPr>
        <p:spPr>
          <a:xfrm>
            <a:off x="381000" y="2955197"/>
            <a:ext cx="1752600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 dirty="0" smtClean="0"/>
              <a:t>OpenNF</a:t>
            </a:r>
            <a:br>
              <a:rPr lang="en-US" sz="2800" b="1" dirty="0" smtClean="0"/>
            </a:br>
            <a:r>
              <a:rPr lang="en-US" sz="2800" b="1" dirty="0" smtClean="0"/>
              <a:t>Controller</a:t>
            </a:r>
            <a:endParaRPr lang="en-US" sz="2800" b="1" dirty="0"/>
          </a:p>
        </p:txBody>
      </p:sp>
      <p:sp>
        <p:nvSpPr>
          <p:cNvPr id="8" name="Rectangle 7"/>
          <p:cNvSpPr/>
          <p:nvPr/>
        </p:nvSpPr>
        <p:spPr>
          <a:xfrm>
            <a:off x="3134638" y="1583598"/>
            <a:ext cx="3647162" cy="621082"/>
          </a:xfrm>
          <a:prstGeom prst="rect">
            <a:avLst/>
          </a:prstGeom>
          <a:ln w="28575">
            <a:solidFill>
              <a:schemeClr val="bg1">
                <a:lumMod val="50000"/>
              </a:schemeClr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3200" dirty="0" smtClean="0"/>
              <a:t>Control Application</a:t>
            </a:r>
            <a:endParaRPr lang="en-US" sz="3200" dirty="0"/>
          </a:p>
        </p:txBody>
      </p:sp>
      <p:sp>
        <p:nvSpPr>
          <p:cNvPr id="41" name="TextBox 40"/>
          <p:cNvSpPr txBox="1"/>
          <p:nvPr/>
        </p:nvSpPr>
        <p:spPr>
          <a:xfrm>
            <a:off x="1219200" y="2362200"/>
            <a:ext cx="37338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800" i="1" dirty="0" smtClean="0"/>
              <a:t>move/copy/share state</a:t>
            </a:r>
            <a:endParaRPr lang="en-US" sz="2800" i="1" dirty="0"/>
          </a:p>
        </p:txBody>
      </p:sp>
      <p:cxnSp>
        <p:nvCxnSpPr>
          <p:cNvPr id="34" name="Shape 33"/>
          <p:cNvCxnSpPr>
            <a:stCxn id="14" idx="2"/>
            <a:endCxn id="5" idx="3"/>
          </p:cNvCxnSpPr>
          <p:nvPr/>
        </p:nvCxnSpPr>
        <p:spPr>
          <a:xfrm rot="5400000">
            <a:off x="4641623" y="3117622"/>
            <a:ext cx="2150203" cy="3349352"/>
          </a:xfrm>
          <a:prstGeom prst="curvedConnector2">
            <a:avLst/>
          </a:prstGeom>
          <a:ln>
            <a:tailEnd type="arrow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21" name="Rectangle 20"/>
          <p:cNvSpPr/>
          <p:nvPr/>
        </p:nvSpPr>
        <p:spPr>
          <a:xfrm>
            <a:off x="0" y="1371600"/>
            <a:ext cx="9144000" cy="5029200"/>
          </a:xfrm>
          <a:prstGeom prst="rect">
            <a:avLst/>
          </a:prstGeom>
          <a:solidFill>
            <a:srgbClr val="FFFFFF">
              <a:alpha val="74902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2" name="TextBox 41"/>
          <p:cNvSpPr txBox="1"/>
          <p:nvPr/>
        </p:nvSpPr>
        <p:spPr>
          <a:xfrm>
            <a:off x="2286000" y="3886200"/>
            <a:ext cx="2895600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800" i="1" dirty="0" smtClean="0"/>
              <a:t>export/import State</a:t>
            </a:r>
            <a:endParaRPr lang="en-US" sz="2800" i="1" dirty="0"/>
          </a:p>
        </p:txBody>
      </p:sp>
    </p:spTree>
    <p:extLst>
      <p:ext uri="{BB962C8B-B14F-4D97-AF65-F5344CB8AC3E}">
        <p14:creationId xmlns:p14="http://schemas.microsoft.com/office/powerpoint/2010/main" xmlns="" val="424842421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 animBg="1"/>
      <p:bldP spid="12" grpId="0" animBg="1"/>
      <p:bldP spid="7" grpId="0" animBg="1"/>
      <p:bldP spid="14" grpId="0" animBg="1"/>
      <p:bldP spid="8" grpId="0" animBg="1"/>
      <p:bldP spid="41" grpId="0"/>
      <p:bldP spid="21" grpId="0" animBg="1"/>
      <p:bldP spid="42" grpId="0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676401"/>
            <a:ext cx="8229600" cy="1143000"/>
          </a:xfrm>
        </p:spPr>
        <p:txBody>
          <a:bodyPr>
            <a:normAutofit/>
          </a:bodyPr>
          <a:lstStyle/>
          <a:p>
            <a:pPr marL="0" indent="0" algn="ctr">
              <a:buNone/>
            </a:pPr>
            <a:r>
              <a:rPr lang="en-US" dirty="0" smtClean="0"/>
              <a:t>State created or updated by an NF applies to either a </a:t>
            </a:r>
            <a:r>
              <a:rPr lang="en-US" b="1" dirty="0" smtClean="0"/>
              <a:t>single flow</a:t>
            </a:r>
            <a:r>
              <a:rPr lang="en-US" dirty="0" smtClean="0"/>
              <a:t> or a </a:t>
            </a:r>
            <a:r>
              <a:rPr lang="en-US" b="1" dirty="0" smtClean="0"/>
              <a:t>collection of flows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NF state taxonomy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/>
          </a:bodyPr>
          <a:lstStyle/>
          <a:p>
            <a:fld id="{622C5A87-65DC-41FD-9E53-7EAC48455B9A}" type="slidenum">
              <a:rPr lang="en-US" smtClean="0"/>
              <a:pPr/>
              <a:t>11</a:t>
            </a:fld>
            <a:endParaRPr lang="en-US" dirty="0"/>
          </a:p>
        </p:txBody>
      </p:sp>
      <p:grpSp>
        <p:nvGrpSpPr>
          <p:cNvPr id="6" name="Group 70"/>
          <p:cNvGrpSpPr/>
          <p:nvPr/>
        </p:nvGrpSpPr>
        <p:grpSpPr>
          <a:xfrm>
            <a:off x="731993" y="3134379"/>
            <a:ext cx="4381871" cy="2123420"/>
            <a:chOff x="1082913" y="2487308"/>
            <a:chExt cx="3941673" cy="1910104"/>
          </a:xfrm>
        </p:grpSpPr>
        <p:sp>
          <p:nvSpPr>
            <p:cNvPr id="5" name="Rectangle 4"/>
            <p:cNvSpPr/>
            <p:nvPr/>
          </p:nvSpPr>
          <p:spPr>
            <a:xfrm>
              <a:off x="1212333" y="2973726"/>
              <a:ext cx="381965" cy="219919"/>
            </a:xfrm>
            <a:prstGeom prst="rect">
              <a:avLst/>
            </a:prstGeom>
            <a:ln w="38100"/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7" name="Rectangle 6"/>
            <p:cNvSpPr/>
            <p:nvPr/>
          </p:nvSpPr>
          <p:spPr>
            <a:xfrm>
              <a:off x="1212333" y="3193645"/>
              <a:ext cx="381965" cy="219919"/>
            </a:xfrm>
            <a:prstGeom prst="rect">
              <a:avLst/>
            </a:prstGeom>
            <a:ln w="38100"/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9" name="Rectangle 8"/>
            <p:cNvSpPr/>
            <p:nvPr/>
          </p:nvSpPr>
          <p:spPr>
            <a:xfrm>
              <a:off x="1212332" y="3413564"/>
              <a:ext cx="381965" cy="219919"/>
            </a:xfrm>
            <a:prstGeom prst="rect">
              <a:avLst/>
            </a:prstGeom>
            <a:ln w="38100"/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0" name="Rectangle 9"/>
            <p:cNvSpPr/>
            <p:nvPr/>
          </p:nvSpPr>
          <p:spPr>
            <a:xfrm>
              <a:off x="1212333" y="3632519"/>
              <a:ext cx="381965" cy="219919"/>
            </a:xfrm>
            <a:prstGeom prst="rect">
              <a:avLst/>
            </a:prstGeom>
            <a:ln w="38100"/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1" name="Rectangle 10"/>
            <p:cNvSpPr/>
            <p:nvPr/>
          </p:nvSpPr>
          <p:spPr>
            <a:xfrm>
              <a:off x="1212333" y="3847615"/>
              <a:ext cx="381965" cy="219919"/>
            </a:xfrm>
            <a:prstGeom prst="rect">
              <a:avLst/>
            </a:prstGeom>
            <a:ln w="38100"/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23" name="Straight Connector 22"/>
            <p:cNvCxnSpPr>
              <a:stCxn id="7" idx="3"/>
              <a:endCxn id="12" idx="1"/>
            </p:cNvCxnSpPr>
            <p:nvPr/>
          </p:nvCxnSpPr>
          <p:spPr>
            <a:xfrm flipV="1">
              <a:off x="1594298" y="3237051"/>
              <a:ext cx="248856" cy="66554"/>
            </a:xfrm>
            <a:prstGeom prst="line">
              <a:avLst/>
            </a:prstGeom>
            <a:ln w="38100">
              <a:solidFill>
                <a:schemeClr val="tx1"/>
              </a:solidFill>
              <a:headEnd type="none" w="med" len="med"/>
              <a:tailEnd type="triangle" w="med" len="med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25" name="Straight Connector 24"/>
            <p:cNvCxnSpPr>
              <a:stCxn id="10" idx="3"/>
              <a:endCxn id="13" idx="1"/>
            </p:cNvCxnSpPr>
            <p:nvPr/>
          </p:nvCxnSpPr>
          <p:spPr>
            <a:xfrm>
              <a:off x="1594298" y="3742479"/>
              <a:ext cx="248856" cy="56909"/>
            </a:xfrm>
            <a:prstGeom prst="line">
              <a:avLst/>
            </a:prstGeom>
            <a:ln w="38100">
              <a:solidFill>
                <a:schemeClr val="tx1"/>
              </a:solidFill>
              <a:headEnd type="none" w="med" len="med"/>
              <a:tailEnd type="triangle" w="med" len="med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28" name="Straight Connector 27"/>
            <p:cNvCxnSpPr>
              <a:stCxn id="12" idx="3"/>
              <a:endCxn id="15" idx="1"/>
            </p:cNvCxnSpPr>
            <p:nvPr/>
          </p:nvCxnSpPr>
          <p:spPr>
            <a:xfrm>
              <a:off x="3159890" y="3237051"/>
              <a:ext cx="365080" cy="0"/>
            </a:xfrm>
            <a:prstGeom prst="line">
              <a:avLst/>
            </a:prstGeom>
            <a:ln w="38100">
              <a:solidFill>
                <a:schemeClr val="tx1"/>
              </a:solidFill>
              <a:headEnd type="none" w="med" len="med"/>
              <a:tailEnd type="triangle" w="med" len="med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33" name="Straight Connector 32"/>
            <p:cNvCxnSpPr>
              <a:stCxn id="12" idx="0"/>
              <a:endCxn id="14" idx="1"/>
            </p:cNvCxnSpPr>
            <p:nvPr/>
          </p:nvCxnSpPr>
          <p:spPr>
            <a:xfrm flipV="1">
              <a:off x="2501522" y="2808787"/>
              <a:ext cx="1023448" cy="263325"/>
            </a:xfrm>
            <a:prstGeom prst="line">
              <a:avLst/>
            </a:prstGeom>
            <a:ln w="38100">
              <a:solidFill>
                <a:schemeClr val="tx1"/>
              </a:solidFill>
              <a:headEnd type="none" w="med" len="med"/>
              <a:tailEnd type="triangle" w="med" len="med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36" name="Straight Connector 35"/>
            <p:cNvCxnSpPr>
              <a:stCxn id="13" idx="2"/>
              <a:endCxn id="17" idx="1"/>
            </p:cNvCxnSpPr>
            <p:nvPr/>
          </p:nvCxnSpPr>
          <p:spPr>
            <a:xfrm>
              <a:off x="2501522" y="3964327"/>
              <a:ext cx="1017118" cy="268146"/>
            </a:xfrm>
            <a:prstGeom prst="line">
              <a:avLst/>
            </a:prstGeom>
            <a:ln w="38100">
              <a:solidFill>
                <a:schemeClr val="tx1"/>
              </a:solidFill>
              <a:headEnd type="none" w="med" len="med"/>
              <a:tailEnd type="triangle" w="med" len="med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39" name="Straight Connector 38"/>
            <p:cNvCxnSpPr>
              <a:stCxn id="13" idx="3"/>
              <a:endCxn id="16" idx="1"/>
            </p:cNvCxnSpPr>
            <p:nvPr/>
          </p:nvCxnSpPr>
          <p:spPr>
            <a:xfrm>
              <a:off x="3159890" y="3799388"/>
              <a:ext cx="358750" cy="0"/>
            </a:xfrm>
            <a:prstGeom prst="line">
              <a:avLst/>
            </a:prstGeom>
            <a:ln w="38100">
              <a:solidFill>
                <a:schemeClr val="tx1"/>
              </a:solidFill>
              <a:headEnd type="none" w="med" len="med"/>
              <a:tailEnd type="triangle" w="med" len="med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sp>
          <p:nvSpPr>
            <p:cNvPr id="12" name="Rectangle 11"/>
            <p:cNvSpPr/>
            <p:nvPr/>
          </p:nvSpPr>
          <p:spPr>
            <a:xfrm>
              <a:off x="1843154" y="3072112"/>
              <a:ext cx="1316736" cy="329878"/>
            </a:xfrm>
            <a:prstGeom prst="rect">
              <a:avLst/>
            </a:prstGeom>
            <a:ln/>
          </p:spPr>
          <p:style>
            <a:lnRef idx="2">
              <a:schemeClr val="accent2">
                <a:shade val="50000"/>
              </a:schemeClr>
            </a:lnRef>
            <a:fillRef idx="1">
              <a:schemeClr val="accent2"/>
            </a:fillRef>
            <a:effectRef idx="0">
              <a:schemeClr val="accent2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2000" dirty="0" smtClean="0"/>
                <a:t>Connection</a:t>
              </a:r>
              <a:endParaRPr lang="en-US" sz="2000" dirty="0"/>
            </a:p>
          </p:txBody>
        </p:sp>
        <p:sp>
          <p:nvSpPr>
            <p:cNvPr id="13" name="Rectangle 12"/>
            <p:cNvSpPr/>
            <p:nvPr/>
          </p:nvSpPr>
          <p:spPr>
            <a:xfrm>
              <a:off x="1843154" y="3634449"/>
              <a:ext cx="1316736" cy="329878"/>
            </a:xfrm>
            <a:prstGeom prst="rect">
              <a:avLst/>
            </a:prstGeom>
            <a:ln/>
          </p:spPr>
          <p:style>
            <a:lnRef idx="2">
              <a:schemeClr val="accent5">
                <a:shade val="50000"/>
              </a:schemeClr>
            </a:lnRef>
            <a:fillRef idx="1">
              <a:schemeClr val="accent5"/>
            </a:fillRef>
            <a:effectRef idx="0">
              <a:schemeClr val="accent5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2000" dirty="0" smtClean="0"/>
                <a:t>Connection</a:t>
              </a:r>
              <a:endParaRPr lang="en-US" sz="2000" dirty="0"/>
            </a:p>
          </p:txBody>
        </p:sp>
        <p:sp>
          <p:nvSpPr>
            <p:cNvPr id="14" name="Rectangle 13"/>
            <p:cNvSpPr/>
            <p:nvPr/>
          </p:nvSpPr>
          <p:spPr>
            <a:xfrm>
              <a:off x="3524970" y="2643848"/>
              <a:ext cx="1499616" cy="329878"/>
            </a:xfrm>
            <a:prstGeom prst="rect">
              <a:avLst/>
            </a:prstGeom>
            <a:ln/>
          </p:spPr>
          <p:style>
            <a:lnRef idx="2">
              <a:schemeClr val="accent2">
                <a:shade val="50000"/>
              </a:schemeClr>
            </a:lnRef>
            <a:fillRef idx="1">
              <a:schemeClr val="accent2"/>
            </a:fillRef>
            <a:effectRef idx="0">
              <a:schemeClr val="accent2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2000" dirty="0" err="1" smtClean="0"/>
                <a:t>TcpAnalyzer</a:t>
              </a:r>
              <a:endParaRPr lang="en-US" sz="2000" dirty="0"/>
            </a:p>
          </p:txBody>
        </p:sp>
        <p:sp>
          <p:nvSpPr>
            <p:cNvPr id="15" name="Rectangle 14"/>
            <p:cNvSpPr/>
            <p:nvPr/>
          </p:nvSpPr>
          <p:spPr>
            <a:xfrm>
              <a:off x="3524970" y="3072112"/>
              <a:ext cx="1499616" cy="329878"/>
            </a:xfrm>
            <a:prstGeom prst="rect">
              <a:avLst/>
            </a:prstGeom>
            <a:ln/>
          </p:spPr>
          <p:style>
            <a:lnRef idx="2">
              <a:schemeClr val="accent2">
                <a:shade val="50000"/>
              </a:schemeClr>
            </a:lnRef>
            <a:fillRef idx="1">
              <a:schemeClr val="accent2"/>
            </a:fillRef>
            <a:effectRef idx="0">
              <a:schemeClr val="accent2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2000" dirty="0" err="1" smtClean="0"/>
                <a:t>HttpAnalyzer</a:t>
              </a:r>
              <a:endParaRPr lang="en-US" sz="2000" dirty="0"/>
            </a:p>
          </p:txBody>
        </p:sp>
        <p:sp>
          <p:nvSpPr>
            <p:cNvPr id="16" name="Rectangle 15"/>
            <p:cNvSpPr/>
            <p:nvPr/>
          </p:nvSpPr>
          <p:spPr>
            <a:xfrm>
              <a:off x="3518640" y="3634449"/>
              <a:ext cx="1502781" cy="329878"/>
            </a:xfrm>
            <a:prstGeom prst="rect">
              <a:avLst/>
            </a:prstGeom>
            <a:ln/>
          </p:spPr>
          <p:style>
            <a:lnRef idx="2">
              <a:schemeClr val="accent5">
                <a:shade val="50000"/>
              </a:schemeClr>
            </a:lnRef>
            <a:fillRef idx="1">
              <a:schemeClr val="accent5"/>
            </a:fillRef>
            <a:effectRef idx="0">
              <a:schemeClr val="accent5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2000" dirty="0" err="1" smtClean="0"/>
                <a:t>TcpAnalyzer</a:t>
              </a:r>
              <a:endParaRPr lang="en-US" sz="2000" dirty="0"/>
            </a:p>
          </p:txBody>
        </p:sp>
        <p:sp>
          <p:nvSpPr>
            <p:cNvPr id="17" name="Rectangle 16"/>
            <p:cNvSpPr/>
            <p:nvPr/>
          </p:nvSpPr>
          <p:spPr>
            <a:xfrm>
              <a:off x="3518640" y="4067534"/>
              <a:ext cx="1502781" cy="329878"/>
            </a:xfrm>
            <a:prstGeom prst="rect">
              <a:avLst/>
            </a:prstGeom>
            <a:ln/>
          </p:spPr>
          <p:style>
            <a:lnRef idx="2">
              <a:schemeClr val="accent5">
                <a:shade val="50000"/>
              </a:schemeClr>
            </a:lnRef>
            <a:fillRef idx="1">
              <a:schemeClr val="accent5"/>
            </a:fillRef>
            <a:effectRef idx="0">
              <a:schemeClr val="accent5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2000" dirty="0" err="1" smtClean="0"/>
                <a:t>HttpAnalyzer</a:t>
              </a:r>
              <a:endParaRPr lang="en-US" sz="2000" dirty="0"/>
            </a:p>
          </p:txBody>
        </p:sp>
        <p:sp>
          <p:nvSpPr>
            <p:cNvPr id="67" name="TextBox 66"/>
            <p:cNvSpPr txBox="1"/>
            <p:nvPr/>
          </p:nvSpPr>
          <p:spPr>
            <a:xfrm>
              <a:off x="1082913" y="2487308"/>
              <a:ext cx="2041307" cy="470658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2800" b="1" dirty="0" smtClean="0"/>
                <a:t>Per-flow state</a:t>
              </a:r>
              <a:endParaRPr lang="en-US" sz="2800" b="1" dirty="0"/>
            </a:p>
          </p:txBody>
        </p:sp>
      </p:grpSp>
      <p:grpSp>
        <p:nvGrpSpPr>
          <p:cNvPr id="8" name="Group 71"/>
          <p:cNvGrpSpPr/>
          <p:nvPr/>
        </p:nvGrpSpPr>
        <p:grpSpPr>
          <a:xfrm>
            <a:off x="2590800" y="3124200"/>
            <a:ext cx="5707023" cy="1295400"/>
            <a:chOff x="2501522" y="2479738"/>
            <a:chExt cx="5014845" cy="1138287"/>
          </a:xfrm>
        </p:grpSpPr>
        <p:sp>
          <p:nvSpPr>
            <p:cNvPr id="19" name="Rectangle 18"/>
            <p:cNvSpPr/>
            <p:nvPr/>
          </p:nvSpPr>
          <p:spPr>
            <a:xfrm>
              <a:off x="5485318" y="2951281"/>
              <a:ext cx="381965" cy="219919"/>
            </a:xfrm>
            <a:prstGeom prst="rect">
              <a:avLst/>
            </a:prstGeom>
            <a:ln w="38100"/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0" name="Rectangle 19"/>
            <p:cNvSpPr/>
            <p:nvPr/>
          </p:nvSpPr>
          <p:spPr>
            <a:xfrm>
              <a:off x="5485317" y="3171200"/>
              <a:ext cx="381965" cy="219919"/>
            </a:xfrm>
            <a:prstGeom prst="rect">
              <a:avLst/>
            </a:prstGeom>
            <a:ln w="38100"/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1" name="Rectangle 20"/>
            <p:cNvSpPr/>
            <p:nvPr/>
          </p:nvSpPr>
          <p:spPr>
            <a:xfrm>
              <a:off x="5485318" y="3398106"/>
              <a:ext cx="381965" cy="219919"/>
            </a:xfrm>
            <a:prstGeom prst="rect">
              <a:avLst/>
            </a:prstGeom>
            <a:ln w="38100"/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45" name="Elbow Connector 44"/>
            <p:cNvCxnSpPr/>
            <p:nvPr/>
          </p:nvCxnSpPr>
          <p:spPr>
            <a:xfrm rot="16200000" flipH="1">
              <a:off x="3955457" y="1930962"/>
              <a:ext cx="75926" cy="2983796"/>
            </a:xfrm>
            <a:prstGeom prst="bentConnector2">
              <a:avLst/>
            </a:prstGeom>
            <a:ln w="38100">
              <a:solidFill>
                <a:schemeClr val="tx1"/>
              </a:solidFill>
              <a:prstDash val="sysDot"/>
              <a:headEnd type="none" w="med" len="med"/>
              <a:tailEnd type="triangle" w="med" len="med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49" name="Elbow Connector 48"/>
            <p:cNvCxnSpPr/>
            <p:nvPr/>
          </p:nvCxnSpPr>
          <p:spPr>
            <a:xfrm rot="5400000" flipH="1" flipV="1">
              <a:off x="3949778" y="2081814"/>
              <a:ext cx="87287" cy="2983799"/>
            </a:xfrm>
            <a:prstGeom prst="bentConnector2">
              <a:avLst/>
            </a:prstGeom>
            <a:ln w="38100">
              <a:solidFill>
                <a:schemeClr val="tx1"/>
              </a:solidFill>
              <a:prstDash val="sysDot"/>
              <a:headEnd type="none" w="med" len="med"/>
              <a:tailEnd type="triangle" w="med" len="med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sp>
          <p:nvSpPr>
            <p:cNvPr id="63" name="Rectangle 62"/>
            <p:cNvSpPr/>
            <p:nvPr/>
          </p:nvSpPr>
          <p:spPr>
            <a:xfrm>
              <a:off x="6113363" y="3116220"/>
              <a:ext cx="1272395" cy="329878"/>
            </a:xfrm>
            <a:prstGeom prst="rect">
              <a:avLst/>
            </a:prstGeom>
            <a:ln/>
          </p:spPr>
          <p:style>
            <a:lnRef idx="2">
              <a:schemeClr val="accent4">
                <a:shade val="50000"/>
              </a:schemeClr>
            </a:lnRef>
            <a:fillRef idx="1">
              <a:schemeClr val="accent4"/>
            </a:fillRef>
            <a:effectRef idx="0">
              <a:schemeClr val="accent4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2000" dirty="0" err="1" smtClean="0"/>
                <a:t>ConnCount</a:t>
              </a:r>
              <a:endParaRPr lang="en-US" sz="2000" dirty="0"/>
            </a:p>
          </p:txBody>
        </p:sp>
        <p:cxnSp>
          <p:nvCxnSpPr>
            <p:cNvPr id="64" name="Straight Connector 63"/>
            <p:cNvCxnSpPr>
              <a:stCxn id="20" idx="3"/>
              <a:endCxn id="63" idx="1"/>
            </p:cNvCxnSpPr>
            <p:nvPr/>
          </p:nvCxnSpPr>
          <p:spPr>
            <a:xfrm flipV="1">
              <a:off x="5867282" y="3281159"/>
              <a:ext cx="246081" cy="1"/>
            </a:xfrm>
            <a:prstGeom prst="line">
              <a:avLst/>
            </a:prstGeom>
            <a:ln w="38100">
              <a:solidFill>
                <a:schemeClr val="tx1"/>
              </a:solidFill>
              <a:headEnd type="none" w="med" len="med"/>
              <a:tailEnd type="triangle" w="med" len="med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sp>
          <p:nvSpPr>
            <p:cNvPr id="68" name="TextBox 67"/>
            <p:cNvSpPr txBox="1"/>
            <p:nvPr/>
          </p:nvSpPr>
          <p:spPr>
            <a:xfrm>
              <a:off x="5246802" y="2479738"/>
              <a:ext cx="2269565" cy="45976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r"/>
              <a:r>
                <a:rPr lang="en-US" sz="2800" b="1" dirty="0" smtClean="0"/>
                <a:t>Multi-flow state</a:t>
              </a:r>
              <a:endParaRPr lang="en-US" sz="2800" b="1" dirty="0"/>
            </a:p>
          </p:txBody>
        </p:sp>
      </p:grpSp>
      <p:grpSp>
        <p:nvGrpSpPr>
          <p:cNvPr id="18" name="Group 72"/>
          <p:cNvGrpSpPr/>
          <p:nvPr/>
        </p:nvGrpSpPr>
        <p:grpSpPr>
          <a:xfrm>
            <a:off x="5919993" y="4687572"/>
            <a:ext cx="2309607" cy="875028"/>
            <a:chOff x="5853037" y="3729068"/>
            <a:chExt cx="1751278" cy="663497"/>
          </a:xfrm>
        </p:grpSpPr>
        <p:sp>
          <p:nvSpPr>
            <p:cNvPr id="69" name="TextBox 68"/>
            <p:cNvSpPr txBox="1"/>
            <p:nvPr/>
          </p:nvSpPr>
          <p:spPr>
            <a:xfrm>
              <a:off x="5853037" y="3729068"/>
              <a:ext cx="1751278" cy="396736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r"/>
              <a:r>
                <a:rPr lang="en-US" sz="2800" b="1" dirty="0" smtClean="0"/>
                <a:t>All-flows state</a:t>
              </a:r>
              <a:endParaRPr lang="en-US" sz="2800" b="1" dirty="0"/>
            </a:p>
          </p:txBody>
        </p:sp>
        <p:sp>
          <p:nvSpPr>
            <p:cNvPr id="70" name="Rectangle 69"/>
            <p:cNvSpPr/>
            <p:nvPr/>
          </p:nvSpPr>
          <p:spPr>
            <a:xfrm>
              <a:off x="5990322" y="4062687"/>
              <a:ext cx="1395435" cy="329878"/>
            </a:xfrm>
            <a:prstGeom prst="rect">
              <a:avLst/>
            </a:prstGeom>
            <a:ln/>
          </p:spPr>
          <p:style>
            <a:lnRef idx="2">
              <a:schemeClr val="accent6">
                <a:shade val="50000"/>
              </a:schemeClr>
            </a:lnRef>
            <a:fillRef idx="1">
              <a:schemeClr val="accent6"/>
            </a:fillRef>
            <a:effectRef idx="0">
              <a:schemeClr val="accent6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2000" dirty="0" smtClean="0"/>
                <a:t>Statistics</a:t>
              </a:r>
              <a:endParaRPr lang="en-US" sz="2000" dirty="0"/>
            </a:p>
          </p:txBody>
        </p:sp>
      </p:grpSp>
    </p:spTree>
    <p:extLst>
      <p:ext uri="{BB962C8B-B14F-4D97-AF65-F5344CB8AC3E}">
        <p14:creationId xmlns="" xmlns:p14="http://schemas.microsoft.com/office/powerpoint/2010/main" val="384381849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Rounded Rectangle 33"/>
          <p:cNvSpPr/>
          <p:nvPr/>
        </p:nvSpPr>
        <p:spPr>
          <a:xfrm>
            <a:off x="3429000" y="2362200"/>
            <a:ext cx="3124200" cy="2743200"/>
          </a:xfrm>
          <a:prstGeom prst="roundRect">
            <a:avLst>
              <a:gd name="adj" fmla="val 10496"/>
            </a:avLst>
          </a:prstGeom>
        </p:spPr>
        <p:style>
          <a:lnRef idx="0">
            <a:schemeClr val="accent6"/>
          </a:lnRef>
          <a:fillRef idx="3">
            <a:schemeClr val="accent6"/>
          </a:fillRef>
          <a:effectRef idx="3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2" name="Can 31"/>
          <p:cNvSpPr/>
          <p:nvPr/>
        </p:nvSpPr>
        <p:spPr>
          <a:xfrm>
            <a:off x="5791200" y="2514600"/>
            <a:ext cx="457200" cy="493776"/>
          </a:xfrm>
          <a:prstGeom prst="can">
            <a:avLst/>
          </a:prstGeom>
          <a:solidFill>
            <a:schemeClr val="accent4">
              <a:lumMod val="40000"/>
              <a:lumOff val="60000"/>
            </a:schemeClr>
          </a:solidFill>
          <a:ln>
            <a:solidFill>
              <a:schemeClr val="accent4">
                <a:lumMod val="60000"/>
                <a:lumOff val="40000"/>
              </a:schemeClr>
            </a:solidFill>
          </a:ln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400" b="1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NF API: export/import state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 smtClean="0"/>
              <a:t>Functions: </a:t>
            </a:r>
            <a:r>
              <a:rPr lang="en-US" sz="2800" dirty="0" smtClean="0">
                <a:latin typeface="Lucida Console" pitchFamily="49" charset="0"/>
              </a:rPr>
              <a:t>get</a:t>
            </a:r>
            <a:r>
              <a:rPr lang="en-US" dirty="0" smtClean="0"/>
              <a:t>, </a:t>
            </a:r>
            <a:r>
              <a:rPr lang="en-US" sz="2800" dirty="0" smtClean="0">
                <a:latin typeface="Lucida Console" pitchFamily="49" charset="0"/>
              </a:rPr>
              <a:t>put</a:t>
            </a:r>
            <a:r>
              <a:rPr lang="en-US" dirty="0" smtClean="0"/>
              <a:t>, </a:t>
            </a:r>
            <a:r>
              <a:rPr lang="en-US" sz="2800" dirty="0" smtClean="0">
                <a:latin typeface="Lucida Console" pitchFamily="49" charset="0"/>
              </a:rPr>
              <a:t>delete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2C5A87-65DC-41FD-9E53-7EAC48455B9A}" type="slidenum">
              <a:rPr lang="en-US" smtClean="0"/>
              <a:pPr/>
              <a:t>12</a:t>
            </a:fld>
            <a:endParaRPr lang="en-US" dirty="0"/>
          </a:p>
        </p:txBody>
      </p:sp>
      <p:sp>
        <p:nvSpPr>
          <p:cNvPr id="5" name="Rounded Rectangle 4"/>
          <p:cNvSpPr/>
          <p:nvPr/>
        </p:nvSpPr>
        <p:spPr>
          <a:xfrm>
            <a:off x="457200" y="5334000"/>
            <a:ext cx="8229600" cy="838200"/>
          </a:xfrm>
          <a:prstGeom prst="roundRect">
            <a:avLst/>
          </a:prstGeom>
        </p:spPr>
        <p:style>
          <a:lnRef idx="3">
            <a:schemeClr val="lt1"/>
          </a:lnRef>
          <a:fillRef idx="1">
            <a:schemeClr val="accent6"/>
          </a:fillRef>
          <a:effectRef idx="1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800" dirty="0" smtClean="0"/>
              <a:t>No need to expose/change internal state organization! </a:t>
            </a:r>
            <a:endParaRPr lang="en-US" sz="2800" b="1" dirty="0"/>
          </a:p>
        </p:txBody>
      </p:sp>
      <p:pic>
        <p:nvPicPr>
          <p:cNvPr id="10" name="Picture 9" descr="funnel.png"/>
          <p:cNvPicPr>
            <a:picLocks noChangeAspect="1"/>
          </p:cNvPicPr>
          <p:nvPr/>
        </p:nvPicPr>
        <p:blipFill>
          <a:blip r:embed="rId3" cstate="print"/>
          <a:stretch>
            <a:fillRect/>
          </a:stretch>
        </p:blipFill>
        <p:spPr>
          <a:xfrm>
            <a:off x="3929014" y="3124200"/>
            <a:ext cx="1524000" cy="152400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4919614" y="3886200"/>
            <a:ext cx="950966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b="1" i="1" dirty="0" smtClean="0"/>
              <a:t>Filter</a:t>
            </a:r>
            <a:endParaRPr lang="en-US" sz="2800" b="1" i="1" dirty="0"/>
          </a:p>
        </p:txBody>
      </p:sp>
      <p:grpSp>
        <p:nvGrpSpPr>
          <p:cNvPr id="14" name="Group 13"/>
          <p:cNvGrpSpPr/>
          <p:nvPr/>
        </p:nvGrpSpPr>
        <p:grpSpPr>
          <a:xfrm>
            <a:off x="1066800" y="2657572"/>
            <a:ext cx="2009815" cy="1712976"/>
            <a:chOff x="4771985" y="2362200"/>
            <a:chExt cx="2009815" cy="1712976"/>
          </a:xfrm>
        </p:grpSpPr>
        <p:grpSp>
          <p:nvGrpSpPr>
            <p:cNvPr id="15" name="Group 25"/>
            <p:cNvGrpSpPr/>
            <p:nvPr/>
          </p:nvGrpSpPr>
          <p:grpSpPr>
            <a:xfrm>
              <a:off x="5867400" y="2362200"/>
              <a:ext cx="914400" cy="1712976"/>
              <a:chOff x="5867400" y="2362200"/>
              <a:chExt cx="914400" cy="1712976"/>
            </a:xfrm>
          </p:grpSpPr>
          <p:sp>
            <p:nvSpPr>
              <p:cNvPr id="17" name="Cube 16"/>
              <p:cNvSpPr/>
              <p:nvPr/>
            </p:nvSpPr>
            <p:spPr>
              <a:xfrm>
                <a:off x="5867400" y="2362200"/>
                <a:ext cx="914400" cy="490586"/>
              </a:xfrm>
              <a:prstGeom prst="cube">
                <a:avLst/>
              </a:prstGeom>
              <a:ln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2400" b="1" dirty="0" smtClean="0"/>
                  <a:t>Per</a:t>
                </a:r>
                <a:endParaRPr lang="en-US" sz="2400" b="1" dirty="0"/>
              </a:p>
            </p:txBody>
          </p:sp>
          <p:sp>
            <p:nvSpPr>
              <p:cNvPr id="18" name="Can 17"/>
              <p:cNvSpPr/>
              <p:nvPr/>
            </p:nvSpPr>
            <p:spPr>
              <a:xfrm>
                <a:off x="5867400" y="2971800"/>
                <a:ext cx="914400" cy="493776"/>
              </a:xfrm>
              <a:prstGeom prst="can">
                <a:avLst/>
              </a:prstGeom>
              <a:solidFill>
                <a:srgbClr val="8064A2"/>
              </a:solidFill>
            </p:spPr>
            <p:style>
              <a:lnRef idx="2">
                <a:schemeClr val="accent4">
                  <a:shade val="50000"/>
                </a:schemeClr>
              </a:lnRef>
              <a:fillRef idx="1">
                <a:schemeClr val="accent4"/>
              </a:fillRef>
              <a:effectRef idx="0">
                <a:schemeClr val="accent4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2400" b="1" dirty="0" smtClean="0"/>
                  <a:t>Multi</a:t>
                </a:r>
                <a:endParaRPr lang="en-US" sz="2400" b="1" dirty="0"/>
              </a:p>
            </p:txBody>
          </p:sp>
          <p:sp>
            <p:nvSpPr>
              <p:cNvPr id="19" name="Flowchart: Alternate Process 18"/>
              <p:cNvSpPr/>
              <p:nvPr/>
            </p:nvSpPr>
            <p:spPr>
              <a:xfrm>
                <a:off x="5867400" y="3581400"/>
                <a:ext cx="914400" cy="493776"/>
              </a:xfrm>
              <a:prstGeom prst="flowChartAlternateProcess">
                <a:avLst/>
              </a:prstGeom>
            </p:spPr>
            <p:style>
              <a:lnRef idx="2">
                <a:schemeClr val="accent6">
                  <a:shade val="50000"/>
                </a:schemeClr>
              </a:lnRef>
              <a:fillRef idx="1">
                <a:schemeClr val="accent6"/>
              </a:fillRef>
              <a:effectRef idx="0">
                <a:schemeClr val="accent6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2400" b="1" dirty="0" smtClean="0"/>
                  <a:t>All</a:t>
                </a:r>
                <a:endParaRPr lang="en-US" sz="2400" b="1" dirty="0"/>
              </a:p>
            </p:txBody>
          </p:sp>
        </p:grpSp>
        <p:sp>
          <p:nvSpPr>
            <p:cNvPr id="16" name="TextBox 15"/>
            <p:cNvSpPr txBox="1"/>
            <p:nvPr/>
          </p:nvSpPr>
          <p:spPr>
            <a:xfrm>
              <a:off x="4771985" y="2971800"/>
              <a:ext cx="1050159" cy="52322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r"/>
              <a:r>
                <a:rPr lang="en-US" sz="2800" b="1" i="1" dirty="0" smtClean="0"/>
                <a:t>Scope</a:t>
              </a:r>
              <a:endParaRPr lang="en-US" sz="2800" b="1" i="1" dirty="0"/>
            </a:p>
          </p:txBody>
        </p:sp>
      </p:grpSp>
      <p:sp>
        <p:nvSpPr>
          <p:cNvPr id="9" name="Cube 8"/>
          <p:cNvSpPr/>
          <p:nvPr/>
        </p:nvSpPr>
        <p:spPr>
          <a:xfrm>
            <a:off x="3657600" y="2514600"/>
            <a:ext cx="457200" cy="457200"/>
          </a:xfrm>
          <a:prstGeom prst="cube">
            <a:avLst/>
          </a:prstGeom>
          <a:ln/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Cube 11"/>
          <p:cNvSpPr/>
          <p:nvPr/>
        </p:nvSpPr>
        <p:spPr>
          <a:xfrm>
            <a:off x="5072014" y="2514600"/>
            <a:ext cx="457200" cy="457200"/>
          </a:xfrm>
          <a:prstGeom prst="cube">
            <a:avLst/>
          </a:prstGeom>
          <a:ln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Cube 10"/>
          <p:cNvSpPr/>
          <p:nvPr/>
        </p:nvSpPr>
        <p:spPr>
          <a:xfrm>
            <a:off x="4386214" y="2514600"/>
            <a:ext cx="457200" cy="457200"/>
          </a:xfrm>
          <a:prstGeom prst="cube">
            <a:avLst/>
          </a:prstGeom>
          <a:ln/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3" name="Picture 12" descr="funnel.png"/>
          <p:cNvPicPr>
            <a:picLocks noChangeAspect="1"/>
          </p:cNvPicPr>
          <p:nvPr/>
        </p:nvPicPr>
        <p:blipFill>
          <a:blip r:embed="rId3" cstate="print"/>
          <a:srcRect t="20000"/>
          <a:stretch>
            <a:fillRect/>
          </a:stretch>
        </p:blipFill>
        <p:spPr>
          <a:xfrm>
            <a:off x="3929014" y="3429000"/>
            <a:ext cx="1524000" cy="1219200"/>
          </a:xfrm>
          <a:prstGeom prst="rect">
            <a:avLst/>
          </a:prstGeom>
        </p:spPr>
      </p:pic>
      <p:sp>
        <p:nvSpPr>
          <p:cNvPr id="24" name="TextBox 23"/>
          <p:cNvSpPr txBox="1"/>
          <p:nvPr/>
        </p:nvSpPr>
        <p:spPr>
          <a:xfrm>
            <a:off x="3505200" y="4505980"/>
            <a:ext cx="587020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b="1" i="1" dirty="0" smtClean="0">
                <a:solidFill>
                  <a:schemeClr val="bg1"/>
                </a:solidFill>
              </a:rPr>
              <a:t>NF</a:t>
            </a:r>
            <a:endParaRPr lang="en-US" sz="2800" b="1" i="1" dirty="0">
              <a:solidFill>
                <a:schemeClr val="bg1"/>
              </a:solidFill>
            </a:endParaRPr>
          </a:p>
        </p:txBody>
      </p:sp>
      <p:grpSp>
        <p:nvGrpSpPr>
          <p:cNvPr id="29" name="Group 28"/>
          <p:cNvGrpSpPr/>
          <p:nvPr/>
        </p:nvGrpSpPr>
        <p:grpSpPr>
          <a:xfrm>
            <a:off x="5072014" y="4114800"/>
            <a:ext cx="2662683" cy="685800"/>
            <a:chOff x="5334000" y="4029172"/>
            <a:chExt cx="2662683" cy="685800"/>
          </a:xfrm>
        </p:grpSpPr>
        <p:sp>
          <p:nvSpPr>
            <p:cNvPr id="22" name="Bent Arrow 21"/>
            <p:cNvSpPr/>
            <p:nvPr/>
          </p:nvSpPr>
          <p:spPr>
            <a:xfrm rot="5400000" flipH="1">
              <a:off x="5905500" y="3457672"/>
              <a:ext cx="685800" cy="1828799"/>
            </a:xfrm>
            <a:prstGeom prst="bentArrow">
              <a:avLst>
                <a:gd name="adj1" fmla="val 3593"/>
                <a:gd name="adj2" fmla="val 10310"/>
                <a:gd name="adj3" fmla="val 16768"/>
                <a:gd name="adj4" fmla="val 61932"/>
              </a:avLst>
            </a:prstGeom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chemeClr val="tx1"/>
                </a:solidFill>
              </a:endParaRPr>
            </a:p>
          </p:txBody>
        </p:sp>
        <p:sp>
          <p:nvSpPr>
            <p:cNvPr id="25" name="TextBox 24"/>
            <p:cNvSpPr txBox="1"/>
            <p:nvPr/>
          </p:nvSpPr>
          <p:spPr>
            <a:xfrm>
              <a:off x="7162800" y="4191000"/>
              <a:ext cx="833883" cy="52322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2800" dirty="0" smtClean="0">
                  <a:latin typeface="Lucida Console" pitchFamily="49" charset="0"/>
                </a:rPr>
                <a:t>get</a:t>
              </a:r>
              <a:endParaRPr lang="en-US" sz="2800" dirty="0">
                <a:latin typeface="Lucida Console" pitchFamily="49" charset="0"/>
              </a:endParaRPr>
            </a:p>
          </p:txBody>
        </p:sp>
      </p:grpSp>
      <p:grpSp>
        <p:nvGrpSpPr>
          <p:cNvPr id="28" name="Group 27"/>
          <p:cNvGrpSpPr/>
          <p:nvPr/>
        </p:nvGrpSpPr>
        <p:grpSpPr>
          <a:xfrm>
            <a:off x="6328917" y="1712975"/>
            <a:ext cx="1519683" cy="1143001"/>
            <a:chOff x="6400800" y="2438399"/>
            <a:chExt cx="1519683" cy="1143001"/>
          </a:xfrm>
        </p:grpSpPr>
        <p:sp>
          <p:nvSpPr>
            <p:cNvPr id="23" name="Bent Arrow 22"/>
            <p:cNvSpPr/>
            <p:nvPr/>
          </p:nvSpPr>
          <p:spPr>
            <a:xfrm rot="10800000">
              <a:off x="6400800" y="2438399"/>
              <a:ext cx="685800" cy="1143001"/>
            </a:xfrm>
            <a:prstGeom prst="bentArrow">
              <a:avLst>
                <a:gd name="adj1" fmla="val 3593"/>
                <a:gd name="adj2" fmla="val 10310"/>
                <a:gd name="adj3" fmla="val 16768"/>
                <a:gd name="adj4" fmla="val 61932"/>
              </a:avLst>
            </a:prstGeom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chemeClr val="tx1"/>
                </a:solidFill>
              </a:endParaRPr>
            </a:p>
          </p:txBody>
        </p:sp>
        <p:sp>
          <p:nvSpPr>
            <p:cNvPr id="26" name="TextBox 25"/>
            <p:cNvSpPr txBox="1"/>
            <p:nvPr/>
          </p:nvSpPr>
          <p:spPr>
            <a:xfrm>
              <a:off x="7086600" y="2438400"/>
              <a:ext cx="833883" cy="52322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2800" dirty="0" smtClean="0">
                  <a:latin typeface="Lucida Console" pitchFamily="49" charset="0"/>
                </a:rPr>
                <a:t>put</a:t>
              </a:r>
              <a:endParaRPr lang="en-US" sz="2800" dirty="0">
                <a:latin typeface="Lucida Console" pitchFamily="49" charset="0"/>
              </a:endParaRPr>
            </a:p>
          </p:txBody>
        </p:sp>
      </p:grpSp>
      <p:sp>
        <p:nvSpPr>
          <p:cNvPr id="20" name="Cube 19"/>
          <p:cNvSpPr/>
          <p:nvPr/>
        </p:nvSpPr>
        <p:spPr>
          <a:xfrm>
            <a:off x="4462414" y="4462414"/>
            <a:ext cx="490586" cy="490586"/>
          </a:xfrm>
          <a:prstGeom prst="cube">
            <a:avLst/>
          </a:prstGeom>
          <a:ln/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1" name="Can 30"/>
          <p:cNvSpPr/>
          <p:nvPr/>
        </p:nvSpPr>
        <p:spPr>
          <a:xfrm>
            <a:off x="6786117" y="990600"/>
            <a:ext cx="457200" cy="493776"/>
          </a:xfrm>
          <a:prstGeom prst="can">
            <a:avLst/>
          </a:prstGeom>
          <a:solidFill>
            <a:schemeClr val="accent4">
              <a:lumMod val="75000"/>
            </a:schemeClr>
          </a:solidFill>
          <a:ln>
            <a:solidFill>
              <a:schemeClr val="accent4">
                <a:lumMod val="50000"/>
              </a:schemeClr>
            </a:solidFill>
          </a:ln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400" b="1" dirty="0"/>
          </a:p>
        </p:txBody>
      </p:sp>
    </p:spTree>
    <p:extLst>
      <p:ext uri="{BB962C8B-B14F-4D97-AF65-F5344CB8AC3E}">
        <p14:creationId xmlns="" xmlns:p14="http://schemas.microsoft.com/office/powerpoint/2010/main" val="282174578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42" presetClass="path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8.60315E-7 L 0 0.08326 " pathEditMode="relative" rAng="0" ptsTypes="AA">
                                      <p:cBhvr>
                                        <p:cTn id="18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42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9" fill="hold">
                            <p:stCondLst>
                              <p:cond delay="500"/>
                            </p:stCondLst>
                            <p:childTnLst>
                              <p:par>
                                <p:cTn id="20" presetID="36" presetClass="path" presetSubtype="0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0.00017 0.01111 L 0.01979 0.01111 C 0.02865 0.01111 0.03941 0.0206 0.03941 0.02824 L 0.03941 0.04444 " pathEditMode="relative" rAng="-5400000" ptsTypes="FfFF">
                                      <p:cBhvr>
                                        <p:cTn id="21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20" y="17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2" fill="hold">
                            <p:stCondLst>
                              <p:cond delay="1000"/>
                            </p:stCondLst>
                            <p:childTnLst>
                              <p:par>
                                <p:cTn id="23" presetID="36" presetClass="path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5.55556E-7 1.69288E-6 L -0.01892 1.69288E-6 C -0.0276 1.69288E-6 -0.03715 0.01249 -0.03715 0.02359 L -0.03715 0.04995 " pathEditMode="relative" rAng="5400000" ptsTypes="FfFF">
                                      <p:cBhvr>
                                        <p:cTn id="24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19" y="25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2" presetClass="entr" presetSubtype="1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Top)">
                                      <p:cBhvr>
                                        <p:cTn id="29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0" fill="hold">
                            <p:stCondLst>
                              <p:cond delay="500"/>
                            </p:stCondLst>
                            <p:childTnLst>
                              <p:par>
                                <p:cTn id="31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3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43" presetClass="path" presetSubtype="0" accel="50000" decel="50000" fill="hold" grpId="2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8.33333E-7 3.84829E-6 L 0.11597 3.84829E-6 C 0.1684 3.84829E-6 0.23281 -0.03701 0.23281 -0.06707 L 0.23281 -0.13391 " pathEditMode="relative" rAng="0" ptsTypes="FfFF">
                                      <p:cBhvr>
                                        <p:cTn id="35" dur="20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116" y="-67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1" presetClass="entr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3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" presetID="36" presetClass="path" presetSubtype="0" accel="50000" decel="5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1.11111E-6 L 0 0.11204 C 0 0.1625 -0.03021 0.225 -0.05417 0.225 L -0.10833 0.225 " pathEditMode="relative" rAng="0" ptsTypes="FfFF">
                                      <p:cBhvr>
                                        <p:cTn id="45" dur="20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54" y="112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6" fill="hold">
                            <p:stCondLst>
                              <p:cond delay="2000"/>
                            </p:stCondLst>
                            <p:childTnLst>
                              <p:par>
                                <p:cTn id="47" presetID="10" presetClass="exit" presetSubtype="0" fill="hold" grpId="2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48" dur="10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999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0" presetID="1" presetClass="emph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>
                                      <p:cBhvr>
                                        <p:cTn id="51" dur="100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rgbClr val="8064A2"/>
                                      </p:to>
                                    </p:animClr>
                                    <p:set>
                                      <p:cBhvr>
                                        <p:cTn id="52" dur="100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53" dur="100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4" fill="hold">
                      <p:stCondLst>
                        <p:cond delay="indefinite"/>
                      </p:stCondLst>
                      <p:childTnLst>
                        <p:par>
                          <p:cTn id="55" fill="hold">
                            <p:stCondLst>
                              <p:cond delay="0"/>
                            </p:stCondLst>
                            <p:childTnLst>
                              <p:par>
                                <p:cTn id="56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8" grpId="0"/>
      <p:bldP spid="9" grpId="1" animBg="1"/>
      <p:bldP spid="12" grpId="0" animBg="1"/>
      <p:bldP spid="11" grpId="0" animBg="1"/>
      <p:bldP spid="20" grpId="1" animBg="1"/>
      <p:bldP spid="20" grpId="2" animBg="1"/>
      <p:bldP spid="31" grpId="1" animBg="1"/>
      <p:bldP spid="31" grpId="2" animBg="1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4" name="Straight Connector 43"/>
          <p:cNvCxnSpPr/>
          <p:nvPr/>
        </p:nvCxnSpPr>
        <p:spPr>
          <a:xfrm flipV="1">
            <a:off x="5562600" y="1905000"/>
            <a:ext cx="228600" cy="685800"/>
          </a:xfrm>
          <a:prstGeom prst="line">
            <a:avLst/>
          </a:prstGeom>
          <a:ln>
            <a:headEnd type="none" w="med" len="med"/>
            <a:tailEnd type="arrow" w="med" len="med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Control operations: move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2C5A87-65DC-41FD-9E53-7EAC48455B9A}" type="slidenum">
              <a:rPr lang="en-US" smtClean="0"/>
              <a:pPr/>
              <a:t>13</a:t>
            </a:fld>
            <a:endParaRPr lang="en-US" dirty="0"/>
          </a:p>
        </p:txBody>
      </p:sp>
      <p:sp>
        <p:nvSpPr>
          <p:cNvPr id="5" name="Cube 4"/>
          <p:cNvSpPr/>
          <p:nvPr/>
        </p:nvSpPr>
        <p:spPr>
          <a:xfrm>
            <a:off x="1905000" y="4267200"/>
            <a:ext cx="1447800" cy="699655"/>
          </a:xfrm>
          <a:prstGeom prst="cube">
            <a:avLst>
              <a:gd name="adj" fmla="val 46428"/>
            </a:avLst>
          </a:prstGeom>
        </p:spPr>
        <p:style>
          <a:lnRef idx="0">
            <a:schemeClr val="accent6"/>
          </a:lnRef>
          <a:fillRef idx="3">
            <a:schemeClr val="accent6"/>
          </a:fillRef>
          <a:effectRef idx="3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Rounded Rectangle 6"/>
          <p:cNvSpPr/>
          <p:nvPr/>
        </p:nvSpPr>
        <p:spPr>
          <a:xfrm>
            <a:off x="3200400" y="2590800"/>
            <a:ext cx="2971800" cy="533400"/>
          </a:xfrm>
          <a:prstGeom prst="roundRect">
            <a:avLst/>
          </a:prstGeom>
          <a:ln w="28575">
            <a:solidFill>
              <a:srgbClr val="CB6C1D"/>
            </a:solidFill>
          </a:ln>
        </p:spPr>
        <p:style>
          <a:lnRef idx="1">
            <a:schemeClr val="accent6"/>
          </a:lnRef>
          <a:fillRef idx="3">
            <a:schemeClr val="accent6"/>
          </a:fillRef>
          <a:effectRef idx="2">
            <a:schemeClr val="accent6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sz="2800" dirty="0" smtClean="0"/>
              <a:t>NF State Manager</a:t>
            </a:r>
            <a:endParaRPr lang="en-US" sz="2800" dirty="0"/>
          </a:p>
        </p:txBody>
      </p:sp>
      <p:sp>
        <p:nvSpPr>
          <p:cNvPr id="8" name="Cube 7"/>
          <p:cNvSpPr/>
          <p:nvPr/>
        </p:nvSpPr>
        <p:spPr>
          <a:xfrm>
            <a:off x="6170725" y="4267200"/>
            <a:ext cx="1447800" cy="699655"/>
          </a:xfrm>
          <a:prstGeom prst="cube">
            <a:avLst>
              <a:gd name="adj" fmla="val 46428"/>
            </a:avLst>
          </a:prstGeom>
        </p:spPr>
        <p:style>
          <a:lnRef idx="0">
            <a:schemeClr val="accent6"/>
          </a:lnRef>
          <a:fillRef idx="3">
            <a:schemeClr val="accent6"/>
          </a:fillRef>
          <a:effectRef idx="3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/>
          <p:cNvSpPr/>
          <p:nvPr/>
        </p:nvSpPr>
        <p:spPr>
          <a:xfrm>
            <a:off x="457200" y="1371600"/>
            <a:ext cx="3429000" cy="533400"/>
          </a:xfrm>
          <a:prstGeom prst="rect">
            <a:avLst/>
          </a:prstGeom>
          <a:ln w="28575">
            <a:solidFill>
              <a:schemeClr val="bg1">
                <a:lumMod val="50000"/>
              </a:schemeClr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sz="2800" dirty="0"/>
              <a:t>Control Application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52718" y="2052935"/>
            <a:ext cx="3479094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US" sz="2400" i="1" dirty="0" smtClean="0"/>
              <a:t>move (port=80, Bro</a:t>
            </a:r>
            <a:r>
              <a:rPr lang="en-US" sz="2400" i="1" baseline="-25000" dirty="0" smtClean="0"/>
              <a:t>1</a:t>
            </a:r>
            <a:r>
              <a:rPr lang="en-US" sz="2400" i="1" dirty="0" smtClean="0"/>
              <a:t>, Bro</a:t>
            </a:r>
            <a:r>
              <a:rPr lang="en-US" sz="2400" i="1" baseline="-25000" dirty="0" smtClean="0"/>
              <a:t>2</a:t>
            </a:r>
            <a:r>
              <a:rPr lang="en-US" sz="2400" i="1" dirty="0" smtClean="0"/>
              <a:t>)</a:t>
            </a:r>
            <a:endParaRPr lang="en-US" sz="2400" i="1" dirty="0"/>
          </a:p>
        </p:txBody>
      </p:sp>
      <p:sp>
        <p:nvSpPr>
          <p:cNvPr id="19" name="TextBox 18"/>
          <p:cNvSpPr txBox="1"/>
          <p:nvPr/>
        </p:nvSpPr>
        <p:spPr>
          <a:xfrm>
            <a:off x="668734" y="2895600"/>
            <a:ext cx="2303066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US" sz="2400" i="1" dirty="0" smtClean="0"/>
              <a:t>get(per, port=80)</a:t>
            </a:r>
            <a:endParaRPr lang="en-US" sz="2400" i="1" dirty="0"/>
          </a:p>
        </p:txBody>
      </p:sp>
      <p:cxnSp>
        <p:nvCxnSpPr>
          <p:cNvPr id="25" name="Shape 24"/>
          <p:cNvCxnSpPr>
            <a:stCxn id="7" idx="1"/>
            <a:endCxn id="5" idx="0"/>
          </p:cNvCxnSpPr>
          <p:nvPr/>
        </p:nvCxnSpPr>
        <p:spPr>
          <a:xfrm rot="10800000" flipV="1">
            <a:off x="2791318" y="2857500"/>
            <a:ext cx="409083" cy="1409700"/>
          </a:xfrm>
          <a:prstGeom prst="curvedConnector2">
            <a:avLst/>
          </a:prstGeom>
          <a:ln>
            <a:headEnd type="none" w="med" len="med"/>
            <a:tailEnd type="arrow" w="med" len="med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27" name="Shape 26"/>
          <p:cNvCxnSpPr>
            <a:stCxn id="5" idx="5"/>
          </p:cNvCxnSpPr>
          <p:nvPr/>
        </p:nvCxnSpPr>
        <p:spPr>
          <a:xfrm flipV="1">
            <a:off x="3352800" y="3048000"/>
            <a:ext cx="381000" cy="1406610"/>
          </a:xfrm>
          <a:prstGeom prst="curvedConnector2">
            <a:avLst/>
          </a:prstGeom>
          <a:ln>
            <a:headEnd type="none" w="med" len="med"/>
            <a:tailEnd type="arrow" w="med" len="med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31" name="TextBox 30"/>
          <p:cNvSpPr txBox="1"/>
          <p:nvPr/>
        </p:nvSpPr>
        <p:spPr>
          <a:xfrm>
            <a:off x="3722147" y="3429000"/>
            <a:ext cx="1305165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i="1" dirty="0" smtClean="0"/>
              <a:t>[Chunk1]</a:t>
            </a:r>
            <a:endParaRPr lang="en-US" sz="2400" i="1" dirty="0"/>
          </a:p>
        </p:txBody>
      </p:sp>
      <p:sp>
        <p:nvSpPr>
          <p:cNvPr id="46" name="TextBox 45"/>
          <p:cNvSpPr txBox="1"/>
          <p:nvPr/>
        </p:nvSpPr>
        <p:spPr>
          <a:xfrm>
            <a:off x="5720219" y="3276600"/>
            <a:ext cx="2325573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i="1" dirty="0" smtClean="0"/>
              <a:t>put (per, Chunk1)</a:t>
            </a:r>
            <a:endParaRPr lang="en-US" sz="2400" i="1" dirty="0"/>
          </a:p>
        </p:txBody>
      </p:sp>
      <p:sp>
        <p:nvSpPr>
          <p:cNvPr id="53" name="TextBox 52"/>
          <p:cNvSpPr txBox="1"/>
          <p:nvPr/>
        </p:nvSpPr>
        <p:spPr>
          <a:xfrm>
            <a:off x="546727" y="3505200"/>
            <a:ext cx="2272673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US" sz="2400" i="1" dirty="0" smtClean="0"/>
              <a:t>del(per, port=80)</a:t>
            </a:r>
            <a:endParaRPr lang="en-US" sz="2400" i="1" dirty="0"/>
          </a:p>
        </p:txBody>
      </p:sp>
      <p:sp>
        <p:nvSpPr>
          <p:cNvPr id="54" name="TextBox 53"/>
          <p:cNvSpPr txBox="1"/>
          <p:nvPr/>
        </p:nvSpPr>
        <p:spPr>
          <a:xfrm>
            <a:off x="3597351" y="3899769"/>
            <a:ext cx="1305165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i="1" dirty="0" smtClean="0"/>
              <a:t>[Chunk2]</a:t>
            </a:r>
            <a:endParaRPr lang="en-US" sz="2400" i="1" dirty="0"/>
          </a:p>
        </p:txBody>
      </p:sp>
      <p:sp>
        <p:nvSpPr>
          <p:cNvPr id="57" name="TextBox 56"/>
          <p:cNvSpPr txBox="1"/>
          <p:nvPr/>
        </p:nvSpPr>
        <p:spPr>
          <a:xfrm>
            <a:off x="5789725" y="3738265"/>
            <a:ext cx="2325573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i="1" dirty="0" smtClean="0"/>
              <a:t>put (per, Chunk2)</a:t>
            </a:r>
            <a:endParaRPr lang="en-US" sz="2400" i="1" dirty="0"/>
          </a:p>
        </p:txBody>
      </p:sp>
      <p:cxnSp>
        <p:nvCxnSpPr>
          <p:cNvPr id="72" name="Shape 71"/>
          <p:cNvCxnSpPr>
            <a:stCxn id="10" idx="3"/>
            <a:endCxn id="7" idx="0"/>
          </p:cNvCxnSpPr>
          <p:nvPr/>
        </p:nvCxnSpPr>
        <p:spPr>
          <a:xfrm>
            <a:off x="3886200" y="1638300"/>
            <a:ext cx="800100" cy="952500"/>
          </a:xfrm>
          <a:prstGeom prst="curvedConnector2">
            <a:avLst/>
          </a:prstGeom>
          <a:ln>
            <a:headEnd type="none" w="med" len="med"/>
            <a:tailEnd type="arrow" w="med" len="med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84" name="TextBox 83"/>
          <p:cNvSpPr txBox="1"/>
          <p:nvPr/>
        </p:nvSpPr>
        <p:spPr>
          <a:xfrm>
            <a:off x="5707262" y="2057400"/>
            <a:ext cx="3042115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i="1" dirty="0" smtClean="0"/>
              <a:t>forward(port=80, Bro</a:t>
            </a:r>
            <a:r>
              <a:rPr lang="en-US" sz="2400" i="1" baseline="-25000" dirty="0" smtClean="0"/>
              <a:t>2</a:t>
            </a:r>
            <a:r>
              <a:rPr lang="en-US" sz="2400" i="1" dirty="0" smtClean="0"/>
              <a:t>)</a:t>
            </a:r>
            <a:endParaRPr lang="en-US" sz="2400" i="1" dirty="0"/>
          </a:p>
        </p:txBody>
      </p:sp>
      <p:sp>
        <p:nvSpPr>
          <p:cNvPr id="96" name="Rounded Rectangle 95"/>
          <p:cNvSpPr/>
          <p:nvPr/>
        </p:nvSpPr>
        <p:spPr>
          <a:xfrm>
            <a:off x="5562600" y="1371600"/>
            <a:ext cx="2438400" cy="533400"/>
          </a:xfrm>
          <a:prstGeom prst="roundRect">
            <a:avLst/>
          </a:prstGeom>
          <a:gradFill>
            <a:gsLst>
              <a:gs pos="0">
                <a:srgbClr val="0070C0"/>
              </a:gs>
              <a:gs pos="80000">
                <a:srgbClr val="00B0F0"/>
              </a:gs>
              <a:gs pos="100000">
                <a:srgbClr val="00B0F0"/>
              </a:gs>
            </a:gsLst>
          </a:gradFill>
          <a:ln w="28575">
            <a:solidFill>
              <a:srgbClr val="0070C0"/>
            </a:solidFill>
          </a:ln>
        </p:spPr>
        <p:style>
          <a:lnRef idx="1">
            <a:schemeClr val="accent5"/>
          </a:lnRef>
          <a:fillRef idx="3">
            <a:schemeClr val="accent5"/>
          </a:fillRef>
          <a:effectRef idx="2">
            <a:schemeClr val="accent5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sz="2800" dirty="0" smtClean="0"/>
              <a:t>Flow Manager</a:t>
            </a:r>
            <a:endParaRPr lang="en-US" sz="2800" dirty="0"/>
          </a:p>
        </p:txBody>
      </p:sp>
      <p:sp>
        <p:nvSpPr>
          <p:cNvPr id="97" name="Rectangle 96"/>
          <p:cNvSpPr/>
          <p:nvPr/>
        </p:nvSpPr>
        <p:spPr>
          <a:xfrm>
            <a:off x="7391400" y="4662055"/>
            <a:ext cx="824713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2800" b="1" dirty="0" smtClean="0">
                <a:solidFill>
                  <a:srgbClr val="E46C0A"/>
                </a:solidFill>
              </a:rPr>
              <a:t>Bro</a:t>
            </a:r>
            <a:r>
              <a:rPr lang="en-US" sz="2800" b="1" baseline="-25000" dirty="0" smtClean="0">
                <a:solidFill>
                  <a:srgbClr val="E46C0A"/>
                </a:solidFill>
              </a:rPr>
              <a:t>2</a:t>
            </a:r>
            <a:endParaRPr lang="en-US" sz="2800" b="1" baseline="-25000" dirty="0">
              <a:solidFill>
                <a:srgbClr val="E46C0A"/>
              </a:solidFill>
            </a:endParaRPr>
          </a:p>
        </p:txBody>
      </p:sp>
      <p:sp>
        <p:nvSpPr>
          <p:cNvPr id="98" name="Rectangle 97"/>
          <p:cNvSpPr/>
          <p:nvPr/>
        </p:nvSpPr>
        <p:spPr>
          <a:xfrm>
            <a:off x="3124200" y="4662055"/>
            <a:ext cx="824713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2800" b="1" dirty="0" smtClean="0">
                <a:solidFill>
                  <a:srgbClr val="E46C0A"/>
                </a:solidFill>
              </a:rPr>
              <a:t>Bro</a:t>
            </a:r>
            <a:r>
              <a:rPr lang="en-US" sz="2800" b="1" baseline="-25000" dirty="0" smtClean="0">
                <a:solidFill>
                  <a:srgbClr val="E46C0A"/>
                </a:solidFill>
              </a:rPr>
              <a:t>1</a:t>
            </a:r>
            <a:endParaRPr lang="en-US" sz="2800" b="1" baseline="-25000" dirty="0">
              <a:solidFill>
                <a:srgbClr val="E46C0A"/>
              </a:solidFill>
            </a:endParaRPr>
          </a:p>
        </p:txBody>
      </p:sp>
      <p:sp>
        <p:nvSpPr>
          <p:cNvPr id="35" name="Freeform 34"/>
          <p:cNvSpPr/>
          <p:nvPr/>
        </p:nvSpPr>
        <p:spPr>
          <a:xfrm>
            <a:off x="5686816" y="3141945"/>
            <a:ext cx="488516" cy="1658655"/>
          </a:xfrm>
          <a:custGeom>
            <a:avLst/>
            <a:gdLst>
              <a:gd name="connsiteX0" fmla="*/ 0 w 488516"/>
              <a:gd name="connsiteY0" fmla="*/ 0 h 2154477"/>
              <a:gd name="connsiteX1" fmla="*/ 137787 w 488516"/>
              <a:gd name="connsiteY1" fmla="*/ 1791222 h 2154477"/>
              <a:gd name="connsiteX2" fmla="*/ 488516 w 488516"/>
              <a:gd name="connsiteY2" fmla="*/ 2154477 h 215447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488516" h="2154477">
                <a:moveTo>
                  <a:pt x="0" y="0"/>
                </a:moveTo>
                <a:cubicBezTo>
                  <a:pt x="28184" y="716071"/>
                  <a:pt x="56368" y="1432143"/>
                  <a:pt x="137787" y="1791222"/>
                </a:cubicBezTo>
                <a:cubicBezTo>
                  <a:pt x="219206" y="2150302"/>
                  <a:pt x="415448" y="2087672"/>
                  <a:pt x="488516" y="2154477"/>
                </a:cubicBezTo>
              </a:path>
            </a:pathLst>
          </a:custGeom>
          <a:ln>
            <a:headEnd type="none" w="med" len="med"/>
            <a:tailEnd type="arrow" w="med" len="med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6" name="Rounded Rectangle 25">
            <a:hlinkClick r:id="" action="ppaction://noaction"/>
          </p:cNvPr>
          <p:cNvSpPr/>
          <p:nvPr/>
        </p:nvSpPr>
        <p:spPr>
          <a:xfrm>
            <a:off x="460248" y="5354392"/>
            <a:ext cx="8226552" cy="817808"/>
          </a:xfrm>
          <a:prstGeom prst="roundRect">
            <a:avLst/>
          </a:prstGeom>
        </p:spPr>
        <p:style>
          <a:lnRef idx="3">
            <a:schemeClr val="lt1"/>
          </a:lnRef>
          <a:fillRef idx="1">
            <a:schemeClr val="accent6"/>
          </a:fillRef>
          <a:effectRef idx="1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800" dirty="0"/>
              <a:t>Also provide copy and share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8" grpId="0"/>
      <p:bldP spid="19" grpId="0"/>
      <p:bldP spid="31" grpId="0"/>
      <p:bldP spid="46" grpId="0"/>
      <p:bldP spid="53" grpId="0"/>
      <p:bldP spid="54" grpId="0"/>
      <p:bldP spid="57" grpId="0"/>
      <p:bldP spid="84" grpId="0"/>
      <p:bldP spid="35" grpId="0" animBg="1"/>
      <p:bldP spid="26" grpId="0" animBg="1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6" name="Group 55"/>
          <p:cNvGrpSpPr/>
          <p:nvPr/>
        </p:nvGrpSpPr>
        <p:grpSpPr>
          <a:xfrm>
            <a:off x="4114800" y="1447800"/>
            <a:ext cx="2133600" cy="1309999"/>
            <a:chOff x="4114800" y="1447800"/>
            <a:chExt cx="2133600" cy="1309999"/>
          </a:xfrm>
        </p:grpSpPr>
        <p:grpSp>
          <p:nvGrpSpPr>
            <p:cNvPr id="40" name="Group 39"/>
            <p:cNvGrpSpPr/>
            <p:nvPr/>
          </p:nvGrpSpPr>
          <p:grpSpPr>
            <a:xfrm>
              <a:off x="5105400" y="1447800"/>
              <a:ext cx="1143000" cy="762000"/>
              <a:chOff x="9067800" y="3429000"/>
              <a:chExt cx="1143000" cy="762000"/>
            </a:xfrm>
          </p:grpSpPr>
          <p:pic>
            <p:nvPicPr>
              <p:cNvPr id="31" name="Picture 30" descr="text-x-generic.png"/>
              <p:cNvPicPr>
                <a:picLocks noChangeAspect="1"/>
              </p:cNvPicPr>
              <p:nvPr/>
            </p:nvPicPr>
            <p:blipFill>
              <a:blip r:embed="rId3" cstate="print"/>
              <a:stretch>
                <a:fillRect/>
              </a:stretch>
            </p:blipFill>
            <p:spPr>
              <a:xfrm>
                <a:off x="9067800" y="3429000"/>
                <a:ext cx="1143000" cy="762000"/>
              </a:xfrm>
              <a:prstGeom prst="rect">
                <a:avLst/>
              </a:prstGeom>
            </p:spPr>
          </p:pic>
          <p:sp>
            <p:nvSpPr>
              <p:cNvPr id="39" name="TextBox 38"/>
              <p:cNvSpPr txBox="1"/>
              <p:nvPr/>
            </p:nvSpPr>
            <p:spPr>
              <a:xfrm>
                <a:off x="9202588" y="3505200"/>
                <a:ext cx="855812" cy="646331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ctr"/>
                <a:r>
                  <a:rPr lang="en-US" b="1" i="1" dirty="0" smtClean="0"/>
                  <a:t>detect-</a:t>
                </a:r>
                <a:br>
                  <a:rPr lang="en-US" b="1" i="1" dirty="0" smtClean="0"/>
                </a:br>
                <a:r>
                  <a:rPr lang="en-US" b="1" i="1" dirty="0" smtClean="0"/>
                  <a:t>MHR</a:t>
                </a:r>
                <a:endParaRPr lang="en-US" b="1" i="1" dirty="0"/>
              </a:p>
            </p:txBody>
          </p:sp>
        </p:grpSp>
        <p:cxnSp>
          <p:nvCxnSpPr>
            <p:cNvPr id="46" name="Straight Arrow Connector 45"/>
            <p:cNvCxnSpPr>
              <a:stCxn id="39" idx="2"/>
              <a:endCxn id="44" idx="5"/>
            </p:cNvCxnSpPr>
            <p:nvPr/>
          </p:nvCxnSpPr>
          <p:spPr>
            <a:xfrm flipH="1">
              <a:off x="4114800" y="2170331"/>
              <a:ext cx="1553294" cy="587468"/>
            </a:xfrm>
            <a:prstGeom prst="straightConnector1">
              <a:avLst/>
            </a:prstGeom>
            <a:ln>
              <a:prstDash val="sysDot"/>
              <a:tailEnd type="arrow"/>
            </a:ln>
          </p:spPr>
          <p:style>
            <a:lnRef idx="3">
              <a:schemeClr val="dk1"/>
            </a:lnRef>
            <a:fillRef idx="0">
              <a:schemeClr val="dk1"/>
            </a:fillRef>
            <a:effectRef idx="2">
              <a:schemeClr val="dk1"/>
            </a:effectRef>
            <a:fontRef idx="minor">
              <a:schemeClr val="tx1"/>
            </a:fontRef>
          </p:style>
        </p:cxnSp>
        <p:cxnSp>
          <p:nvCxnSpPr>
            <p:cNvPr id="48" name="Straight Arrow Connector 47"/>
            <p:cNvCxnSpPr>
              <a:stCxn id="31" idx="2"/>
              <a:endCxn id="43" idx="0"/>
            </p:cNvCxnSpPr>
            <p:nvPr/>
          </p:nvCxnSpPr>
          <p:spPr>
            <a:xfrm>
              <a:off x="5676900" y="2209800"/>
              <a:ext cx="259029" cy="381000"/>
            </a:xfrm>
            <a:prstGeom prst="straightConnector1">
              <a:avLst/>
            </a:prstGeom>
            <a:ln>
              <a:prstDash val="sysDot"/>
              <a:tailEnd type="arrow"/>
            </a:ln>
          </p:spPr>
          <p:style>
            <a:lnRef idx="3">
              <a:schemeClr val="dk1"/>
            </a:lnRef>
            <a:fillRef idx="0">
              <a:schemeClr val="dk1"/>
            </a:fillRef>
            <a:effectRef idx="2">
              <a:schemeClr val="dk1"/>
            </a:effectRef>
            <a:fontRef idx="minor">
              <a:schemeClr val="tx1"/>
            </a:fontRef>
          </p:style>
        </p:cxnSp>
      </p:grpSp>
      <p:sp>
        <p:nvSpPr>
          <p:cNvPr id="44" name="Cube 43"/>
          <p:cNvSpPr/>
          <p:nvPr/>
        </p:nvSpPr>
        <p:spPr>
          <a:xfrm>
            <a:off x="3200400" y="2590800"/>
            <a:ext cx="914400" cy="623455"/>
          </a:xfrm>
          <a:prstGeom prst="cube">
            <a:avLst>
              <a:gd name="adj" fmla="val 46428"/>
            </a:avLst>
          </a:prstGeom>
        </p:spPr>
        <p:style>
          <a:lnRef idx="0">
            <a:schemeClr val="accent6"/>
          </a:lnRef>
          <a:fillRef idx="3">
            <a:schemeClr val="accent6"/>
          </a:fillRef>
          <a:effectRef idx="3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4999037"/>
            <a:ext cx="8458200" cy="1173163"/>
          </a:xfrm>
        </p:spPr>
        <p:txBody>
          <a:bodyPr>
            <a:normAutofit/>
          </a:bodyPr>
          <a:lstStyle/>
          <a:p>
            <a:r>
              <a:rPr lang="en-US" dirty="0" smtClean="0"/>
              <a:t>Split/Merge </a:t>
            </a:r>
            <a:r>
              <a:rPr lang="en-US" sz="1900" i="1" dirty="0" smtClean="0"/>
              <a:t>[NSDI ‘13]</a:t>
            </a:r>
            <a:r>
              <a:rPr lang="en-US" dirty="0" smtClean="0"/>
              <a:t>: pause traffic, buffer packets</a:t>
            </a:r>
          </a:p>
          <a:p>
            <a:pPr lvl="1"/>
            <a:r>
              <a:rPr lang="en-US" dirty="0" smtClean="0"/>
              <a:t>Packets in-transit when buffering starts are dropped</a:t>
            </a:r>
          </a:p>
        </p:txBody>
      </p:sp>
      <p:sp>
        <p:nvSpPr>
          <p:cNvPr id="43" name="Cube 42"/>
          <p:cNvSpPr/>
          <p:nvPr/>
        </p:nvSpPr>
        <p:spPr>
          <a:xfrm>
            <a:off x="5334000" y="2590800"/>
            <a:ext cx="914400" cy="623455"/>
          </a:xfrm>
          <a:prstGeom prst="cube">
            <a:avLst>
              <a:gd name="adj" fmla="val 46428"/>
            </a:avLst>
          </a:prstGeom>
        </p:spPr>
        <p:style>
          <a:lnRef idx="0">
            <a:schemeClr val="accent6"/>
          </a:lnRef>
          <a:fillRef idx="3">
            <a:schemeClr val="accent6"/>
          </a:fillRef>
          <a:effectRef idx="3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27" name="Picture 26"/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tretch>
            <a:fillRect/>
          </a:stretch>
        </p:blipFill>
        <p:spPr>
          <a:xfrm>
            <a:off x="4280571" y="1692457"/>
            <a:ext cx="596229" cy="593543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 smtClean="0"/>
              <a:t>Lost updates during move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2C5A87-65DC-41FD-9E53-7EAC48455B9A}" type="slidenum">
              <a:rPr lang="en-US" smtClean="0"/>
              <a:pPr/>
              <a:t>14</a:t>
            </a:fld>
            <a:endParaRPr lang="en-US" dirty="0"/>
          </a:p>
        </p:txBody>
      </p:sp>
      <p:pic>
        <p:nvPicPr>
          <p:cNvPr id="5" name="Picture 4" descr="x.png"/>
          <p:cNvPicPr>
            <a:picLocks noChangeAspect="1"/>
          </p:cNvPicPr>
          <p:nvPr/>
        </p:nvPicPr>
        <p:blipFill>
          <a:blip r:embed="rId5" cstate="print"/>
          <a:stretch>
            <a:fillRect/>
          </a:stretch>
        </p:blipFill>
        <p:spPr>
          <a:xfrm>
            <a:off x="457200" y="5075237"/>
            <a:ext cx="381000" cy="381000"/>
          </a:xfrm>
          <a:prstGeom prst="rect">
            <a:avLst/>
          </a:prstGeom>
        </p:spPr>
      </p:pic>
      <p:sp>
        <p:nvSpPr>
          <p:cNvPr id="15" name="Freeform 14"/>
          <p:cNvSpPr/>
          <p:nvPr/>
        </p:nvSpPr>
        <p:spPr>
          <a:xfrm>
            <a:off x="3593911" y="1757149"/>
            <a:ext cx="1130489" cy="1665027"/>
          </a:xfrm>
          <a:custGeom>
            <a:avLst/>
            <a:gdLst>
              <a:gd name="connsiteX0" fmla="*/ 1105468 w 1130489"/>
              <a:gd name="connsiteY0" fmla="*/ 0 h 1665027"/>
              <a:gd name="connsiteX1" fmla="*/ 982638 w 1130489"/>
              <a:gd name="connsiteY1" fmla="*/ 341194 h 1665027"/>
              <a:gd name="connsiteX2" fmla="*/ 218364 w 1130489"/>
              <a:gd name="connsiteY2" fmla="*/ 1064526 h 1665027"/>
              <a:gd name="connsiteX3" fmla="*/ 0 w 1130489"/>
              <a:gd name="connsiteY3" fmla="*/ 1665027 h 166502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130489" h="1665027">
                <a:moveTo>
                  <a:pt x="1105468" y="0"/>
                </a:moveTo>
                <a:cubicBezTo>
                  <a:pt x="1117978" y="81886"/>
                  <a:pt x="1130489" y="163773"/>
                  <a:pt x="982638" y="341194"/>
                </a:cubicBezTo>
                <a:cubicBezTo>
                  <a:pt x="834787" y="518615"/>
                  <a:pt x="382137" y="843887"/>
                  <a:pt x="218364" y="1064526"/>
                </a:cubicBezTo>
                <a:cubicBezTo>
                  <a:pt x="54591" y="1285165"/>
                  <a:pt x="27295" y="1475096"/>
                  <a:pt x="0" y="1665027"/>
                </a:cubicBezTo>
              </a:path>
            </a:pathLst>
          </a:custGeom>
          <a:ln w="76200">
            <a:tailEnd type="arrow"/>
          </a:ln>
        </p:spPr>
        <p:style>
          <a:lnRef idx="3">
            <a:schemeClr val="accent5"/>
          </a:lnRef>
          <a:fillRef idx="0">
            <a:schemeClr val="accent5"/>
          </a:fillRef>
          <a:effectRef idx="2">
            <a:schemeClr val="accent5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Freeform 15"/>
          <p:cNvSpPr/>
          <p:nvPr/>
        </p:nvSpPr>
        <p:spPr>
          <a:xfrm>
            <a:off x="3365311" y="1752600"/>
            <a:ext cx="1130489" cy="1665027"/>
          </a:xfrm>
          <a:custGeom>
            <a:avLst/>
            <a:gdLst>
              <a:gd name="connsiteX0" fmla="*/ 1105468 w 1130489"/>
              <a:gd name="connsiteY0" fmla="*/ 0 h 1665027"/>
              <a:gd name="connsiteX1" fmla="*/ 982638 w 1130489"/>
              <a:gd name="connsiteY1" fmla="*/ 341194 h 1665027"/>
              <a:gd name="connsiteX2" fmla="*/ 218364 w 1130489"/>
              <a:gd name="connsiteY2" fmla="*/ 1064526 h 1665027"/>
              <a:gd name="connsiteX3" fmla="*/ 0 w 1130489"/>
              <a:gd name="connsiteY3" fmla="*/ 1665027 h 166502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130489" h="1665027">
                <a:moveTo>
                  <a:pt x="1105468" y="0"/>
                </a:moveTo>
                <a:cubicBezTo>
                  <a:pt x="1117978" y="81886"/>
                  <a:pt x="1130489" y="163773"/>
                  <a:pt x="982638" y="341194"/>
                </a:cubicBezTo>
                <a:cubicBezTo>
                  <a:pt x="834787" y="518615"/>
                  <a:pt x="382137" y="843887"/>
                  <a:pt x="218364" y="1064526"/>
                </a:cubicBezTo>
                <a:cubicBezTo>
                  <a:pt x="54591" y="1285165"/>
                  <a:pt x="27295" y="1475096"/>
                  <a:pt x="0" y="1665027"/>
                </a:cubicBezTo>
              </a:path>
            </a:pathLst>
          </a:custGeom>
          <a:ln w="76200">
            <a:tailEnd type="arrow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Freeform 16"/>
          <p:cNvSpPr/>
          <p:nvPr/>
        </p:nvSpPr>
        <p:spPr>
          <a:xfrm flipH="1">
            <a:off x="4508311" y="1763973"/>
            <a:ext cx="1130489" cy="1665027"/>
          </a:xfrm>
          <a:custGeom>
            <a:avLst/>
            <a:gdLst>
              <a:gd name="connsiteX0" fmla="*/ 1105468 w 1130489"/>
              <a:gd name="connsiteY0" fmla="*/ 0 h 1665027"/>
              <a:gd name="connsiteX1" fmla="*/ 982638 w 1130489"/>
              <a:gd name="connsiteY1" fmla="*/ 341194 h 1665027"/>
              <a:gd name="connsiteX2" fmla="*/ 218364 w 1130489"/>
              <a:gd name="connsiteY2" fmla="*/ 1064526 h 1665027"/>
              <a:gd name="connsiteX3" fmla="*/ 0 w 1130489"/>
              <a:gd name="connsiteY3" fmla="*/ 1665027 h 166502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130489" h="1665027">
                <a:moveTo>
                  <a:pt x="1105468" y="0"/>
                </a:moveTo>
                <a:cubicBezTo>
                  <a:pt x="1117978" y="81886"/>
                  <a:pt x="1130489" y="163773"/>
                  <a:pt x="982638" y="341194"/>
                </a:cubicBezTo>
                <a:cubicBezTo>
                  <a:pt x="834787" y="518615"/>
                  <a:pt x="382137" y="843887"/>
                  <a:pt x="218364" y="1064526"/>
                </a:cubicBezTo>
                <a:cubicBezTo>
                  <a:pt x="54591" y="1285165"/>
                  <a:pt x="27295" y="1475096"/>
                  <a:pt x="0" y="1665027"/>
                </a:cubicBezTo>
              </a:path>
            </a:pathLst>
          </a:custGeom>
          <a:ln w="76200">
            <a:tailEnd type="arrow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Cube 17"/>
          <p:cNvSpPr/>
          <p:nvPr/>
        </p:nvSpPr>
        <p:spPr>
          <a:xfrm>
            <a:off x="2362200" y="2895600"/>
            <a:ext cx="685800" cy="304800"/>
          </a:xfrm>
          <a:prstGeom prst="cube">
            <a:avLst/>
          </a:prstGeom>
        </p:spPr>
        <p:style>
          <a:lnRef idx="2">
            <a:schemeClr val="accent5">
              <a:shade val="50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 smtClean="0"/>
              <a:t>B1</a:t>
            </a:r>
            <a:endParaRPr lang="en-US" b="1" dirty="0"/>
          </a:p>
        </p:txBody>
      </p:sp>
      <p:sp>
        <p:nvSpPr>
          <p:cNvPr id="19" name="Cube 18"/>
          <p:cNvSpPr/>
          <p:nvPr/>
        </p:nvSpPr>
        <p:spPr>
          <a:xfrm>
            <a:off x="2362200" y="2514600"/>
            <a:ext cx="685800" cy="304800"/>
          </a:xfrm>
          <a:prstGeom prst="cube">
            <a:avLst/>
          </a:prstGeom>
          <a:ln/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 smtClean="0">
                <a:solidFill>
                  <a:schemeClr val="bg1"/>
                </a:solidFill>
              </a:rPr>
              <a:t>R1</a:t>
            </a:r>
            <a:endParaRPr lang="en-US" b="1" dirty="0">
              <a:solidFill>
                <a:schemeClr val="bg1"/>
              </a:solidFill>
            </a:endParaRPr>
          </a:p>
        </p:txBody>
      </p:sp>
      <p:sp>
        <p:nvSpPr>
          <p:cNvPr id="20" name="Rectangle 19"/>
          <p:cNvSpPr/>
          <p:nvPr/>
        </p:nvSpPr>
        <p:spPr>
          <a:xfrm>
            <a:off x="4267200" y="1600200"/>
            <a:ext cx="457200" cy="228600"/>
          </a:xfrm>
          <a:prstGeom prst="rect">
            <a:avLst/>
          </a:prstGeom>
          <a:ln/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>
                <a:solidFill>
                  <a:schemeClr val="bg1"/>
                </a:solidFill>
              </a:rPr>
              <a:t>R2</a:t>
            </a:r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21" name="Cube 20"/>
          <p:cNvSpPr/>
          <p:nvPr/>
        </p:nvSpPr>
        <p:spPr>
          <a:xfrm>
            <a:off x="2362200" y="2514600"/>
            <a:ext cx="685800" cy="304800"/>
          </a:xfrm>
          <a:prstGeom prst="cube">
            <a:avLst/>
          </a:prstGeom>
          <a:ln/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 smtClean="0">
                <a:solidFill>
                  <a:schemeClr val="bg1"/>
                </a:solidFill>
              </a:rPr>
              <a:t>R2</a:t>
            </a:r>
            <a:endParaRPr lang="en-US" b="1" dirty="0">
              <a:solidFill>
                <a:schemeClr val="bg1"/>
              </a:solidFill>
            </a:endParaRPr>
          </a:p>
        </p:txBody>
      </p:sp>
      <p:grpSp>
        <p:nvGrpSpPr>
          <p:cNvPr id="6" name="Group 44"/>
          <p:cNvGrpSpPr/>
          <p:nvPr/>
        </p:nvGrpSpPr>
        <p:grpSpPr>
          <a:xfrm>
            <a:off x="609600" y="2217003"/>
            <a:ext cx="1752600" cy="830997"/>
            <a:chOff x="609600" y="2990671"/>
            <a:chExt cx="1752600" cy="830997"/>
          </a:xfrm>
        </p:grpSpPr>
        <p:sp>
          <p:nvSpPr>
            <p:cNvPr id="26" name="TextBox 25"/>
            <p:cNvSpPr txBox="1"/>
            <p:nvPr/>
          </p:nvSpPr>
          <p:spPr>
            <a:xfrm>
              <a:off x="609600" y="2990671"/>
              <a:ext cx="1274708" cy="83099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r"/>
              <a:r>
                <a:rPr lang="en-US" sz="2400" b="1" dirty="0" smtClean="0"/>
                <a:t>Missing</a:t>
              </a:r>
              <a:br>
                <a:rPr lang="en-US" sz="2400" b="1" dirty="0" smtClean="0"/>
              </a:br>
              <a:r>
                <a:rPr lang="en-US" sz="2400" b="1" dirty="0" smtClean="0"/>
                <a:t>state</a:t>
              </a:r>
            </a:p>
          </p:txBody>
        </p:sp>
        <p:cxnSp>
          <p:nvCxnSpPr>
            <p:cNvPr id="30" name="Straight Arrow Connector 29"/>
            <p:cNvCxnSpPr>
              <a:stCxn id="26" idx="3"/>
              <a:endCxn id="21" idx="2"/>
            </p:cNvCxnSpPr>
            <p:nvPr/>
          </p:nvCxnSpPr>
          <p:spPr>
            <a:xfrm>
              <a:off x="1884308" y="3406170"/>
              <a:ext cx="477892" cy="72598"/>
            </a:xfrm>
            <a:prstGeom prst="straightConnector1">
              <a:avLst/>
            </a:prstGeom>
            <a:ln>
              <a:tailEnd type="arrow"/>
            </a:ln>
          </p:spPr>
          <p:style>
            <a:lnRef idx="3">
              <a:schemeClr val="dk1"/>
            </a:lnRef>
            <a:fillRef idx="0">
              <a:schemeClr val="dk1"/>
            </a:fillRef>
            <a:effectRef idx="2">
              <a:schemeClr val="dk1"/>
            </a:effectRef>
            <a:fontRef idx="minor">
              <a:schemeClr val="tx1"/>
            </a:fontRef>
          </p:style>
        </p:cxnSp>
      </p:grpSp>
      <p:sp>
        <p:nvSpPr>
          <p:cNvPr id="35" name="Rectangle 34"/>
          <p:cNvSpPr/>
          <p:nvPr/>
        </p:nvSpPr>
        <p:spPr>
          <a:xfrm>
            <a:off x="6019800" y="3048000"/>
            <a:ext cx="824713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2800" b="1" dirty="0" smtClean="0">
                <a:solidFill>
                  <a:srgbClr val="E46C0A"/>
                </a:solidFill>
              </a:rPr>
              <a:t>Bro</a:t>
            </a:r>
            <a:r>
              <a:rPr lang="en-US" sz="2800" b="1" baseline="-25000" dirty="0" smtClean="0">
                <a:solidFill>
                  <a:srgbClr val="E46C0A"/>
                </a:solidFill>
              </a:rPr>
              <a:t>2</a:t>
            </a:r>
            <a:endParaRPr lang="en-US" sz="2800" b="1" dirty="0">
              <a:solidFill>
                <a:srgbClr val="E46C0A"/>
              </a:solidFill>
            </a:endParaRPr>
          </a:p>
        </p:txBody>
      </p:sp>
      <p:sp>
        <p:nvSpPr>
          <p:cNvPr id="36" name="Rectangle 35"/>
          <p:cNvSpPr/>
          <p:nvPr/>
        </p:nvSpPr>
        <p:spPr>
          <a:xfrm>
            <a:off x="3810000" y="3048000"/>
            <a:ext cx="824713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2800" b="1" dirty="0" smtClean="0">
                <a:solidFill>
                  <a:srgbClr val="E46C0A"/>
                </a:solidFill>
              </a:rPr>
              <a:t>Bro</a:t>
            </a:r>
            <a:r>
              <a:rPr lang="en-US" sz="2800" b="1" baseline="-25000" dirty="0" smtClean="0">
                <a:solidFill>
                  <a:srgbClr val="E46C0A"/>
                </a:solidFill>
              </a:rPr>
              <a:t>1</a:t>
            </a:r>
            <a:endParaRPr lang="en-US" sz="2800" b="1" dirty="0">
              <a:solidFill>
                <a:srgbClr val="E46C0A"/>
              </a:solidFill>
            </a:endParaRPr>
          </a:p>
        </p:txBody>
      </p:sp>
      <p:sp>
        <p:nvSpPr>
          <p:cNvPr id="37" name="TextBox 36"/>
          <p:cNvSpPr txBox="1"/>
          <p:nvPr/>
        </p:nvSpPr>
        <p:spPr>
          <a:xfrm>
            <a:off x="838200" y="1524000"/>
            <a:ext cx="32766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i="1" dirty="0" smtClean="0"/>
              <a:t>move(red,Bro</a:t>
            </a:r>
            <a:r>
              <a:rPr lang="en-US" sz="2400" i="1" baseline="-25000" dirty="0" smtClean="0"/>
              <a:t>1 </a:t>
            </a:r>
            <a:r>
              <a:rPr lang="en-US" sz="2400" i="1" dirty="0" smtClean="0"/>
              <a:t>,Bro</a:t>
            </a:r>
            <a:r>
              <a:rPr lang="en-US" sz="2400" i="1" baseline="-25000" dirty="0" smtClean="0"/>
              <a:t>2 </a:t>
            </a:r>
            <a:r>
              <a:rPr lang="en-US" sz="2400" dirty="0" smtClean="0"/>
              <a:t>)</a:t>
            </a:r>
          </a:p>
        </p:txBody>
      </p:sp>
      <p:grpSp>
        <p:nvGrpSpPr>
          <p:cNvPr id="7" name="Group 45"/>
          <p:cNvGrpSpPr/>
          <p:nvPr/>
        </p:nvGrpSpPr>
        <p:grpSpPr>
          <a:xfrm>
            <a:off x="7010400" y="2217003"/>
            <a:ext cx="1752600" cy="830997"/>
            <a:chOff x="7162800" y="3055203"/>
            <a:chExt cx="1752600" cy="830997"/>
          </a:xfrm>
        </p:grpSpPr>
        <p:sp>
          <p:nvSpPr>
            <p:cNvPr id="41" name="TextBox 40"/>
            <p:cNvSpPr txBox="1"/>
            <p:nvPr/>
          </p:nvSpPr>
          <p:spPr>
            <a:xfrm>
              <a:off x="7640692" y="3055203"/>
              <a:ext cx="1274708" cy="83099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2400" b="1" dirty="0" smtClean="0"/>
                <a:t>Missing</a:t>
              </a:r>
              <a:br>
                <a:rPr lang="en-US" sz="2400" b="1" dirty="0" smtClean="0"/>
              </a:br>
              <a:r>
                <a:rPr lang="en-US" sz="2400" b="1" dirty="0" smtClean="0"/>
                <a:t>updates</a:t>
              </a:r>
            </a:p>
          </p:txBody>
        </p:sp>
        <p:cxnSp>
          <p:nvCxnSpPr>
            <p:cNvPr id="42" name="Straight Arrow Connector 41"/>
            <p:cNvCxnSpPr>
              <a:stCxn id="41" idx="1"/>
            </p:cNvCxnSpPr>
            <p:nvPr/>
          </p:nvCxnSpPr>
          <p:spPr>
            <a:xfrm flipH="1">
              <a:off x="7162800" y="3470702"/>
              <a:ext cx="477892" cy="34498"/>
            </a:xfrm>
            <a:prstGeom prst="straightConnector1">
              <a:avLst/>
            </a:prstGeom>
            <a:ln>
              <a:tailEnd type="arrow"/>
            </a:ln>
          </p:spPr>
          <p:style>
            <a:lnRef idx="3">
              <a:schemeClr val="dk1"/>
            </a:lnRef>
            <a:fillRef idx="0">
              <a:schemeClr val="dk1"/>
            </a:fillRef>
            <a:effectRef idx="2">
              <a:schemeClr val="dk1"/>
            </a:effectRef>
            <a:fontRef idx="minor">
              <a:schemeClr val="tx1"/>
            </a:fontRef>
          </p:style>
        </p:cxnSp>
      </p:grpSp>
      <p:sp>
        <p:nvSpPr>
          <p:cNvPr id="33" name="Rounded Rectangle 32"/>
          <p:cNvSpPr/>
          <p:nvPr/>
        </p:nvSpPr>
        <p:spPr>
          <a:xfrm>
            <a:off x="533400" y="3733800"/>
            <a:ext cx="8156448" cy="1143000"/>
          </a:xfrm>
          <a:prstGeom prst="roundRect">
            <a:avLst/>
          </a:prstGeom>
        </p:spPr>
        <p:style>
          <a:lnRef idx="3">
            <a:schemeClr val="lt1"/>
          </a:lnRef>
          <a:fillRef idx="1">
            <a:schemeClr val="accent6"/>
          </a:fillRef>
          <a:effectRef idx="1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800" dirty="0"/>
              <a:t>Loss-free: All state updates should be reflected in the transferred state, and all packets should be processed</a:t>
            </a:r>
          </a:p>
        </p:txBody>
      </p:sp>
      <p:grpSp>
        <p:nvGrpSpPr>
          <p:cNvPr id="38" name="Group 37"/>
          <p:cNvGrpSpPr/>
          <p:nvPr/>
        </p:nvGrpSpPr>
        <p:grpSpPr>
          <a:xfrm>
            <a:off x="7620000" y="1371600"/>
            <a:ext cx="914400" cy="914400"/>
            <a:chOff x="7620000" y="1371600"/>
            <a:chExt cx="914400" cy="914400"/>
          </a:xfrm>
        </p:grpSpPr>
        <p:pic>
          <p:nvPicPr>
            <p:cNvPr id="32" name="Picture 31" descr="dialog-warning-2.png"/>
            <p:cNvPicPr>
              <a:picLocks noChangeAspect="1"/>
            </p:cNvPicPr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7726671" y="1447801"/>
              <a:ext cx="685800" cy="685800"/>
            </a:xfrm>
            <a:prstGeom prst="rect">
              <a:avLst/>
            </a:prstGeom>
          </p:spPr>
        </p:pic>
        <p:sp>
          <p:nvSpPr>
            <p:cNvPr id="34" name="&quot;No&quot; Symbol 33"/>
            <p:cNvSpPr/>
            <p:nvPr/>
          </p:nvSpPr>
          <p:spPr>
            <a:xfrm>
              <a:off x="7620000" y="1371600"/>
              <a:ext cx="914400" cy="914400"/>
            </a:xfrm>
            <a:prstGeom prst="noSmoking">
              <a:avLst>
                <a:gd name="adj" fmla="val 8621"/>
              </a:avLst>
            </a:prstGeom>
          </p:spPr>
          <p:style>
            <a:lnRef idx="1">
              <a:schemeClr val="accent2"/>
            </a:lnRef>
            <a:fillRef idx="3">
              <a:schemeClr val="accent2"/>
            </a:fillRef>
            <a:effectRef idx="2">
              <a:schemeClr val="accent2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chemeClr val="tx1"/>
                </a:solidFill>
              </a:endParaRPr>
            </a:p>
          </p:txBody>
        </p:sp>
      </p:grpSp>
      <p:sp>
        <p:nvSpPr>
          <p:cNvPr id="45" name="Rectangle 44"/>
          <p:cNvSpPr/>
          <p:nvPr/>
        </p:nvSpPr>
        <p:spPr>
          <a:xfrm>
            <a:off x="4267200" y="1600200"/>
            <a:ext cx="457200" cy="228600"/>
          </a:xfrm>
          <a:prstGeom prst="rect">
            <a:avLst/>
          </a:prstGeom>
          <a:ln/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>
                <a:solidFill>
                  <a:schemeClr val="bg1"/>
                </a:solidFill>
              </a:rPr>
              <a:t>R3</a:t>
            </a:r>
            <a:endParaRPr lang="en-US" dirty="0">
              <a:solidFill>
                <a:schemeClr val="bg1"/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500"/>
                                        <p:tgtEl>
                                          <p:spTgt spid="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2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>
                            <p:stCondLst>
                              <p:cond delay="500"/>
                            </p:stCondLst>
                            <p:childTnLst>
                              <p:par>
                                <p:cTn id="14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0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1" fill="hold">
                            <p:stCondLst>
                              <p:cond delay="500"/>
                            </p:stCondLst>
                            <p:childTnLst>
                              <p:par>
                                <p:cTn id="22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63" presetClass="path" presetSubtype="0" accel="50000" decel="5000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3.33333E-6 2.53469E-6 L 0.4375 2.53469E-6 " pathEditMode="relative" rAng="0" ptsTypes="AA">
                                      <p:cBhvr>
                                        <p:cTn id="31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219" y="0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1" presetClass="entr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49" presetClass="path" presetSubtype="0" accel="50000" decel="5000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3.33333E-6 2.94172E-6 L -0.09914 0.20536 " pathEditMode="relative" rAng="0" ptsTypes="AA">
                                      <p:cBhvr>
                                        <p:cTn id="38" dur="20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50" y="103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9" fill="hold">
                            <p:stCondLst>
                              <p:cond delay="2000"/>
                            </p:stCondLst>
                            <p:childTnLst>
                              <p:par>
                                <p:cTn id="40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2" fill="hold">
                      <p:stCondLst>
                        <p:cond delay="indefinite"/>
                      </p:stCondLst>
                      <p:childTnLst>
                        <p:par>
                          <p:cTn id="43" fill="hold">
                            <p:stCondLst>
                              <p:cond delay="0"/>
                            </p:stCondLst>
                            <p:childTnLst>
                              <p:par>
                                <p:cTn id="44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1" presetClass="exit" presetSubtype="0" fill="hold" grpId="2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>
                      <p:stCondLst>
                        <p:cond delay="indefinite"/>
                      </p:stCondLst>
                      <p:childTnLst>
                        <p:par>
                          <p:cTn id="50" fill="hold">
                            <p:stCondLst>
                              <p:cond delay="0"/>
                            </p:stCondLst>
                            <p:childTnLst>
                              <p:par>
                                <p:cTn id="51" presetID="22" presetClass="exit" presetSubtype="4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down)">
                                      <p:cBhvr>
                                        <p:cTn id="52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4" presetID="22" presetClass="entr" presetSubtype="1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56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>
                      <p:stCondLst>
                        <p:cond delay="indefinite"/>
                      </p:stCondLst>
                      <p:childTnLst>
                        <p:par>
                          <p:cTn id="58" fill="hold">
                            <p:stCondLst>
                              <p:cond delay="0"/>
                            </p:stCondLst>
                            <p:childTnLst>
                              <p:par>
                                <p:cTn id="59" presetID="1" presetClass="entr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1" fill="hold">
                            <p:stCondLst>
                              <p:cond delay="0"/>
                            </p:stCondLst>
                            <p:childTnLst>
                              <p:par>
                                <p:cTn id="62" presetID="49" presetClass="path" presetSubtype="0" accel="50000" decel="5000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3.33333E-6 -3.25936E-6 L 0.13333 0.20527 " pathEditMode="relative" rAng="0" ptsTypes="AA">
                                      <p:cBhvr>
                                        <p:cTn id="63" dur="2000" fill="hold"/>
                                        <p:tgtEl>
                                          <p:spTgt spid="4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67" y="103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4" fill="hold">
                            <p:stCondLst>
                              <p:cond delay="2000"/>
                            </p:stCondLst>
                            <p:childTnLst>
                              <p:par>
                                <p:cTn id="65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7" fill="hold">
                      <p:stCondLst>
                        <p:cond delay="indefinite"/>
                      </p:stCondLst>
                      <p:childTnLst>
                        <p:par>
                          <p:cTn id="68" fill="hold">
                            <p:stCondLst>
                              <p:cond delay="0"/>
                            </p:stCondLst>
                            <p:childTnLst>
                              <p:par>
                                <p:cTn id="6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1" fill="hold">
                      <p:stCondLst>
                        <p:cond delay="indefinite"/>
                      </p:stCondLst>
                      <p:childTnLst>
                        <p:par>
                          <p:cTn id="72" fill="hold">
                            <p:stCondLst>
                              <p:cond delay="0"/>
                            </p:stCondLst>
                            <p:childTnLst>
                              <p:par>
                                <p:cTn id="7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5" fill="hold">
                      <p:stCondLst>
                        <p:cond delay="indefinite"/>
                      </p:stCondLst>
                      <p:childTnLst>
                        <p:par>
                          <p:cTn id="76" fill="hold">
                            <p:stCondLst>
                              <p:cond delay="0"/>
                            </p:stCondLst>
                            <p:childTnLst>
                              <p:par>
                                <p:cTn id="7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9" fill="hold">
                      <p:stCondLst>
                        <p:cond delay="indefinite"/>
                      </p:stCondLst>
                      <p:childTnLst>
                        <p:par>
                          <p:cTn id="80" fill="hold">
                            <p:stCondLst>
                              <p:cond delay="0"/>
                            </p:stCondLst>
                            <p:childTnLst>
                              <p:par>
                                <p:cTn id="8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  <p:bldP spid="16" grpId="0" animBg="1"/>
      <p:bldP spid="16" grpId="1" animBg="1"/>
      <p:bldP spid="17" grpId="0" animBg="1"/>
      <p:bldP spid="18" grpId="0" animBg="1"/>
      <p:bldP spid="19" grpId="0" animBg="1"/>
      <p:bldP spid="19" grpId="1" animBg="1"/>
      <p:bldP spid="20" grpId="0" animBg="1"/>
      <p:bldP spid="20" grpId="1" animBg="1"/>
      <p:bldP spid="20" grpId="2" animBg="1"/>
      <p:bldP spid="21" grpId="0" animBg="1"/>
      <p:bldP spid="37" grpId="0"/>
      <p:bldP spid="33" grpId="0" animBg="1"/>
      <p:bldP spid="45" grpId="0" animBg="1"/>
      <p:bldP spid="45" grpId="1" animBg="1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Rounded Rectangle 50"/>
          <p:cNvSpPr/>
          <p:nvPr/>
        </p:nvSpPr>
        <p:spPr>
          <a:xfrm>
            <a:off x="2743201" y="2133600"/>
            <a:ext cx="4343400" cy="2667000"/>
          </a:xfrm>
          <a:prstGeom prst="roundRect">
            <a:avLst>
              <a:gd name="adj" fmla="val 10495"/>
            </a:avLst>
          </a:prstGeom>
        </p:spPr>
        <p:style>
          <a:lnRef idx="0">
            <a:schemeClr val="accent6"/>
          </a:lnRef>
          <a:fillRef idx="3">
            <a:schemeClr val="accent6"/>
          </a:fillRef>
          <a:effectRef idx="3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401762"/>
          </a:xfrm>
        </p:spPr>
        <p:txBody>
          <a:bodyPr>
            <a:normAutofit fontScale="90000"/>
          </a:bodyPr>
          <a:lstStyle/>
          <a:p>
            <a:r>
              <a:rPr lang="en-US" dirty="0" smtClean="0"/>
              <a:t>NF API: observe/prevent </a:t>
            </a:r>
            <a:br>
              <a:rPr lang="en-US" dirty="0" smtClean="0"/>
            </a:br>
            <a:r>
              <a:rPr lang="en-US" dirty="0" smtClean="0"/>
              <a:t>updates using events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/>
          </a:bodyPr>
          <a:lstStyle/>
          <a:p>
            <a:fld id="{622C5A87-65DC-41FD-9E53-7EAC48455B9A}" type="slidenum">
              <a:rPr lang="en-US" smtClean="0"/>
              <a:pPr/>
              <a:t>15</a:t>
            </a:fld>
            <a:endParaRPr lang="en-US" dirty="0"/>
          </a:p>
        </p:txBody>
      </p:sp>
      <p:sp>
        <p:nvSpPr>
          <p:cNvPr id="5" name="Rounded Rectangle 4"/>
          <p:cNvSpPr/>
          <p:nvPr/>
        </p:nvSpPr>
        <p:spPr>
          <a:xfrm>
            <a:off x="457200" y="5354392"/>
            <a:ext cx="8229600" cy="817808"/>
          </a:xfrm>
          <a:prstGeom prst="roundRect">
            <a:avLst/>
          </a:prstGeom>
        </p:spPr>
        <p:style>
          <a:lnRef idx="3">
            <a:schemeClr val="lt1"/>
          </a:lnRef>
          <a:fillRef idx="1">
            <a:schemeClr val="accent6"/>
          </a:fillRef>
          <a:effectRef idx="1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800" dirty="0"/>
              <a:t>Only need to change an NF’s receive packet </a:t>
            </a:r>
            <a:r>
              <a:rPr lang="en-US" sz="2800" dirty="0" smtClean="0"/>
              <a:t>function!</a:t>
            </a:r>
            <a:endParaRPr lang="en-US" sz="2800" dirty="0"/>
          </a:p>
        </p:txBody>
      </p:sp>
      <p:pic>
        <p:nvPicPr>
          <p:cNvPr id="10" name="Picture 9" descr="funnel.png"/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3429001" y="2982867"/>
            <a:ext cx="1295400" cy="1295400"/>
          </a:xfrm>
          <a:prstGeom prst="rect">
            <a:avLst/>
          </a:prstGeom>
        </p:spPr>
      </p:pic>
      <p:sp>
        <p:nvSpPr>
          <p:cNvPr id="14" name="Rectangle 13"/>
          <p:cNvSpPr/>
          <p:nvPr/>
        </p:nvSpPr>
        <p:spPr>
          <a:xfrm rot="20700000">
            <a:off x="3841657" y="4244973"/>
            <a:ext cx="457200" cy="304800"/>
          </a:xfrm>
          <a:prstGeom prst="rect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 smtClean="0"/>
              <a:t>R1</a:t>
            </a:r>
            <a:endParaRPr lang="en-US" b="1" dirty="0"/>
          </a:p>
        </p:txBody>
      </p:sp>
      <p:sp>
        <p:nvSpPr>
          <p:cNvPr id="15" name="Rectangle 14"/>
          <p:cNvSpPr/>
          <p:nvPr/>
        </p:nvSpPr>
        <p:spPr>
          <a:xfrm rot="20602751">
            <a:off x="4072643" y="2421221"/>
            <a:ext cx="457200" cy="304800"/>
          </a:xfrm>
          <a:prstGeom prst="rect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 smtClean="0"/>
              <a:t>R2</a:t>
            </a:r>
            <a:endParaRPr lang="en-US" b="1" dirty="0"/>
          </a:p>
        </p:txBody>
      </p:sp>
      <p:sp>
        <p:nvSpPr>
          <p:cNvPr id="16" name="Rectangle 15"/>
          <p:cNvSpPr/>
          <p:nvPr/>
        </p:nvSpPr>
        <p:spPr>
          <a:xfrm rot="1800000">
            <a:off x="3550773" y="2532283"/>
            <a:ext cx="457200" cy="304800"/>
          </a:xfrm>
          <a:prstGeom prst="rect">
            <a:avLst/>
          </a:prstGeom>
        </p:spPr>
        <p:style>
          <a:lnRef idx="2">
            <a:schemeClr val="accent5">
              <a:shade val="50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 smtClean="0"/>
              <a:t>B1</a:t>
            </a:r>
            <a:endParaRPr lang="en-US" b="1" dirty="0"/>
          </a:p>
        </p:txBody>
      </p:sp>
      <p:sp>
        <p:nvSpPr>
          <p:cNvPr id="19" name="Rectangle 18"/>
          <p:cNvSpPr/>
          <p:nvPr/>
        </p:nvSpPr>
        <p:spPr>
          <a:xfrm rot="18900000">
            <a:off x="3850809" y="3012607"/>
            <a:ext cx="457200" cy="304800"/>
          </a:xfrm>
          <a:prstGeom prst="rect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 smtClean="0"/>
              <a:t>R1</a:t>
            </a:r>
            <a:endParaRPr lang="en-US" b="1" dirty="0"/>
          </a:p>
        </p:txBody>
      </p:sp>
      <p:pic>
        <p:nvPicPr>
          <p:cNvPr id="13" name="Picture 12" descr="funnel.png"/>
          <p:cNvPicPr>
            <a:picLocks noChangeAspect="1"/>
          </p:cNvPicPr>
          <p:nvPr/>
        </p:nvPicPr>
        <p:blipFill>
          <a:blip r:embed="rId2" cstate="print"/>
          <a:srcRect t="20000"/>
          <a:stretch>
            <a:fillRect/>
          </a:stretch>
        </p:blipFill>
        <p:spPr>
          <a:xfrm>
            <a:off x="3429001" y="3241947"/>
            <a:ext cx="1295400" cy="1036320"/>
          </a:xfrm>
          <a:prstGeom prst="rect">
            <a:avLst/>
          </a:prstGeom>
        </p:spPr>
      </p:pic>
      <p:pic>
        <p:nvPicPr>
          <p:cNvPr id="21" name="Picture 20" descr="user-trash.png"/>
          <p:cNvPicPr>
            <a:picLocks noChangeAspect="1"/>
          </p:cNvPicPr>
          <p:nvPr/>
        </p:nvPicPr>
        <p:blipFill>
          <a:blip r:embed="rId3" cstate="print"/>
          <a:stretch>
            <a:fillRect/>
          </a:stretch>
        </p:blipFill>
        <p:spPr>
          <a:xfrm>
            <a:off x="5791201" y="3886200"/>
            <a:ext cx="838200" cy="838200"/>
          </a:xfrm>
          <a:prstGeom prst="rect">
            <a:avLst/>
          </a:prstGeom>
        </p:spPr>
      </p:pic>
      <p:sp>
        <p:nvSpPr>
          <p:cNvPr id="23" name="Bent Arrow 22"/>
          <p:cNvSpPr/>
          <p:nvPr/>
        </p:nvSpPr>
        <p:spPr>
          <a:xfrm rot="16200000">
            <a:off x="2362201" y="3428998"/>
            <a:ext cx="685800" cy="1447801"/>
          </a:xfrm>
          <a:prstGeom prst="bentArrow">
            <a:avLst>
              <a:gd name="adj1" fmla="val 3593"/>
              <a:gd name="adj2" fmla="val 10310"/>
              <a:gd name="adj3" fmla="val 16768"/>
              <a:gd name="adj4" fmla="val 61932"/>
            </a:avLst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grpSp>
        <p:nvGrpSpPr>
          <p:cNvPr id="24" name="Group 16"/>
          <p:cNvGrpSpPr/>
          <p:nvPr/>
        </p:nvGrpSpPr>
        <p:grpSpPr>
          <a:xfrm>
            <a:off x="3581401" y="4202709"/>
            <a:ext cx="974951" cy="521691"/>
            <a:chOff x="3403866" y="5722722"/>
            <a:chExt cx="974951" cy="521691"/>
          </a:xfrm>
        </p:grpSpPr>
        <p:sp>
          <p:nvSpPr>
            <p:cNvPr id="25" name="Oval 24"/>
            <p:cNvSpPr/>
            <p:nvPr/>
          </p:nvSpPr>
          <p:spPr>
            <a:xfrm>
              <a:off x="3403866" y="5722722"/>
              <a:ext cx="974951" cy="521691"/>
            </a:xfrm>
            <a:prstGeom prst="ellipse">
              <a:avLst/>
            </a:prstGeom>
          </p:spPr>
          <p:style>
            <a:lnRef idx="2">
              <a:schemeClr val="accent2"/>
            </a:lnRef>
            <a:fillRef idx="1">
              <a:schemeClr val="lt1"/>
            </a:fillRef>
            <a:effectRef idx="0">
              <a:schemeClr val="accent2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chemeClr val="dk1"/>
                </a:solidFill>
              </a:endParaRPr>
            </a:p>
          </p:txBody>
        </p:sp>
        <p:sp>
          <p:nvSpPr>
            <p:cNvPr id="26" name="Rectangle 25"/>
            <p:cNvSpPr/>
            <p:nvPr/>
          </p:nvSpPr>
          <p:spPr>
            <a:xfrm>
              <a:off x="3650754" y="5837022"/>
              <a:ext cx="457200" cy="301752"/>
            </a:xfrm>
            <a:prstGeom prst="rect">
              <a:avLst/>
            </a:prstGeom>
            <a:ln/>
          </p:spPr>
          <p:style>
            <a:lnRef idx="2">
              <a:schemeClr val="accent2">
                <a:shade val="50000"/>
              </a:schemeClr>
            </a:lnRef>
            <a:fillRef idx="1">
              <a:schemeClr val="accent2"/>
            </a:fillRef>
            <a:effectRef idx="0">
              <a:schemeClr val="accent2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b="1" dirty="0" smtClean="0">
                  <a:solidFill>
                    <a:schemeClr val="bg1"/>
                  </a:solidFill>
                </a:rPr>
                <a:t>R1</a:t>
              </a:r>
              <a:endParaRPr lang="en-US" b="1" dirty="0">
                <a:solidFill>
                  <a:schemeClr val="bg1"/>
                </a:solidFill>
              </a:endParaRPr>
            </a:p>
          </p:txBody>
        </p:sp>
      </p:grpSp>
      <p:grpSp>
        <p:nvGrpSpPr>
          <p:cNvPr id="45" name="Group 44"/>
          <p:cNvGrpSpPr/>
          <p:nvPr/>
        </p:nvGrpSpPr>
        <p:grpSpPr>
          <a:xfrm>
            <a:off x="5867401" y="3200400"/>
            <a:ext cx="1066800" cy="457200"/>
            <a:chOff x="4953000" y="3581400"/>
            <a:chExt cx="1447800" cy="457200"/>
          </a:xfrm>
        </p:grpSpPr>
        <p:sp>
          <p:nvSpPr>
            <p:cNvPr id="44" name="Rectangle 43"/>
            <p:cNvSpPr/>
            <p:nvPr/>
          </p:nvSpPr>
          <p:spPr>
            <a:xfrm>
              <a:off x="4953000" y="3581400"/>
              <a:ext cx="1447800" cy="457200"/>
            </a:xfrm>
            <a:prstGeom prst="rect">
              <a:avLst/>
            </a:prstGeom>
            <a:ln>
              <a:noFill/>
            </a:ln>
          </p:spPr>
          <p:style>
            <a:lnRef idx="1">
              <a:schemeClr val="dk1"/>
            </a:lnRef>
            <a:fillRef idx="2">
              <a:schemeClr val="dk1"/>
            </a:fillRef>
            <a:effectRef idx="1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grpSp>
          <p:nvGrpSpPr>
            <p:cNvPr id="32" name="Group 31"/>
            <p:cNvGrpSpPr/>
            <p:nvPr/>
          </p:nvGrpSpPr>
          <p:grpSpPr>
            <a:xfrm>
              <a:off x="4953000" y="3581400"/>
              <a:ext cx="1447800" cy="457200"/>
              <a:chOff x="5486400" y="2667000"/>
              <a:chExt cx="1447800" cy="457200"/>
            </a:xfrm>
          </p:grpSpPr>
          <p:cxnSp>
            <p:nvCxnSpPr>
              <p:cNvPr id="28" name="Straight Connector 27"/>
              <p:cNvCxnSpPr/>
              <p:nvPr/>
            </p:nvCxnSpPr>
            <p:spPr>
              <a:xfrm>
                <a:off x="5486400" y="2667000"/>
                <a:ext cx="1447800" cy="0"/>
              </a:xfrm>
              <a:prstGeom prst="line">
                <a:avLst/>
              </a:prstGeom>
            </p:spPr>
            <p:style>
              <a:lnRef idx="3">
                <a:schemeClr val="dk1"/>
              </a:lnRef>
              <a:fillRef idx="0">
                <a:schemeClr val="dk1"/>
              </a:fillRef>
              <a:effectRef idx="2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29" name="Straight Connector 28"/>
              <p:cNvCxnSpPr/>
              <p:nvPr/>
            </p:nvCxnSpPr>
            <p:spPr>
              <a:xfrm>
                <a:off x="5486400" y="3124200"/>
                <a:ext cx="1447800" cy="0"/>
              </a:xfrm>
              <a:prstGeom prst="line">
                <a:avLst/>
              </a:prstGeom>
            </p:spPr>
            <p:style>
              <a:lnRef idx="3">
                <a:schemeClr val="dk1"/>
              </a:lnRef>
              <a:fillRef idx="0">
                <a:schemeClr val="dk1"/>
              </a:fillRef>
              <a:effectRef idx="2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30" name="Straight Connector 29"/>
              <p:cNvCxnSpPr/>
              <p:nvPr/>
            </p:nvCxnSpPr>
            <p:spPr>
              <a:xfrm>
                <a:off x="6934200" y="2667000"/>
                <a:ext cx="0" cy="457200"/>
              </a:xfrm>
              <a:prstGeom prst="line">
                <a:avLst/>
              </a:prstGeom>
            </p:spPr>
            <p:style>
              <a:lnRef idx="3">
                <a:schemeClr val="dk1"/>
              </a:lnRef>
              <a:fillRef idx="0">
                <a:schemeClr val="dk1"/>
              </a:fillRef>
              <a:effectRef idx="2">
                <a:schemeClr val="dk1"/>
              </a:effectRef>
              <a:fontRef idx="minor">
                <a:schemeClr val="tx1"/>
              </a:fontRef>
            </p:style>
          </p:cxnSp>
        </p:grpSp>
      </p:grpSp>
      <p:pic>
        <p:nvPicPr>
          <p:cNvPr id="33" name="Picture 32" descr="chip.png"/>
          <p:cNvPicPr>
            <a:picLocks noChangeAspect="1"/>
          </p:cNvPicPr>
          <p:nvPr/>
        </p:nvPicPr>
        <p:blipFill>
          <a:blip r:embed="rId4" cstate="print"/>
          <a:stretch>
            <a:fillRect/>
          </a:stretch>
        </p:blipFill>
        <p:spPr>
          <a:xfrm>
            <a:off x="5715001" y="2209800"/>
            <a:ext cx="838200" cy="838200"/>
          </a:xfrm>
          <a:prstGeom prst="rect">
            <a:avLst/>
          </a:prstGeom>
        </p:spPr>
      </p:pic>
      <p:cxnSp>
        <p:nvCxnSpPr>
          <p:cNvPr id="35" name="Straight Arrow Connector 34"/>
          <p:cNvCxnSpPr/>
          <p:nvPr/>
        </p:nvCxnSpPr>
        <p:spPr>
          <a:xfrm flipV="1">
            <a:off x="4572001" y="2819400"/>
            <a:ext cx="990600" cy="1371600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36" name="Straight Arrow Connector 35"/>
          <p:cNvCxnSpPr/>
          <p:nvPr/>
        </p:nvCxnSpPr>
        <p:spPr>
          <a:xfrm flipV="1">
            <a:off x="4648201" y="3429000"/>
            <a:ext cx="990600" cy="838200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38" name="Straight Arrow Connector 37"/>
          <p:cNvCxnSpPr/>
          <p:nvPr/>
        </p:nvCxnSpPr>
        <p:spPr>
          <a:xfrm>
            <a:off x="4724401" y="4343400"/>
            <a:ext cx="990600" cy="0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31" name="TextBox 30"/>
          <p:cNvSpPr txBox="1"/>
          <p:nvPr/>
        </p:nvSpPr>
        <p:spPr>
          <a:xfrm>
            <a:off x="2765781" y="2133600"/>
            <a:ext cx="587020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b="1" i="1" dirty="0" smtClean="0">
                <a:solidFill>
                  <a:schemeClr val="bg1"/>
                </a:solidFill>
              </a:rPr>
              <a:t>NF</a:t>
            </a:r>
            <a:endParaRPr lang="en-US" sz="2800" b="1" i="1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xmlns="" val="311830830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" fill="hold">
                            <p:stCondLst>
                              <p:cond delay="500"/>
                            </p:stCondLst>
                            <p:childTnLst>
                              <p:par>
                                <p:cTn id="10" presetID="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" fill="hold">
                            <p:stCondLst>
                              <p:cond delay="1000"/>
                            </p:stCondLst>
                            <p:childTnLst>
                              <p:par>
                                <p:cTn id="15" presetID="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Top)">
                                      <p:cBhvr>
                                        <p:cTn id="23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2" presetClass="entr" presetSubtype="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31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36" presetClass="path" presetSubtype="0" accel="50000" decel="5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0.00052 0.00023 L -0.10642 0.00023 C -0.15399 0.00023 -0.21163 -0.04121 -0.21163 -0.07546 L -0.21163 -0.14908 " pathEditMode="relative" rAng="5400000" ptsTypes="FfFF">
                                      <p:cBhvr>
                                        <p:cTn id="33" dur="20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106" y="-75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6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8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>
                      <p:stCondLst>
                        <p:cond delay="indefinite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42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4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0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2" fill="hold">
                      <p:stCondLst>
                        <p:cond delay="indefinite"/>
                      </p:stCondLst>
                      <p:childTnLst>
                        <p:par>
                          <p:cTn id="53" fill="hold">
                            <p:stCondLst>
                              <p:cond delay="0"/>
                            </p:stCondLst>
                            <p:childTnLst>
                              <p:par>
                                <p:cTn id="54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14" grpId="0" animBg="1"/>
      <p:bldP spid="15" grpId="0" animBg="1"/>
      <p:bldP spid="16" grpId="0" animBg="1"/>
      <p:bldP spid="23" grpId="0" animBg="1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600200"/>
            <a:ext cx="8229600" cy="4525963"/>
          </a:xfrm>
        </p:spPr>
        <p:txBody>
          <a:bodyPr>
            <a:normAutofit/>
          </a:bodyPr>
          <a:lstStyle/>
          <a:p>
            <a:pPr marL="514350" indent="-514350">
              <a:buFont typeface="+mj-lt"/>
              <a:buAutoNum type="arabicPeriod"/>
            </a:pPr>
            <a:r>
              <a:rPr lang="en-US" dirty="0" smtClean="0"/>
              <a:t> </a:t>
            </a:r>
            <a:r>
              <a:rPr lang="en-US" sz="2400" dirty="0" err="1" smtClean="0">
                <a:latin typeface="Lucida Console" panose="020B0609040504020204" pitchFamily="49" charset="0"/>
              </a:rPr>
              <a:t>enableEvents</a:t>
            </a:r>
            <a:r>
              <a:rPr lang="en-US" sz="2400" dirty="0" smtClean="0">
                <a:latin typeface="Lucida Console" panose="020B0609040504020204" pitchFamily="49" charset="0"/>
              </a:rPr>
              <a:t>(</a:t>
            </a:r>
            <a:r>
              <a:rPr lang="en-US" sz="2400" dirty="0" err="1" smtClean="0">
                <a:latin typeface="Lucida Console" panose="020B0609040504020204" pitchFamily="49" charset="0"/>
              </a:rPr>
              <a:t>red,drop</a:t>
            </a:r>
            <a:r>
              <a:rPr lang="en-US" sz="2400" dirty="0" smtClean="0">
                <a:latin typeface="Lucida Console" panose="020B0609040504020204" pitchFamily="49" charset="0"/>
              </a:rPr>
              <a:t>)</a:t>
            </a:r>
            <a:r>
              <a:rPr lang="en-US" dirty="0" smtClean="0"/>
              <a:t> on Bro</a:t>
            </a:r>
            <a:r>
              <a:rPr lang="en-US" baseline="-25000" dirty="0" smtClean="0"/>
              <a:t>1</a:t>
            </a:r>
            <a:endParaRPr lang="en-US" dirty="0" smtClean="0"/>
          </a:p>
          <a:p>
            <a:pPr marL="514350" indent="-514350">
              <a:buFont typeface="+mj-lt"/>
              <a:buAutoNum type="arabicPeriod"/>
            </a:pPr>
            <a:r>
              <a:rPr lang="en-US" dirty="0" smtClean="0"/>
              <a:t> </a:t>
            </a:r>
            <a:r>
              <a:rPr lang="en-US" sz="2400" dirty="0" smtClean="0">
                <a:latin typeface="Lucida Console" panose="020B0609040504020204" pitchFamily="49" charset="0"/>
              </a:rPr>
              <a:t>get</a:t>
            </a:r>
            <a:r>
              <a:rPr lang="en-US" dirty="0" smtClean="0"/>
              <a:t>/</a:t>
            </a:r>
            <a:r>
              <a:rPr lang="en-US" sz="2400" dirty="0" smtClean="0">
                <a:latin typeface="Lucida Console" panose="020B0609040504020204" pitchFamily="49" charset="0"/>
              </a:rPr>
              <a:t>delete</a:t>
            </a:r>
            <a:r>
              <a:rPr lang="en-US" dirty="0" smtClean="0"/>
              <a:t> on Bro</a:t>
            </a:r>
            <a:r>
              <a:rPr lang="en-US" baseline="-25000" dirty="0" smtClean="0"/>
              <a:t>1</a:t>
            </a:r>
            <a:endParaRPr lang="en-US" dirty="0" smtClean="0"/>
          </a:p>
          <a:p>
            <a:pPr marL="514350" indent="-514350">
              <a:buFont typeface="+mj-lt"/>
              <a:buAutoNum type="arabicPeriod"/>
            </a:pPr>
            <a:r>
              <a:rPr lang="en-US" dirty="0" smtClean="0"/>
              <a:t>Buffer events at controller</a:t>
            </a:r>
          </a:p>
          <a:p>
            <a:pPr marL="514350" indent="-514350">
              <a:buFont typeface="+mj-lt"/>
              <a:buAutoNum type="arabicPeriod"/>
            </a:pPr>
            <a:r>
              <a:rPr lang="en-US" dirty="0" smtClean="0"/>
              <a:t> </a:t>
            </a:r>
            <a:r>
              <a:rPr lang="en-US" sz="2400" dirty="0" smtClean="0">
                <a:latin typeface="Lucida Console" panose="020B0609040504020204" pitchFamily="49" charset="0"/>
              </a:rPr>
              <a:t>put</a:t>
            </a:r>
            <a:r>
              <a:rPr lang="en-US" dirty="0" smtClean="0"/>
              <a:t> on Bro</a:t>
            </a:r>
            <a:r>
              <a:rPr lang="en-US" baseline="-25000" dirty="0" smtClean="0"/>
              <a:t>2</a:t>
            </a:r>
            <a:endParaRPr lang="en-US" dirty="0" smtClean="0"/>
          </a:p>
          <a:p>
            <a:pPr marL="514350" indent="-514350">
              <a:buFont typeface="+mj-lt"/>
              <a:buAutoNum type="arabicPeriod"/>
            </a:pPr>
            <a:r>
              <a:rPr lang="en-US" dirty="0" smtClean="0"/>
              <a:t>Flush packets in</a:t>
            </a:r>
            <a:br>
              <a:rPr lang="en-US" dirty="0" smtClean="0"/>
            </a:br>
            <a:r>
              <a:rPr lang="en-US" dirty="0" smtClean="0"/>
              <a:t>events to Bro</a:t>
            </a:r>
            <a:r>
              <a:rPr lang="en-US" baseline="-25000" dirty="0" smtClean="0"/>
              <a:t>2</a:t>
            </a:r>
          </a:p>
          <a:p>
            <a:pPr marL="514350" indent="-514350">
              <a:buFont typeface="+mj-lt"/>
              <a:buAutoNum type="arabicPeriod"/>
            </a:pPr>
            <a:r>
              <a:rPr lang="en-US" dirty="0" smtClean="0"/>
              <a:t>Update </a:t>
            </a:r>
            <a:br>
              <a:rPr lang="en-US" dirty="0" smtClean="0"/>
            </a:br>
            <a:r>
              <a:rPr lang="en-US" dirty="0" smtClean="0"/>
              <a:t>forwarding</a:t>
            </a:r>
          </a:p>
        </p:txBody>
      </p:sp>
      <p:pic>
        <p:nvPicPr>
          <p:cNvPr id="14" name="Picture 13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=""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589964" y="3810286"/>
            <a:ext cx="596229" cy="593543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Use events for loss-free move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>
          <a:xfrm>
            <a:off x="6553200" y="6290659"/>
            <a:ext cx="2133600" cy="365125"/>
          </a:xfrm>
        </p:spPr>
        <p:txBody>
          <a:bodyPr/>
          <a:lstStyle/>
          <a:p>
            <a:fld id="{622C5A87-65DC-41FD-9E53-7EAC48455B9A}" type="slidenum">
              <a:rPr lang="en-US" smtClean="0"/>
              <a:pPr/>
              <a:t>16</a:t>
            </a:fld>
            <a:endParaRPr lang="en-US" dirty="0"/>
          </a:p>
        </p:txBody>
      </p:sp>
      <p:sp>
        <p:nvSpPr>
          <p:cNvPr id="5" name="Cube 4"/>
          <p:cNvSpPr/>
          <p:nvPr/>
        </p:nvSpPr>
        <p:spPr>
          <a:xfrm>
            <a:off x="4481548" y="4684097"/>
            <a:ext cx="958755" cy="623455"/>
          </a:xfrm>
          <a:prstGeom prst="cube">
            <a:avLst>
              <a:gd name="adj" fmla="val 46428"/>
            </a:avLst>
          </a:prstGeom>
        </p:spPr>
        <p:style>
          <a:lnRef idx="0">
            <a:schemeClr val="accent6"/>
          </a:lnRef>
          <a:fillRef idx="3">
            <a:schemeClr val="accent6"/>
          </a:fillRef>
          <a:effectRef idx="3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Cube 5"/>
          <p:cNvSpPr/>
          <p:nvPr/>
        </p:nvSpPr>
        <p:spPr>
          <a:xfrm>
            <a:off x="6714241" y="4706219"/>
            <a:ext cx="914400" cy="623455"/>
          </a:xfrm>
          <a:prstGeom prst="cube">
            <a:avLst>
              <a:gd name="adj" fmla="val 46428"/>
            </a:avLst>
          </a:prstGeom>
        </p:spPr>
        <p:style>
          <a:lnRef idx="0">
            <a:schemeClr val="accent6"/>
          </a:lnRef>
          <a:fillRef idx="3">
            <a:schemeClr val="accent6"/>
          </a:fillRef>
          <a:effectRef idx="3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Freeform 8"/>
          <p:cNvSpPr/>
          <p:nvPr/>
        </p:nvSpPr>
        <p:spPr>
          <a:xfrm>
            <a:off x="4666130" y="3805674"/>
            <a:ext cx="1130489" cy="1665027"/>
          </a:xfrm>
          <a:custGeom>
            <a:avLst/>
            <a:gdLst>
              <a:gd name="connsiteX0" fmla="*/ 1105468 w 1130489"/>
              <a:gd name="connsiteY0" fmla="*/ 0 h 1665027"/>
              <a:gd name="connsiteX1" fmla="*/ 982638 w 1130489"/>
              <a:gd name="connsiteY1" fmla="*/ 341194 h 1665027"/>
              <a:gd name="connsiteX2" fmla="*/ 218364 w 1130489"/>
              <a:gd name="connsiteY2" fmla="*/ 1064526 h 1665027"/>
              <a:gd name="connsiteX3" fmla="*/ 0 w 1130489"/>
              <a:gd name="connsiteY3" fmla="*/ 1665027 h 166502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130489" h="1665027">
                <a:moveTo>
                  <a:pt x="1105468" y="0"/>
                </a:moveTo>
                <a:cubicBezTo>
                  <a:pt x="1117978" y="81886"/>
                  <a:pt x="1130489" y="163773"/>
                  <a:pt x="982638" y="341194"/>
                </a:cubicBezTo>
                <a:cubicBezTo>
                  <a:pt x="834787" y="518615"/>
                  <a:pt x="382137" y="843887"/>
                  <a:pt x="218364" y="1064526"/>
                </a:cubicBezTo>
                <a:cubicBezTo>
                  <a:pt x="54591" y="1285165"/>
                  <a:pt x="27295" y="1475096"/>
                  <a:pt x="0" y="1665027"/>
                </a:cubicBezTo>
              </a:path>
            </a:pathLst>
          </a:custGeom>
          <a:ln w="76200">
            <a:tailEnd type="arrow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Freeform 9"/>
          <p:cNvSpPr/>
          <p:nvPr/>
        </p:nvSpPr>
        <p:spPr>
          <a:xfrm flipH="1">
            <a:off x="5809130" y="3817047"/>
            <a:ext cx="1130489" cy="1665027"/>
          </a:xfrm>
          <a:custGeom>
            <a:avLst/>
            <a:gdLst>
              <a:gd name="connsiteX0" fmla="*/ 1105468 w 1130489"/>
              <a:gd name="connsiteY0" fmla="*/ 0 h 1665027"/>
              <a:gd name="connsiteX1" fmla="*/ 982638 w 1130489"/>
              <a:gd name="connsiteY1" fmla="*/ 341194 h 1665027"/>
              <a:gd name="connsiteX2" fmla="*/ 218364 w 1130489"/>
              <a:gd name="connsiteY2" fmla="*/ 1064526 h 1665027"/>
              <a:gd name="connsiteX3" fmla="*/ 0 w 1130489"/>
              <a:gd name="connsiteY3" fmla="*/ 1665027 h 166502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130489" h="1665027">
                <a:moveTo>
                  <a:pt x="1105468" y="0"/>
                </a:moveTo>
                <a:cubicBezTo>
                  <a:pt x="1117978" y="81886"/>
                  <a:pt x="1130489" y="163773"/>
                  <a:pt x="982638" y="341194"/>
                </a:cubicBezTo>
                <a:cubicBezTo>
                  <a:pt x="834787" y="518615"/>
                  <a:pt x="382137" y="843887"/>
                  <a:pt x="218364" y="1064526"/>
                </a:cubicBezTo>
                <a:cubicBezTo>
                  <a:pt x="54591" y="1285165"/>
                  <a:pt x="27295" y="1475096"/>
                  <a:pt x="0" y="1665027"/>
                </a:cubicBezTo>
              </a:path>
            </a:pathLst>
          </a:custGeom>
          <a:ln w="76200">
            <a:tailEnd type="arrow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Rectangle 18"/>
          <p:cNvSpPr/>
          <p:nvPr/>
        </p:nvSpPr>
        <p:spPr>
          <a:xfrm>
            <a:off x="7549219" y="5101074"/>
            <a:ext cx="824713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2800" b="1" dirty="0" smtClean="0">
                <a:solidFill>
                  <a:srgbClr val="E46C0A"/>
                </a:solidFill>
              </a:rPr>
              <a:t>Bro</a:t>
            </a:r>
            <a:r>
              <a:rPr lang="en-US" sz="2800" b="1" baseline="-25000" dirty="0" smtClean="0">
                <a:solidFill>
                  <a:srgbClr val="E46C0A"/>
                </a:solidFill>
              </a:rPr>
              <a:t>2</a:t>
            </a:r>
            <a:endParaRPr lang="en-US" sz="2800" b="1" dirty="0">
              <a:solidFill>
                <a:srgbClr val="E46C0A"/>
              </a:solidFill>
            </a:endParaRPr>
          </a:p>
        </p:txBody>
      </p:sp>
      <p:sp>
        <p:nvSpPr>
          <p:cNvPr id="20" name="Rectangle 19"/>
          <p:cNvSpPr/>
          <p:nvPr/>
        </p:nvSpPr>
        <p:spPr>
          <a:xfrm>
            <a:off x="5187019" y="5101074"/>
            <a:ext cx="824713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2800" b="1" dirty="0" smtClean="0">
                <a:solidFill>
                  <a:srgbClr val="E46C0A"/>
                </a:solidFill>
              </a:rPr>
              <a:t>Bro</a:t>
            </a:r>
            <a:r>
              <a:rPr lang="en-US" sz="2800" b="1" baseline="-25000" dirty="0" smtClean="0">
                <a:solidFill>
                  <a:srgbClr val="E46C0A"/>
                </a:solidFill>
              </a:rPr>
              <a:t>1</a:t>
            </a:r>
            <a:endParaRPr lang="en-US" sz="2800" b="1" dirty="0">
              <a:solidFill>
                <a:srgbClr val="E46C0A"/>
              </a:solidFill>
            </a:endParaRPr>
          </a:p>
        </p:txBody>
      </p:sp>
      <p:sp>
        <p:nvSpPr>
          <p:cNvPr id="33" name="Rectangle 32"/>
          <p:cNvSpPr/>
          <p:nvPr/>
        </p:nvSpPr>
        <p:spPr>
          <a:xfrm>
            <a:off x="5543563" y="3657600"/>
            <a:ext cx="569119" cy="228600"/>
          </a:xfrm>
          <a:prstGeom prst="rect">
            <a:avLst/>
          </a:prstGeom>
          <a:ln/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>
                <a:solidFill>
                  <a:schemeClr val="bg1"/>
                </a:solidFill>
              </a:rPr>
              <a:t>R3</a:t>
            </a:r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24" name="Rectangle 23"/>
          <p:cNvSpPr/>
          <p:nvPr/>
        </p:nvSpPr>
        <p:spPr>
          <a:xfrm>
            <a:off x="5562600" y="3657600"/>
            <a:ext cx="523152" cy="228600"/>
          </a:xfrm>
          <a:prstGeom prst="rect">
            <a:avLst/>
          </a:prstGeom>
          <a:ln/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>
                <a:solidFill>
                  <a:schemeClr val="bg1"/>
                </a:solidFill>
              </a:rPr>
              <a:t>R1</a:t>
            </a:r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39" name="Flowchart: Preparation 38"/>
          <p:cNvSpPr/>
          <p:nvPr/>
        </p:nvSpPr>
        <p:spPr>
          <a:xfrm>
            <a:off x="4481548" y="4790876"/>
            <a:ext cx="1042145" cy="298434"/>
          </a:xfrm>
          <a:prstGeom prst="flowChartPreparation">
            <a:avLst/>
          </a:prstGeom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lIns="0" rIns="0" rtlCol="0" anchor="ctr"/>
          <a:lstStyle/>
          <a:p>
            <a:pPr algn="ctr"/>
            <a:r>
              <a:rPr lang="en-US" b="1" dirty="0" smtClean="0"/>
              <a:t>Drop</a:t>
            </a:r>
            <a:endParaRPr lang="en-US" b="1" dirty="0"/>
          </a:p>
        </p:txBody>
      </p:sp>
      <p:sp>
        <p:nvSpPr>
          <p:cNvPr id="31" name="Cube 30"/>
          <p:cNvSpPr/>
          <p:nvPr/>
        </p:nvSpPr>
        <p:spPr>
          <a:xfrm>
            <a:off x="3200400" y="4669536"/>
            <a:ext cx="1188720" cy="283464"/>
          </a:xfrm>
          <a:prstGeom prst="cube">
            <a:avLst/>
          </a:prstGeom>
          <a:ln/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 smtClean="0">
                <a:solidFill>
                  <a:schemeClr val="bg1"/>
                </a:solidFill>
              </a:rPr>
              <a:t>R1</a:t>
            </a:r>
            <a:endParaRPr lang="en-US" b="1" dirty="0">
              <a:solidFill>
                <a:schemeClr val="bg1"/>
              </a:solidFill>
            </a:endParaRPr>
          </a:p>
        </p:txBody>
      </p:sp>
      <p:sp>
        <p:nvSpPr>
          <p:cNvPr id="36" name="Cube 35"/>
          <p:cNvSpPr/>
          <p:nvPr/>
        </p:nvSpPr>
        <p:spPr>
          <a:xfrm>
            <a:off x="7772400" y="4651248"/>
            <a:ext cx="1188720" cy="283464"/>
          </a:xfrm>
          <a:prstGeom prst="cube">
            <a:avLst/>
          </a:prstGeom>
          <a:ln/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 smtClean="0">
                <a:solidFill>
                  <a:schemeClr val="bg1"/>
                </a:solidFill>
              </a:rPr>
              <a:t>R1,R2</a:t>
            </a:r>
            <a:endParaRPr lang="en-US" b="1" dirty="0">
              <a:solidFill>
                <a:schemeClr val="bg1"/>
              </a:solidFill>
            </a:endParaRPr>
          </a:p>
        </p:txBody>
      </p:sp>
      <p:grpSp>
        <p:nvGrpSpPr>
          <p:cNvPr id="7" name="Group 16"/>
          <p:cNvGrpSpPr/>
          <p:nvPr/>
        </p:nvGrpSpPr>
        <p:grpSpPr>
          <a:xfrm>
            <a:off x="4495800" y="4724400"/>
            <a:ext cx="974951" cy="445491"/>
            <a:chOff x="3403866" y="5798922"/>
            <a:chExt cx="974951" cy="445491"/>
          </a:xfrm>
        </p:grpSpPr>
        <p:sp>
          <p:nvSpPr>
            <p:cNvPr id="16" name="Oval 15"/>
            <p:cNvSpPr/>
            <p:nvPr/>
          </p:nvSpPr>
          <p:spPr>
            <a:xfrm>
              <a:off x="3403866" y="5798922"/>
              <a:ext cx="974951" cy="445491"/>
            </a:xfrm>
            <a:prstGeom prst="ellipse">
              <a:avLst/>
            </a:prstGeom>
          </p:spPr>
          <p:style>
            <a:lnRef idx="2">
              <a:schemeClr val="accent2"/>
            </a:lnRef>
            <a:fillRef idx="1">
              <a:schemeClr val="lt1"/>
            </a:fillRef>
            <a:effectRef idx="0">
              <a:schemeClr val="accent2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chemeClr val="dk1"/>
                </a:solidFill>
              </a:endParaRPr>
            </a:p>
          </p:txBody>
        </p:sp>
        <p:sp>
          <p:nvSpPr>
            <p:cNvPr id="28" name="Rectangle 27"/>
            <p:cNvSpPr/>
            <p:nvPr/>
          </p:nvSpPr>
          <p:spPr>
            <a:xfrm>
              <a:off x="3586615" y="5907367"/>
              <a:ext cx="599352" cy="228600"/>
            </a:xfrm>
            <a:prstGeom prst="rect">
              <a:avLst/>
            </a:prstGeom>
            <a:ln/>
          </p:spPr>
          <p:style>
            <a:lnRef idx="2">
              <a:schemeClr val="accent2">
                <a:shade val="50000"/>
              </a:schemeClr>
            </a:lnRef>
            <a:fillRef idx="1">
              <a:schemeClr val="accent2"/>
            </a:fillRef>
            <a:effectRef idx="0">
              <a:schemeClr val="accent2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 smtClean="0">
                  <a:solidFill>
                    <a:schemeClr val="bg1"/>
                  </a:solidFill>
                </a:rPr>
                <a:t>R2</a:t>
              </a:r>
              <a:endParaRPr lang="en-US" dirty="0">
                <a:solidFill>
                  <a:schemeClr val="bg1"/>
                </a:solidFill>
              </a:endParaRPr>
            </a:p>
          </p:txBody>
        </p:sp>
      </p:grpSp>
      <p:sp>
        <p:nvSpPr>
          <p:cNvPr id="13" name="Rectangle 12"/>
          <p:cNvSpPr/>
          <p:nvPr/>
        </p:nvSpPr>
        <p:spPr>
          <a:xfrm>
            <a:off x="5562600" y="3657600"/>
            <a:ext cx="533400" cy="228600"/>
          </a:xfrm>
          <a:prstGeom prst="rect">
            <a:avLst/>
          </a:prstGeom>
          <a:ln/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>
                <a:solidFill>
                  <a:schemeClr val="bg1"/>
                </a:solidFill>
              </a:rPr>
              <a:t>R2</a:t>
            </a:r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40" name="Cube 39"/>
          <p:cNvSpPr/>
          <p:nvPr/>
        </p:nvSpPr>
        <p:spPr>
          <a:xfrm>
            <a:off x="7772400" y="4651248"/>
            <a:ext cx="1188720" cy="283464"/>
          </a:xfrm>
          <a:prstGeom prst="cube">
            <a:avLst/>
          </a:prstGeom>
          <a:ln/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 smtClean="0">
                <a:solidFill>
                  <a:schemeClr val="bg1"/>
                </a:solidFill>
              </a:rPr>
              <a:t>R1,R2,R3</a:t>
            </a:r>
            <a:endParaRPr lang="en-US" b="1" dirty="0">
              <a:solidFill>
                <a:schemeClr val="bg1"/>
              </a:solidFill>
            </a:endParaRPr>
          </a:p>
        </p:txBody>
      </p:sp>
      <p:pic>
        <p:nvPicPr>
          <p:cNvPr id="23" name="Picture 22" descr="dialog-warning-2.png"/>
          <p:cNvPicPr>
            <a:picLocks noChangeAspect="1"/>
          </p:cNvPicPr>
          <p:nvPr/>
        </p:nvPicPr>
        <p:blipFill>
          <a:blip r:embed="rId4" cstate="print"/>
          <a:stretch>
            <a:fillRect/>
          </a:stretch>
        </p:blipFill>
        <p:spPr>
          <a:xfrm>
            <a:off x="8001000" y="3810000"/>
            <a:ext cx="685800" cy="685800"/>
          </a:xfrm>
          <a:prstGeom prst="rect">
            <a:avLst/>
          </a:prstGeom>
        </p:spPr>
      </p:pic>
    </p:spTree>
    <p:extLst>
      <p:ext uri="{BB962C8B-B14F-4D97-AF65-F5344CB8AC3E}">
        <p14:creationId xmlns="" xmlns:p14="http://schemas.microsoft.com/office/powerpoint/2010/main" val="85417374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2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49" presetClass="path" presetSubtype="0" accel="50000" decel="5000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4.16667E-6 4.79186E-6 L -0.11024 0.17206 " pathEditMode="relative" rAng="0" ptsTypes="AA">
                                      <p:cBhvr>
                                        <p:cTn id="9" dur="10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5521" y="8603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" fill="hold">
                            <p:stCondLst>
                              <p:cond delay="1000"/>
                            </p:stCondLst>
                            <p:childTnLst>
                              <p:par>
                                <p:cTn id="11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>
                            <p:stCondLst>
                              <p:cond delay="1000"/>
                            </p:stCondLst>
                            <p:childTnLst>
                              <p:par>
                                <p:cTn id="14" presetID="1" presetClass="exit" presetSubtype="0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0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6" presetID="36" presetClass="path" presetSubtype="0" accel="50000" decel="5000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.00295 -0.00139 L 0.00295 0.07562 C 0.00295 0.10939 0.07188 0.15264 0.12795 0.15264 L 0.25295 0.15264 " pathEditMode="relative" rAng="0" ptsTypes="FfFF">
                                      <p:cBhvr>
                                        <p:cTn id="27" dur="20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125" y="77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" presetClass="entr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49" presetClass="path" presetSubtype="0" accel="50000" decel="5000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4.16667E-6 4.44033E-6 L -0.11024 0.17206 " pathEditMode="relative" rAng="0" ptsTypes="AA">
                                      <p:cBhvr>
                                        <p:cTn id="34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5521" y="8603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5" fill="hold">
                            <p:stCondLst>
                              <p:cond delay="1000"/>
                            </p:stCondLst>
                            <p:childTnLst>
                              <p:par>
                                <p:cTn id="36" presetID="1" presetClass="exit" presetSubtype="0" fill="hold" grpId="2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8" fill="hold">
                            <p:stCondLst>
                              <p:cond delay="1000"/>
                            </p:stCondLst>
                            <p:childTnLst>
                              <p:par>
                                <p:cTn id="39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5" fill="hold">
                            <p:stCondLst>
                              <p:cond delay="0"/>
                            </p:stCondLst>
                            <p:childTnLst>
                              <p:par>
                                <p:cTn id="46" presetID="36" presetClass="path" presetSubtype="0" accel="50000" decel="5000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3.34875E-6 L 0 0.09944 C 0 0.14431 0.03403 0.19935 0.06181 0.19935 L 0.12413 0.19935 " pathEditMode="relative" rAng="0" ptsTypes="FfFF">
                                      <p:cBhvr>
                                        <p:cTn id="47" dur="2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62" y="100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43" presetClass="path" presetSubtype="0" accel="50000" decel="50000" fill="hold" grpId="2" nodeType="after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.25295 0.15402 L 0.37726 0.15402 C 0.43299 0.15402 0.50174 0.11101 0.50174 0.07609 L 0.50174 -0.00139 " pathEditMode="relative" rAng="0" ptsTypes="FfFF">
                                      <p:cBhvr>
                                        <p:cTn id="54" dur="20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124" y="-78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>
                      <p:stCondLst>
                        <p:cond delay="indefinite"/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43" presetClass="path" presetSubtype="0" accel="50000" decel="5000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.12413 0.19935 L 0.1776 0.19935 C 0.20156 0.19935 0.23125 0.14431 0.23125 0.09944 L 0.23125 3.34875E-6 " pathEditMode="relative" rAng="0" ptsTypes="FfFF">
                                      <p:cBhvr>
                                        <p:cTn id="61" dur="2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53" y="-100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2" fill="hold">
                            <p:stCondLst>
                              <p:cond delay="2000"/>
                            </p:stCondLst>
                            <p:childTnLst>
                              <p:par>
                                <p:cTn id="63" presetID="1" presetClass="exit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5" fill="hold">
                            <p:stCondLst>
                              <p:cond delay="2000"/>
                            </p:stCondLst>
                            <p:childTnLst>
                              <p:par>
                                <p:cTn id="66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2" fill="hold">
                            <p:stCondLst>
                              <p:cond delay="0"/>
                            </p:stCondLst>
                            <p:childTnLst>
                              <p:par>
                                <p:cTn id="73" presetID="22" presetClass="exit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down)">
                                      <p:cBhvr>
                                        <p:cTn id="74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6" presetID="22" presetClass="entr" presetSubtype="1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8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9" fill="hold">
                      <p:stCondLst>
                        <p:cond delay="indefinite"/>
                      </p:stCondLst>
                      <p:childTnLst>
                        <p:par>
                          <p:cTn id="80" fill="hold">
                            <p:stCondLst>
                              <p:cond delay="0"/>
                            </p:stCondLst>
                            <p:childTnLst>
                              <p:par>
                                <p:cTn id="81" presetID="1" presetClass="entr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3" fill="hold">
                            <p:stCondLst>
                              <p:cond delay="0"/>
                            </p:stCondLst>
                            <p:childTnLst>
                              <p:par>
                                <p:cTn id="84" presetID="49" presetClass="path" presetSubtype="0" accel="50000" decel="5000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3.61111E-6 4.79186E-6 L 0.13767 0.17206 " pathEditMode="relative" rAng="0" ptsTypes="AA">
                                      <p:cBhvr>
                                        <p:cTn id="85" dur="200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6875" y="8603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6" fill="hold">
                            <p:stCondLst>
                              <p:cond delay="2000"/>
                            </p:stCondLst>
                            <p:childTnLst>
                              <p:par>
                                <p:cTn id="87" presetID="1" presetClass="exit" presetSubtype="0" fill="hold" grpId="2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1" fill="hold">
                            <p:stCondLst>
                              <p:cond delay="2000"/>
                            </p:stCondLst>
                            <p:childTnLst>
                              <p:par>
                                <p:cTn id="92" presetID="1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94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  <p:bldP spid="9" grpId="0" animBg="1"/>
      <p:bldP spid="10" grpId="0" animBg="1"/>
      <p:bldP spid="33" grpId="0" animBg="1"/>
      <p:bldP spid="33" grpId="1" animBg="1"/>
      <p:bldP spid="33" grpId="2" animBg="1"/>
      <p:bldP spid="24" grpId="0" animBg="1"/>
      <p:bldP spid="24" grpId="1" animBg="1"/>
      <p:bldP spid="24" grpId="2" animBg="1"/>
      <p:bldP spid="39" grpId="0" uiExpand="1" animBg="1"/>
      <p:bldP spid="31" grpId="0" animBg="1"/>
      <p:bldP spid="31" grpId="1" uiExpand="1" animBg="1"/>
      <p:bldP spid="31" grpId="2" animBg="1"/>
      <p:bldP spid="36" grpId="0" animBg="1"/>
      <p:bldP spid="13" grpId="0" uiExpand="1" animBg="1"/>
      <p:bldP spid="13" grpId="1" uiExpand="1" animBg="1"/>
      <p:bldP spid="13" grpId="2" animBg="1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Content Placeholder 2"/>
          <p:cNvSpPr>
            <a:spLocks noGrp="1"/>
          </p:cNvSpPr>
          <p:nvPr>
            <p:ph idx="1"/>
          </p:nvPr>
        </p:nvSpPr>
        <p:spPr>
          <a:xfrm>
            <a:off x="457200" y="1447800"/>
            <a:ext cx="8229600" cy="4678363"/>
          </a:xfrm>
        </p:spPr>
        <p:txBody>
          <a:bodyPr/>
          <a:lstStyle/>
          <a:p>
            <a:r>
              <a:rPr lang="en-US" dirty="0" smtClean="0"/>
              <a:t>False positives from Bro’s </a:t>
            </a:r>
            <a:r>
              <a:rPr lang="en-US" sz="2800" dirty="0" smtClean="0">
                <a:latin typeface="Lucida Console" pitchFamily="49" charset="0"/>
              </a:rPr>
              <a:t>weird</a:t>
            </a:r>
            <a:r>
              <a:rPr lang="en-US" dirty="0" smtClean="0"/>
              <a:t> script </a:t>
            </a:r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Re-ordering of packets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2C5A87-65DC-41FD-9E53-7EAC48455B9A}" type="slidenum">
              <a:rPr lang="en-US" smtClean="0"/>
              <a:pPr/>
              <a:t>17</a:t>
            </a:fld>
            <a:endParaRPr lang="en-US" dirty="0"/>
          </a:p>
        </p:txBody>
      </p:sp>
      <p:sp>
        <p:nvSpPr>
          <p:cNvPr id="5" name="Rounded Rectangle 4">
            <a:hlinkClick r:id="" action="ppaction://noaction"/>
          </p:cNvPr>
          <p:cNvSpPr/>
          <p:nvPr/>
        </p:nvSpPr>
        <p:spPr>
          <a:xfrm>
            <a:off x="609600" y="5105400"/>
            <a:ext cx="8153400" cy="1143000"/>
          </a:xfrm>
          <a:prstGeom prst="roundRect">
            <a:avLst/>
          </a:prstGeom>
        </p:spPr>
        <p:style>
          <a:lnRef idx="3">
            <a:schemeClr val="lt1"/>
          </a:lnRef>
          <a:fillRef idx="1">
            <a:schemeClr val="accent6"/>
          </a:fillRef>
          <a:effectRef idx="1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800" dirty="0"/>
              <a:t>Order-preserving: All packets should be processed </a:t>
            </a:r>
            <a:br>
              <a:rPr lang="en-US" sz="2800" dirty="0"/>
            </a:br>
            <a:r>
              <a:rPr lang="en-US" sz="2800" dirty="0"/>
              <a:t>in the order they were forwarded by the switch</a:t>
            </a:r>
          </a:p>
        </p:txBody>
      </p:sp>
      <p:cxnSp>
        <p:nvCxnSpPr>
          <p:cNvPr id="6" name="Straight Arrow Connector 5"/>
          <p:cNvCxnSpPr/>
          <p:nvPr/>
        </p:nvCxnSpPr>
        <p:spPr>
          <a:xfrm>
            <a:off x="3193968" y="2133600"/>
            <a:ext cx="0" cy="2819400"/>
          </a:xfrm>
          <a:prstGeom prst="straightConnector1">
            <a:avLst/>
          </a:prstGeom>
          <a:ln>
            <a:tailEnd type="arrow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8" name="Straight Arrow Connector 7"/>
          <p:cNvCxnSpPr/>
          <p:nvPr/>
        </p:nvCxnSpPr>
        <p:spPr>
          <a:xfrm>
            <a:off x="5525044" y="2133600"/>
            <a:ext cx="0" cy="2819400"/>
          </a:xfrm>
          <a:prstGeom prst="straightConnector1">
            <a:avLst/>
          </a:prstGeom>
          <a:ln>
            <a:tailEnd type="arrow"/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cxnSp>
        <p:nvCxnSpPr>
          <p:cNvPr id="9" name="Straight Arrow Connector 8"/>
          <p:cNvCxnSpPr/>
          <p:nvPr/>
        </p:nvCxnSpPr>
        <p:spPr>
          <a:xfrm>
            <a:off x="7856120" y="2133600"/>
            <a:ext cx="0" cy="2819400"/>
          </a:xfrm>
          <a:prstGeom prst="straightConnector1">
            <a:avLst/>
          </a:prstGeom>
          <a:ln>
            <a:tailEnd type="arrow"/>
          </a:ln>
        </p:spPr>
        <p:style>
          <a:lnRef idx="3">
            <a:schemeClr val="accent6"/>
          </a:lnRef>
          <a:fillRef idx="0">
            <a:schemeClr val="accent6"/>
          </a:fillRef>
          <a:effectRef idx="2">
            <a:schemeClr val="accent6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3193968" y="2013466"/>
            <a:ext cx="1363194" cy="43088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200" b="1" dirty="0" smtClean="0"/>
              <a:t>Controller</a:t>
            </a:r>
            <a:endParaRPr lang="en-US" sz="2200" b="1" dirty="0"/>
          </a:p>
        </p:txBody>
      </p:sp>
      <p:sp>
        <p:nvSpPr>
          <p:cNvPr id="11" name="TextBox 10"/>
          <p:cNvSpPr txBox="1"/>
          <p:nvPr/>
        </p:nvSpPr>
        <p:spPr>
          <a:xfrm>
            <a:off x="5525044" y="1981200"/>
            <a:ext cx="957378" cy="43088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200" b="1" dirty="0" smtClean="0">
                <a:solidFill>
                  <a:schemeClr val="accent1"/>
                </a:solidFill>
              </a:rPr>
              <a:t>Switch</a:t>
            </a:r>
            <a:endParaRPr lang="en-US" sz="2200" b="1" dirty="0">
              <a:solidFill>
                <a:schemeClr val="accent1"/>
              </a:solidFill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7856120" y="2001617"/>
            <a:ext cx="687752" cy="43088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200" b="1" dirty="0" smtClean="0">
                <a:solidFill>
                  <a:schemeClr val="accent6"/>
                </a:solidFill>
              </a:rPr>
              <a:t>Bro</a:t>
            </a:r>
            <a:r>
              <a:rPr lang="en-US" sz="2200" b="1" baseline="-25000" dirty="0" smtClean="0">
                <a:solidFill>
                  <a:schemeClr val="accent6"/>
                </a:solidFill>
              </a:rPr>
              <a:t>2</a:t>
            </a:r>
            <a:endParaRPr lang="en-US" sz="2200" b="1" baseline="-25000" dirty="0">
              <a:solidFill>
                <a:schemeClr val="accent6"/>
              </a:solidFill>
            </a:endParaRPr>
          </a:p>
        </p:txBody>
      </p:sp>
      <p:cxnSp>
        <p:nvCxnSpPr>
          <p:cNvPr id="19" name="Straight Arrow Connector 18"/>
          <p:cNvCxnSpPr>
            <a:stCxn id="24" idx="3"/>
          </p:cNvCxnSpPr>
          <p:nvPr/>
        </p:nvCxnSpPr>
        <p:spPr>
          <a:xfrm>
            <a:off x="3193967" y="3014990"/>
            <a:ext cx="2292433" cy="566410"/>
          </a:xfrm>
          <a:prstGeom prst="straightConnector1">
            <a:avLst/>
          </a:prstGeom>
          <a:ln>
            <a:solidFill>
              <a:schemeClr val="bg1">
                <a:lumMod val="75000"/>
              </a:schemeClr>
            </a:solidFill>
            <a:tailEnd type="arrow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23" name="TextBox 22"/>
          <p:cNvSpPr txBox="1"/>
          <p:nvPr/>
        </p:nvSpPr>
        <p:spPr>
          <a:xfrm>
            <a:off x="1326926" y="2272030"/>
            <a:ext cx="1862882" cy="43088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US" sz="2200" b="1" dirty="0" smtClean="0"/>
              <a:t>5. Flush buffer</a:t>
            </a:r>
            <a:endParaRPr lang="en-US" sz="2200" b="1" dirty="0"/>
          </a:p>
        </p:txBody>
      </p:sp>
      <p:sp>
        <p:nvSpPr>
          <p:cNvPr id="24" name="TextBox 23"/>
          <p:cNvSpPr txBox="1"/>
          <p:nvPr/>
        </p:nvSpPr>
        <p:spPr>
          <a:xfrm>
            <a:off x="831589" y="2630269"/>
            <a:ext cx="2362378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US" sz="2200" b="1" dirty="0" smtClean="0"/>
              <a:t>6. Request </a:t>
            </a:r>
            <a:br>
              <a:rPr lang="en-US" sz="2200" b="1" dirty="0" smtClean="0"/>
            </a:br>
            <a:r>
              <a:rPr lang="en-US" sz="2200" b="1" dirty="0" smtClean="0"/>
              <a:t>forwarding update</a:t>
            </a:r>
            <a:endParaRPr lang="en-US" sz="2200" b="1" dirty="0"/>
          </a:p>
        </p:txBody>
      </p:sp>
      <p:cxnSp>
        <p:nvCxnSpPr>
          <p:cNvPr id="34" name="Straight Arrow Connector 33"/>
          <p:cNvCxnSpPr/>
          <p:nvPr/>
        </p:nvCxnSpPr>
        <p:spPr>
          <a:xfrm>
            <a:off x="881313" y="2133600"/>
            <a:ext cx="0" cy="2819400"/>
          </a:xfrm>
          <a:prstGeom prst="straightConnector1">
            <a:avLst/>
          </a:prstGeom>
          <a:ln>
            <a:tailEnd type="arrow"/>
          </a:ln>
        </p:spPr>
        <p:style>
          <a:lnRef idx="3">
            <a:schemeClr val="accent6"/>
          </a:lnRef>
          <a:fillRef idx="0">
            <a:schemeClr val="accent6"/>
          </a:fillRef>
          <a:effectRef idx="2">
            <a:schemeClr val="accent6"/>
          </a:effectRef>
          <a:fontRef idx="minor">
            <a:schemeClr val="tx1"/>
          </a:fontRef>
        </p:style>
      </p:cxnSp>
      <p:sp>
        <p:nvSpPr>
          <p:cNvPr id="35" name="TextBox 34"/>
          <p:cNvSpPr txBox="1"/>
          <p:nvPr/>
        </p:nvSpPr>
        <p:spPr>
          <a:xfrm>
            <a:off x="881313" y="2019820"/>
            <a:ext cx="687752" cy="43088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200" b="1" dirty="0" smtClean="0">
                <a:solidFill>
                  <a:schemeClr val="accent6"/>
                </a:solidFill>
              </a:rPr>
              <a:t>Bro</a:t>
            </a:r>
            <a:r>
              <a:rPr lang="en-US" sz="2200" b="1" baseline="-25000" dirty="0" smtClean="0">
                <a:solidFill>
                  <a:schemeClr val="accent6"/>
                </a:solidFill>
              </a:rPr>
              <a:t>1</a:t>
            </a:r>
            <a:endParaRPr lang="en-US" sz="2200" b="1" baseline="-25000" dirty="0">
              <a:solidFill>
                <a:schemeClr val="accent6"/>
              </a:solidFill>
            </a:endParaRPr>
          </a:p>
        </p:txBody>
      </p:sp>
      <p:grpSp>
        <p:nvGrpSpPr>
          <p:cNvPr id="3" name="Group 61"/>
          <p:cNvGrpSpPr/>
          <p:nvPr/>
        </p:nvGrpSpPr>
        <p:grpSpPr>
          <a:xfrm>
            <a:off x="3193968" y="2462332"/>
            <a:ext cx="2331076" cy="408948"/>
            <a:chOff x="3193968" y="1754703"/>
            <a:chExt cx="2331076" cy="408948"/>
          </a:xfrm>
        </p:grpSpPr>
        <p:cxnSp>
          <p:nvCxnSpPr>
            <p:cNvPr id="14" name="Straight Arrow Connector 13"/>
            <p:cNvCxnSpPr/>
            <p:nvPr/>
          </p:nvCxnSpPr>
          <p:spPr>
            <a:xfrm>
              <a:off x="3193968" y="1754703"/>
              <a:ext cx="2331076" cy="408948"/>
            </a:xfrm>
            <a:prstGeom prst="straightConnector1">
              <a:avLst/>
            </a:prstGeom>
            <a:ln>
              <a:solidFill>
                <a:schemeClr val="bg1">
                  <a:lumMod val="75000"/>
                </a:schemeClr>
              </a:solidFill>
              <a:tailEnd type="arrow"/>
            </a:ln>
          </p:spPr>
          <p:style>
            <a:lnRef idx="3">
              <a:schemeClr val="dk1"/>
            </a:lnRef>
            <a:fillRef idx="0">
              <a:schemeClr val="dk1"/>
            </a:fillRef>
            <a:effectRef idx="2">
              <a:schemeClr val="dk1"/>
            </a:effectRef>
            <a:fontRef idx="minor">
              <a:schemeClr val="tx1"/>
            </a:fontRef>
          </p:style>
        </p:cxnSp>
        <p:sp>
          <p:nvSpPr>
            <p:cNvPr id="43" name="Rectangle 42"/>
            <p:cNvSpPr/>
            <p:nvPr/>
          </p:nvSpPr>
          <p:spPr>
            <a:xfrm>
              <a:off x="4070271" y="1848903"/>
              <a:ext cx="578469" cy="220547"/>
            </a:xfrm>
            <a:prstGeom prst="rect">
              <a:avLst/>
            </a:prstGeom>
          </p:spPr>
          <p:style>
            <a:lnRef idx="2">
              <a:schemeClr val="accent2">
                <a:shade val="50000"/>
              </a:schemeClr>
            </a:lnRef>
            <a:fillRef idx="1">
              <a:schemeClr val="accent2"/>
            </a:fillRef>
            <a:effectRef idx="0">
              <a:schemeClr val="accent2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 smtClean="0"/>
                <a:t>R2</a:t>
              </a:r>
              <a:endParaRPr lang="en-US" dirty="0"/>
            </a:p>
          </p:txBody>
        </p:sp>
      </p:grpSp>
      <p:grpSp>
        <p:nvGrpSpPr>
          <p:cNvPr id="7" name="Group 62"/>
          <p:cNvGrpSpPr/>
          <p:nvPr/>
        </p:nvGrpSpPr>
        <p:grpSpPr>
          <a:xfrm>
            <a:off x="5525044" y="2882013"/>
            <a:ext cx="2331076" cy="408948"/>
            <a:chOff x="5525044" y="2174384"/>
            <a:chExt cx="2331076" cy="408948"/>
          </a:xfrm>
        </p:grpSpPr>
        <p:cxnSp>
          <p:nvCxnSpPr>
            <p:cNvPr id="16" name="Straight Arrow Connector 15"/>
            <p:cNvCxnSpPr/>
            <p:nvPr/>
          </p:nvCxnSpPr>
          <p:spPr>
            <a:xfrm>
              <a:off x="5525044" y="2174384"/>
              <a:ext cx="2331076" cy="408948"/>
            </a:xfrm>
            <a:prstGeom prst="straightConnector1">
              <a:avLst/>
            </a:prstGeom>
            <a:ln>
              <a:solidFill>
                <a:schemeClr val="bg1">
                  <a:lumMod val="75000"/>
                </a:schemeClr>
              </a:solidFill>
              <a:tailEnd type="arrow"/>
            </a:ln>
          </p:spPr>
          <p:style>
            <a:lnRef idx="3">
              <a:schemeClr val="dk1"/>
            </a:lnRef>
            <a:fillRef idx="0">
              <a:schemeClr val="dk1"/>
            </a:fillRef>
            <a:effectRef idx="2">
              <a:schemeClr val="dk1"/>
            </a:effectRef>
            <a:fontRef idx="minor">
              <a:schemeClr val="tx1"/>
            </a:fontRef>
          </p:style>
        </p:cxnSp>
        <p:sp>
          <p:nvSpPr>
            <p:cNvPr id="44" name="Rectangle 43"/>
            <p:cNvSpPr/>
            <p:nvPr/>
          </p:nvSpPr>
          <p:spPr>
            <a:xfrm>
              <a:off x="6397187" y="2239807"/>
              <a:ext cx="578469" cy="220547"/>
            </a:xfrm>
            <a:prstGeom prst="rect">
              <a:avLst/>
            </a:prstGeom>
          </p:spPr>
          <p:style>
            <a:lnRef idx="2">
              <a:schemeClr val="accent2">
                <a:shade val="50000"/>
              </a:schemeClr>
            </a:lnRef>
            <a:fillRef idx="1">
              <a:schemeClr val="accent2"/>
            </a:fillRef>
            <a:effectRef idx="0">
              <a:schemeClr val="accent2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 smtClean="0"/>
                <a:t>R2</a:t>
              </a:r>
              <a:endParaRPr lang="en-US" dirty="0"/>
            </a:p>
          </p:txBody>
        </p:sp>
      </p:grpSp>
      <p:grpSp>
        <p:nvGrpSpPr>
          <p:cNvPr id="13" name="Group 58"/>
          <p:cNvGrpSpPr/>
          <p:nvPr/>
        </p:nvGrpSpPr>
        <p:grpSpPr>
          <a:xfrm>
            <a:off x="5520884" y="3864509"/>
            <a:ext cx="2331076" cy="444811"/>
            <a:chOff x="5520884" y="3331109"/>
            <a:chExt cx="2331076" cy="444811"/>
          </a:xfrm>
        </p:grpSpPr>
        <p:cxnSp>
          <p:nvCxnSpPr>
            <p:cNvPr id="20" name="Straight Arrow Connector 19"/>
            <p:cNvCxnSpPr/>
            <p:nvPr/>
          </p:nvCxnSpPr>
          <p:spPr>
            <a:xfrm>
              <a:off x="5520884" y="3366972"/>
              <a:ext cx="2331076" cy="408948"/>
            </a:xfrm>
            <a:prstGeom prst="straightConnector1">
              <a:avLst/>
            </a:prstGeom>
            <a:ln>
              <a:solidFill>
                <a:schemeClr val="bg1">
                  <a:lumMod val="75000"/>
                </a:schemeClr>
              </a:solidFill>
              <a:tailEnd type="arrow"/>
            </a:ln>
          </p:spPr>
          <p:style>
            <a:lnRef idx="3">
              <a:schemeClr val="dk1"/>
            </a:lnRef>
            <a:fillRef idx="0">
              <a:schemeClr val="dk1"/>
            </a:fillRef>
            <a:effectRef idx="2">
              <a:schemeClr val="dk1"/>
            </a:effectRef>
            <a:fontRef idx="minor">
              <a:schemeClr val="tx1"/>
            </a:fontRef>
          </p:style>
        </p:cxnSp>
        <p:sp>
          <p:nvSpPr>
            <p:cNvPr id="48" name="Rectangle 47"/>
            <p:cNvSpPr/>
            <p:nvPr/>
          </p:nvSpPr>
          <p:spPr>
            <a:xfrm>
              <a:off x="5914627" y="3331109"/>
              <a:ext cx="578469" cy="220547"/>
            </a:xfrm>
            <a:prstGeom prst="rect">
              <a:avLst/>
            </a:prstGeom>
          </p:spPr>
          <p:style>
            <a:lnRef idx="2">
              <a:schemeClr val="accent2">
                <a:shade val="50000"/>
              </a:schemeClr>
            </a:lnRef>
            <a:fillRef idx="1">
              <a:schemeClr val="accent2"/>
            </a:fillRef>
            <a:effectRef idx="0">
              <a:schemeClr val="accent2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 smtClean="0"/>
                <a:t>R4</a:t>
              </a:r>
              <a:endParaRPr lang="en-US" dirty="0"/>
            </a:p>
          </p:txBody>
        </p:sp>
      </p:grpSp>
      <p:grpSp>
        <p:nvGrpSpPr>
          <p:cNvPr id="15" name="Group 55"/>
          <p:cNvGrpSpPr/>
          <p:nvPr/>
        </p:nvGrpSpPr>
        <p:grpSpPr>
          <a:xfrm>
            <a:off x="862891" y="3577841"/>
            <a:ext cx="2331076" cy="408948"/>
            <a:chOff x="862891" y="3044441"/>
            <a:chExt cx="2331076" cy="408948"/>
          </a:xfrm>
        </p:grpSpPr>
        <p:cxnSp>
          <p:nvCxnSpPr>
            <p:cNvPr id="37" name="Straight Arrow Connector 36"/>
            <p:cNvCxnSpPr/>
            <p:nvPr/>
          </p:nvCxnSpPr>
          <p:spPr>
            <a:xfrm>
              <a:off x="862891" y="3044441"/>
              <a:ext cx="2331076" cy="408948"/>
            </a:xfrm>
            <a:prstGeom prst="straightConnector1">
              <a:avLst/>
            </a:prstGeom>
            <a:ln>
              <a:solidFill>
                <a:schemeClr val="bg1">
                  <a:lumMod val="75000"/>
                </a:schemeClr>
              </a:solidFill>
              <a:tailEnd type="arrow"/>
            </a:ln>
          </p:spPr>
          <p:style>
            <a:lnRef idx="3">
              <a:schemeClr val="dk1"/>
            </a:lnRef>
            <a:fillRef idx="0">
              <a:schemeClr val="dk1"/>
            </a:fillRef>
            <a:effectRef idx="2">
              <a:schemeClr val="dk1"/>
            </a:effectRef>
            <a:fontRef idx="minor">
              <a:schemeClr val="tx1"/>
            </a:fontRef>
          </p:style>
        </p:cxnSp>
        <p:sp>
          <p:nvSpPr>
            <p:cNvPr id="49" name="Rectangle 48"/>
            <p:cNvSpPr/>
            <p:nvPr/>
          </p:nvSpPr>
          <p:spPr>
            <a:xfrm>
              <a:off x="2237987" y="3210435"/>
              <a:ext cx="578469" cy="220547"/>
            </a:xfrm>
            <a:prstGeom prst="rect">
              <a:avLst/>
            </a:prstGeom>
          </p:spPr>
          <p:style>
            <a:lnRef idx="2">
              <a:schemeClr val="accent2">
                <a:shade val="50000"/>
              </a:schemeClr>
            </a:lnRef>
            <a:fillRef idx="1">
              <a:schemeClr val="accent2"/>
            </a:fillRef>
            <a:effectRef idx="0">
              <a:schemeClr val="accent2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 smtClean="0"/>
                <a:t>R3</a:t>
              </a:r>
              <a:endParaRPr lang="en-US" dirty="0"/>
            </a:p>
          </p:txBody>
        </p:sp>
      </p:grpSp>
      <p:grpSp>
        <p:nvGrpSpPr>
          <p:cNvPr id="17" name="Group 56"/>
          <p:cNvGrpSpPr/>
          <p:nvPr/>
        </p:nvGrpSpPr>
        <p:grpSpPr>
          <a:xfrm>
            <a:off x="3189808" y="3986789"/>
            <a:ext cx="2331076" cy="408948"/>
            <a:chOff x="3189808" y="3453389"/>
            <a:chExt cx="2331076" cy="408948"/>
          </a:xfrm>
        </p:grpSpPr>
        <p:cxnSp>
          <p:nvCxnSpPr>
            <p:cNvPr id="21" name="Straight Arrow Connector 20"/>
            <p:cNvCxnSpPr/>
            <p:nvPr/>
          </p:nvCxnSpPr>
          <p:spPr>
            <a:xfrm>
              <a:off x="3189808" y="3453389"/>
              <a:ext cx="2331076" cy="408948"/>
            </a:xfrm>
            <a:prstGeom prst="straightConnector1">
              <a:avLst/>
            </a:prstGeom>
            <a:ln>
              <a:solidFill>
                <a:schemeClr val="bg1">
                  <a:lumMod val="75000"/>
                </a:schemeClr>
              </a:solidFill>
              <a:tailEnd type="arrow"/>
            </a:ln>
          </p:spPr>
          <p:style>
            <a:lnRef idx="3">
              <a:schemeClr val="dk1"/>
            </a:lnRef>
            <a:fillRef idx="0">
              <a:schemeClr val="dk1"/>
            </a:fillRef>
            <a:effectRef idx="2">
              <a:schemeClr val="dk1"/>
            </a:effectRef>
            <a:fontRef idx="minor">
              <a:schemeClr val="tx1"/>
            </a:fontRef>
          </p:style>
        </p:cxnSp>
        <p:sp>
          <p:nvSpPr>
            <p:cNvPr id="50" name="Rectangle 49"/>
            <p:cNvSpPr/>
            <p:nvPr/>
          </p:nvSpPr>
          <p:spPr>
            <a:xfrm>
              <a:off x="4572000" y="3641790"/>
              <a:ext cx="578469" cy="220547"/>
            </a:xfrm>
            <a:prstGeom prst="rect">
              <a:avLst/>
            </a:prstGeom>
          </p:spPr>
          <p:style>
            <a:lnRef idx="2">
              <a:schemeClr val="accent2">
                <a:shade val="50000"/>
              </a:schemeClr>
            </a:lnRef>
            <a:fillRef idx="1">
              <a:schemeClr val="accent2"/>
            </a:fillRef>
            <a:effectRef idx="0">
              <a:schemeClr val="accent2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 smtClean="0"/>
                <a:t>R3</a:t>
              </a:r>
              <a:endParaRPr lang="en-US" dirty="0"/>
            </a:p>
          </p:txBody>
        </p:sp>
      </p:grpSp>
      <p:grpSp>
        <p:nvGrpSpPr>
          <p:cNvPr id="18" name="Group 57"/>
          <p:cNvGrpSpPr/>
          <p:nvPr/>
        </p:nvGrpSpPr>
        <p:grpSpPr>
          <a:xfrm>
            <a:off x="5532556" y="4395737"/>
            <a:ext cx="2331076" cy="425021"/>
            <a:chOff x="5532556" y="3862337"/>
            <a:chExt cx="2331076" cy="425021"/>
          </a:xfrm>
        </p:grpSpPr>
        <p:cxnSp>
          <p:nvCxnSpPr>
            <p:cNvPr id="22" name="Straight Arrow Connector 21"/>
            <p:cNvCxnSpPr/>
            <p:nvPr/>
          </p:nvCxnSpPr>
          <p:spPr>
            <a:xfrm>
              <a:off x="5532556" y="3862337"/>
              <a:ext cx="2331076" cy="408948"/>
            </a:xfrm>
            <a:prstGeom prst="straightConnector1">
              <a:avLst/>
            </a:prstGeom>
            <a:ln>
              <a:solidFill>
                <a:schemeClr val="bg1">
                  <a:lumMod val="75000"/>
                </a:schemeClr>
              </a:solidFill>
              <a:tailEnd type="arrow"/>
            </a:ln>
          </p:spPr>
          <p:style>
            <a:lnRef idx="3">
              <a:schemeClr val="dk1"/>
            </a:lnRef>
            <a:fillRef idx="0">
              <a:schemeClr val="dk1"/>
            </a:fillRef>
            <a:effectRef idx="2">
              <a:schemeClr val="dk1"/>
            </a:effectRef>
            <a:fontRef idx="minor">
              <a:schemeClr val="tx1"/>
            </a:fontRef>
          </p:style>
        </p:cxnSp>
        <p:sp>
          <p:nvSpPr>
            <p:cNvPr id="51" name="Rectangle 50"/>
            <p:cNvSpPr/>
            <p:nvPr/>
          </p:nvSpPr>
          <p:spPr>
            <a:xfrm>
              <a:off x="6987327" y="4066811"/>
              <a:ext cx="578469" cy="220547"/>
            </a:xfrm>
            <a:prstGeom prst="rect">
              <a:avLst/>
            </a:prstGeom>
          </p:spPr>
          <p:style>
            <a:lnRef idx="2">
              <a:schemeClr val="accent2">
                <a:shade val="50000"/>
              </a:schemeClr>
            </a:lnRef>
            <a:fillRef idx="1">
              <a:schemeClr val="accent2"/>
            </a:fillRef>
            <a:effectRef idx="0">
              <a:schemeClr val="accent2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 smtClean="0"/>
                <a:t>R3</a:t>
              </a:r>
              <a:endParaRPr lang="en-US" dirty="0"/>
            </a:p>
          </p:txBody>
        </p:sp>
      </p:grpSp>
      <p:sp>
        <p:nvSpPr>
          <p:cNvPr id="52" name="Rectangle 51"/>
          <p:cNvSpPr/>
          <p:nvPr/>
        </p:nvSpPr>
        <p:spPr>
          <a:xfrm>
            <a:off x="8004900" y="3208453"/>
            <a:ext cx="578469" cy="220547"/>
          </a:xfrm>
          <a:prstGeom prst="rect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/>
              <a:t>R2</a:t>
            </a:r>
            <a:endParaRPr lang="en-US" dirty="0"/>
          </a:p>
        </p:txBody>
      </p:sp>
      <p:sp>
        <p:nvSpPr>
          <p:cNvPr id="54" name="Rectangle 53"/>
          <p:cNvSpPr/>
          <p:nvPr/>
        </p:nvSpPr>
        <p:spPr>
          <a:xfrm>
            <a:off x="8007044" y="4199046"/>
            <a:ext cx="578469" cy="220547"/>
          </a:xfrm>
          <a:prstGeom prst="rect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/>
              <a:t>R4</a:t>
            </a:r>
            <a:endParaRPr lang="en-US" dirty="0"/>
          </a:p>
        </p:txBody>
      </p:sp>
      <p:sp>
        <p:nvSpPr>
          <p:cNvPr id="55" name="Rectangle 54"/>
          <p:cNvSpPr/>
          <p:nvPr/>
        </p:nvSpPr>
        <p:spPr>
          <a:xfrm>
            <a:off x="7999125" y="4710484"/>
            <a:ext cx="578469" cy="220547"/>
          </a:xfrm>
          <a:prstGeom prst="rect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/>
              <a:t>R3</a:t>
            </a:r>
            <a:endParaRPr lang="en-US" dirty="0"/>
          </a:p>
        </p:txBody>
      </p:sp>
      <p:grpSp>
        <p:nvGrpSpPr>
          <p:cNvPr id="25" name="Group 84"/>
          <p:cNvGrpSpPr/>
          <p:nvPr/>
        </p:nvGrpSpPr>
        <p:grpSpPr>
          <a:xfrm>
            <a:off x="817528" y="3089925"/>
            <a:ext cx="4681292" cy="435754"/>
            <a:chOff x="817528" y="2556525"/>
            <a:chExt cx="4681292" cy="435754"/>
          </a:xfrm>
        </p:grpSpPr>
        <p:sp>
          <p:nvSpPr>
            <p:cNvPr id="84" name="Rectangle 83"/>
            <p:cNvSpPr/>
            <p:nvPr/>
          </p:nvSpPr>
          <p:spPr>
            <a:xfrm>
              <a:off x="3086695" y="2698735"/>
              <a:ext cx="228600" cy="76200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9" name="Left Bracket 68"/>
            <p:cNvSpPr/>
            <p:nvPr/>
          </p:nvSpPr>
          <p:spPr>
            <a:xfrm rot="5040000">
              <a:off x="3140423" y="2640554"/>
              <a:ext cx="93008" cy="269608"/>
            </a:xfrm>
            <a:prstGeom prst="leftBracket">
              <a:avLst>
                <a:gd name="adj" fmla="val 100000"/>
              </a:avLst>
            </a:prstGeom>
            <a:ln>
              <a:solidFill>
                <a:schemeClr val="bg1">
                  <a:lumMod val="75000"/>
                </a:schemeClr>
              </a:solidFill>
              <a:tailEnd type="none"/>
            </a:ln>
          </p:spPr>
          <p:style>
            <a:lnRef idx="3">
              <a:schemeClr val="dk1"/>
            </a:lnRef>
            <a:fillRef idx="0">
              <a:schemeClr val="dk1"/>
            </a:fillRef>
            <a:effectRef idx="2">
              <a:schemeClr val="dk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70" name="Straight Arrow Connector 69"/>
            <p:cNvCxnSpPr>
              <a:endCxn id="69" idx="0"/>
            </p:cNvCxnSpPr>
            <p:nvPr/>
          </p:nvCxnSpPr>
          <p:spPr>
            <a:xfrm flipH="1">
              <a:off x="3325854" y="2590800"/>
              <a:ext cx="2172966" cy="216716"/>
            </a:xfrm>
            <a:prstGeom prst="straightConnector1">
              <a:avLst/>
            </a:prstGeom>
            <a:ln>
              <a:solidFill>
                <a:schemeClr val="bg1">
                  <a:lumMod val="75000"/>
                </a:schemeClr>
              </a:solidFill>
              <a:tailEnd type="none"/>
            </a:ln>
          </p:spPr>
          <p:style>
            <a:lnRef idx="3">
              <a:schemeClr val="dk1"/>
            </a:lnRef>
            <a:fillRef idx="0">
              <a:schemeClr val="dk1"/>
            </a:fillRef>
            <a:effectRef idx="2">
              <a:schemeClr val="dk1"/>
            </a:effectRef>
            <a:fontRef idx="minor">
              <a:schemeClr val="tx1"/>
            </a:fontRef>
          </p:style>
        </p:cxnSp>
        <p:sp>
          <p:nvSpPr>
            <p:cNvPr id="47" name="Rectangle 46"/>
            <p:cNvSpPr/>
            <p:nvPr/>
          </p:nvSpPr>
          <p:spPr>
            <a:xfrm>
              <a:off x="4778600" y="2556525"/>
              <a:ext cx="578469" cy="220547"/>
            </a:xfrm>
            <a:prstGeom prst="rect">
              <a:avLst/>
            </a:prstGeom>
          </p:spPr>
          <p:style>
            <a:lnRef idx="2">
              <a:schemeClr val="accent2">
                <a:shade val="50000"/>
              </a:schemeClr>
            </a:lnRef>
            <a:fillRef idx="1">
              <a:schemeClr val="accent2"/>
            </a:fillRef>
            <a:effectRef idx="0">
              <a:schemeClr val="accent2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 smtClean="0"/>
                <a:t>R3</a:t>
              </a:r>
              <a:endParaRPr lang="en-US" dirty="0"/>
            </a:p>
          </p:txBody>
        </p:sp>
        <p:cxnSp>
          <p:nvCxnSpPr>
            <p:cNvPr id="32" name="Straight Arrow Connector 31"/>
            <p:cNvCxnSpPr>
              <a:stCxn id="69" idx="2"/>
            </p:cNvCxnSpPr>
            <p:nvPr/>
          </p:nvCxnSpPr>
          <p:spPr>
            <a:xfrm flipH="1">
              <a:off x="817528" y="2835698"/>
              <a:ext cx="2240194" cy="156581"/>
            </a:xfrm>
            <a:prstGeom prst="straightConnector1">
              <a:avLst/>
            </a:prstGeom>
            <a:ln>
              <a:solidFill>
                <a:schemeClr val="bg1">
                  <a:lumMod val="75000"/>
                </a:schemeClr>
              </a:solidFill>
              <a:tailEnd type="arrow"/>
            </a:ln>
          </p:spPr>
          <p:style>
            <a:lnRef idx="3">
              <a:schemeClr val="dk1"/>
            </a:lnRef>
            <a:fillRef idx="0">
              <a:schemeClr val="dk1"/>
            </a:fillRef>
            <a:effectRef idx="2">
              <a:schemeClr val="dk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xmlns="" val="288710992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8" fill="hold">
                            <p:stCondLst>
                              <p:cond delay="500"/>
                            </p:stCondLst>
                            <p:childTnLst>
                              <p:par>
                                <p:cTn id="29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1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2" fill="hold">
                            <p:stCondLst>
                              <p:cond delay="1000"/>
                            </p:stCondLst>
                            <p:childTnLst>
                              <p:par>
                                <p:cTn id="33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2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2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47" dur="10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8" fill="hold">
                            <p:stCondLst>
                              <p:cond delay="1000"/>
                            </p:stCondLst>
                            <p:childTnLst>
                              <p:par>
                                <p:cTn id="49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1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2" fill="hold">
                      <p:stCondLst>
                        <p:cond delay="indefinite"/>
                      </p:stCondLst>
                      <p:childTnLst>
                        <p:par>
                          <p:cTn id="53" fill="hold">
                            <p:stCondLst>
                              <p:cond delay="0"/>
                            </p:stCondLst>
                            <p:childTnLst>
                              <p:par>
                                <p:cTn id="54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6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7" fill="hold">
                            <p:stCondLst>
                              <p:cond delay="500"/>
                            </p:stCondLst>
                            <p:childTnLst>
                              <p:par>
                                <p:cTn id="58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0" fill="hold">
                      <p:stCondLst>
                        <p:cond delay="indefinite"/>
                      </p:stCondLst>
                      <p:childTnLst>
                        <p:par>
                          <p:cTn id="61" fill="hold">
                            <p:stCondLst>
                              <p:cond delay="0"/>
                            </p:stCondLst>
                            <p:childTnLst>
                              <p:par>
                                <p:cTn id="62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4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5" fill="hold">
                            <p:stCondLst>
                              <p:cond delay="500"/>
                            </p:stCondLst>
                            <p:childTnLst>
                              <p:par>
                                <p:cTn id="66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8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9" fill="hold">
                            <p:stCondLst>
                              <p:cond delay="1000"/>
                            </p:stCondLst>
                            <p:childTnLst>
                              <p:par>
                                <p:cTn id="70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2" fill="hold">
                      <p:stCondLst>
                        <p:cond delay="indefinite"/>
                      </p:stCondLst>
                      <p:childTnLst>
                        <p:par>
                          <p:cTn id="73" fill="hold">
                            <p:stCondLst>
                              <p:cond delay="0"/>
                            </p:stCondLst>
                            <p:childTnLst>
                              <p:par>
                                <p:cTn id="74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10" grpId="0"/>
      <p:bldP spid="11" grpId="0"/>
      <p:bldP spid="12" grpId="0"/>
      <p:bldP spid="23" grpId="0"/>
      <p:bldP spid="24" grpId="0"/>
      <p:bldP spid="35" grpId="0"/>
      <p:bldP spid="52" grpId="0" animBg="1"/>
      <p:bldP spid="54" grpId="0" animBg="1"/>
      <p:bldP spid="55" grpId="0" animBg="1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676400"/>
            <a:ext cx="8229600" cy="4724400"/>
          </a:xfrm>
        </p:spPr>
        <p:txBody>
          <a:bodyPr>
            <a:normAutofit/>
          </a:bodyPr>
          <a:lstStyle/>
          <a:p>
            <a:pPr marL="514350" indent="-514350">
              <a:spcBef>
                <a:spcPts val="1800"/>
              </a:spcBef>
              <a:buFont typeface="+mj-lt"/>
              <a:buAutoNum type="arabicPeriod"/>
            </a:pPr>
            <a:r>
              <a:rPr lang="en-US" dirty="0" smtClean="0"/>
              <a:t>Dealing with diversity</a:t>
            </a:r>
            <a:br>
              <a:rPr lang="en-US" dirty="0" smtClean="0"/>
            </a:br>
            <a:r>
              <a:rPr lang="en-US" dirty="0" smtClean="0"/>
              <a:t/>
            </a:r>
            <a:br>
              <a:rPr lang="en-US" dirty="0" smtClean="0"/>
            </a:br>
            <a:r>
              <a:rPr lang="en-US" dirty="0" smtClean="0"/>
              <a:t/>
            </a:r>
            <a:br>
              <a:rPr lang="en-US" dirty="0" smtClean="0"/>
            </a:br>
            <a:endParaRPr lang="en-US" dirty="0" smtClean="0"/>
          </a:p>
          <a:p>
            <a:pPr marL="514350" indent="-514350">
              <a:buFont typeface="+mj-lt"/>
              <a:buAutoNum type="arabicPeriod"/>
            </a:pPr>
            <a:r>
              <a:rPr lang="en-US" dirty="0" smtClean="0"/>
              <a:t>Dealing with race conditions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 smtClean="0"/>
              <a:t>OpenNF</a:t>
            </a:r>
            <a:r>
              <a:rPr lang="en-US" dirty="0" smtClean="0"/>
              <a:t>: SLAs + cost + accuracy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2C5A87-65DC-41FD-9E53-7EAC48455B9A}" type="slidenum">
              <a:rPr lang="en-US" smtClean="0"/>
              <a:pPr/>
              <a:t>18</a:t>
            </a:fld>
            <a:endParaRPr lang="en-US" dirty="0"/>
          </a:p>
        </p:txBody>
      </p:sp>
      <p:sp>
        <p:nvSpPr>
          <p:cNvPr id="89" name="Rounded Rectangle 88"/>
          <p:cNvSpPr/>
          <p:nvPr/>
        </p:nvSpPr>
        <p:spPr>
          <a:xfrm>
            <a:off x="990600" y="2362200"/>
            <a:ext cx="7391400" cy="1143000"/>
          </a:xfrm>
          <a:prstGeom prst="roundRect">
            <a:avLst/>
          </a:prstGeom>
        </p:spPr>
        <p:style>
          <a:lnRef idx="3">
            <a:schemeClr val="lt1"/>
          </a:lnRef>
          <a:fillRef idx="1">
            <a:schemeClr val="accent6"/>
          </a:fillRef>
          <a:effectRef idx="1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800" dirty="0" smtClean="0"/>
              <a:t>Export/import state based </a:t>
            </a:r>
            <a:br>
              <a:rPr lang="en-US" sz="2800" dirty="0" smtClean="0"/>
            </a:br>
            <a:r>
              <a:rPr lang="en-US" sz="2800" dirty="0" smtClean="0"/>
              <a:t>on its association with flows</a:t>
            </a:r>
            <a:endParaRPr lang="en-US" sz="2800" dirty="0"/>
          </a:p>
        </p:txBody>
      </p:sp>
      <p:grpSp>
        <p:nvGrpSpPr>
          <p:cNvPr id="95" name="Group 94"/>
          <p:cNvGrpSpPr/>
          <p:nvPr/>
        </p:nvGrpSpPr>
        <p:grpSpPr>
          <a:xfrm>
            <a:off x="990600" y="4503003"/>
            <a:ext cx="7467600" cy="830997"/>
            <a:chOff x="990600" y="4267200"/>
            <a:chExt cx="7467600" cy="830997"/>
          </a:xfrm>
        </p:grpSpPr>
        <p:sp>
          <p:nvSpPr>
            <p:cNvPr id="91" name="Rounded Rectangle 90"/>
            <p:cNvSpPr/>
            <p:nvPr/>
          </p:nvSpPr>
          <p:spPr>
            <a:xfrm>
              <a:off x="990600" y="4267200"/>
              <a:ext cx="1752600" cy="817808"/>
            </a:xfrm>
            <a:prstGeom prst="roundRect">
              <a:avLst/>
            </a:prstGeom>
          </p:spPr>
          <p:style>
            <a:lnRef idx="3">
              <a:schemeClr val="lt1"/>
            </a:lnRef>
            <a:fillRef idx="1">
              <a:schemeClr val="accent6"/>
            </a:fillRef>
            <a:effectRef idx="1">
              <a:schemeClr val="accent6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2800" dirty="0" smtClean="0"/>
                <a:t>Events</a:t>
              </a:r>
              <a:endParaRPr lang="en-US" sz="2800" dirty="0"/>
            </a:p>
          </p:txBody>
        </p:sp>
        <p:sp>
          <p:nvSpPr>
            <p:cNvPr id="92" name="Rounded Rectangle 91"/>
            <p:cNvSpPr/>
            <p:nvPr/>
          </p:nvSpPr>
          <p:spPr>
            <a:xfrm>
              <a:off x="3352800" y="4267200"/>
              <a:ext cx="5105400" cy="817808"/>
            </a:xfrm>
            <a:prstGeom prst="roundRect">
              <a:avLst/>
            </a:prstGeom>
          </p:spPr>
          <p:style>
            <a:lnRef idx="3">
              <a:schemeClr val="lt1"/>
            </a:lnRef>
            <a:fillRef idx="1">
              <a:schemeClr val="accent6"/>
            </a:fillRef>
            <a:effectRef idx="1">
              <a:schemeClr val="accent6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2800" dirty="0" smtClean="0"/>
                <a:t>Lock-step forwarding updates</a:t>
              </a:r>
              <a:endParaRPr lang="en-US" sz="2800" dirty="0"/>
            </a:p>
          </p:txBody>
        </p:sp>
        <p:sp>
          <p:nvSpPr>
            <p:cNvPr id="93" name="TextBox 92"/>
            <p:cNvSpPr txBox="1"/>
            <p:nvPr/>
          </p:nvSpPr>
          <p:spPr>
            <a:xfrm>
              <a:off x="2819400" y="4267200"/>
              <a:ext cx="490840" cy="83099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4800" b="1" dirty="0" smtClean="0"/>
                <a:t>+</a:t>
              </a:r>
              <a:endParaRPr lang="en-US" sz="4800" b="1" dirty="0"/>
            </a:p>
          </p:txBody>
        </p:sp>
      </p:grpSp>
    </p:spTree>
    <p:extLst>
      <p:ext uri="{BB962C8B-B14F-4D97-AF65-F5344CB8AC3E}">
        <p14:creationId xmlns:p14="http://schemas.microsoft.com/office/powerpoint/2010/main" xmlns="" val="262065306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Implementation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>
              <a:spcBef>
                <a:spcPts val="1200"/>
              </a:spcBef>
            </a:pPr>
            <a:r>
              <a:rPr lang="en-US" dirty="0" smtClean="0"/>
              <a:t>Controller (</a:t>
            </a:r>
            <a:r>
              <a:rPr lang="en-US" i="1" dirty="0" smtClean="0"/>
              <a:t>3.8K </a:t>
            </a:r>
            <a:r>
              <a:rPr lang="en-US" i="1" dirty="0"/>
              <a:t>lines </a:t>
            </a:r>
            <a:r>
              <a:rPr lang="en-US" i="1" dirty="0" smtClean="0"/>
              <a:t>of Java</a:t>
            </a:r>
            <a:r>
              <a:rPr lang="en-US" dirty="0" smtClean="0"/>
              <a:t>)</a:t>
            </a:r>
          </a:p>
          <a:p>
            <a:pPr>
              <a:spcBef>
                <a:spcPts val="1200"/>
              </a:spcBef>
            </a:pPr>
            <a:r>
              <a:rPr lang="en-US" dirty="0" smtClean="0"/>
              <a:t>Communication library (2.6K lines of C)</a:t>
            </a:r>
          </a:p>
          <a:p>
            <a:pPr>
              <a:spcBef>
                <a:spcPts val="1200"/>
              </a:spcBef>
            </a:pPr>
            <a:r>
              <a:rPr lang="en-US" dirty="0" smtClean="0"/>
              <a:t>Modified NFs (3-8% increase in code)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2C5A87-65DC-41FD-9E53-7EAC48455B9A}" type="slidenum">
              <a:rPr lang="en-US" smtClean="0"/>
              <a:pPr/>
              <a:t>19</a:t>
            </a:fld>
            <a:endParaRPr lang="en-US" dirty="0"/>
          </a:p>
        </p:txBody>
      </p:sp>
      <p:grpSp>
        <p:nvGrpSpPr>
          <p:cNvPr id="10" name="Group 9"/>
          <p:cNvGrpSpPr/>
          <p:nvPr/>
        </p:nvGrpSpPr>
        <p:grpSpPr>
          <a:xfrm>
            <a:off x="994229" y="3886200"/>
            <a:ext cx="1295400" cy="1818620"/>
            <a:chOff x="6324600" y="3813281"/>
            <a:chExt cx="1295400" cy="1818620"/>
          </a:xfrm>
        </p:grpSpPr>
        <p:pic>
          <p:nvPicPr>
            <p:cNvPr id="5" name="Picture 4">
              <a:hlinkClick r:id="" action="ppaction://noaction"/>
            </p:cNvPr>
            <p:cNvPicPr>
              <a:picLocks noChangeAspect="1"/>
            </p:cNvPicPr>
            <p:nvPr/>
          </p:nvPicPr>
          <p:blipFill>
            <a:blip r:embed="rId3" cstate="print">
              <a:extLst>
                <a:ext uri="{28A0092B-C50C-407E-A947-70E740481C1C}">
                  <a14:useLocalDpi xmlns:a14="http://schemas.microsoft.com/office/drawing/2010/main" xmlns="" val="0"/>
                </a:ext>
              </a:extLst>
            </a:blip>
            <a:stretch>
              <a:fillRect/>
            </a:stretch>
          </p:blipFill>
          <p:spPr>
            <a:xfrm>
              <a:off x="6324600" y="3813281"/>
              <a:ext cx="1295400" cy="1239618"/>
            </a:xfrm>
            <a:prstGeom prst="rect">
              <a:avLst/>
            </a:prstGeom>
          </p:spPr>
        </p:pic>
        <p:sp>
          <p:nvSpPr>
            <p:cNvPr id="9" name="TextBox 8"/>
            <p:cNvSpPr txBox="1"/>
            <p:nvPr/>
          </p:nvSpPr>
          <p:spPr>
            <a:xfrm>
              <a:off x="6343240" y="5108681"/>
              <a:ext cx="1276760" cy="52322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2800" b="1" dirty="0" smtClean="0"/>
                <a:t>Bro IDS</a:t>
              </a:r>
              <a:endParaRPr lang="en-US" sz="2800" b="1" dirty="0"/>
            </a:p>
          </p:txBody>
        </p:sp>
      </p:grpSp>
      <p:grpSp>
        <p:nvGrpSpPr>
          <p:cNvPr id="16" name="Group 15"/>
          <p:cNvGrpSpPr/>
          <p:nvPr/>
        </p:nvGrpSpPr>
        <p:grpSpPr>
          <a:xfrm>
            <a:off x="2594429" y="3820180"/>
            <a:ext cx="1963208" cy="1894820"/>
            <a:chOff x="2743200" y="3962400"/>
            <a:chExt cx="1963208" cy="1894820"/>
          </a:xfrm>
        </p:grpSpPr>
        <p:sp>
          <p:nvSpPr>
            <p:cNvPr id="13" name="TextBox 12"/>
            <p:cNvSpPr txBox="1"/>
            <p:nvPr/>
          </p:nvSpPr>
          <p:spPr>
            <a:xfrm>
              <a:off x="3048000" y="5334000"/>
              <a:ext cx="1367554" cy="52322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2800" b="1" dirty="0" err="1" smtClean="0"/>
                <a:t>iptables</a:t>
              </a:r>
              <a:endParaRPr lang="en-US" sz="2800" b="1" dirty="0"/>
            </a:p>
          </p:txBody>
        </p:sp>
        <p:grpSp>
          <p:nvGrpSpPr>
            <p:cNvPr id="15" name="Group 14"/>
            <p:cNvGrpSpPr/>
            <p:nvPr/>
          </p:nvGrpSpPr>
          <p:grpSpPr>
            <a:xfrm>
              <a:off x="2743200" y="3962400"/>
              <a:ext cx="1963208" cy="1314450"/>
              <a:chOff x="2743200" y="3962400"/>
              <a:chExt cx="1963208" cy="1314450"/>
            </a:xfrm>
          </p:grpSpPr>
          <p:pic>
            <p:nvPicPr>
              <p:cNvPr id="14" name="Picture 13" descr="firewall.PNG"/>
              <p:cNvPicPr>
                <a:picLocks noChangeAspect="1"/>
              </p:cNvPicPr>
              <p:nvPr/>
            </p:nvPicPr>
            <p:blipFill>
              <a:blip r:embed="rId4" cstate="print"/>
              <a:stretch>
                <a:fillRect/>
              </a:stretch>
            </p:blipFill>
            <p:spPr>
              <a:xfrm>
                <a:off x="3124200" y="3962400"/>
                <a:ext cx="1314450" cy="1314450"/>
              </a:xfrm>
              <a:prstGeom prst="rect">
                <a:avLst/>
              </a:prstGeom>
            </p:spPr>
          </p:pic>
          <p:pic>
            <p:nvPicPr>
              <p:cNvPr id="7" name="Picture 6" descr="netfilter-logo.png"/>
              <p:cNvPicPr>
                <a:picLocks noChangeAspect="1"/>
              </p:cNvPicPr>
              <p:nvPr/>
            </p:nvPicPr>
            <p:blipFill>
              <a:blip r:embed="rId5" cstate="print"/>
              <a:stretch>
                <a:fillRect/>
              </a:stretch>
            </p:blipFill>
            <p:spPr>
              <a:xfrm>
                <a:off x="2743200" y="4648200"/>
                <a:ext cx="1963208" cy="533400"/>
              </a:xfrm>
              <a:prstGeom prst="rect">
                <a:avLst/>
              </a:prstGeom>
            </p:spPr>
          </p:pic>
        </p:grpSp>
      </p:grpSp>
      <p:grpSp>
        <p:nvGrpSpPr>
          <p:cNvPr id="18" name="Group 17"/>
          <p:cNvGrpSpPr/>
          <p:nvPr/>
        </p:nvGrpSpPr>
        <p:grpSpPr>
          <a:xfrm>
            <a:off x="4728029" y="3810000"/>
            <a:ext cx="1994457" cy="1905000"/>
            <a:chOff x="4953000" y="3962400"/>
            <a:chExt cx="1994457" cy="1905000"/>
          </a:xfrm>
        </p:grpSpPr>
        <p:pic>
          <p:nvPicPr>
            <p:cNvPr id="6" name="Picture 5" descr="squid_logo.png"/>
            <p:cNvPicPr>
              <a:picLocks noChangeAspect="1"/>
            </p:cNvPicPr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5257800" y="3962400"/>
              <a:ext cx="1447800" cy="1393845"/>
            </a:xfrm>
            <a:prstGeom prst="rect">
              <a:avLst/>
            </a:prstGeom>
          </p:spPr>
        </p:pic>
        <p:sp>
          <p:nvSpPr>
            <p:cNvPr id="17" name="TextBox 16"/>
            <p:cNvSpPr txBox="1"/>
            <p:nvPr/>
          </p:nvSpPr>
          <p:spPr>
            <a:xfrm>
              <a:off x="4953000" y="5344180"/>
              <a:ext cx="1994457" cy="52322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2800" b="1" dirty="0" smtClean="0"/>
                <a:t>Squid Cache</a:t>
              </a:r>
              <a:endParaRPr lang="en-US" sz="2800" b="1" dirty="0"/>
            </a:p>
          </p:txBody>
        </p:sp>
      </p:grpSp>
      <p:grpSp>
        <p:nvGrpSpPr>
          <p:cNvPr id="25" name="Group 24"/>
          <p:cNvGrpSpPr/>
          <p:nvPr/>
        </p:nvGrpSpPr>
        <p:grpSpPr>
          <a:xfrm>
            <a:off x="7000772" y="3810000"/>
            <a:ext cx="1305028" cy="1905000"/>
            <a:chOff x="7149543" y="4114800"/>
            <a:chExt cx="1305028" cy="1905000"/>
          </a:xfrm>
        </p:grpSpPr>
        <p:sp>
          <p:nvSpPr>
            <p:cNvPr id="21" name="TextBox 20"/>
            <p:cNvSpPr txBox="1"/>
            <p:nvPr/>
          </p:nvSpPr>
          <p:spPr>
            <a:xfrm>
              <a:off x="7149543" y="5496580"/>
              <a:ext cx="1191352" cy="52322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2800" b="1" dirty="0" smtClean="0"/>
                <a:t>PRADS</a:t>
              </a:r>
              <a:endParaRPr lang="en-US" sz="2800" b="1" dirty="0"/>
            </a:p>
          </p:txBody>
        </p:sp>
        <p:pic>
          <p:nvPicPr>
            <p:cNvPr id="2051" name="Picture 3" descr="C:\Users\agember\AppData\Local\Microsoft\Windows\Temporary Internet Files\Content.IE5\YJY5KOGY\MC900053613[1].wmf"/>
            <p:cNvPicPr>
              <a:picLocks noChangeAspect="1" noChangeArrowheads="1"/>
            </p:cNvPicPr>
            <p:nvPr/>
          </p:nvPicPr>
          <p:blipFill>
            <a:blip r:embed="rId7" cstate="print"/>
            <a:srcRect/>
            <a:stretch>
              <a:fillRect/>
            </a:stretch>
          </p:blipFill>
          <p:spPr bwMode="auto">
            <a:xfrm>
              <a:off x="7620000" y="4114800"/>
              <a:ext cx="834571" cy="1143000"/>
            </a:xfrm>
            <a:prstGeom prst="rect">
              <a:avLst/>
            </a:prstGeom>
            <a:noFill/>
          </p:spPr>
        </p:pic>
        <p:pic>
          <p:nvPicPr>
            <p:cNvPr id="24" name="Picture 23" descr="desktop1.png"/>
            <p:cNvPicPr>
              <a:picLocks noChangeAspect="1"/>
            </p:cNvPicPr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7162800" y="4800600"/>
              <a:ext cx="717461" cy="749207"/>
            </a:xfrm>
            <a:prstGeom prst="rect">
              <a:avLst/>
            </a:prstGeom>
          </p:spPr>
        </p:pic>
      </p:grp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 smtClean="0"/>
              <a:t>Overall benefits for elastic scaling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524000"/>
            <a:ext cx="8305800" cy="4953000"/>
          </a:xfrm>
        </p:spPr>
        <p:txBody>
          <a:bodyPr>
            <a:normAutofit/>
          </a:bodyPr>
          <a:lstStyle/>
          <a:p>
            <a:r>
              <a:rPr lang="en-US" dirty="0" smtClean="0"/>
              <a:t>Bro IDS processing 10K </a:t>
            </a:r>
            <a:r>
              <a:rPr lang="en-US" dirty="0" err="1" smtClean="0"/>
              <a:t>pkts</a:t>
            </a:r>
            <a:r>
              <a:rPr lang="en-US" dirty="0" smtClean="0"/>
              <a:t>/sec</a:t>
            </a:r>
          </a:p>
          <a:p>
            <a:pPr lvl="1"/>
            <a:r>
              <a:rPr lang="en-US" i="1" dirty="0" smtClean="0"/>
              <a:t>At 180 sec:</a:t>
            </a:r>
            <a:r>
              <a:rPr lang="en-US" dirty="0" smtClean="0"/>
              <a:t> move HTTP flows (489) </a:t>
            </a:r>
            <a:r>
              <a:rPr lang="en-US" dirty="0" smtClean="0">
                <a:latin typeface="Calibri"/>
                <a:cs typeface="Calibri"/>
              </a:rPr>
              <a:t>to new IDS</a:t>
            </a:r>
          </a:p>
          <a:p>
            <a:pPr lvl="1"/>
            <a:r>
              <a:rPr lang="en-US" i="1" dirty="0" smtClean="0"/>
              <a:t>At 360 sec:</a:t>
            </a:r>
            <a:r>
              <a:rPr lang="en-US" dirty="0" smtClean="0"/>
              <a:t> move </a:t>
            </a:r>
            <a:r>
              <a:rPr lang="en-US" dirty="0" smtClean="0">
                <a:cs typeface="Calibri"/>
              </a:rPr>
              <a:t>back to old IDS</a:t>
            </a:r>
            <a:endParaRPr lang="en-US" dirty="0" smtClean="0"/>
          </a:p>
          <a:p>
            <a:pPr>
              <a:spcBef>
                <a:spcPts val="768"/>
              </a:spcBef>
            </a:pPr>
            <a:r>
              <a:rPr lang="en-US" dirty="0" smtClean="0"/>
              <a:t>SLAs: 260ms to move (loss-free)</a:t>
            </a:r>
          </a:p>
          <a:p>
            <a:r>
              <a:rPr lang="en-US" dirty="0" smtClean="0"/>
              <a:t>Accuracy: same log entries as using one IDS</a:t>
            </a:r>
          </a:p>
          <a:p>
            <a:pPr lvl="1"/>
            <a:r>
              <a:rPr lang="en-US" dirty="0" smtClean="0"/>
              <a:t>VM replication: incorrect log entries</a:t>
            </a:r>
          </a:p>
          <a:p>
            <a:pPr>
              <a:spcBef>
                <a:spcPts val="768"/>
              </a:spcBef>
            </a:pPr>
            <a:r>
              <a:rPr lang="en-US" dirty="0" smtClean="0"/>
              <a:t>Cost: scale down after state is moved</a:t>
            </a:r>
          </a:p>
          <a:p>
            <a:pPr lvl="1">
              <a:spcBef>
                <a:spcPts val="672"/>
              </a:spcBef>
            </a:pPr>
            <a:r>
              <a:rPr lang="en-US" dirty="0" err="1" smtClean="0"/>
              <a:t>Stratos</a:t>
            </a:r>
            <a:r>
              <a:rPr lang="en-US" dirty="0" smtClean="0"/>
              <a:t>: scale down delayed 25+ minutes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2C5A87-65DC-41FD-9E53-7EAC48455B9A}" type="slidenum">
              <a:rPr lang="en-US" smtClean="0"/>
              <a:pPr/>
              <a:t>20</a:t>
            </a:fld>
            <a:endParaRPr lang="en-US" dirty="0"/>
          </a:p>
        </p:txBody>
      </p:sp>
      <p:grpSp>
        <p:nvGrpSpPr>
          <p:cNvPr id="6" name="Group 75"/>
          <p:cNvGrpSpPr/>
          <p:nvPr/>
        </p:nvGrpSpPr>
        <p:grpSpPr>
          <a:xfrm>
            <a:off x="6858000" y="2743200"/>
            <a:ext cx="947240" cy="990600"/>
            <a:chOff x="4846320" y="2209800"/>
            <a:chExt cx="609600" cy="609600"/>
          </a:xfrm>
        </p:grpSpPr>
        <p:sp>
          <p:nvSpPr>
            <p:cNvPr id="7" name="Rounded Rectangle 6"/>
            <p:cNvSpPr/>
            <p:nvPr/>
          </p:nvSpPr>
          <p:spPr>
            <a:xfrm>
              <a:off x="4846320" y="2209800"/>
              <a:ext cx="609600" cy="609600"/>
            </a:xfrm>
            <a:prstGeom prst="roundRect">
              <a:avLst/>
            </a:prstGeom>
          </p:spPr>
          <p:style>
            <a:lnRef idx="0">
              <a:schemeClr val="accent6"/>
            </a:lnRef>
            <a:fillRef idx="3">
              <a:schemeClr val="accent6"/>
            </a:fillRef>
            <a:effectRef idx="3">
              <a:schemeClr val="accent6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grpSp>
          <p:nvGrpSpPr>
            <p:cNvPr id="8" name="Group 23"/>
            <p:cNvGrpSpPr/>
            <p:nvPr/>
          </p:nvGrpSpPr>
          <p:grpSpPr>
            <a:xfrm>
              <a:off x="4876798" y="2270760"/>
              <a:ext cx="518164" cy="487680"/>
              <a:chOff x="609600" y="1652131"/>
              <a:chExt cx="359837" cy="338667"/>
            </a:xfrm>
          </p:grpSpPr>
          <p:pic>
            <p:nvPicPr>
              <p:cNvPr id="9" name="Picture 8" descr="magnifying_glass.png"/>
              <p:cNvPicPr>
                <a:picLocks noChangeAspect="1"/>
              </p:cNvPicPr>
              <p:nvPr/>
            </p:nvPicPr>
            <p:blipFill>
              <a:blip r:embed="rId3" cstate="print"/>
              <a:stretch>
                <a:fillRect/>
              </a:stretch>
            </p:blipFill>
            <p:spPr>
              <a:xfrm>
                <a:off x="630769" y="1652131"/>
                <a:ext cx="338668" cy="338667"/>
              </a:xfrm>
              <a:prstGeom prst="rect">
                <a:avLst/>
              </a:prstGeom>
              <a:effectLst>
                <a:outerShdw blurRad="63500" sx="102000" sy="102000" algn="ctr" rotWithShape="0">
                  <a:prstClr val="black">
                    <a:alpha val="40000"/>
                  </a:prstClr>
                </a:outerShdw>
              </a:effectLst>
            </p:spPr>
          </p:pic>
          <p:pic>
            <p:nvPicPr>
              <p:cNvPr id="10" name="Picture 2" descr="C:\Users\agember\AppData\Local\Microsoft\Windows\Temporary Internet Files\Content.IE5\2DGPU1UI\MC900431599[1].png"/>
              <p:cNvPicPr>
                <a:picLocks noChangeAspect="1" noChangeArrowheads="1"/>
              </p:cNvPicPr>
              <p:nvPr/>
            </p:nvPicPr>
            <p:blipFill>
              <a:blip r:embed="rId4" cstate="print"/>
              <a:srcRect/>
              <a:stretch>
                <a:fillRect/>
              </a:stretch>
            </p:blipFill>
            <p:spPr bwMode="auto">
              <a:xfrm>
                <a:off x="609600" y="1752600"/>
                <a:ext cx="238125" cy="238125"/>
              </a:xfrm>
              <a:prstGeom prst="rect">
                <a:avLst/>
              </a:prstGeom>
              <a:noFill/>
            </p:spPr>
          </p:pic>
        </p:grpSp>
      </p:grpSp>
      <p:sp>
        <p:nvSpPr>
          <p:cNvPr id="11" name="Rectangle 10"/>
          <p:cNvSpPr/>
          <p:nvPr/>
        </p:nvSpPr>
        <p:spPr>
          <a:xfrm>
            <a:off x="1219200" y="5757446"/>
            <a:ext cx="1669047" cy="33855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1600" i="1" dirty="0" smtClean="0"/>
              <a:t>[arXiv:1305.0209]</a:t>
            </a:r>
            <a:endParaRPr lang="en-US" sz="16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  <p:bldP spid="11" grpId="0"/>
    </p:bld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Picture 15" descr="get_mbs_perf.png"/>
          <p:cNvPicPr>
            <a:picLocks noChangeAspect="1"/>
          </p:cNvPicPr>
          <p:nvPr/>
        </p:nvPicPr>
        <p:blipFill>
          <a:blip r:embed="rId3" cstate="print"/>
          <a:stretch>
            <a:fillRect/>
          </a:stretch>
        </p:blipFill>
        <p:spPr>
          <a:xfrm>
            <a:off x="286510" y="1298270"/>
            <a:ext cx="4449217" cy="3044202"/>
          </a:xfrm>
          <a:prstGeom prst="rect">
            <a:avLst/>
          </a:prstGeom>
        </p:spPr>
      </p:pic>
      <p:pic>
        <p:nvPicPr>
          <p:cNvPr id="18" name="Picture 17" descr="put_mbs_perf.png"/>
          <p:cNvPicPr>
            <a:picLocks noChangeAspect="1"/>
          </p:cNvPicPr>
          <p:nvPr/>
        </p:nvPicPr>
        <p:blipFill>
          <a:blip r:embed="rId4" cstate="print"/>
          <a:stretch>
            <a:fillRect/>
          </a:stretch>
        </p:blipFill>
        <p:spPr>
          <a:xfrm>
            <a:off x="4694783" y="1298270"/>
            <a:ext cx="4449217" cy="3044202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 smtClean="0"/>
              <a:t>Evaluation: state export/import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2C5A87-65DC-41FD-9E53-7EAC48455B9A}" type="slidenum">
              <a:rPr lang="en-US" smtClean="0"/>
              <a:pPr/>
              <a:t>21</a:t>
            </a:fld>
            <a:endParaRPr lang="en-US" dirty="0"/>
          </a:p>
        </p:txBody>
      </p:sp>
      <p:grpSp>
        <p:nvGrpSpPr>
          <p:cNvPr id="3" name="Group 30"/>
          <p:cNvGrpSpPr/>
          <p:nvPr/>
        </p:nvGrpSpPr>
        <p:grpSpPr>
          <a:xfrm>
            <a:off x="2114134" y="4231919"/>
            <a:ext cx="5001213" cy="1970964"/>
            <a:chOff x="2114134" y="4506711"/>
            <a:chExt cx="5001213" cy="1970964"/>
          </a:xfrm>
        </p:grpSpPr>
        <p:cxnSp>
          <p:nvCxnSpPr>
            <p:cNvPr id="6" name="Straight Arrow Connector 5"/>
            <p:cNvCxnSpPr>
              <a:stCxn id="10" idx="0"/>
            </p:cNvCxnSpPr>
            <p:nvPr/>
          </p:nvCxnSpPr>
          <p:spPr>
            <a:xfrm flipH="1" flipV="1">
              <a:off x="2852382" y="4506711"/>
              <a:ext cx="1173109" cy="1139967"/>
            </a:xfrm>
            <a:prstGeom prst="straightConnector1">
              <a:avLst/>
            </a:prstGeom>
            <a:ln>
              <a:tailEnd type="arrow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cxnSp>
          <p:nvCxnSpPr>
            <p:cNvPr id="7" name="Straight Arrow Connector 6"/>
            <p:cNvCxnSpPr>
              <a:stCxn id="10" idx="0"/>
            </p:cNvCxnSpPr>
            <p:nvPr/>
          </p:nvCxnSpPr>
          <p:spPr>
            <a:xfrm flipV="1">
              <a:off x="4025491" y="4506711"/>
              <a:ext cx="3089856" cy="1139967"/>
            </a:xfrm>
            <a:prstGeom prst="straightConnector1">
              <a:avLst/>
            </a:prstGeom>
            <a:ln>
              <a:tailEnd type="arrow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sp>
          <p:nvSpPr>
            <p:cNvPr id="10" name="TextBox 9"/>
            <p:cNvSpPr txBox="1"/>
            <p:nvPr/>
          </p:nvSpPr>
          <p:spPr>
            <a:xfrm>
              <a:off x="2114134" y="5646678"/>
              <a:ext cx="3822713" cy="83099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sz="2400" b="1" dirty="0" smtClean="0"/>
                <a:t>Serialization/</a:t>
              </a:r>
              <a:r>
                <a:rPr lang="en-US" sz="2400" b="1" dirty="0" err="1" smtClean="0"/>
                <a:t>deserialization</a:t>
              </a:r>
              <a:r>
                <a:rPr lang="en-US" sz="2400" b="1" dirty="0" smtClean="0"/>
                <a:t> </a:t>
              </a:r>
              <a:br>
                <a:rPr lang="en-US" sz="2400" b="1" dirty="0" smtClean="0"/>
              </a:br>
              <a:r>
                <a:rPr lang="en-US" sz="2400" b="1" dirty="0" smtClean="0"/>
                <a:t>costs dominate</a:t>
              </a:r>
              <a:endParaRPr lang="en-US" sz="2400" b="1" dirty="0"/>
            </a:p>
          </p:txBody>
        </p:sp>
      </p:grpSp>
      <p:grpSp>
        <p:nvGrpSpPr>
          <p:cNvPr id="5" name="Group 36"/>
          <p:cNvGrpSpPr/>
          <p:nvPr/>
        </p:nvGrpSpPr>
        <p:grpSpPr>
          <a:xfrm>
            <a:off x="6246079" y="4231919"/>
            <a:ext cx="2440721" cy="1696142"/>
            <a:chOff x="6553200" y="4719888"/>
            <a:chExt cx="2440721" cy="1696142"/>
          </a:xfrm>
        </p:grpSpPr>
        <p:grpSp>
          <p:nvGrpSpPr>
            <p:cNvPr id="8" name="Group 31"/>
            <p:cNvGrpSpPr/>
            <p:nvPr/>
          </p:nvGrpSpPr>
          <p:grpSpPr>
            <a:xfrm>
              <a:off x="6703037" y="4719888"/>
              <a:ext cx="2290884" cy="1696142"/>
              <a:chOff x="6703037" y="4719888"/>
              <a:chExt cx="2290884" cy="1696142"/>
            </a:xfrm>
          </p:grpSpPr>
          <p:cxnSp>
            <p:nvCxnSpPr>
              <p:cNvPr id="13" name="Straight Arrow Connector 12"/>
              <p:cNvCxnSpPr/>
              <p:nvPr/>
            </p:nvCxnSpPr>
            <p:spPr>
              <a:xfrm flipH="1" flipV="1">
                <a:off x="7595025" y="4719888"/>
                <a:ext cx="197333" cy="754183"/>
              </a:xfrm>
              <a:prstGeom prst="straightConnector1">
                <a:avLst/>
              </a:prstGeom>
              <a:ln>
                <a:tailEnd type="arrow"/>
              </a:ln>
            </p:spPr>
            <p:style>
              <a:lnRef idx="2">
                <a:schemeClr val="dk1"/>
              </a:lnRef>
              <a:fillRef idx="0">
                <a:schemeClr val="dk1"/>
              </a:fillRef>
              <a:effectRef idx="1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14" name="Straight Arrow Connector 13"/>
              <p:cNvCxnSpPr/>
              <p:nvPr/>
            </p:nvCxnSpPr>
            <p:spPr>
              <a:xfrm flipV="1">
                <a:off x="7792359" y="4719888"/>
                <a:ext cx="798953" cy="754183"/>
              </a:xfrm>
              <a:prstGeom prst="straightConnector1">
                <a:avLst/>
              </a:prstGeom>
              <a:ln>
                <a:tailEnd type="arrow"/>
              </a:ln>
            </p:spPr>
            <p:style>
              <a:lnRef idx="2">
                <a:schemeClr val="dk1"/>
              </a:lnRef>
              <a:fillRef idx="0">
                <a:schemeClr val="dk1"/>
              </a:fillRef>
              <a:effectRef idx="1">
                <a:schemeClr val="dk1"/>
              </a:effectRef>
              <a:fontRef idx="minor">
                <a:schemeClr val="tx1"/>
              </a:fontRef>
            </p:style>
          </p:cxnSp>
          <p:sp>
            <p:nvSpPr>
              <p:cNvPr id="25" name="TextBox 24"/>
              <p:cNvSpPr txBox="1"/>
              <p:nvPr/>
            </p:nvSpPr>
            <p:spPr>
              <a:xfrm>
                <a:off x="6703037" y="5585033"/>
                <a:ext cx="2290884" cy="83099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ctr"/>
                <a:r>
                  <a:rPr lang="en-US" sz="2400" b="1" dirty="0" smtClean="0"/>
                  <a:t>Cost grows with </a:t>
                </a:r>
                <a:br>
                  <a:rPr lang="en-US" sz="2400" b="1" dirty="0" smtClean="0"/>
                </a:br>
                <a:r>
                  <a:rPr lang="en-US" sz="2400" b="1" dirty="0" smtClean="0"/>
                  <a:t>state complexity</a:t>
                </a:r>
                <a:endParaRPr lang="en-US" sz="2400" b="1" dirty="0"/>
              </a:p>
            </p:txBody>
          </p:sp>
        </p:grpSp>
        <p:cxnSp>
          <p:nvCxnSpPr>
            <p:cNvPr id="34" name="Straight Arrow Connector 33"/>
            <p:cNvCxnSpPr/>
            <p:nvPr/>
          </p:nvCxnSpPr>
          <p:spPr>
            <a:xfrm flipH="1" flipV="1">
              <a:off x="6553200" y="4719888"/>
              <a:ext cx="1239161" cy="754185"/>
            </a:xfrm>
            <a:prstGeom prst="straightConnector1">
              <a:avLst/>
            </a:prstGeom>
            <a:ln>
              <a:tailEnd type="arrow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mc="http://schemas.openxmlformats.org/markup-compatibility/2006" xmlns:mv="urn:schemas-microsoft-com:mac:vml" xmlns:p14="http://schemas.microsoft.com/office/powerpoint/2010/main" xmlns="" val="245690223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2" name="Chart 41"/>
          <p:cNvGraphicFramePr/>
          <p:nvPr/>
        </p:nvGraphicFramePr>
        <p:xfrm>
          <a:off x="4724400" y="2438400"/>
          <a:ext cx="4191000" cy="28956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graphicFrame>
        <p:nvGraphicFramePr>
          <p:cNvPr id="21" name="Chart 20"/>
          <p:cNvGraphicFramePr/>
          <p:nvPr/>
        </p:nvGraphicFramePr>
        <p:xfrm>
          <a:off x="232011" y="2451650"/>
          <a:ext cx="4644789" cy="3093661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420274"/>
            <a:ext cx="8229600" cy="1031375"/>
          </a:xfrm>
        </p:spPr>
        <p:txBody>
          <a:bodyPr>
            <a:normAutofit/>
          </a:bodyPr>
          <a:lstStyle/>
          <a:p>
            <a:r>
              <a:rPr lang="en-US" sz="2800" dirty="0" smtClean="0"/>
              <a:t>PRADS asset detector processing 5K </a:t>
            </a:r>
            <a:r>
              <a:rPr lang="en-US" sz="2800" dirty="0" err="1" smtClean="0"/>
              <a:t>pkts</a:t>
            </a:r>
            <a:r>
              <a:rPr lang="en-US" sz="2800" dirty="0" smtClean="0"/>
              <a:t>/sec</a:t>
            </a:r>
          </a:p>
          <a:p>
            <a:r>
              <a:rPr lang="en-US" sz="2800" dirty="0" smtClean="0"/>
              <a:t>Move per-flow state for 500 flows</a:t>
            </a:r>
            <a:endParaRPr lang="en-US" sz="2800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 smtClean="0"/>
              <a:t>Evaluation: operations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>
          <a:xfrm>
            <a:off x="6553200" y="6324600"/>
            <a:ext cx="2133600" cy="365125"/>
          </a:xfrm>
        </p:spPr>
        <p:txBody>
          <a:bodyPr/>
          <a:lstStyle/>
          <a:p>
            <a:fld id="{622C5A87-65DC-41FD-9E53-7EAC48455B9A}" type="slidenum">
              <a:rPr lang="en-US" smtClean="0"/>
              <a:pPr/>
              <a:t>22</a:t>
            </a:fld>
            <a:endParaRPr lang="en-US" dirty="0"/>
          </a:p>
        </p:txBody>
      </p:sp>
      <p:grpSp>
        <p:nvGrpSpPr>
          <p:cNvPr id="5" name="Group 25"/>
          <p:cNvGrpSpPr/>
          <p:nvPr/>
        </p:nvGrpSpPr>
        <p:grpSpPr>
          <a:xfrm>
            <a:off x="1297830" y="2636462"/>
            <a:ext cx="1627369" cy="1554538"/>
            <a:chOff x="2799396" y="2445260"/>
            <a:chExt cx="1627369" cy="1554538"/>
          </a:xfrm>
        </p:grpSpPr>
        <p:sp>
          <p:nvSpPr>
            <p:cNvPr id="20" name="TextBox 19"/>
            <p:cNvSpPr txBox="1"/>
            <p:nvPr/>
          </p:nvSpPr>
          <p:spPr>
            <a:xfrm>
              <a:off x="2799396" y="2445260"/>
              <a:ext cx="1627369" cy="1200329"/>
            </a:xfrm>
            <a:prstGeom prst="rect">
              <a:avLst/>
            </a:prstGeom>
            <a:solidFill>
              <a:schemeClr val="bg1"/>
            </a:solidFill>
          </p:spPr>
          <p:txBody>
            <a:bodyPr wrap="none" rtlCol="0">
              <a:spAutoFit/>
            </a:bodyPr>
            <a:lstStyle/>
            <a:p>
              <a:pPr algn="ctr"/>
              <a:r>
                <a:rPr lang="en-US" sz="2400" b="1" dirty="0" smtClean="0"/>
                <a:t>Packets</a:t>
              </a:r>
              <a:br>
                <a:rPr lang="en-US" sz="2400" b="1" dirty="0" smtClean="0"/>
              </a:br>
              <a:r>
                <a:rPr lang="en-US" sz="2400" b="1" dirty="0" smtClean="0"/>
                <a:t>dropped!</a:t>
              </a:r>
              <a:br>
                <a:rPr lang="en-US" sz="2400" b="1" dirty="0" smtClean="0"/>
              </a:br>
              <a:r>
                <a:rPr lang="en-US" sz="2400" b="1" dirty="0" smtClean="0"/>
                <a:t>686	462</a:t>
              </a:r>
              <a:endParaRPr lang="en-US" sz="2400" b="1" dirty="0"/>
            </a:p>
          </p:txBody>
        </p:sp>
        <p:cxnSp>
          <p:nvCxnSpPr>
            <p:cNvPr id="22" name="Straight Arrow Connector 21"/>
            <p:cNvCxnSpPr/>
            <p:nvPr/>
          </p:nvCxnSpPr>
          <p:spPr>
            <a:xfrm>
              <a:off x="3132160" y="3542598"/>
              <a:ext cx="0" cy="228600"/>
            </a:xfrm>
            <a:prstGeom prst="straightConnector1">
              <a:avLst/>
            </a:prstGeom>
            <a:ln>
              <a:tailEnd type="arrow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cxnSp>
          <p:nvCxnSpPr>
            <p:cNvPr id="23" name="Straight Arrow Connector 22"/>
            <p:cNvCxnSpPr/>
            <p:nvPr/>
          </p:nvCxnSpPr>
          <p:spPr>
            <a:xfrm>
              <a:off x="4045432" y="3542598"/>
              <a:ext cx="0" cy="457200"/>
            </a:xfrm>
            <a:prstGeom prst="straightConnector1">
              <a:avLst/>
            </a:prstGeom>
            <a:ln>
              <a:tailEnd type="arrow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</p:grpSp>
      <p:grpSp>
        <p:nvGrpSpPr>
          <p:cNvPr id="6" name="Group 41"/>
          <p:cNvGrpSpPr/>
          <p:nvPr/>
        </p:nvGrpSpPr>
        <p:grpSpPr>
          <a:xfrm>
            <a:off x="6172200" y="2133600"/>
            <a:ext cx="1688989" cy="1066800"/>
            <a:chOff x="6133726" y="2519394"/>
            <a:chExt cx="1688989" cy="1066800"/>
          </a:xfrm>
        </p:grpSpPr>
        <p:sp>
          <p:nvSpPr>
            <p:cNvPr id="29" name="TextBox 28"/>
            <p:cNvSpPr txBox="1"/>
            <p:nvPr/>
          </p:nvSpPr>
          <p:spPr>
            <a:xfrm>
              <a:off x="6133726" y="2519394"/>
              <a:ext cx="1688989" cy="830997"/>
            </a:xfrm>
            <a:prstGeom prst="rect">
              <a:avLst/>
            </a:prstGeom>
            <a:solidFill>
              <a:schemeClr val="bg1"/>
            </a:solidFill>
          </p:spPr>
          <p:txBody>
            <a:bodyPr wrap="none" rtlCol="0">
              <a:spAutoFit/>
            </a:bodyPr>
            <a:lstStyle/>
            <a:p>
              <a:r>
                <a:rPr lang="en-US" sz="2400" b="1" dirty="0" smtClean="0"/>
                <a:t>881 packets</a:t>
              </a:r>
              <a:br>
                <a:rPr lang="en-US" sz="2400" b="1" dirty="0" smtClean="0"/>
              </a:br>
              <a:r>
                <a:rPr lang="en-US" sz="2400" b="1" dirty="0" smtClean="0"/>
                <a:t>in events</a:t>
              </a:r>
              <a:endParaRPr lang="en-US" sz="2400" b="1" dirty="0"/>
            </a:p>
          </p:txBody>
        </p:sp>
        <p:cxnSp>
          <p:nvCxnSpPr>
            <p:cNvPr id="30" name="Straight Arrow Connector 29"/>
            <p:cNvCxnSpPr/>
            <p:nvPr/>
          </p:nvCxnSpPr>
          <p:spPr>
            <a:xfrm flipH="1">
              <a:off x="6590926" y="3255426"/>
              <a:ext cx="93630" cy="330768"/>
            </a:xfrm>
            <a:prstGeom prst="straightConnector1">
              <a:avLst/>
            </a:prstGeom>
            <a:ln>
              <a:tailEnd type="arrow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cxnSp>
          <p:nvCxnSpPr>
            <p:cNvPr id="38" name="Straight Arrow Connector 37"/>
            <p:cNvCxnSpPr/>
            <p:nvPr/>
          </p:nvCxnSpPr>
          <p:spPr>
            <a:xfrm>
              <a:off x="7505326" y="3121791"/>
              <a:ext cx="228600" cy="312003"/>
            </a:xfrm>
            <a:prstGeom prst="straightConnector1">
              <a:avLst/>
            </a:prstGeom>
            <a:ln>
              <a:tailEnd type="arrow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</p:grpSp>
      <p:sp>
        <p:nvSpPr>
          <p:cNvPr id="44" name="Rounded Rectangle 43">
            <a:hlinkClick r:id="" action="ppaction://noaction"/>
          </p:cNvPr>
          <p:cNvSpPr/>
          <p:nvPr/>
        </p:nvSpPr>
        <p:spPr>
          <a:xfrm>
            <a:off x="381000" y="5403296"/>
            <a:ext cx="4800600" cy="1073704"/>
          </a:xfrm>
          <a:prstGeom prst="roundRect">
            <a:avLst/>
          </a:prstGeom>
        </p:spPr>
        <p:style>
          <a:lnRef idx="3">
            <a:schemeClr val="lt1"/>
          </a:lnRef>
          <a:fillRef idx="1">
            <a:schemeClr val="accent6"/>
          </a:fillRef>
          <a:effectRef idx="1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800" dirty="0" smtClean="0"/>
              <a:t>Operations are efficient, but </a:t>
            </a:r>
            <a:br>
              <a:rPr lang="en-US" sz="2800" dirty="0" smtClean="0"/>
            </a:br>
            <a:r>
              <a:rPr lang="en-US" sz="2800" dirty="0" smtClean="0"/>
              <a:t>guarantees come at </a:t>
            </a:r>
            <a:r>
              <a:rPr lang="en-US" sz="2800" dirty="0"/>
              <a:t>a cost!</a:t>
            </a:r>
          </a:p>
        </p:txBody>
      </p:sp>
      <p:grpSp>
        <p:nvGrpSpPr>
          <p:cNvPr id="7" name="Group 50"/>
          <p:cNvGrpSpPr/>
          <p:nvPr/>
        </p:nvGrpSpPr>
        <p:grpSpPr>
          <a:xfrm>
            <a:off x="5638800" y="4377774"/>
            <a:ext cx="3394601" cy="1711023"/>
            <a:chOff x="5638800" y="4090263"/>
            <a:chExt cx="3394601" cy="1711023"/>
          </a:xfrm>
        </p:grpSpPr>
        <p:sp>
          <p:nvSpPr>
            <p:cNvPr id="33" name="TextBox 32"/>
            <p:cNvSpPr txBox="1"/>
            <p:nvPr/>
          </p:nvSpPr>
          <p:spPr>
            <a:xfrm>
              <a:off x="7315200" y="4948203"/>
              <a:ext cx="1524000" cy="83099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2400" b="1" dirty="0" smtClean="0"/>
                <a:t>1120 </a:t>
              </a:r>
              <a:r>
                <a:rPr lang="en-US" sz="2400" b="1" dirty="0" err="1" smtClean="0"/>
                <a:t>pkts</a:t>
              </a:r>
              <a:r>
                <a:rPr lang="en-US" sz="2400" b="1" dirty="0" smtClean="0"/>
                <a:t> </a:t>
              </a:r>
              <a:br>
                <a:rPr lang="en-US" sz="2400" b="1" dirty="0" smtClean="0"/>
              </a:br>
              <a:r>
                <a:rPr lang="en-US" sz="2400" b="1" dirty="0" smtClean="0"/>
                <a:t>buffered</a:t>
              </a:r>
              <a:endParaRPr lang="en-US" sz="2400" b="1" baseline="-25000" dirty="0"/>
            </a:p>
          </p:txBody>
        </p:sp>
        <p:sp>
          <p:nvSpPr>
            <p:cNvPr id="34" name="TextBox 33"/>
            <p:cNvSpPr txBox="1"/>
            <p:nvPr/>
          </p:nvSpPr>
          <p:spPr>
            <a:xfrm>
              <a:off x="5638800" y="4970289"/>
              <a:ext cx="1485331" cy="83099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r"/>
              <a:r>
                <a:rPr lang="en-US" sz="2400" b="1" dirty="0" smtClean="0"/>
                <a:t>838 </a:t>
              </a:r>
              <a:r>
                <a:rPr lang="en-US" sz="2400" b="1" dirty="0" err="1" smtClean="0"/>
                <a:t>pkts</a:t>
              </a:r>
              <a:r>
                <a:rPr lang="en-US" sz="2400" b="1" dirty="0" smtClean="0"/>
                <a:t/>
              </a:r>
              <a:br>
                <a:rPr lang="en-US" sz="2400" b="1" dirty="0" smtClean="0"/>
              </a:br>
              <a:r>
                <a:rPr lang="en-US" sz="2400" b="1" dirty="0" smtClean="0"/>
                <a:t>in events</a:t>
              </a:r>
              <a:endParaRPr lang="en-US" sz="2400" b="1" baseline="-25000" dirty="0"/>
            </a:p>
          </p:txBody>
        </p:sp>
        <p:sp>
          <p:nvSpPr>
            <p:cNvPr id="36" name="TextBox 35"/>
            <p:cNvSpPr txBox="1"/>
            <p:nvPr/>
          </p:nvSpPr>
          <p:spPr>
            <a:xfrm>
              <a:off x="7090012" y="5068098"/>
              <a:ext cx="377588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2400" b="1" dirty="0" smtClean="0"/>
                <a:t>+</a:t>
              </a:r>
              <a:endParaRPr lang="en-US" sz="2400" b="1" baseline="-25000" dirty="0"/>
            </a:p>
          </p:txBody>
        </p:sp>
        <p:sp>
          <p:nvSpPr>
            <p:cNvPr id="50" name="Freeform 49"/>
            <p:cNvSpPr/>
            <p:nvPr/>
          </p:nvSpPr>
          <p:spPr>
            <a:xfrm rot="21385190">
              <a:off x="8517450" y="4090263"/>
              <a:ext cx="515951" cy="1117846"/>
            </a:xfrm>
            <a:custGeom>
              <a:avLst/>
              <a:gdLst>
                <a:gd name="connsiteX0" fmla="*/ 95534 w 325272"/>
                <a:gd name="connsiteY0" fmla="*/ 900752 h 900752"/>
                <a:gd name="connsiteX1" fmla="*/ 232012 w 325272"/>
                <a:gd name="connsiteY1" fmla="*/ 696036 h 900752"/>
                <a:gd name="connsiteX2" fmla="*/ 286603 w 325272"/>
                <a:gd name="connsiteY2" fmla="*/ 423080 h 900752"/>
                <a:gd name="connsiteX3" fmla="*/ 0 w 325272"/>
                <a:gd name="connsiteY3" fmla="*/ 0 h 9007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25272" h="900752">
                  <a:moveTo>
                    <a:pt x="95534" y="900752"/>
                  </a:moveTo>
                  <a:cubicBezTo>
                    <a:pt x="147850" y="838200"/>
                    <a:pt x="200167" y="775648"/>
                    <a:pt x="232012" y="696036"/>
                  </a:cubicBezTo>
                  <a:cubicBezTo>
                    <a:pt x="263857" y="616424"/>
                    <a:pt x="325272" y="539086"/>
                    <a:pt x="286603" y="423080"/>
                  </a:cubicBezTo>
                  <a:cubicBezTo>
                    <a:pt x="247934" y="307074"/>
                    <a:pt x="123967" y="153537"/>
                    <a:pt x="0" y="0"/>
                  </a:cubicBezTo>
                </a:path>
              </a:pathLst>
            </a:custGeom>
            <a:ln>
              <a:tailEnd type="arrow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26" name="Rounded Rectangular Callout 25"/>
          <p:cNvSpPr/>
          <p:nvPr/>
        </p:nvSpPr>
        <p:spPr>
          <a:xfrm>
            <a:off x="3048000" y="3048000"/>
            <a:ext cx="2057400" cy="838200"/>
          </a:xfrm>
          <a:prstGeom prst="wedgeRoundRectCallout">
            <a:avLst>
              <a:gd name="adj1" fmla="val -61906"/>
              <a:gd name="adj2" fmla="val -30249"/>
              <a:gd name="adj3" fmla="val 16667"/>
            </a:avLst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2400" b="1" i="1" dirty="0" smtClean="0"/>
              <a:t>Bro: 5% of alerts missed!</a:t>
            </a:r>
            <a:endParaRPr lang="en-US" sz="2400" b="1" i="1" dirty="0"/>
          </a:p>
        </p:txBody>
      </p:sp>
      <p:sp>
        <p:nvSpPr>
          <p:cNvPr id="43" name="TextBox 42"/>
          <p:cNvSpPr txBox="1"/>
          <p:nvPr/>
        </p:nvSpPr>
        <p:spPr>
          <a:xfrm>
            <a:off x="1066800" y="4953000"/>
            <a:ext cx="3886200" cy="369332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r>
              <a:rPr lang="en-US" b="1" dirty="0" smtClean="0"/>
              <a:t>      NG         </a:t>
            </a:r>
            <a:r>
              <a:rPr lang="en-US" b="1" dirty="0" err="1" smtClean="0"/>
              <a:t>NG</a:t>
            </a:r>
            <a:r>
              <a:rPr lang="en-US" b="1" dirty="0" smtClean="0"/>
              <a:t> PL   LF PL+ER  OP PL+ER</a:t>
            </a:r>
            <a:endParaRPr lang="en-US" b="1" dirty="0"/>
          </a:p>
        </p:txBody>
      </p:sp>
    </p:spTree>
    <p:extLst>
      <p:ext uri="{BB962C8B-B14F-4D97-AF65-F5344CB8AC3E}">
        <p14:creationId xmlns="" xmlns:p14="http://schemas.microsoft.com/office/powerpoint/2010/main" xmlns:mv="urn:schemas-microsoft-com:mac:vml" xmlns:mc="http://schemas.openxmlformats.org/markup-compatibility/2006" val="14146501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>
                                            <p:graphicEl>
                                              <a:chart seriesIdx="-3" categoryIdx="-3" bldStep="gridLegend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21">
                                            <p:graphicEl>
                                              <a:chart seriesIdx="-3" categoryIdx="-3" bldStep="gridLegend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>
                                            <p:graphicEl>
                                              <a:chart seriesIdx="-4" categoryIdx="0" bldStep="category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4" dur="500"/>
                                        <p:tgtEl>
                                          <p:spTgt spid="21">
                                            <p:graphicEl>
                                              <a:chart seriesIdx="-4" categoryIdx="0" bldStep="category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>
                                            <p:graphicEl>
                                              <a:chart seriesIdx="-4" categoryIdx="1" bldStep="category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9" dur="500"/>
                                        <p:tgtEl>
                                          <p:spTgt spid="21">
                                            <p:graphicEl>
                                              <a:chart seriesIdx="-4" categoryIdx="1" bldStep="category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>
                                            <p:graphicEl>
                                              <a:chart seriesIdx="-4" categoryIdx="2" bldStep="category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2" dur="500"/>
                                        <p:tgtEl>
                                          <p:spTgt spid="21">
                                            <p:graphicEl>
                                              <a:chart seriesIdx="-4" categoryIdx="2" bldStep="category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>
                                            <p:graphicEl>
                                              <a:chart seriesIdx="-3" categoryIdx="-3" bldStep="gridLegend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>
                                            <p:graphicEl>
                                              <a:chart seriesIdx="0" categoryIdx="-4" bldStep="series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2" dur="500"/>
                                        <p:tgtEl>
                                          <p:spTgt spid="42">
                                            <p:graphicEl>
                                              <a:chart seriesIdx="0" categoryIdx="-4" bldStep="series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3" fill="hold">
                            <p:stCondLst>
                              <p:cond delay="500"/>
                            </p:stCondLst>
                            <p:childTnLst>
                              <p:par>
                                <p:cTn id="44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>
                                            <p:graphicEl>
                                              <a:chart seriesIdx="-4" categoryIdx="3" bldStep="category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50" dur="500"/>
                                        <p:tgtEl>
                                          <p:spTgt spid="21">
                                            <p:graphicEl>
                                              <a:chart seriesIdx="-4" categoryIdx="3" bldStep="category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>
                                            <p:graphicEl>
                                              <a:chart seriesIdx="1" categoryIdx="-4" bldStep="series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55" dur="500"/>
                                        <p:tgtEl>
                                          <p:spTgt spid="42">
                                            <p:graphicEl>
                                              <a:chart seriesIdx="1" categoryIdx="-4" bldStep="series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6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Graphic spid="42" grpId="0" uiExpand="1">
        <p:bldSub>
          <a:bldChart bld="series"/>
        </p:bldSub>
      </p:bldGraphic>
      <p:bldGraphic spid="21" grpId="0" uiExpand="1">
        <p:bldSub>
          <a:bldChart bld="category"/>
        </p:bldSub>
      </p:bldGraphic>
      <p:bldP spid="44" grpId="0" animBg="1"/>
      <p:bldP spid="26" grpId="0" animBg="1"/>
      <p:bldP spid="26" grpId="1" animBg="1"/>
      <p:bldP spid="43" grpId="0" animBg="1"/>
    </p:bld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1000" y="1600200"/>
            <a:ext cx="8305800" cy="4525963"/>
          </a:xfrm>
        </p:spPr>
        <p:txBody>
          <a:bodyPr>
            <a:normAutofit/>
          </a:bodyPr>
          <a:lstStyle/>
          <a:p>
            <a:pPr>
              <a:spcBef>
                <a:spcPts val="1800"/>
              </a:spcBef>
            </a:pPr>
            <a:r>
              <a:rPr lang="en-US" dirty="0" smtClean="0"/>
              <a:t>Dynamic reallocation of packet </a:t>
            </a:r>
            <a:br>
              <a:rPr lang="en-US" dirty="0" smtClean="0"/>
            </a:br>
            <a:r>
              <a:rPr lang="en-US" dirty="0" smtClean="0"/>
              <a:t>processing enables new services</a:t>
            </a:r>
          </a:p>
          <a:p>
            <a:pPr>
              <a:spcBef>
                <a:spcPts val="1800"/>
              </a:spcBef>
            </a:pPr>
            <a:r>
              <a:rPr lang="en-US" dirty="0" smtClean="0"/>
              <a:t>Realizing SLAs + cost + accuracy requires </a:t>
            </a:r>
            <a:br>
              <a:rPr lang="en-US" dirty="0" smtClean="0"/>
            </a:br>
            <a:r>
              <a:rPr lang="en-US" dirty="0" smtClean="0"/>
              <a:t>quick, safe control of internal NF state </a:t>
            </a:r>
          </a:p>
          <a:p>
            <a:pPr>
              <a:spcBef>
                <a:spcPts val="1800"/>
              </a:spcBef>
            </a:pPr>
            <a:r>
              <a:rPr lang="en-US" dirty="0" err="1" smtClean="0"/>
              <a:t>OpenNF</a:t>
            </a:r>
            <a:r>
              <a:rPr lang="en-US" dirty="0" smtClean="0"/>
              <a:t> provides flexible and efficient </a:t>
            </a:r>
            <a:br>
              <a:rPr lang="en-US" dirty="0" smtClean="0"/>
            </a:br>
            <a:r>
              <a:rPr lang="en-US" dirty="0" smtClean="0"/>
              <a:t>control with few NF modifications</a:t>
            </a:r>
          </a:p>
        </p:txBody>
      </p:sp>
      <p:pic>
        <p:nvPicPr>
          <p:cNvPr id="22" name="Picture 21" descr="good_qr.png"/>
          <p:cNvPicPr>
            <a:picLocks noChangeAspect="1"/>
          </p:cNvPicPr>
          <p:nvPr/>
        </p:nvPicPr>
        <p:blipFill>
          <a:blip r:embed="rId3" cstate="print"/>
          <a:srcRect l="8000" t="8000"/>
          <a:stretch>
            <a:fillRect/>
          </a:stretch>
        </p:blipFill>
        <p:spPr>
          <a:xfrm>
            <a:off x="6629400" y="4876800"/>
            <a:ext cx="1752600" cy="17526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Conclusion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2C5A87-65DC-41FD-9E53-7EAC48455B9A}" type="slidenum">
              <a:rPr lang="en-US" smtClean="0"/>
              <a:pPr/>
              <a:t>23</a:t>
            </a:fld>
            <a:endParaRPr lang="en-US" dirty="0"/>
          </a:p>
        </p:txBody>
      </p:sp>
      <p:sp>
        <p:nvSpPr>
          <p:cNvPr id="18" name="TextBox 17"/>
          <p:cNvSpPr txBox="1"/>
          <p:nvPr/>
        </p:nvSpPr>
        <p:spPr>
          <a:xfrm>
            <a:off x="2590800" y="5943600"/>
            <a:ext cx="4039888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US" sz="2800" b="1" dirty="0" smtClean="0"/>
              <a:t>http://opennf.cs.wisc.edu</a:t>
            </a:r>
            <a:endParaRPr lang="en-US" sz="2800" b="1" dirty="0"/>
          </a:p>
        </p:txBody>
      </p:sp>
      <p:grpSp>
        <p:nvGrpSpPr>
          <p:cNvPr id="5" name="Group 75"/>
          <p:cNvGrpSpPr/>
          <p:nvPr/>
        </p:nvGrpSpPr>
        <p:grpSpPr>
          <a:xfrm>
            <a:off x="6553200" y="1752600"/>
            <a:ext cx="762000" cy="762000"/>
            <a:chOff x="4846320" y="2209800"/>
            <a:chExt cx="609600" cy="609600"/>
          </a:xfrm>
        </p:grpSpPr>
        <p:sp>
          <p:nvSpPr>
            <p:cNvPr id="10" name="Rounded Rectangle 9"/>
            <p:cNvSpPr/>
            <p:nvPr/>
          </p:nvSpPr>
          <p:spPr>
            <a:xfrm>
              <a:off x="4846320" y="2209800"/>
              <a:ext cx="609600" cy="609600"/>
            </a:xfrm>
            <a:prstGeom prst="roundRect">
              <a:avLst/>
            </a:prstGeom>
          </p:spPr>
          <p:style>
            <a:lnRef idx="0">
              <a:schemeClr val="accent6"/>
            </a:lnRef>
            <a:fillRef idx="3">
              <a:schemeClr val="accent6"/>
            </a:fillRef>
            <a:effectRef idx="3">
              <a:schemeClr val="accent6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grpSp>
          <p:nvGrpSpPr>
            <p:cNvPr id="6" name="Group 23"/>
            <p:cNvGrpSpPr/>
            <p:nvPr/>
          </p:nvGrpSpPr>
          <p:grpSpPr>
            <a:xfrm>
              <a:off x="4876798" y="2270760"/>
              <a:ext cx="518164" cy="487680"/>
              <a:chOff x="609600" y="1652131"/>
              <a:chExt cx="359837" cy="338667"/>
            </a:xfrm>
          </p:grpSpPr>
          <p:pic>
            <p:nvPicPr>
              <p:cNvPr id="12" name="Picture 33" descr="magnifying_glass.png"/>
              <p:cNvPicPr>
                <a:picLocks noChangeAspect="1"/>
              </p:cNvPicPr>
              <p:nvPr/>
            </p:nvPicPr>
            <p:blipFill>
              <a:blip r:embed="rId4" cstate="print"/>
              <a:stretch>
                <a:fillRect/>
              </a:stretch>
            </p:blipFill>
            <p:spPr>
              <a:xfrm>
                <a:off x="630769" y="1652131"/>
                <a:ext cx="338668" cy="338667"/>
              </a:xfrm>
              <a:prstGeom prst="rect">
                <a:avLst/>
              </a:prstGeom>
              <a:effectLst>
                <a:outerShdw blurRad="63500" sx="102000" sy="102000" algn="ctr" rotWithShape="0">
                  <a:prstClr val="black">
                    <a:alpha val="40000"/>
                  </a:prstClr>
                </a:outerShdw>
              </a:effectLst>
            </p:spPr>
          </p:pic>
          <p:pic>
            <p:nvPicPr>
              <p:cNvPr id="13" name="Picture 2" descr="C:\Users\agember\AppData\Local\Microsoft\Windows\Temporary Internet Files\Content.IE5\2DGPU1UI\MC900431599[1].png"/>
              <p:cNvPicPr>
                <a:picLocks noChangeAspect="1" noChangeArrowheads="1"/>
              </p:cNvPicPr>
              <p:nvPr/>
            </p:nvPicPr>
            <p:blipFill>
              <a:blip r:embed="rId5" cstate="print"/>
              <a:srcRect/>
              <a:stretch>
                <a:fillRect/>
              </a:stretch>
            </p:blipFill>
            <p:spPr bwMode="auto">
              <a:xfrm>
                <a:off x="609600" y="1752600"/>
                <a:ext cx="238125" cy="238125"/>
              </a:xfrm>
              <a:prstGeom prst="rect">
                <a:avLst/>
              </a:prstGeom>
              <a:noFill/>
            </p:spPr>
          </p:pic>
        </p:grpSp>
      </p:grpSp>
      <p:grpSp>
        <p:nvGrpSpPr>
          <p:cNvPr id="7" name="Group 75"/>
          <p:cNvGrpSpPr/>
          <p:nvPr/>
        </p:nvGrpSpPr>
        <p:grpSpPr>
          <a:xfrm>
            <a:off x="7620000" y="1752600"/>
            <a:ext cx="762000" cy="762000"/>
            <a:chOff x="4846320" y="2209800"/>
            <a:chExt cx="609600" cy="609600"/>
          </a:xfrm>
        </p:grpSpPr>
        <p:sp>
          <p:nvSpPr>
            <p:cNvPr id="23" name="Rounded Rectangle 22"/>
            <p:cNvSpPr/>
            <p:nvPr/>
          </p:nvSpPr>
          <p:spPr>
            <a:xfrm>
              <a:off x="4846320" y="2209800"/>
              <a:ext cx="609600" cy="609600"/>
            </a:xfrm>
            <a:prstGeom prst="roundRect">
              <a:avLst/>
            </a:prstGeom>
          </p:spPr>
          <p:style>
            <a:lnRef idx="0">
              <a:schemeClr val="accent6"/>
            </a:lnRef>
            <a:fillRef idx="3">
              <a:schemeClr val="accent6"/>
            </a:fillRef>
            <a:effectRef idx="3">
              <a:schemeClr val="accent6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grpSp>
          <p:nvGrpSpPr>
            <p:cNvPr id="8" name="Group 23"/>
            <p:cNvGrpSpPr/>
            <p:nvPr/>
          </p:nvGrpSpPr>
          <p:grpSpPr>
            <a:xfrm>
              <a:off x="4876798" y="2270760"/>
              <a:ext cx="518164" cy="487680"/>
              <a:chOff x="609600" y="1652131"/>
              <a:chExt cx="359837" cy="338667"/>
            </a:xfrm>
          </p:grpSpPr>
          <p:pic>
            <p:nvPicPr>
              <p:cNvPr id="25" name="Picture 33" descr="magnifying_glass.png"/>
              <p:cNvPicPr>
                <a:picLocks noChangeAspect="1"/>
              </p:cNvPicPr>
              <p:nvPr/>
            </p:nvPicPr>
            <p:blipFill>
              <a:blip r:embed="rId4" cstate="print"/>
              <a:stretch>
                <a:fillRect/>
              </a:stretch>
            </p:blipFill>
            <p:spPr>
              <a:xfrm>
                <a:off x="630769" y="1652131"/>
                <a:ext cx="338668" cy="338667"/>
              </a:xfrm>
              <a:prstGeom prst="rect">
                <a:avLst/>
              </a:prstGeom>
              <a:effectLst>
                <a:outerShdw blurRad="63500" sx="102000" sy="102000" algn="ctr" rotWithShape="0">
                  <a:prstClr val="black">
                    <a:alpha val="40000"/>
                  </a:prstClr>
                </a:outerShdw>
              </a:effectLst>
            </p:spPr>
          </p:pic>
          <p:pic>
            <p:nvPicPr>
              <p:cNvPr id="26" name="Picture 2" descr="C:\Users\agember\AppData\Local\Microsoft\Windows\Temporary Internet Files\Content.IE5\2DGPU1UI\MC900431599[1].png"/>
              <p:cNvPicPr>
                <a:picLocks noChangeAspect="1" noChangeArrowheads="1"/>
              </p:cNvPicPr>
              <p:nvPr/>
            </p:nvPicPr>
            <p:blipFill>
              <a:blip r:embed="rId5" cstate="print"/>
              <a:srcRect/>
              <a:stretch>
                <a:fillRect/>
              </a:stretch>
            </p:blipFill>
            <p:spPr bwMode="auto">
              <a:xfrm>
                <a:off x="609600" y="1752600"/>
                <a:ext cx="238125" cy="238125"/>
              </a:xfrm>
              <a:prstGeom prst="rect">
                <a:avLst/>
              </a:prstGeom>
              <a:noFill/>
            </p:spPr>
          </p:pic>
        </p:grpSp>
      </p:grpSp>
      <p:sp>
        <p:nvSpPr>
          <p:cNvPr id="28" name="Right Bracket 27"/>
          <p:cNvSpPr/>
          <p:nvPr/>
        </p:nvSpPr>
        <p:spPr>
          <a:xfrm rot="5400000">
            <a:off x="7467600" y="2319070"/>
            <a:ext cx="228600" cy="685800"/>
          </a:xfrm>
          <a:prstGeom prst="rightBracket">
            <a:avLst>
              <a:gd name="adj" fmla="val 166667"/>
            </a:avLst>
          </a:prstGeom>
          <a:ln>
            <a:headEnd type="triangle" w="lg" len="med"/>
            <a:tailEnd type="none" w="lg" len="lg"/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Cube 13"/>
          <p:cNvSpPr/>
          <p:nvPr/>
        </p:nvSpPr>
        <p:spPr>
          <a:xfrm>
            <a:off x="7010400" y="2209800"/>
            <a:ext cx="381000" cy="381000"/>
          </a:xfrm>
          <a:prstGeom prst="cube">
            <a:avLst/>
          </a:prstGeom>
          <a:ln w="1270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Backup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US" dirty="0" smtClean="0">
                <a:hlinkClick r:id="rId2" action="ppaction://hlinksldjump"/>
              </a:rPr>
              <a:t>Related work</a:t>
            </a:r>
            <a:endParaRPr lang="en-US" dirty="0" smtClean="0"/>
          </a:p>
          <a:p>
            <a:r>
              <a:rPr lang="en-US" dirty="0" smtClean="0">
                <a:hlinkClick r:id="rId3" action="ppaction://hlinksldjump"/>
              </a:rPr>
              <a:t>Copy and share</a:t>
            </a:r>
            <a:endParaRPr lang="en-US" dirty="0" smtClean="0"/>
          </a:p>
          <a:p>
            <a:r>
              <a:rPr lang="en-US" dirty="0" smtClean="0">
                <a:hlinkClick r:id="rId4" action="ppaction://hlinksldjump"/>
              </a:rPr>
              <a:t>Order-preserving move</a:t>
            </a:r>
            <a:endParaRPr lang="en-US" dirty="0" smtClean="0"/>
          </a:p>
          <a:p>
            <a:r>
              <a:rPr lang="en-US" dirty="0" smtClean="0">
                <a:hlinkClick r:id="rId5" action="ppaction://hlinksldjump"/>
              </a:rPr>
              <a:t>Bounding overhead</a:t>
            </a:r>
            <a:endParaRPr lang="en-US" dirty="0" smtClean="0"/>
          </a:p>
          <a:p>
            <a:r>
              <a:rPr lang="en-US" dirty="0" smtClean="0">
                <a:hlinkClick r:id="rId6" action="ppaction://hlinksldjump"/>
              </a:rPr>
              <a:t>Example control application</a:t>
            </a:r>
            <a:endParaRPr lang="en-US" dirty="0" smtClean="0"/>
          </a:p>
          <a:p>
            <a:r>
              <a:rPr lang="en-US" dirty="0" smtClean="0">
                <a:hlinkClick r:id="rId7" action="ppaction://hlinksldjump"/>
              </a:rPr>
              <a:t>Evaluation: controller scalability</a:t>
            </a:r>
            <a:endParaRPr lang="en-US" dirty="0" smtClean="0"/>
          </a:p>
          <a:p>
            <a:r>
              <a:rPr lang="en-US" dirty="0" smtClean="0">
                <a:hlinkClick r:id="rId8" action="ppaction://hlinksldjump"/>
              </a:rPr>
              <a:t>Evaluation: importance of guarantees</a:t>
            </a:r>
            <a:endParaRPr lang="en-US" dirty="0" smtClean="0"/>
          </a:p>
          <a:p>
            <a:r>
              <a:rPr lang="en-US" dirty="0" smtClean="0">
                <a:hlinkClick r:id="rId9" action="ppaction://hlinksldjump"/>
              </a:rPr>
              <a:t>Evaluation: benefits of granular control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2C5A87-65DC-41FD-9E53-7EAC48455B9A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24</a:t>
            </a:fld>
            <a:endParaRPr lang="en-US" dirty="0">
              <a:solidFill>
                <a:prstClr val="black">
                  <a:tint val="75000"/>
                </a:prstClr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600200"/>
            <a:ext cx="8229600" cy="4525963"/>
          </a:xfrm>
        </p:spPr>
        <p:txBody>
          <a:bodyPr>
            <a:normAutofit/>
          </a:bodyPr>
          <a:lstStyle/>
          <a:p>
            <a:r>
              <a:rPr lang="en-US" dirty="0" smtClean="0"/>
              <a:t>Virtual machine replication</a:t>
            </a:r>
          </a:p>
          <a:p>
            <a:pPr lvl="1"/>
            <a:r>
              <a:rPr lang="en-US" dirty="0" smtClean="0"/>
              <a:t>Unneeded state </a:t>
            </a:r>
            <a:r>
              <a:rPr lang="en-US" dirty="0" smtClean="0">
                <a:latin typeface="Calibri"/>
                <a:cs typeface="Calibri"/>
              </a:rPr>
              <a:t>→</a:t>
            </a:r>
            <a:r>
              <a:rPr lang="en-US" dirty="0" smtClean="0"/>
              <a:t> incorrect actions</a:t>
            </a:r>
          </a:p>
          <a:p>
            <a:pPr lvl="1"/>
            <a:r>
              <a:rPr lang="en-US" dirty="0" smtClean="0"/>
              <a:t>Cannot combine </a:t>
            </a:r>
            <a:r>
              <a:rPr lang="en-US" dirty="0" smtClean="0">
                <a:cs typeface="Calibri"/>
              </a:rPr>
              <a:t>→</a:t>
            </a:r>
            <a:r>
              <a:rPr lang="en-US" dirty="0" smtClean="0"/>
              <a:t> limited reallocation</a:t>
            </a:r>
          </a:p>
          <a:p>
            <a:pPr>
              <a:spcBef>
                <a:spcPts val="1800"/>
              </a:spcBef>
            </a:pPr>
            <a:r>
              <a:rPr lang="en-US" dirty="0" smtClean="0"/>
              <a:t>Split/Merge </a:t>
            </a:r>
            <a:r>
              <a:rPr lang="en-US" sz="1800" i="1" dirty="0" smtClean="0"/>
              <a:t>[NSDI’13]</a:t>
            </a:r>
            <a:endParaRPr lang="en-US" sz="1800" dirty="0" smtClean="0"/>
          </a:p>
          <a:p>
            <a:pPr lvl="1"/>
            <a:r>
              <a:rPr lang="en-US" dirty="0" smtClean="0"/>
              <a:t>State allocations and accesses occur via library</a:t>
            </a:r>
          </a:p>
          <a:p>
            <a:pPr lvl="1"/>
            <a:r>
              <a:rPr lang="en-US" dirty="0" smtClean="0"/>
              <a:t>Addresses a specific problem </a:t>
            </a:r>
            <a:r>
              <a:rPr lang="en-US" dirty="0" smtClean="0">
                <a:cs typeface="Calibri"/>
              </a:rPr>
              <a:t>→</a:t>
            </a:r>
            <a:r>
              <a:rPr lang="en-US" dirty="0" smtClean="0"/>
              <a:t> limited suitability</a:t>
            </a:r>
          </a:p>
          <a:p>
            <a:pPr lvl="1"/>
            <a:r>
              <a:rPr lang="en-US" dirty="0" smtClean="0"/>
              <a:t>Packets may be dropped or re-ordered </a:t>
            </a:r>
            <a:r>
              <a:rPr lang="en-US" dirty="0" smtClean="0">
                <a:cs typeface="Calibri"/>
              </a:rPr>
              <a:t>→ wrong NF behavior</a:t>
            </a:r>
            <a:endParaRPr lang="en-US" dirty="0" smtClean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2C5A87-65DC-41FD-9E53-7EAC48455B9A}" type="slidenum">
              <a:rPr lang="en-US" smtClean="0"/>
              <a:pPr/>
              <a:t>25</a:t>
            </a:fld>
            <a:endParaRPr lang="en-US" dirty="0"/>
          </a:p>
        </p:txBody>
      </p:sp>
      <p:grpSp>
        <p:nvGrpSpPr>
          <p:cNvPr id="2" name="Group 75"/>
          <p:cNvGrpSpPr/>
          <p:nvPr/>
        </p:nvGrpSpPr>
        <p:grpSpPr>
          <a:xfrm>
            <a:off x="7388132" y="2514600"/>
            <a:ext cx="762000" cy="762000"/>
            <a:chOff x="4846320" y="2209800"/>
            <a:chExt cx="609600" cy="609600"/>
          </a:xfrm>
        </p:grpSpPr>
        <p:sp>
          <p:nvSpPr>
            <p:cNvPr id="38" name="Rounded Rectangle 37"/>
            <p:cNvSpPr/>
            <p:nvPr/>
          </p:nvSpPr>
          <p:spPr>
            <a:xfrm>
              <a:off x="4846320" y="2209800"/>
              <a:ext cx="609600" cy="609600"/>
            </a:xfrm>
            <a:prstGeom prst="roundRect">
              <a:avLst/>
            </a:prstGeom>
          </p:spPr>
          <p:style>
            <a:lnRef idx="0">
              <a:schemeClr val="accent6"/>
            </a:lnRef>
            <a:fillRef idx="3">
              <a:schemeClr val="accent6"/>
            </a:fillRef>
            <a:effectRef idx="3">
              <a:schemeClr val="accent6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grpSp>
          <p:nvGrpSpPr>
            <p:cNvPr id="5" name="Group 23"/>
            <p:cNvGrpSpPr/>
            <p:nvPr/>
          </p:nvGrpSpPr>
          <p:grpSpPr>
            <a:xfrm>
              <a:off x="4876798" y="2270760"/>
              <a:ext cx="518164" cy="487680"/>
              <a:chOff x="609600" y="1652131"/>
              <a:chExt cx="359837" cy="338667"/>
            </a:xfrm>
          </p:grpSpPr>
          <p:pic>
            <p:nvPicPr>
              <p:cNvPr id="40" name="Picture 39" descr="magnifying_glass.png"/>
              <p:cNvPicPr>
                <a:picLocks noChangeAspect="1"/>
              </p:cNvPicPr>
              <p:nvPr/>
            </p:nvPicPr>
            <p:blipFill>
              <a:blip r:embed="rId3" cstate="print"/>
              <a:stretch>
                <a:fillRect/>
              </a:stretch>
            </p:blipFill>
            <p:spPr>
              <a:xfrm>
                <a:off x="630769" y="1652131"/>
                <a:ext cx="338668" cy="338667"/>
              </a:xfrm>
              <a:prstGeom prst="rect">
                <a:avLst/>
              </a:prstGeom>
              <a:effectLst>
                <a:outerShdw blurRad="63500" sx="102000" sy="102000" algn="ctr" rotWithShape="0">
                  <a:prstClr val="black">
                    <a:alpha val="40000"/>
                  </a:prstClr>
                </a:outerShdw>
              </a:effectLst>
            </p:spPr>
          </p:pic>
          <p:pic>
            <p:nvPicPr>
              <p:cNvPr id="41" name="Picture 2" descr="C:\Users\agember\AppData\Local\Microsoft\Windows\Temporary Internet Files\Content.IE5\2DGPU1UI\MC900431599[1].png"/>
              <p:cNvPicPr>
                <a:picLocks noChangeAspect="1" noChangeArrowheads="1"/>
              </p:cNvPicPr>
              <p:nvPr/>
            </p:nvPicPr>
            <p:blipFill>
              <a:blip r:embed="rId4" cstate="print"/>
              <a:srcRect/>
              <a:stretch>
                <a:fillRect/>
              </a:stretch>
            </p:blipFill>
            <p:spPr bwMode="auto">
              <a:xfrm>
                <a:off x="609600" y="1752600"/>
                <a:ext cx="238125" cy="238125"/>
              </a:xfrm>
              <a:prstGeom prst="rect">
                <a:avLst/>
              </a:prstGeom>
              <a:noFill/>
            </p:spPr>
          </p:pic>
        </p:grpSp>
      </p:grpSp>
      <p:grpSp>
        <p:nvGrpSpPr>
          <p:cNvPr id="7" name="Group 75"/>
          <p:cNvGrpSpPr/>
          <p:nvPr/>
        </p:nvGrpSpPr>
        <p:grpSpPr>
          <a:xfrm>
            <a:off x="7388132" y="1600200"/>
            <a:ext cx="762000" cy="762000"/>
            <a:chOff x="4846320" y="2209800"/>
            <a:chExt cx="609600" cy="609600"/>
          </a:xfrm>
        </p:grpSpPr>
        <p:sp>
          <p:nvSpPr>
            <p:cNvPr id="54" name="Rounded Rectangle 53"/>
            <p:cNvSpPr/>
            <p:nvPr/>
          </p:nvSpPr>
          <p:spPr>
            <a:xfrm>
              <a:off x="4846320" y="2209800"/>
              <a:ext cx="609600" cy="609600"/>
            </a:xfrm>
            <a:prstGeom prst="roundRect">
              <a:avLst/>
            </a:prstGeom>
          </p:spPr>
          <p:style>
            <a:lnRef idx="0">
              <a:schemeClr val="accent6"/>
            </a:lnRef>
            <a:fillRef idx="3">
              <a:schemeClr val="accent6"/>
            </a:fillRef>
            <a:effectRef idx="3">
              <a:schemeClr val="accent6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grpSp>
          <p:nvGrpSpPr>
            <p:cNvPr id="8" name="Group 23"/>
            <p:cNvGrpSpPr/>
            <p:nvPr/>
          </p:nvGrpSpPr>
          <p:grpSpPr>
            <a:xfrm>
              <a:off x="4876798" y="2270760"/>
              <a:ext cx="518164" cy="487680"/>
              <a:chOff x="609600" y="1652131"/>
              <a:chExt cx="359837" cy="338667"/>
            </a:xfrm>
          </p:grpSpPr>
          <p:pic>
            <p:nvPicPr>
              <p:cNvPr id="56" name="Picture 55" descr="magnifying_glass.png"/>
              <p:cNvPicPr>
                <a:picLocks noChangeAspect="1"/>
              </p:cNvPicPr>
              <p:nvPr/>
            </p:nvPicPr>
            <p:blipFill>
              <a:blip r:embed="rId3" cstate="print"/>
              <a:stretch>
                <a:fillRect/>
              </a:stretch>
            </p:blipFill>
            <p:spPr>
              <a:xfrm>
                <a:off x="630769" y="1652131"/>
                <a:ext cx="338668" cy="338667"/>
              </a:xfrm>
              <a:prstGeom prst="rect">
                <a:avLst/>
              </a:prstGeom>
              <a:effectLst>
                <a:outerShdw blurRad="63500" sx="102000" sy="102000" algn="ctr" rotWithShape="0">
                  <a:prstClr val="black">
                    <a:alpha val="40000"/>
                  </a:prstClr>
                </a:outerShdw>
              </a:effectLst>
            </p:spPr>
          </p:pic>
          <p:pic>
            <p:nvPicPr>
              <p:cNvPr id="57" name="Picture 2" descr="C:\Users\agember\AppData\Local\Microsoft\Windows\Temporary Internet Files\Content.IE5\2DGPU1UI\MC900431599[1].png"/>
              <p:cNvPicPr>
                <a:picLocks noChangeAspect="1" noChangeArrowheads="1"/>
              </p:cNvPicPr>
              <p:nvPr/>
            </p:nvPicPr>
            <p:blipFill>
              <a:blip r:embed="rId4" cstate="print"/>
              <a:srcRect/>
              <a:stretch>
                <a:fillRect/>
              </a:stretch>
            </p:blipFill>
            <p:spPr bwMode="auto">
              <a:xfrm>
                <a:off x="609600" y="1752600"/>
                <a:ext cx="238125" cy="238125"/>
              </a:xfrm>
              <a:prstGeom prst="rect">
                <a:avLst/>
              </a:prstGeom>
              <a:noFill/>
            </p:spPr>
          </p:pic>
        </p:grpSp>
      </p:grpSp>
      <p:sp>
        <p:nvSpPr>
          <p:cNvPr id="59" name="Cube 58"/>
          <p:cNvSpPr/>
          <p:nvPr/>
        </p:nvSpPr>
        <p:spPr>
          <a:xfrm>
            <a:off x="7464332" y="3048000"/>
            <a:ext cx="304800" cy="304800"/>
          </a:xfrm>
          <a:prstGeom prst="cube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3" name="Cube 42"/>
          <p:cNvSpPr/>
          <p:nvPr/>
        </p:nvSpPr>
        <p:spPr>
          <a:xfrm>
            <a:off x="7769132" y="2133600"/>
            <a:ext cx="304800" cy="304800"/>
          </a:xfrm>
          <a:prstGeom prst="cub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2" name="Cube 41"/>
          <p:cNvSpPr/>
          <p:nvPr/>
        </p:nvSpPr>
        <p:spPr>
          <a:xfrm>
            <a:off x="7464332" y="2133600"/>
            <a:ext cx="304800" cy="304800"/>
          </a:xfrm>
          <a:prstGeom prst="cube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8" name="Cube 57"/>
          <p:cNvSpPr/>
          <p:nvPr/>
        </p:nvSpPr>
        <p:spPr>
          <a:xfrm>
            <a:off x="7769132" y="3048000"/>
            <a:ext cx="304800" cy="304800"/>
          </a:xfrm>
          <a:prstGeom prst="cub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44" name="Straight Arrow Connector 43"/>
          <p:cNvCxnSpPr/>
          <p:nvPr/>
        </p:nvCxnSpPr>
        <p:spPr>
          <a:xfrm rot="16200000">
            <a:off x="7883432" y="2247901"/>
            <a:ext cx="0" cy="1295400"/>
          </a:xfrm>
          <a:prstGeom prst="straightConnector1">
            <a:avLst/>
          </a:prstGeom>
          <a:ln w="57150">
            <a:solidFill>
              <a:schemeClr val="accent2"/>
            </a:solidFill>
            <a:tailEnd type="arrow"/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cxnSp>
        <p:nvCxnSpPr>
          <p:cNvPr id="45" name="Straight Arrow Connector 44"/>
          <p:cNvCxnSpPr/>
          <p:nvPr/>
        </p:nvCxnSpPr>
        <p:spPr>
          <a:xfrm rot="16200000">
            <a:off x="7883432" y="2019301"/>
            <a:ext cx="0" cy="1295400"/>
          </a:xfrm>
          <a:prstGeom prst="straightConnector1">
            <a:avLst/>
          </a:prstGeom>
          <a:ln w="57150">
            <a:solidFill>
              <a:schemeClr val="accent1"/>
            </a:solidFill>
            <a:tailEnd type="arrow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sp>
        <p:nvSpPr>
          <p:cNvPr id="24" name="Title 2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Existing approaches</a:t>
            </a:r>
            <a:endParaRPr lang="en-US" dirty="0"/>
          </a:p>
        </p:txBody>
      </p:sp>
      <p:sp>
        <p:nvSpPr>
          <p:cNvPr id="21" name="Bent Arrow 20">
            <a:hlinkClick r:id="rId5" action="ppaction://hlinksldjump"/>
          </p:cNvPr>
          <p:cNvSpPr/>
          <p:nvPr/>
        </p:nvSpPr>
        <p:spPr>
          <a:xfrm flipH="1" flipV="1">
            <a:off x="381000" y="6172200"/>
            <a:ext cx="381000" cy="381000"/>
          </a:xfrm>
          <a:prstGeom prst="bentArrow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</p:spTree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Copy and share operations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1000" y="1600200"/>
            <a:ext cx="8305800" cy="4800600"/>
          </a:xfrm>
        </p:spPr>
        <p:txBody>
          <a:bodyPr>
            <a:normAutofit/>
          </a:bodyPr>
          <a:lstStyle/>
          <a:p>
            <a:r>
              <a:rPr lang="en-US" dirty="0" smtClean="0"/>
              <a:t>Used when multiple instances need some state</a:t>
            </a:r>
          </a:p>
          <a:p>
            <a:pPr>
              <a:spcBef>
                <a:spcPts val="768"/>
              </a:spcBef>
            </a:pPr>
            <a:r>
              <a:rPr lang="en-US" dirty="0" smtClean="0"/>
              <a:t>Copy – no or eventual consistency</a:t>
            </a:r>
          </a:p>
          <a:p>
            <a:pPr lvl="1"/>
            <a:r>
              <a:rPr lang="en-US" dirty="0" smtClean="0"/>
              <a:t>Once, periodically, based on events, etc.</a:t>
            </a:r>
          </a:p>
          <a:p>
            <a:pPr>
              <a:spcBef>
                <a:spcPts val="768"/>
              </a:spcBef>
            </a:pPr>
            <a:r>
              <a:rPr lang="en-US" dirty="0" smtClean="0"/>
              <a:t>Share – strong or strict consistency</a:t>
            </a:r>
          </a:p>
          <a:p>
            <a:pPr lvl="1"/>
            <a:r>
              <a:rPr lang="en-US" dirty="0" smtClean="0"/>
              <a:t>Events are raised for all packets</a:t>
            </a:r>
          </a:p>
          <a:p>
            <a:pPr lvl="1"/>
            <a:r>
              <a:rPr lang="en-US" dirty="0" smtClean="0"/>
              <a:t>Events are released </a:t>
            </a:r>
            <a:br>
              <a:rPr lang="en-US" dirty="0" smtClean="0"/>
            </a:br>
            <a:r>
              <a:rPr lang="en-US" dirty="0" smtClean="0"/>
              <a:t>one at a time</a:t>
            </a:r>
          </a:p>
          <a:p>
            <a:pPr lvl="1"/>
            <a:r>
              <a:rPr lang="en-US" dirty="0" smtClean="0"/>
              <a:t>State is copied </a:t>
            </a:r>
            <a:br>
              <a:rPr lang="en-US" dirty="0" smtClean="0"/>
            </a:br>
            <a:r>
              <a:rPr lang="en-US" dirty="0" smtClean="0"/>
              <a:t>before releasing the next event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2C5A87-65DC-41FD-9E53-7EAC48455B9A}" type="slidenum">
              <a:rPr lang="en-US" smtClean="0"/>
              <a:pPr/>
              <a:t>26</a:t>
            </a:fld>
            <a:endParaRPr lang="en-US" dirty="0"/>
          </a:p>
        </p:txBody>
      </p:sp>
      <p:sp>
        <p:nvSpPr>
          <p:cNvPr id="6" name="Bent Arrow 5">
            <a:hlinkClick r:id="rId2" action="ppaction://hlinksldjump"/>
          </p:cNvPr>
          <p:cNvSpPr/>
          <p:nvPr/>
        </p:nvSpPr>
        <p:spPr>
          <a:xfrm flipH="1" flipV="1">
            <a:off x="381000" y="6172200"/>
            <a:ext cx="381000" cy="381000"/>
          </a:xfrm>
          <a:prstGeom prst="bentArrow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8" name="Rounded Rectangle 7">
            <a:hlinkClick r:id="" action="ppaction://noaction"/>
          </p:cNvPr>
          <p:cNvSpPr/>
          <p:nvPr/>
        </p:nvSpPr>
        <p:spPr>
          <a:xfrm>
            <a:off x="4267200" y="4495800"/>
            <a:ext cx="4495800" cy="1143000"/>
          </a:xfrm>
          <a:prstGeom prst="roundRect">
            <a:avLst/>
          </a:prstGeom>
        </p:spPr>
        <p:style>
          <a:lnRef idx="3">
            <a:schemeClr val="lt1"/>
          </a:lnRef>
          <a:fillRef idx="1">
            <a:schemeClr val="accent6"/>
          </a:fillRef>
          <a:effectRef idx="1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800" dirty="0" smtClean="0"/>
              <a:t>Copy (multi-flow): 111ms </a:t>
            </a:r>
            <a:br>
              <a:rPr lang="en-US" sz="2800" dirty="0" smtClean="0"/>
            </a:br>
            <a:r>
              <a:rPr lang="en-US" sz="2800" dirty="0" smtClean="0"/>
              <a:t>Share (strong): 13ms/packet</a:t>
            </a:r>
            <a:endParaRPr lang="en-US" sz="2800" dirty="0"/>
          </a:p>
        </p:txBody>
      </p:sp>
    </p:spTree>
    <p:extLst>
      <p:ext uri="{BB962C8B-B14F-4D97-AF65-F5344CB8AC3E}">
        <p14:creationId xmlns:p14="http://schemas.microsoft.com/office/powerpoint/2010/main" xmlns="" val="277173873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313645"/>
            <a:ext cx="8229600" cy="5112913"/>
          </a:xfrm>
        </p:spPr>
        <p:txBody>
          <a:bodyPr>
            <a:normAutofit fontScale="92500" lnSpcReduction="10000"/>
          </a:bodyPr>
          <a:lstStyle/>
          <a:p>
            <a:r>
              <a:rPr lang="en-US" dirty="0"/>
              <a:t>Flush packets </a:t>
            </a:r>
            <a:r>
              <a:rPr lang="en-US" dirty="0" smtClean="0"/>
              <a:t>in events </a:t>
            </a:r>
            <a:r>
              <a:rPr lang="en-US" dirty="0"/>
              <a:t>to </a:t>
            </a:r>
            <a:r>
              <a:rPr lang="en-US" dirty="0" smtClean="0"/>
              <a:t>Inst</a:t>
            </a:r>
            <a:r>
              <a:rPr lang="en-US" baseline="-25000" dirty="0" smtClean="0"/>
              <a:t>2</a:t>
            </a:r>
            <a:endParaRPr lang="en-US" dirty="0" smtClean="0"/>
          </a:p>
          <a:p>
            <a:r>
              <a:rPr lang="en-US" dirty="0" smtClean="0"/>
              <a:t> </a:t>
            </a:r>
            <a:r>
              <a:rPr lang="en-US" sz="2400" dirty="0" err="1" smtClean="0">
                <a:latin typeface="Lucida Console" panose="020B0609040504020204" pitchFamily="49" charset="0"/>
              </a:rPr>
              <a:t>enableEvents</a:t>
            </a:r>
            <a:r>
              <a:rPr lang="en-US" sz="2400" dirty="0" smtClean="0">
                <a:latin typeface="Lucida Console" panose="020B0609040504020204" pitchFamily="49" charset="0"/>
              </a:rPr>
              <a:t>(</a:t>
            </a:r>
            <a:r>
              <a:rPr lang="en-US" sz="2400" dirty="0" err="1" smtClean="0">
                <a:latin typeface="Lucida Console" panose="020B0609040504020204" pitchFamily="49" charset="0"/>
              </a:rPr>
              <a:t>blue,buffer</a:t>
            </a:r>
            <a:r>
              <a:rPr lang="en-US" sz="2400" dirty="0" smtClean="0">
                <a:latin typeface="Lucida Console" panose="020B0609040504020204" pitchFamily="49" charset="0"/>
              </a:rPr>
              <a:t>)</a:t>
            </a:r>
            <a:r>
              <a:rPr lang="en-US" dirty="0" smtClean="0"/>
              <a:t> on Inst</a:t>
            </a:r>
            <a:r>
              <a:rPr lang="en-US" baseline="-25000" dirty="0" smtClean="0"/>
              <a:t>2</a:t>
            </a:r>
            <a:endParaRPr lang="en-US" dirty="0" smtClean="0"/>
          </a:p>
          <a:p>
            <a:r>
              <a:rPr lang="en-US" b="1" i="1" dirty="0" smtClean="0"/>
              <a:t>Forwarding update:</a:t>
            </a:r>
            <a:r>
              <a:rPr lang="en-US" dirty="0" smtClean="0"/>
              <a:t> send </a:t>
            </a:r>
            <a:r>
              <a:rPr lang="en-US" dirty="0"/>
              <a:t>to </a:t>
            </a:r>
            <a:r>
              <a:rPr lang="en-US" dirty="0" smtClean="0"/>
              <a:t>Inst</a:t>
            </a:r>
            <a:r>
              <a:rPr lang="en-US" baseline="-25000" dirty="0" smtClean="0"/>
              <a:t>1</a:t>
            </a:r>
            <a:r>
              <a:rPr lang="en-US" dirty="0" smtClean="0"/>
              <a:t> </a:t>
            </a:r>
            <a:r>
              <a:rPr lang="en-US" dirty="0"/>
              <a:t>&amp; </a:t>
            </a:r>
            <a:r>
              <a:rPr lang="en-US" dirty="0" smtClean="0"/>
              <a:t>controller</a:t>
            </a:r>
          </a:p>
          <a:p>
            <a:r>
              <a:rPr lang="en-US" dirty="0"/>
              <a:t>Wait for packet from </a:t>
            </a:r>
            <a:br>
              <a:rPr lang="en-US" dirty="0"/>
            </a:br>
            <a:r>
              <a:rPr lang="en-US" dirty="0" smtClean="0"/>
              <a:t>switch </a:t>
            </a:r>
            <a:r>
              <a:rPr lang="en-US" dirty="0"/>
              <a:t>(remember last</a:t>
            </a:r>
            <a:r>
              <a:rPr lang="en-US" dirty="0" smtClean="0"/>
              <a:t>)</a:t>
            </a:r>
          </a:p>
          <a:p>
            <a:r>
              <a:rPr lang="en-US" b="1" i="1" dirty="0"/>
              <a:t>Forwarding update: </a:t>
            </a:r>
            <a:r>
              <a:rPr lang="en-US" b="1" i="1" dirty="0" smtClean="0"/>
              <a:t/>
            </a:r>
            <a:br>
              <a:rPr lang="en-US" b="1" i="1" dirty="0" smtClean="0"/>
            </a:br>
            <a:r>
              <a:rPr lang="en-US" dirty="0" smtClean="0"/>
              <a:t>send </a:t>
            </a:r>
            <a:r>
              <a:rPr lang="en-US" dirty="0"/>
              <a:t>to </a:t>
            </a:r>
            <a:r>
              <a:rPr lang="en-US" dirty="0" smtClean="0"/>
              <a:t>Inst</a:t>
            </a:r>
            <a:r>
              <a:rPr lang="en-US" baseline="-25000" dirty="0" smtClean="0"/>
              <a:t>2</a:t>
            </a:r>
            <a:endParaRPr lang="en-US" dirty="0" smtClean="0"/>
          </a:p>
          <a:p>
            <a:r>
              <a:rPr lang="en-US" dirty="0"/>
              <a:t>Wait for event </a:t>
            </a:r>
            <a:r>
              <a:rPr lang="en-US" dirty="0" smtClean="0"/>
              <a:t/>
            </a:r>
            <a:br>
              <a:rPr lang="en-US" dirty="0" smtClean="0"/>
            </a:br>
            <a:r>
              <a:rPr lang="en-US" dirty="0" smtClean="0"/>
              <a:t>for last </a:t>
            </a:r>
            <a:r>
              <a:rPr lang="en-US" dirty="0"/>
              <a:t>packet from Inst</a:t>
            </a:r>
            <a:r>
              <a:rPr lang="en-US" baseline="-25000" dirty="0"/>
              <a:t>2</a:t>
            </a:r>
          </a:p>
          <a:p>
            <a:r>
              <a:rPr lang="en-US" dirty="0"/>
              <a:t>Release buffer of packets on Inst</a:t>
            </a:r>
            <a:r>
              <a:rPr lang="en-US" baseline="-25000" dirty="0"/>
              <a:t>2</a:t>
            </a:r>
          </a:p>
        </p:txBody>
      </p:sp>
      <p:pic>
        <p:nvPicPr>
          <p:cNvPr id="14" name="Picture 13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tretch>
            <a:fillRect/>
          </a:stretch>
        </p:blipFill>
        <p:spPr>
          <a:xfrm>
            <a:off x="5818564" y="3489077"/>
            <a:ext cx="596229" cy="593543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Order-preserving move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>
          <a:xfrm>
            <a:off x="6553200" y="6248400"/>
            <a:ext cx="2133600" cy="365125"/>
          </a:xfrm>
        </p:spPr>
        <p:txBody>
          <a:bodyPr/>
          <a:lstStyle/>
          <a:p>
            <a:fld id="{622C5A87-65DC-41FD-9E53-7EAC48455B9A}" type="slidenum">
              <a:rPr lang="en-US" smtClean="0"/>
              <a:pPr/>
              <a:t>27</a:t>
            </a:fld>
            <a:endParaRPr lang="en-US" dirty="0"/>
          </a:p>
        </p:txBody>
      </p:sp>
      <p:sp>
        <p:nvSpPr>
          <p:cNvPr id="5" name="Cube 4"/>
          <p:cNvSpPr/>
          <p:nvPr/>
        </p:nvSpPr>
        <p:spPr>
          <a:xfrm>
            <a:off x="4710148" y="4362888"/>
            <a:ext cx="958755" cy="623455"/>
          </a:xfrm>
          <a:prstGeom prst="cube">
            <a:avLst>
              <a:gd name="adj" fmla="val 46428"/>
            </a:avLst>
          </a:prstGeom>
        </p:spPr>
        <p:style>
          <a:lnRef idx="0">
            <a:schemeClr val="accent6"/>
          </a:lnRef>
          <a:fillRef idx="3">
            <a:schemeClr val="accent6"/>
          </a:fillRef>
          <a:effectRef idx="3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Cube 5"/>
          <p:cNvSpPr/>
          <p:nvPr/>
        </p:nvSpPr>
        <p:spPr>
          <a:xfrm>
            <a:off x="6942841" y="4385010"/>
            <a:ext cx="914400" cy="623455"/>
          </a:xfrm>
          <a:prstGeom prst="cube">
            <a:avLst>
              <a:gd name="adj" fmla="val 46428"/>
            </a:avLst>
          </a:prstGeom>
        </p:spPr>
        <p:style>
          <a:lnRef idx="0">
            <a:schemeClr val="accent6"/>
          </a:lnRef>
          <a:fillRef idx="3">
            <a:schemeClr val="accent6"/>
          </a:fillRef>
          <a:effectRef idx="3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Freeform 7"/>
          <p:cNvSpPr/>
          <p:nvPr/>
        </p:nvSpPr>
        <p:spPr>
          <a:xfrm>
            <a:off x="5123330" y="3489014"/>
            <a:ext cx="1130489" cy="1665027"/>
          </a:xfrm>
          <a:custGeom>
            <a:avLst/>
            <a:gdLst>
              <a:gd name="connsiteX0" fmla="*/ 1105468 w 1130489"/>
              <a:gd name="connsiteY0" fmla="*/ 0 h 1665027"/>
              <a:gd name="connsiteX1" fmla="*/ 982638 w 1130489"/>
              <a:gd name="connsiteY1" fmla="*/ 341194 h 1665027"/>
              <a:gd name="connsiteX2" fmla="*/ 218364 w 1130489"/>
              <a:gd name="connsiteY2" fmla="*/ 1064526 h 1665027"/>
              <a:gd name="connsiteX3" fmla="*/ 0 w 1130489"/>
              <a:gd name="connsiteY3" fmla="*/ 1665027 h 166502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130489" h="1665027">
                <a:moveTo>
                  <a:pt x="1105468" y="0"/>
                </a:moveTo>
                <a:cubicBezTo>
                  <a:pt x="1117978" y="81886"/>
                  <a:pt x="1130489" y="163773"/>
                  <a:pt x="982638" y="341194"/>
                </a:cubicBezTo>
                <a:cubicBezTo>
                  <a:pt x="834787" y="518615"/>
                  <a:pt x="382137" y="843887"/>
                  <a:pt x="218364" y="1064526"/>
                </a:cubicBezTo>
                <a:cubicBezTo>
                  <a:pt x="54591" y="1285165"/>
                  <a:pt x="27295" y="1475096"/>
                  <a:pt x="0" y="1665027"/>
                </a:cubicBezTo>
              </a:path>
            </a:pathLst>
          </a:custGeom>
          <a:ln w="76200">
            <a:tailEnd type="arrow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Freeform 8"/>
          <p:cNvSpPr/>
          <p:nvPr/>
        </p:nvSpPr>
        <p:spPr>
          <a:xfrm>
            <a:off x="4894730" y="3484465"/>
            <a:ext cx="1130489" cy="1665027"/>
          </a:xfrm>
          <a:custGeom>
            <a:avLst/>
            <a:gdLst>
              <a:gd name="connsiteX0" fmla="*/ 1105468 w 1130489"/>
              <a:gd name="connsiteY0" fmla="*/ 0 h 1665027"/>
              <a:gd name="connsiteX1" fmla="*/ 982638 w 1130489"/>
              <a:gd name="connsiteY1" fmla="*/ 341194 h 1665027"/>
              <a:gd name="connsiteX2" fmla="*/ 218364 w 1130489"/>
              <a:gd name="connsiteY2" fmla="*/ 1064526 h 1665027"/>
              <a:gd name="connsiteX3" fmla="*/ 0 w 1130489"/>
              <a:gd name="connsiteY3" fmla="*/ 1665027 h 166502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130489" h="1665027">
                <a:moveTo>
                  <a:pt x="1105468" y="0"/>
                </a:moveTo>
                <a:cubicBezTo>
                  <a:pt x="1117978" y="81886"/>
                  <a:pt x="1130489" y="163773"/>
                  <a:pt x="982638" y="341194"/>
                </a:cubicBezTo>
                <a:cubicBezTo>
                  <a:pt x="834787" y="518615"/>
                  <a:pt x="382137" y="843887"/>
                  <a:pt x="218364" y="1064526"/>
                </a:cubicBezTo>
                <a:cubicBezTo>
                  <a:pt x="54591" y="1285165"/>
                  <a:pt x="27295" y="1475096"/>
                  <a:pt x="0" y="1665027"/>
                </a:cubicBezTo>
              </a:path>
            </a:pathLst>
          </a:custGeom>
          <a:ln w="76200">
            <a:solidFill>
              <a:schemeClr val="accent5"/>
            </a:solidFill>
            <a:tailEnd type="arrow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Freeform 9"/>
          <p:cNvSpPr/>
          <p:nvPr/>
        </p:nvSpPr>
        <p:spPr>
          <a:xfrm flipH="1">
            <a:off x="6037730" y="3495838"/>
            <a:ext cx="1130489" cy="1665027"/>
          </a:xfrm>
          <a:custGeom>
            <a:avLst/>
            <a:gdLst>
              <a:gd name="connsiteX0" fmla="*/ 1105468 w 1130489"/>
              <a:gd name="connsiteY0" fmla="*/ 0 h 1665027"/>
              <a:gd name="connsiteX1" fmla="*/ 982638 w 1130489"/>
              <a:gd name="connsiteY1" fmla="*/ 341194 h 1665027"/>
              <a:gd name="connsiteX2" fmla="*/ 218364 w 1130489"/>
              <a:gd name="connsiteY2" fmla="*/ 1064526 h 1665027"/>
              <a:gd name="connsiteX3" fmla="*/ 0 w 1130489"/>
              <a:gd name="connsiteY3" fmla="*/ 1665027 h 166502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130489" h="1665027">
                <a:moveTo>
                  <a:pt x="1105468" y="0"/>
                </a:moveTo>
                <a:cubicBezTo>
                  <a:pt x="1117978" y="81886"/>
                  <a:pt x="1130489" y="163773"/>
                  <a:pt x="982638" y="341194"/>
                </a:cubicBezTo>
                <a:cubicBezTo>
                  <a:pt x="834787" y="518615"/>
                  <a:pt x="382137" y="843887"/>
                  <a:pt x="218364" y="1064526"/>
                </a:cubicBezTo>
                <a:cubicBezTo>
                  <a:pt x="54591" y="1285165"/>
                  <a:pt x="27295" y="1475096"/>
                  <a:pt x="0" y="1665027"/>
                </a:cubicBezTo>
              </a:path>
            </a:pathLst>
          </a:custGeom>
          <a:ln w="76200">
            <a:solidFill>
              <a:schemeClr val="accent5"/>
            </a:solidFill>
            <a:tailEnd type="arrow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Cube 10"/>
          <p:cNvSpPr/>
          <p:nvPr/>
        </p:nvSpPr>
        <p:spPr>
          <a:xfrm>
            <a:off x="3625252" y="4687229"/>
            <a:ext cx="1014984" cy="283464"/>
          </a:xfrm>
          <a:prstGeom prst="cube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 smtClean="0"/>
              <a:t>B1</a:t>
            </a:r>
            <a:endParaRPr lang="en-US" b="1" dirty="0"/>
          </a:p>
        </p:txBody>
      </p:sp>
      <p:sp>
        <p:nvSpPr>
          <p:cNvPr id="39" name="Flowchart: Preparation 38"/>
          <p:cNvSpPr/>
          <p:nvPr/>
        </p:nvSpPr>
        <p:spPr>
          <a:xfrm>
            <a:off x="4710148" y="4469667"/>
            <a:ext cx="1042145" cy="298434"/>
          </a:xfrm>
          <a:prstGeom prst="flowChartPreparation">
            <a:avLst/>
          </a:prstGeom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lIns="0" rIns="0" rtlCol="0" anchor="ctr"/>
          <a:lstStyle/>
          <a:p>
            <a:pPr algn="ctr"/>
            <a:r>
              <a:rPr lang="en-US" b="1" dirty="0" smtClean="0"/>
              <a:t>Drop</a:t>
            </a:r>
            <a:endParaRPr lang="en-US" b="1" dirty="0"/>
          </a:p>
        </p:txBody>
      </p:sp>
      <p:sp>
        <p:nvSpPr>
          <p:cNvPr id="31" name="Cube 30"/>
          <p:cNvSpPr/>
          <p:nvPr/>
        </p:nvSpPr>
        <p:spPr>
          <a:xfrm>
            <a:off x="7924800" y="4343400"/>
            <a:ext cx="1014984" cy="283464"/>
          </a:xfrm>
          <a:prstGeom prst="cube">
            <a:avLst/>
          </a:prstGeom>
          <a:ln/>
        </p:spPr>
        <p:style>
          <a:lnRef idx="2">
            <a:schemeClr val="accent5">
              <a:shade val="50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 smtClean="0">
                <a:solidFill>
                  <a:schemeClr val="bg1"/>
                </a:solidFill>
              </a:rPr>
              <a:t>B1</a:t>
            </a:r>
            <a:endParaRPr lang="en-US" b="1" dirty="0">
              <a:solidFill>
                <a:schemeClr val="bg1"/>
              </a:solidFill>
            </a:endParaRPr>
          </a:p>
        </p:txBody>
      </p:sp>
      <p:sp>
        <p:nvSpPr>
          <p:cNvPr id="36" name="Cube 35"/>
          <p:cNvSpPr/>
          <p:nvPr/>
        </p:nvSpPr>
        <p:spPr>
          <a:xfrm>
            <a:off x="7924800" y="4343400"/>
            <a:ext cx="1014984" cy="283464"/>
          </a:xfrm>
          <a:prstGeom prst="cube">
            <a:avLst/>
          </a:prstGeom>
          <a:ln/>
        </p:spPr>
        <p:style>
          <a:lnRef idx="2">
            <a:schemeClr val="accent5">
              <a:shade val="50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 smtClean="0">
                <a:solidFill>
                  <a:schemeClr val="bg1"/>
                </a:solidFill>
              </a:rPr>
              <a:t>B1,B2</a:t>
            </a:r>
            <a:endParaRPr lang="en-US" b="1" dirty="0">
              <a:solidFill>
                <a:schemeClr val="bg1"/>
              </a:solidFill>
            </a:endParaRPr>
          </a:p>
        </p:txBody>
      </p:sp>
      <p:grpSp>
        <p:nvGrpSpPr>
          <p:cNvPr id="7" name="Group 16"/>
          <p:cNvGrpSpPr/>
          <p:nvPr/>
        </p:nvGrpSpPr>
        <p:grpSpPr>
          <a:xfrm>
            <a:off x="5562600" y="5791200"/>
            <a:ext cx="974951" cy="445491"/>
            <a:chOff x="3403866" y="5798922"/>
            <a:chExt cx="974951" cy="445491"/>
          </a:xfrm>
        </p:grpSpPr>
        <p:sp>
          <p:nvSpPr>
            <p:cNvPr id="16" name="Oval 15"/>
            <p:cNvSpPr/>
            <p:nvPr/>
          </p:nvSpPr>
          <p:spPr>
            <a:xfrm>
              <a:off x="3403866" y="5798922"/>
              <a:ext cx="974951" cy="445491"/>
            </a:xfrm>
            <a:prstGeom prst="ellipse">
              <a:avLst/>
            </a:prstGeom>
          </p:spPr>
          <p:style>
            <a:lnRef idx="2">
              <a:schemeClr val="accent5"/>
            </a:lnRef>
            <a:fillRef idx="1">
              <a:schemeClr val="lt1"/>
            </a:fillRef>
            <a:effectRef idx="0">
              <a:schemeClr val="accent5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chemeClr val="dk1"/>
                </a:solidFill>
              </a:endParaRPr>
            </a:p>
          </p:txBody>
        </p:sp>
        <p:sp>
          <p:nvSpPr>
            <p:cNvPr id="28" name="Rectangle 27"/>
            <p:cNvSpPr/>
            <p:nvPr/>
          </p:nvSpPr>
          <p:spPr>
            <a:xfrm>
              <a:off x="3586615" y="5907367"/>
              <a:ext cx="599352" cy="228600"/>
            </a:xfrm>
            <a:prstGeom prst="rect">
              <a:avLst/>
            </a:prstGeom>
            <a:ln/>
          </p:spPr>
          <p:style>
            <a:lnRef idx="2">
              <a:schemeClr val="accent5">
                <a:shade val="50000"/>
              </a:schemeClr>
            </a:lnRef>
            <a:fillRef idx="1">
              <a:schemeClr val="accent5"/>
            </a:fillRef>
            <a:effectRef idx="0">
              <a:schemeClr val="accent5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 smtClean="0">
                  <a:solidFill>
                    <a:schemeClr val="bg1"/>
                  </a:solidFill>
                </a:rPr>
                <a:t>B2</a:t>
              </a:r>
              <a:endParaRPr lang="en-US" dirty="0">
                <a:solidFill>
                  <a:schemeClr val="bg1"/>
                </a:solidFill>
              </a:endParaRPr>
            </a:p>
          </p:txBody>
        </p:sp>
      </p:grpSp>
      <p:sp>
        <p:nvSpPr>
          <p:cNvPr id="40" name="Cube 39"/>
          <p:cNvSpPr/>
          <p:nvPr/>
        </p:nvSpPr>
        <p:spPr>
          <a:xfrm>
            <a:off x="7924800" y="4191000"/>
            <a:ext cx="1014984" cy="636022"/>
          </a:xfrm>
          <a:prstGeom prst="cube">
            <a:avLst/>
          </a:prstGeom>
          <a:ln/>
        </p:spPr>
        <p:style>
          <a:lnRef idx="2">
            <a:schemeClr val="accent5">
              <a:shade val="50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 smtClean="0">
                <a:solidFill>
                  <a:schemeClr val="bg1"/>
                </a:solidFill>
              </a:rPr>
              <a:t>B1,B2,B3</a:t>
            </a:r>
            <a:endParaRPr lang="en-US" b="1" dirty="0">
              <a:solidFill>
                <a:schemeClr val="bg1"/>
              </a:solidFill>
            </a:endParaRPr>
          </a:p>
        </p:txBody>
      </p:sp>
      <p:sp>
        <p:nvSpPr>
          <p:cNvPr id="25" name="Flowchart: Preparation 24"/>
          <p:cNvSpPr/>
          <p:nvPr/>
        </p:nvSpPr>
        <p:spPr>
          <a:xfrm>
            <a:off x="6828757" y="4179134"/>
            <a:ext cx="1042145" cy="298434"/>
          </a:xfrm>
          <a:prstGeom prst="flowChartPreparation">
            <a:avLst/>
          </a:prstGeom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b="1" dirty="0" err="1" smtClean="0"/>
              <a:t>Buf</a:t>
            </a:r>
            <a:endParaRPr lang="en-US" b="1" dirty="0"/>
          </a:p>
        </p:txBody>
      </p:sp>
      <p:grpSp>
        <p:nvGrpSpPr>
          <p:cNvPr id="13" name="Group 26"/>
          <p:cNvGrpSpPr/>
          <p:nvPr/>
        </p:nvGrpSpPr>
        <p:grpSpPr>
          <a:xfrm>
            <a:off x="4753565" y="4419600"/>
            <a:ext cx="974951" cy="445491"/>
            <a:chOff x="3403866" y="5798922"/>
            <a:chExt cx="974951" cy="445491"/>
          </a:xfrm>
        </p:grpSpPr>
        <p:sp>
          <p:nvSpPr>
            <p:cNvPr id="29" name="Oval 28"/>
            <p:cNvSpPr/>
            <p:nvPr/>
          </p:nvSpPr>
          <p:spPr>
            <a:xfrm>
              <a:off x="3403866" y="5798922"/>
              <a:ext cx="974951" cy="445491"/>
            </a:xfrm>
            <a:prstGeom prst="ellipse">
              <a:avLst/>
            </a:prstGeom>
          </p:spPr>
          <p:style>
            <a:lnRef idx="2">
              <a:schemeClr val="accent5"/>
            </a:lnRef>
            <a:fillRef idx="1">
              <a:schemeClr val="lt1"/>
            </a:fillRef>
            <a:effectRef idx="0">
              <a:schemeClr val="accent5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chemeClr val="dk1"/>
                </a:solidFill>
              </a:endParaRPr>
            </a:p>
          </p:txBody>
        </p:sp>
        <p:sp>
          <p:nvSpPr>
            <p:cNvPr id="30" name="Rectangle 29"/>
            <p:cNvSpPr/>
            <p:nvPr/>
          </p:nvSpPr>
          <p:spPr>
            <a:xfrm>
              <a:off x="3586615" y="5907367"/>
              <a:ext cx="599352" cy="228600"/>
            </a:xfrm>
            <a:prstGeom prst="rect">
              <a:avLst/>
            </a:prstGeom>
            <a:ln/>
          </p:spPr>
          <p:style>
            <a:lnRef idx="2">
              <a:schemeClr val="accent5">
                <a:shade val="50000"/>
              </a:schemeClr>
            </a:lnRef>
            <a:fillRef idx="1">
              <a:schemeClr val="accent5"/>
            </a:fillRef>
            <a:effectRef idx="0">
              <a:schemeClr val="accent5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 smtClean="0">
                  <a:solidFill>
                    <a:schemeClr val="bg1"/>
                  </a:solidFill>
                </a:rPr>
                <a:t>B3</a:t>
              </a:r>
              <a:endParaRPr lang="en-US" dirty="0">
                <a:solidFill>
                  <a:schemeClr val="bg1"/>
                </a:solidFill>
              </a:endParaRPr>
            </a:p>
          </p:txBody>
        </p:sp>
      </p:grpSp>
      <p:cxnSp>
        <p:nvCxnSpPr>
          <p:cNvPr id="12" name="Straight Arrow Connector 11"/>
          <p:cNvCxnSpPr/>
          <p:nvPr/>
        </p:nvCxnSpPr>
        <p:spPr>
          <a:xfrm>
            <a:off x="6036555" y="3513892"/>
            <a:ext cx="22047" cy="2114176"/>
          </a:xfrm>
          <a:prstGeom prst="straightConnector1">
            <a:avLst/>
          </a:prstGeom>
          <a:ln w="76200">
            <a:solidFill>
              <a:schemeClr val="accent5"/>
            </a:solidFill>
            <a:tailEnd type="arrow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sp>
        <p:nvSpPr>
          <p:cNvPr id="26" name="Rectangle 25"/>
          <p:cNvSpPr/>
          <p:nvPr/>
        </p:nvSpPr>
        <p:spPr>
          <a:xfrm>
            <a:off x="5763018" y="3327779"/>
            <a:ext cx="569119" cy="228600"/>
          </a:xfrm>
          <a:prstGeom prst="rect">
            <a:avLst/>
          </a:prstGeom>
          <a:ln/>
        </p:spPr>
        <p:style>
          <a:lnRef idx="2">
            <a:schemeClr val="accent5">
              <a:shade val="50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>
                <a:solidFill>
                  <a:schemeClr val="bg1"/>
                </a:solidFill>
              </a:rPr>
              <a:t>B3</a:t>
            </a:r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33" name="Rectangle 32"/>
          <p:cNvSpPr/>
          <p:nvPr/>
        </p:nvSpPr>
        <p:spPr>
          <a:xfrm>
            <a:off x="5755481" y="3352800"/>
            <a:ext cx="569119" cy="228600"/>
          </a:xfrm>
          <a:prstGeom prst="rect">
            <a:avLst/>
          </a:prstGeom>
          <a:ln/>
        </p:spPr>
        <p:style>
          <a:lnRef idx="2">
            <a:schemeClr val="accent5">
              <a:shade val="50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>
                <a:solidFill>
                  <a:schemeClr val="bg1"/>
                </a:solidFill>
              </a:rPr>
              <a:t>B3</a:t>
            </a:r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34" name="Rectangle 33"/>
          <p:cNvSpPr/>
          <p:nvPr/>
        </p:nvSpPr>
        <p:spPr>
          <a:xfrm>
            <a:off x="5755481" y="3352800"/>
            <a:ext cx="569119" cy="228600"/>
          </a:xfrm>
          <a:prstGeom prst="rect">
            <a:avLst/>
          </a:prstGeom>
          <a:ln/>
        </p:spPr>
        <p:style>
          <a:lnRef idx="2">
            <a:schemeClr val="accent5">
              <a:shade val="50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>
                <a:solidFill>
                  <a:schemeClr val="bg1"/>
                </a:solidFill>
              </a:rPr>
              <a:t>B4</a:t>
            </a:r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35" name="Cube 34"/>
          <p:cNvSpPr/>
          <p:nvPr/>
        </p:nvSpPr>
        <p:spPr>
          <a:xfrm>
            <a:off x="7924800" y="4191000"/>
            <a:ext cx="1040742" cy="643048"/>
          </a:xfrm>
          <a:prstGeom prst="cube">
            <a:avLst/>
          </a:prstGeom>
          <a:ln/>
        </p:spPr>
        <p:style>
          <a:lnRef idx="2">
            <a:schemeClr val="accent5">
              <a:shade val="50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 smtClean="0">
                <a:solidFill>
                  <a:schemeClr val="bg1"/>
                </a:solidFill>
              </a:rPr>
              <a:t>B1,B2,B3,B4</a:t>
            </a:r>
            <a:endParaRPr lang="en-US" b="1" dirty="0">
              <a:solidFill>
                <a:schemeClr val="bg1"/>
              </a:solidFill>
            </a:endParaRPr>
          </a:p>
        </p:txBody>
      </p:sp>
      <p:sp>
        <p:nvSpPr>
          <p:cNvPr id="32" name="Bent Arrow 31">
            <a:hlinkClick r:id="rId4" action="ppaction://hlinksldjump"/>
          </p:cNvPr>
          <p:cNvSpPr/>
          <p:nvPr/>
        </p:nvSpPr>
        <p:spPr>
          <a:xfrm flipH="1" flipV="1">
            <a:off x="381000" y="6172200"/>
            <a:ext cx="381000" cy="381000"/>
          </a:xfrm>
          <a:prstGeom prst="bentArrow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xmlns="" val="299842156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43" presetClass="path" presetSubtype="0" accel="50000" decel="5000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1.94444E-6 0.00093 L 0.06459 0.00093 C 0.09375 0.00093 0.13004 -0.05042 0.13004 -0.09227 L 0.13004 -0.18524 " pathEditMode="relative" rAng="0" ptsTypes="FfFF">
                                      <p:cBhvr>
                                        <p:cTn id="9" dur="2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65" y="-93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" fill="hold">
                            <p:stCondLst>
                              <p:cond delay="2000"/>
                            </p:stCondLst>
                            <p:childTnLst>
                              <p:par>
                                <p:cTn id="11" presetID="1" presetClass="exit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>
                            <p:stCondLst>
                              <p:cond delay="2000"/>
                            </p:stCondLst>
                            <p:childTnLst>
                              <p:par>
                                <p:cTn id="14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2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9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" presetClass="entr" presetSubtype="0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" presetClass="entr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49" presetClass="path" presetSubtype="0" accel="50000" decel="5000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3.61111E-6 -2.74746E-6 L 3.61111E-6 0.30458 " pathEditMode="relative" rAng="0" ptsTypes="AA">
                                      <p:cBhvr>
                                        <p:cTn id="41" dur="20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15217"/>
                                    </p:animMotion>
                                  </p:childTnLst>
                                </p:cTn>
                              </p:par>
                              <p:par>
                                <p:cTn id="42" presetID="49" presetClass="path" presetSubtype="0" accel="50000" decel="5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2.77778E-6 -3.08973E-6 L -0.10087 0.17207 " pathEditMode="relative" rAng="0" ptsTypes="AA">
                                      <p:cBhvr>
                                        <p:cTn id="43" dur="200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5052" y="8603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4" fill="hold">
                            <p:stCondLst>
                              <p:cond delay="2000"/>
                            </p:stCondLst>
                            <p:childTnLst>
                              <p:par>
                                <p:cTn id="45" presetID="1" presetClass="exit" presetSubtype="0" fill="hold" grpId="2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7" fill="hold">
                            <p:stCondLst>
                              <p:cond delay="2000"/>
                            </p:stCondLst>
                            <p:childTnLst>
                              <p:par>
                                <p:cTn id="48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0" fill="hold">
                            <p:stCondLst>
                              <p:cond delay="2000"/>
                            </p:stCondLst>
                            <p:childTnLst>
                              <p:par>
                                <p:cTn id="51" presetID="36" presetClass="path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0.00833 0.00092 L -0.00833 0.10037 C -0.00833 0.14523 0.01719 0.20027 0.03819 0.20027 L 0.08524 0.20027 " pathEditMode="relative" rAng="0" ptsTypes="FfFF">
                                      <p:cBhvr>
                                        <p:cTn id="52" dur="5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47" y="100"/>
                                    </p:animMotion>
                                  </p:childTnLst>
                                </p:cTn>
                              </p:par>
                              <p:par>
                                <p:cTn id="53" presetID="1" presetClass="entr" presetSubtype="0" fill="hold" grpId="0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5" presetID="22" presetClass="exit" presetSubtype="4" fill="hold" grpId="0" nodeType="withEffect">
                                  <p:stCondLst>
                                    <p:cond delay="2000"/>
                                  </p:stCondLst>
                                  <p:childTnLst>
                                    <p:animEffect transition="out" filter="wipe(down)">
                                      <p:cBhvr>
                                        <p:cTn id="56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8" presetID="22" presetClass="exit" presetSubtype="4" fill="hold" nodeType="withEffect">
                                  <p:stCondLst>
                                    <p:cond delay="2000"/>
                                  </p:stCondLst>
                                  <p:childTnLst>
                                    <p:animEffect transition="out" filter="wipe(down)">
                                      <p:cBhvr>
                                        <p:cTn id="59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1" presetID="22" presetClass="entr" presetSubtype="1" fill="hold" grpId="0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63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4" fill="hold">
                            <p:stCondLst>
                              <p:cond delay="7000"/>
                            </p:stCondLst>
                            <p:childTnLst>
                              <p:par>
                                <p:cTn id="65" presetID="43" presetClass="path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.08524 0.20027 L 0.15156 0.20027 C 0.18142 0.20027 0.21858 0.15101 0.21858 0.11124 L 0.21858 0.02312 " pathEditMode="relative" rAng="0" ptsTypes="FfFF">
                                      <p:cBhvr>
                                        <p:cTn id="66" dur="5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67" y="-89"/>
                                    </p:animMotion>
                                  </p:childTnLst>
                                </p:cTn>
                              </p:par>
                              <p:par>
                                <p:cTn id="67" presetID="1" presetClass="entr" presetSubtype="0" fill="hold" grpId="1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9" presetID="49" presetClass="path" presetSubtype="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animMotion origin="layout" path="M 1.11111E-6 -4.35708E-6 L 0.14288 0.11864 " pathEditMode="relative" rAng="0" ptsTypes="AA">
                                      <p:cBhvr>
                                        <p:cTn id="70" dur="2000" fill="hold"/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7135" y="5920"/>
                                    </p:animMotion>
                                  </p:childTnLst>
                                </p:cTn>
                              </p:par>
                              <p:par>
                                <p:cTn id="71" presetID="63" presetClass="path" presetSubtype="0" fill="hold" grpId="2" nodeType="withEffect">
                                  <p:stCondLst>
                                    <p:cond delay="3500"/>
                                  </p:stCondLst>
                                  <p:childTnLst>
                                    <p:animMotion origin="layout" path="M 0.14288 0.11794 L 0.25642 0.0932 " pathEditMode="relative" rAng="0" ptsTypes="AA">
                                      <p:cBhvr>
                                        <p:cTn id="72" dur="1000" fill="hold"/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5677" y="-1249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>
                      <p:stCondLst>
                        <p:cond delay="indefinite"/>
                      </p:stCondLst>
                      <p:childTnLst>
                        <p:par>
                          <p:cTn id="74" fill="hold">
                            <p:stCondLst>
                              <p:cond delay="0"/>
                            </p:stCondLst>
                            <p:childTnLst>
                              <p:par>
                                <p:cTn id="7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9" fill="hold">
                            <p:stCondLst>
                              <p:cond delay="0"/>
                            </p:stCondLst>
                            <p:childTnLst>
                              <p:par>
                                <p:cTn id="80" presetID="36" presetClass="path" presetSubtype="0" accel="50000" decel="5000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.21858 0.01457 L 0.21858 0.10638 C 0.21858 0.14847 0.18142 0.20074 0.15156 0.20074 L 0.08524 0.20074 " pathEditMode="relative" rAng="0" ptsTypes="FfFF">
                                      <p:cBhvr>
                                        <p:cTn id="81" dur="5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67" y="93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2" fill="hold">
                      <p:stCondLst>
                        <p:cond delay="indefinite"/>
                      </p:stCondLst>
                      <p:childTnLst>
                        <p:par>
                          <p:cTn id="83" fill="hold">
                            <p:stCondLst>
                              <p:cond delay="0"/>
                            </p:stCondLst>
                            <p:childTnLst>
                              <p:par>
                                <p:cTn id="84" presetID="1" presetClass="entr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6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8" presetID="1" presetClass="exit" presetSubtype="0" fill="hold" grpId="2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0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2" fill="hold">
                            <p:stCondLst>
                              <p:cond delay="0"/>
                            </p:stCondLst>
                            <p:childTnLst>
                              <p:par>
                                <p:cTn id="93" presetID="35" presetClass="path" presetSubtype="0" accel="50000" decel="50000" fill="hold" grpId="3" nodeType="after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.25642 0.0932 L 0.13611 0.1783 " pathEditMode="relative" rAng="0" ptsTypes="AA">
                                      <p:cBhvr>
                                        <p:cTn id="94" dur="2000" fill="hold"/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6024" y="4255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5" fill="hold">
                            <p:stCondLst>
                              <p:cond delay="2000"/>
                            </p:stCondLst>
                            <p:childTnLst>
                              <p:par>
                                <p:cTn id="96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8" fill="hold">
                            <p:stCondLst>
                              <p:cond delay="2000"/>
                            </p:stCondLst>
                            <p:childTnLst>
                              <p:par>
                                <p:cTn id="99" presetID="1" presetClass="exit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  <p:bldP spid="3" grpId="1" build="p"/>
      <p:bldP spid="9" grpId="0" animBg="1"/>
      <p:bldP spid="10" grpId="0" animBg="1"/>
      <p:bldP spid="36" grpId="0" animBg="1"/>
      <p:bldP spid="40" grpId="0" animBg="1"/>
      <p:bldP spid="25" grpId="0" animBg="1"/>
      <p:bldP spid="26" grpId="0" animBg="1"/>
      <p:bldP spid="26" grpId="1" animBg="1"/>
      <p:bldP spid="26" grpId="2" animBg="1"/>
      <p:bldP spid="33" grpId="0" animBg="1"/>
      <p:bldP spid="33" grpId="1" animBg="1"/>
      <p:bldP spid="33" grpId="2" animBg="1"/>
      <p:bldP spid="34" grpId="0" animBg="1"/>
      <p:bldP spid="34" grpId="1" animBg="1"/>
      <p:bldP spid="34" grpId="2" animBg="1"/>
      <p:bldP spid="34" grpId="3" animBg="1"/>
      <p:bldP spid="35" grpId="0" animBg="1"/>
    </p:bld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1000" y="1524000"/>
            <a:ext cx="8382000" cy="4876800"/>
          </a:xfrm>
        </p:spPr>
        <p:txBody>
          <a:bodyPr>
            <a:normAutofit/>
          </a:bodyPr>
          <a:lstStyle/>
          <a:p>
            <a:pPr marL="342900" lvl="1" indent="-342900">
              <a:buNone/>
            </a:pPr>
            <a:r>
              <a:rPr lang="en-US" sz="3200" dirty="0" smtClean="0"/>
              <a:t>Applications decide (based on NF &amp; objectives):</a:t>
            </a:r>
          </a:p>
          <a:p>
            <a:pPr marL="571500" indent="-514350">
              <a:buFont typeface="+mj-lt"/>
              <a:buAutoNum type="arabicPeriod"/>
            </a:pPr>
            <a:r>
              <a:rPr lang="en-US" dirty="0" smtClean="0"/>
              <a:t>Granularity of </a:t>
            </a:r>
            <a:br>
              <a:rPr lang="en-US" dirty="0" smtClean="0"/>
            </a:br>
            <a:r>
              <a:rPr lang="en-US" dirty="0" smtClean="0"/>
              <a:t>operations</a:t>
            </a:r>
            <a:br>
              <a:rPr lang="en-US" dirty="0" smtClean="0"/>
            </a:br>
            <a:r>
              <a:rPr lang="en-US" dirty="0" smtClean="0"/>
              <a:t/>
            </a:r>
            <a:br>
              <a:rPr lang="en-US" dirty="0" smtClean="0"/>
            </a:br>
            <a:endParaRPr lang="en-US" dirty="0" smtClean="0"/>
          </a:p>
          <a:p>
            <a:pPr marL="571500" indent="-514350">
              <a:buFont typeface="+mj-lt"/>
              <a:buAutoNum type="arabicPeriod"/>
            </a:pPr>
            <a:r>
              <a:rPr lang="en-US" dirty="0" smtClean="0"/>
              <a:t>Guarantees</a:t>
            </a:r>
            <a:br>
              <a:rPr lang="en-US" dirty="0" smtClean="0"/>
            </a:br>
            <a:r>
              <a:rPr lang="en-US" dirty="0" smtClean="0"/>
              <a:t>desired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Bounding overhead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2C5A87-65DC-41FD-9E53-7EAC48455B9A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28</a:t>
            </a:fld>
            <a:endParaRPr lang="en-US" dirty="0">
              <a:solidFill>
                <a:prstClr val="black">
                  <a:tint val="75000"/>
                </a:prstClr>
              </a:solidFill>
            </a:endParaRPr>
          </a:p>
        </p:txBody>
      </p:sp>
      <p:grpSp>
        <p:nvGrpSpPr>
          <p:cNvPr id="54" name="Group 53"/>
          <p:cNvGrpSpPr/>
          <p:nvPr/>
        </p:nvGrpSpPr>
        <p:grpSpPr>
          <a:xfrm>
            <a:off x="3276600" y="2362200"/>
            <a:ext cx="1759072" cy="1643014"/>
            <a:chOff x="3276600" y="2362200"/>
            <a:chExt cx="1759072" cy="1643014"/>
          </a:xfrm>
        </p:grpSpPr>
        <p:grpSp>
          <p:nvGrpSpPr>
            <p:cNvPr id="20" name="Group 19"/>
            <p:cNvGrpSpPr/>
            <p:nvPr/>
          </p:nvGrpSpPr>
          <p:grpSpPr>
            <a:xfrm>
              <a:off x="3886200" y="2362200"/>
              <a:ext cx="1149472" cy="1643014"/>
              <a:chOff x="1295400" y="3081386"/>
              <a:chExt cx="1149472" cy="1643014"/>
            </a:xfrm>
          </p:grpSpPr>
          <p:sp>
            <p:nvSpPr>
              <p:cNvPr id="18" name="Cube 17"/>
              <p:cNvSpPr/>
              <p:nvPr/>
            </p:nvSpPr>
            <p:spPr>
              <a:xfrm rot="20700000">
                <a:off x="1481186" y="3081386"/>
                <a:ext cx="381000" cy="381000"/>
              </a:xfrm>
              <a:prstGeom prst="cube">
                <a:avLst/>
              </a:prstGeom>
              <a:ln/>
            </p:spPr>
            <p:style>
              <a:lnRef idx="2">
                <a:schemeClr val="accent3">
                  <a:shade val="50000"/>
                </a:schemeClr>
              </a:lnRef>
              <a:fillRef idx="1">
                <a:schemeClr val="accent3"/>
              </a:fillRef>
              <a:effectRef idx="0">
                <a:schemeClr val="accent3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pic>
            <p:nvPicPr>
              <p:cNvPr id="15" name="Picture 14" descr="funnel.png"/>
              <p:cNvPicPr>
                <a:picLocks noChangeAspect="1"/>
              </p:cNvPicPr>
              <p:nvPr/>
            </p:nvPicPr>
            <p:blipFill>
              <a:blip r:embed="rId2" cstate="print"/>
              <a:stretch>
                <a:fillRect/>
              </a:stretch>
            </p:blipFill>
            <p:spPr>
              <a:xfrm>
                <a:off x="1295400" y="3581400"/>
                <a:ext cx="1143000" cy="1143000"/>
              </a:xfrm>
              <a:prstGeom prst="rect">
                <a:avLst/>
              </a:prstGeom>
            </p:spPr>
          </p:pic>
          <p:sp>
            <p:nvSpPr>
              <p:cNvPr id="16" name="Cube 15"/>
              <p:cNvSpPr/>
              <p:nvPr/>
            </p:nvSpPr>
            <p:spPr>
              <a:xfrm rot="900000">
                <a:off x="1709786" y="3538586"/>
                <a:ext cx="381000" cy="381000"/>
              </a:xfrm>
              <a:prstGeom prst="cube">
                <a:avLst/>
              </a:prstGeom>
              <a:ln/>
            </p:spPr>
            <p:style>
              <a:lnRef idx="2">
                <a:schemeClr val="accent2">
                  <a:shade val="50000"/>
                </a:schemeClr>
              </a:lnRef>
              <a:fillRef idx="1">
                <a:schemeClr val="accent2"/>
              </a:fillRef>
              <a:effectRef idx="0">
                <a:schemeClr val="accent2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7" name="Cube 16"/>
              <p:cNvSpPr/>
              <p:nvPr/>
            </p:nvSpPr>
            <p:spPr>
              <a:xfrm rot="19800000">
                <a:off x="2063872" y="3117728"/>
                <a:ext cx="381000" cy="381000"/>
              </a:xfrm>
              <a:prstGeom prst="cube">
                <a:avLst/>
              </a:prstGeom>
              <a:ln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pic>
            <p:nvPicPr>
              <p:cNvPr id="19" name="Picture 18" descr="funnel.png"/>
              <p:cNvPicPr>
                <a:picLocks noChangeAspect="1"/>
              </p:cNvPicPr>
              <p:nvPr/>
            </p:nvPicPr>
            <p:blipFill>
              <a:blip r:embed="rId2" cstate="print"/>
              <a:srcRect t="20000"/>
              <a:stretch>
                <a:fillRect/>
              </a:stretch>
            </p:blipFill>
            <p:spPr>
              <a:xfrm>
                <a:off x="1295400" y="3810000"/>
                <a:ext cx="1143000" cy="914400"/>
              </a:xfrm>
              <a:prstGeom prst="rect">
                <a:avLst/>
              </a:prstGeom>
            </p:spPr>
          </p:pic>
        </p:grpSp>
        <p:sp>
          <p:nvSpPr>
            <p:cNvPr id="42" name="TextBox 41"/>
            <p:cNvSpPr txBox="1"/>
            <p:nvPr/>
          </p:nvSpPr>
          <p:spPr>
            <a:xfrm>
              <a:off x="3276600" y="3352800"/>
              <a:ext cx="844527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2400" b="1" dirty="0" smtClean="0"/>
                <a:t>Filter</a:t>
              </a:r>
              <a:endParaRPr lang="en-US" sz="2400" b="1" dirty="0"/>
            </a:p>
          </p:txBody>
        </p:sp>
      </p:grpSp>
      <p:grpSp>
        <p:nvGrpSpPr>
          <p:cNvPr id="55" name="Group 54"/>
          <p:cNvGrpSpPr/>
          <p:nvPr/>
        </p:nvGrpSpPr>
        <p:grpSpPr>
          <a:xfrm>
            <a:off x="5943600" y="2362200"/>
            <a:ext cx="2009815" cy="1712976"/>
            <a:chOff x="5943600" y="2362200"/>
            <a:chExt cx="2009815" cy="1712976"/>
          </a:xfrm>
        </p:grpSpPr>
        <p:grpSp>
          <p:nvGrpSpPr>
            <p:cNvPr id="26" name="Group 25"/>
            <p:cNvGrpSpPr/>
            <p:nvPr/>
          </p:nvGrpSpPr>
          <p:grpSpPr>
            <a:xfrm>
              <a:off x="5943600" y="2362200"/>
              <a:ext cx="914400" cy="1712976"/>
              <a:chOff x="5943600" y="2362200"/>
              <a:chExt cx="914400" cy="1712976"/>
            </a:xfrm>
          </p:grpSpPr>
          <p:sp>
            <p:nvSpPr>
              <p:cNvPr id="21" name="Cube 20"/>
              <p:cNvSpPr/>
              <p:nvPr/>
            </p:nvSpPr>
            <p:spPr>
              <a:xfrm>
                <a:off x="5943600" y="2362200"/>
                <a:ext cx="914400" cy="490586"/>
              </a:xfrm>
              <a:prstGeom prst="cube">
                <a:avLst/>
              </a:prstGeom>
              <a:ln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2400" b="1" dirty="0" smtClean="0"/>
                  <a:t>Per</a:t>
                </a:r>
                <a:endParaRPr lang="en-US" sz="2400" b="1" dirty="0"/>
              </a:p>
            </p:txBody>
          </p:sp>
          <p:sp>
            <p:nvSpPr>
              <p:cNvPr id="22" name="Can 21"/>
              <p:cNvSpPr/>
              <p:nvPr/>
            </p:nvSpPr>
            <p:spPr>
              <a:xfrm>
                <a:off x="5943600" y="2971800"/>
                <a:ext cx="914400" cy="493776"/>
              </a:xfrm>
              <a:prstGeom prst="can">
                <a:avLst/>
              </a:prstGeom>
            </p:spPr>
            <p:style>
              <a:lnRef idx="2">
                <a:schemeClr val="accent4">
                  <a:shade val="50000"/>
                </a:schemeClr>
              </a:lnRef>
              <a:fillRef idx="1">
                <a:schemeClr val="accent4"/>
              </a:fillRef>
              <a:effectRef idx="0">
                <a:schemeClr val="accent4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2400" b="1" dirty="0" smtClean="0"/>
                  <a:t>Multi</a:t>
                </a:r>
                <a:endParaRPr lang="en-US" sz="2400" b="1" dirty="0"/>
              </a:p>
            </p:txBody>
          </p:sp>
          <p:sp>
            <p:nvSpPr>
              <p:cNvPr id="25" name="Flowchart: Alternate Process 24"/>
              <p:cNvSpPr/>
              <p:nvPr/>
            </p:nvSpPr>
            <p:spPr>
              <a:xfrm>
                <a:off x="5943600" y="3581400"/>
                <a:ext cx="914400" cy="493776"/>
              </a:xfrm>
              <a:prstGeom prst="flowChartAlternateProcess">
                <a:avLst/>
              </a:prstGeom>
            </p:spPr>
            <p:style>
              <a:lnRef idx="2">
                <a:schemeClr val="accent6">
                  <a:shade val="50000"/>
                </a:schemeClr>
              </a:lnRef>
              <a:fillRef idx="1">
                <a:schemeClr val="accent6"/>
              </a:fillRef>
              <a:effectRef idx="0">
                <a:schemeClr val="accent6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2400" b="1" dirty="0" smtClean="0"/>
                  <a:t>All</a:t>
                </a:r>
                <a:endParaRPr lang="en-US" sz="2400" b="1" dirty="0"/>
              </a:p>
            </p:txBody>
          </p:sp>
        </p:grpSp>
        <p:sp>
          <p:nvSpPr>
            <p:cNvPr id="43" name="TextBox 42"/>
            <p:cNvSpPr txBox="1"/>
            <p:nvPr/>
          </p:nvSpPr>
          <p:spPr>
            <a:xfrm>
              <a:off x="7010400" y="3429000"/>
              <a:ext cx="943015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2400" b="1" dirty="0" smtClean="0"/>
                <a:t>Scope</a:t>
              </a:r>
              <a:endParaRPr lang="en-US" sz="2400" b="1" dirty="0"/>
            </a:p>
          </p:txBody>
        </p:sp>
      </p:grpSp>
      <p:grpSp>
        <p:nvGrpSpPr>
          <p:cNvPr id="50" name="Group 49"/>
          <p:cNvGrpSpPr/>
          <p:nvPr/>
        </p:nvGrpSpPr>
        <p:grpSpPr>
          <a:xfrm>
            <a:off x="4572000" y="5029200"/>
            <a:ext cx="1676400" cy="918865"/>
            <a:chOff x="4572000" y="5029200"/>
            <a:chExt cx="1676400" cy="918865"/>
          </a:xfrm>
        </p:grpSpPr>
        <p:grpSp>
          <p:nvGrpSpPr>
            <p:cNvPr id="27" name="Group 26"/>
            <p:cNvGrpSpPr/>
            <p:nvPr/>
          </p:nvGrpSpPr>
          <p:grpSpPr>
            <a:xfrm>
              <a:off x="4572000" y="5029200"/>
              <a:ext cx="1676400" cy="461665"/>
              <a:chOff x="3124200" y="4415135"/>
              <a:chExt cx="1676400" cy="461665"/>
            </a:xfrm>
          </p:grpSpPr>
          <p:sp>
            <p:nvSpPr>
              <p:cNvPr id="28" name="Rectangle 27"/>
              <p:cNvSpPr/>
              <p:nvPr/>
            </p:nvSpPr>
            <p:spPr>
              <a:xfrm>
                <a:off x="3124200" y="4419600"/>
                <a:ext cx="381000" cy="381000"/>
              </a:xfrm>
              <a:prstGeom prst="rect">
                <a:avLst/>
              </a:prstGeom>
            </p:spPr>
            <p:style>
              <a:lnRef idx="2">
                <a:schemeClr val="accent2">
                  <a:shade val="50000"/>
                </a:schemeClr>
              </a:lnRef>
              <a:fillRef idx="1">
                <a:schemeClr val="accent2"/>
              </a:fillRef>
              <a:effectRef idx="0">
                <a:schemeClr val="accent2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dirty="0" smtClean="0">
                    <a:sym typeface="Wingdings"/>
                  </a:rPr>
                  <a:t></a:t>
                </a:r>
                <a:endParaRPr lang="en-US" dirty="0"/>
              </a:p>
            </p:txBody>
          </p:sp>
          <p:sp>
            <p:nvSpPr>
              <p:cNvPr id="29" name="Rectangle 28"/>
              <p:cNvSpPr/>
              <p:nvPr/>
            </p:nvSpPr>
            <p:spPr>
              <a:xfrm>
                <a:off x="3581400" y="4419600"/>
                <a:ext cx="381000" cy="381000"/>
              </a:xfrm>
              <a:prstGeom prst="rect">
                <a:avLst/>
              </a:prstGeom>
            </p:spPr>
            <p:style>
              <a:lnRef idx="2">
                <a:schemeClr val="accent2">
                  <a:shade val="50000"/>
                </a:schemeClr>
              </a:lnRef>
              <a:fillRef idx="1">
                <a:schemeClr val="accent2"/>
              </a:fillRef>
              <a:effectRef idx="0">
                <a:schemeClr val="accent2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dirty="0" smtClean="0">
                    <a:sym typeface="Wingdings"/>
                  </a:rPr>
                  <a:t></a:t>
                </a:r>
                <a:endParaRPr lang="en-US" dirty="0"/>
              </a:p>
            </p:txBody>
          </p:sp>
          <p:sp>
            <p:nvSpPr>
              <p:cNvPr id="30" name="Rectangle 29"/>
              <p:cNvSpPr/>
              <p:nvPr/>
            </p:nvSpPr>
            <p:spPr>
              <a:xfrm>
                <a:off x="4038600" y="4419600"/>
                <a:ext cx="381000" cy="381000"/>
              </a:xfrm>
              <a:prstGeom prst="rect">
                <a:avLst/>
              </a:prstGeom>
            </p:spPr>
            <p:style>
              <a:lnRef idx="2">
                <a:schemeClr val="accent2">
                  <a:shade val="50000"/>
                </a:schemeClr>
              </a:lnRef>
              <a:fillRef idx="1">
                <a:schemeClr val="accent2"/>
              </a:fillRef>
              <a:effectRef idx="0">
                <a:schemeClr val="accent2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dirty="0" smtClean="0">
                    <a:sym typeface="Wingdings"/>
                  </a:rPr>
                  <a:t></a:t>
                </a:r>
                <a:endParaRPr lang="en-US" dirty="0"/>
              </a:p>
            </p:txBody>
          </p:sp>
          <p:sp>
            <p:nvSpPr>
              <p:cNvPr id="31" name="TextBox 30"/>
              <p:cNvSpPr txBox="1"/>
              <p:nvPr/>
            </p:nvSpPr>
            <p:spPr>
              <a:xfrm>
                <a:off x="4396322" y="4415135"/>
                <a:ext cx="404278" cy="46166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2400" b="1" dirty="0" smtClean="0">
                    <a:solidFill>
                      <a:schemeClr val="accent2"/>
                    </a:solidFill>
                  </a:rPr>
                  <a:t>…</a:t>
                </a:r>
                <a:endParaRPr lang="en-US" sz="2400" b="1" dirty="0">
                  <a:solidFill>
                    <a:schemeClr val="accent2"/>
                  </a:solidFill>
                </a:endParaRPr>
              </a:p>
            </p:txBody>
          </p:sp>
        </p:grpSp>
        <p:sp>
          <p:nvSpPr>
            <p:cNvPr id="44" name="TextBox 43"/>
            <p:cNvSpPr txBox="1"/>
            <p:nvPr/>
          </p:nvSpPr>
          <p:spPr>
            <a:xfrm>
              <a:off x="4572000" y="5486400"/>
              <a:ext cx="1524000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2400" b="1" dirty="0" smtClean="0"/>
                <a:t>LF</a:t>
              </a:r>
              <a:endParaRPr lang="en-US" sz="2400" b="1" dirty="0"/>
            </a:p>
          </p:txBody>
        </p:sp>
      </p:grpSp>
      <p:grpSp>
        <p:nvGrpSpPr>
          <p:cNvPr id="53" name="Group 52"/>
          <p:cNvGrpSpPr/>
          <p:nvPr/>
        </p:nvGrpSpPr>
        <p:grpSpPr>
          <a:xfrm>
            <a:off x="6553200" y="4648200"/>
            <a:ext cx="1676400" cy="1680865"/>
            <a:chOff x="6553200" y="4648200"/>
            <a:chExt cx="1676400" cy="1680865"/>
          </a:xfrm>
        </p:grpSpPr>
        <p:sp>
          <p:nvSpPr>
            <p:cNvPr id="45" name="TextBox 44"/>
            <p:cNvSpPr txBox="1"/>
            <p:nvPr/>
          </p:nvSpPr>
          <p:spPr>
            <a:xfrm>
              <a:off x="6553200" y="5867400"/>
              <a:ext cx="1524000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2400" b="1" dirty="0" smtClean="0"/>
                <a:t>LF+OP</a:t>
              </a:r>
              <a:endParaRPr lang="en-US" sz="2400" b="1" dirty="0"/>
            </a:p>
          </p:txBody>
        </p:sp>
        <p:grpSp>
          <p:nvGrpSpPr>
            <p:cNvPr id="47" name="Group 46"/>
            <p:cNvGrpSpPr/>
            <p:nvPr/>
          </p:nvGrpSpPr>
          <p:grpSpPr>
            <a:xfrm>
              <a:off x="6553200" y="4648200"/>
              <a:ext cx="1676400" cy="1219200"/>
              <a:chOff x="6553200" y="4648200"/>
              <a:chExt cx="1676400" cy="1219200"/>
            </a:xfrm>
          </p:grpSpPr>
          <p:grpSp>
            <p:nvGrpSpPr>
              <p:cNvPr id="32" name="Group 31"/>
              <p:cNvGrpSpPr/>
              <p:nvPr/>
            </p:nvGrpSpPr>
            <p:grpSpPr>
              <a:xfrm>
                <a:off x="6553200" y="5405735"/>
                <a:ext cx="1676400" cy="461665"/>
                <a:chOff x="3124200" y="4415135"/>
                <a:chExt cx="1676400" cy="461665"/>
              </a:xfrm>
            </p:grpSpPr>
            <p:sp>
              <p:nvSpPr>
                <p:cNvPr id="33" name="Rectangle 32"/>
                <p:cNvSpPr/>
                <p:nvPr/>
              </p:nvSpPr>
              <p:spPr>
                <a:xfrm>
                  <a:off x="3124200" y="4419600"/>
                  <a:ext cx="381000" cy="381000"/>
                </a:xfrm>
                <a:prstGeom prst="rect">
                  <a:avLst/>
                </a:prstGeom>
              </p:spPr>
              <p:style>
                <a:lnRef idx="2">
                  <a:schemeClr val="accent2">
                    <a:shade val="50000"/>
                  </a:schemeClr>
                </a:lnRef>
                <a:fillRef idx="1">
                  <a:schemeClr val="accent2"/>
                </a:fillRef>
                <a:effectRef idx="0">
                  <a:schemeClr val="accent2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dirty="0" smtClean="0">
                      <a:sym typeface="Wingdings"/>
                    </a:rPr>
                    <a:t>1</a:t>
                  </a:r>
                  <a:endParaRPr lang="en-US" dirty="0"/>
                </a:p>
              </p:txBody>
            </p:sp>
            <p:sp>
              <p:nvSpPr>
                <p:cNvPr id="34" name="Rectangle 33"/>
                <p:cNvSpPr/>
                <p:nvPr/>
              </p:nvSpPr>
              <p:spPr>
                <a:xfrm>
                  <a:off x="3581400" y="4419600"/>
                  <a:ext cx="381000" cy="381000"/>
                </a:xfrm>
                <a:prstGeom prst="rect">
                  <a:avLst/>
                </a:prstGeom>
              </p:spPr>
              <p:style>
                <a:lnRef idx="2">
                  <a:schemeClr val="accent2">
                    <a:shade val="50000"/>
                  </a:schemeClr>
                </a:lnRef>
                <a:fillRef idx="1">
                  <a:schemeClr val="accent2"/>
                </a:fillRef>
                <a:effectRef idx="0">
                  <a:schemeClr val="accent2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dirty="0" smtClean="0"/>
                    <a:t>2</a:t>
                  </a:r>
                  <a:endParaRPr lang="en-US" dirty="0"/>
                </a:p>
              </p:txBody>
            </p:sp>
            <p:sp>
              <p:nvSpPr>
                <p:cNvPr id="35" name="Rectangle 34"/>
                <p:cNvSpPr/>
                <p:nvPr/>
              </p:nvSpPr>
              <p:spPr>
                <a:xfrm>
                  <a:off x="4038600" y="4419600"/>
                  <a:ext cx="381000" cy="381000"/>
                </a:xfrm>
                <a:prstGeom prst="rect">
                  <a:avLst/>
                </a:prstGeom>
              </p:spPr>
              <p:style>
                <a:lnRef idx="2">
                  <a:schemeClr val="accent2">
                    <a:shade val="50000"/>
                  </a:schemeClr>
                </a:lnRef>
                <a:fillRef idx="1">
                  <a:schemeClr val="accent2"/>
                </a:fillRef>
                <a:effectRef idx="0">
                  <a:schemeClr val="accent2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dirty="0" smtClean="0">
                      <a:sym typeface="Wingdings"/>
                    </a:rPr>
                    <a:t>3</a:t>
                  </a:r>
                  <a:endParaRPr lang="en-US" dirty="0"/>
                </a:p>
              </p:txBody>
            </p:sp>
            <p:sp>
              <p:nvSpPr>
                <p:cNvPr id="36" name="TextBox 35"/>
                <p:cNvSpPr txBox="1"/>
                <p:nvPr/>
              </p:nvSpPr>
              <p:spPr>
                <a:xfrm>
                  <a:off x="4396322" y="4415135"/>
                  <a:ext cx="404278" cy="461665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r>
                    <a:rPr lang="en-US" sz="2400" b="1" dirty="0" smtClean="0">
                      <a:solidFill>
                        <a:schemeClr val="accent2"/>
                      </a:solidFill>
                    </a:rPr>
                    <a:t>…</a:t>
                  </a:r>
                  <a:endParaRPr lang="en-US" sz="2400" b="1" dirty="0">
                    <a:solidFill>
                      <a:schemeClr val="accent2"/>
                    </a:solidFill>
                  </a:endParaRPr>
                </a:p>
              </p:txBody>
            </p:sp>
          </p:grpSp>
          <p:grpSp>
            <p:nvGrpSpPr>
              <p:cNvPr id="37" name="Group 36"/>
              <p:cNvGrpSpPr/>
              <p:nvPr/>
            </p:nvGrpSpPr>
            <p:grpSpPr>
              <a:xfrm>
                <a:off x="6553200" y="4648200"/>
                <a:ext cx="1676400" cy="461665"/>
                <a:chOff x="3124200" y="4415135"/>
                <a:chExt cx="1676400" cy="461665"/>
              </a:xfrm>
            </p:grpSpPr>
            <p:sp>
              <p:nvSpPr>
                <p:cNvPr id="38" name="Rectangle 37"/>
                <p:cNvSpPr/>
                <p:nvPr/>
              </p:nvSpPr>
              <p:spPr>
                <a:xfrm>
                  <a:off x="3124200" y="4419600"/>
                  <a:ext cx="381000" cy="381000"/>
                </a:xfrm>
                <a:prstGeom prst="rect">
                  <a:avLst/>
                </a:prstGeom>
              </p:spPr>
              <p:style>
                <a:lnRef idx="2">
                  <a:schemeClr val="accent2">
                    <a:shade val="50000"/>
                  </a:schemeClr>
                </a:lnRef>
                <a:fillRef idx="1">
                  <a:schemeClr val="accent2"/>
                </a:fillRef>
                <a:effectRef idx="0">
                  <a:schemeClr val="accent2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dirty="0" smtClean="0">
                      <a:sym typeface="Wingdings"/>
                    </a:rPr>
                    <a:t></a:t>
                  </a:r>
                  <a:endParaRPr lang="en-US" dirty="0"/>
                </a:p>
              </p:txBody>
            </p:sp>
            <p:sp>
              <p:nvSpPr>
                <p:cNvPr id="39" name="Rectangle 38"/>
                <p:cNvSpPr/>
                <p:nvPr/>
              </p:nvSpPr>
              <p:spPr>
                <a:xfrm>
                  <a:off x="3581400" y="4419600"/>
                  <a:ext cx="381000" cy="381000"/>
                </a:xfrm>
                <a:prstGeom prst="rect">
                  <a:avLst/>
                </a:prstGeom>
              </p:spPr>
              <p:style>
                <a:lnRef idx="2">
                  <a:schemeClr val="accent2">
                    <a:shade val="50000"/>
                  </a:schemeClr>
                </a:lnRef>
                <a:fillRef idx="1">
                  <a:schemeClr val="accent2"/>
                </a:fillRef>
                <a:effectRef idx="0">
                  <a:schemeClr val="accent2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dirty="0" smtClean="0">
                      <a:sym typeface="Wingdings"/>
                    </a:rPr>
                    <a:t></a:t>
                  </a:r>
                  <a:endParaRPr lang="en-US" dirty="0"/>
                </a:p>
              </p:txBody>
            </p:sp>
            <p:sp>
              <p:nvSpPr>
                <p:cNvPr id="40" name="Rectangle 39"/>
                <p:cNvSpPr/>
                <p:nvPr/>
              </p:nvSpPr>
              <p:spPr>
                <a:xfrm>
                  <a:off x="4038600" y="4419600"/>
                  <a:ext cx="381000" cy="381000"/>
                </a:xfrm>
                <a:prstGeom prst="rect">
                  <a:avLst/>
                </a:prstGeom>
              </p:spPr>
              <p:style>
                <a:lnRef idx="2">
                  <a:schemeClr val="accent2">
                    <a:shade val="50000"/>
                  </a:schemeClr>
                </a:lnRef>
                <a:fillRef idx="1">
                  <a:schemeClr val="accent2"/>
                </a:fillRef>
                <a:effectRef idx="0">
                  <a:schemeClr val="accent2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dirty="0" smtClean="0">
                      <a:sym typeface="Wingdings"/>
                    </a:rPr>
                    <a:t></a:t>
                  </a:r>
                  <a:endParaRPr lang="en-US" dirty="0"/>
                </a:p>
              </p:txBody>
            </p:sp>
            <p:sp>
              <p:nvSpPr>
                <p:cNvPr id="41" name="TextBox 40"/>
                <p:cNvSpPr txBox="1"/>
                <p:nvPr/>
              </p:nvSpPr>
              <p:spPr>
                <a:xfrm>
                  <a:off x="4396322" y="4415135"/>
                  <a:ext cx="404278" cy="461665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r>
                    <a:rPr lang="en-US" sz="2400" b="1" dirty="0" smtClean="0">
                      <a:solidFill>
                        <a:schemeClr val="accent2"/>
                      </a:solidFill>
                    </a:rPr>
                    <a:t>…</a:t>
                  </a:r>
                  <a:endParaRPr lang="en-US" sz="2400" b="1" dirty="0">
                    <a:solidFill>
                      <a:schemeClr val="accent2"/>
                    </a:solidFill>
                  </a:endParaRPr>
                </a:p>
              </p:txBody>
            </p:sp>
          </p:grpSp>
          <p:sp>
            <p:nvSpPr>
              <p:cNvPr id="46" name="Rectangle 45"/>
              <p:cNvSpPr/>
              <p:nvPr/>
            </p:nvSpPr>
            <p:spPr>
              <a:xfrm>
                <a:off x="7086600" y="4948535"/>
                <a:ext cx="338554" cy="461665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r>
                  <a:rPr lang="en-US" sz="2400" b="1" dirty="0" smtClean="0">
                    <a:solidFill>
                      <a:schemeClr val="accent2"/>
                    </a:solidFill>
                  </a:rPr>
                  <a:t>+</a:t>
                </a:r>
              </a:p>
            </p:txBody>
          </p:sp>
        </p:grpSp>
      </p:grpSp>
      <p:grpSp>
        <p:nvGrpSpPr>
          <p:cNvPr id="52" name="Group 51"/>
          <p:cNvGrpSpPr/>
          <p:nvPr/>
        </p:nvGrpSpPr>
        <p:grpSpPr>
          <a:xfrm>
            <a:off x="2743200" y="4876800"/>
            <a:ext cx="1524000" cy="1143000"/>
            <a:chOff x="2743200" y="4876800"/>
            <a:chExt cx="1524000" cy="1143000"/>
          </a:xfrm>
        </p:grpSpPr>
        <p:sp>
          <p:nvSpPr>
            <p:cNvPr id="48" name="TextBox 47"/>
            <p:cNvSpPr txBox="1"/>
            <p:nvPr/>
          </p:nvSpPr>
          <p:spPr>
            <a:xfrm>
              <a:off x="2743200" y="5558135"/>
              <a:ext cx="1524000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2400" b="1" dirty="0" smtClean="0"/>
                <a:t>None</a:t>
              </a:r>
              <a:endParaRPr lang="en-US" sz="2400" b="1" dirty="0"/>
            </a:p>
          </p:txBody>
        </p:sp>
        <p:sp>
          <p:nvSpPr>
            <p:cNvPr id="49" name="&quot;No&quot; Symbol 48"/>
            <p:cNvSpPr/>
            <p:nvPr/>
          </p:nvSpPr>
          <p:spPr>
            <a:xfrm>
              <a:off x="3200400" y="4876800"/>
              <a:ext cx="609600" cy="609600"/>
            </a:xfrm>
            <a:prstGeom prst="noSmoking">
              <a:avLst>
                <a:gd name="adj" fmla="val 11864"/>
              </a:avLst>
            </a:prstGeom>
          </p:spPr>
          <p:style>
            <a:lnRef idx="2">
              <a:schemeClr val="accent2">
                <a:shade val="50000"/>
              </a:schemeClr>
            </a:lnRef>
            <a:fillRef idx="1">
              <a:schemeClr val="accent2"/>
            </a:fillRef>
            <a:effectRef idx="0">
              <a:schemeClr val="accent2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chemeClr val="tx1"/>
                </a:solidFill>
              </a:endParaRPr>
            </a:p>
          </p:txBody>
        </p:sp>
      </p:grpSp>
      <p:sp>
        <p:nvSpPr>
          <p:cNvPr id="51" name="Bent Arrow 50">
            <a:hlinkClick r:id="rId3" action="ppaction://hlinksldjump"/>
          </p:cNvPr>
          <p:cNvSpPr/>
          <p:nvPr/>
        </p:nvSpPr>
        <p:spPr>
          <a:xfrm flipH="1" flipV="1">
            <a:off x="381000" y="6172200"/>
            <a:ext cx="381000" cy="381000"/>
          </a:xfrm>
          <a:prstGeom prst="bentArrow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19"/>
          <p:cNvGrpSpPr/>
          <p:nvPr/>
        </p:nvGrpSpPr>
        <p:grpSpPr>
          <a:xfrm>
            <a:off x="5475779" y="2325950"/>
            <a:ext cx="958755" cy="921329"/>
            <a:chOff x="5475779" y="2325950"/>
            <a:chExt cx="958755" cy="921329"/>
          </a:xfrm>
        </p:grpSpPr>
        <p:sp>
          <p:nvSpPr>
            <p:cNvPr id="6" name="Cube 5"/>
            <p:cNvSpPr/>
            <p:nvPr/>
          </p:nvSpPr>
          <p:spPr>
            <a:xfrm>
              <a:off x="5475779" y="2623824"/>
              <a:ext cx="958755" cy="623455"/>
            </a:xfrm>
            <a:prstGeom prst="cube">
              <a:avLst>
                <a:gd name="adj" fmla="val 46428"/>
              </a:avLst>
            </a:prstGeom>
          </p:spPr>
          <p:style>
            <a:lnRef idx="0">
              <a:schemeClr val="accent6"/>
            </a:lnRef>
            <a:fillRef idx="3">
              <a:schemeClr val="accent6"/>
            </a:fillRef>
            <a:effectRef idx="3">
              <a:schemeClr val="accent6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pic>
          <p:nvPicPr>
            <p:cNvPr id="16" name="Picture 15"/>
            <p:cNvPicPr>
              <a:picLocks noChangeAspect="1"/>
            </p:cNvPicPr>
            <p:nvPr/>
          </p:nvPicPr>
          <p:blipFill>
            <a:blip r:embed="rId3" cstate="print">
              <a:extLst>
                <a:ext uri="{28A0092B-C50C-407E-A947-70E740481C1C}">
                  <a14:useLocalDpi xmlns:a14="http://schemas.microsoft.com/office/drawing/2010/main" xmlns="" val="0"/>
                </a:ext>
              </a:extLst>
            </a:blip>
            <a:stretch>
              <a:fillRect/>
            </a:stretch>
          </p:blipFill>
          <p:spPr>
            <a:xfrm>
              <a:off x="5636639" y="2325950"/>
              <a:ext cx="637033" cy="609601"/>
            </a:xfrm>
            <a:prstGeom prst="rect">
              <a:avLst/>
            </a:prstGeom>
          </p:spPr>
        </p:pic>
      </p:grpSp>
      <p:grpSp>
        <p:nvGrpSpPr>
          <p:cNvPr id="8" name="Group 18"/>
          <p:cNvGrpSpPr/>
          <p:nvPr/>
        </p:nvGrpSpPr>
        <p:grpSpPr>
          <a:xfrm>
            <a:off x="4127797" y="2319023"/>
            <a:ext cx="958755" cy="928256"/>
            <a:chOff x="4095593" y="2319023"/>
            <a:chExt cx="958755" cy="928256"/>
          </a:xfrm>
        </p:grpSpPr>
        <p:sp>
          <p:nvSpPr>
            <p:cNvPr id="9" name="Cube 8"/>
            <p:cNvSpPr/>
            <p:nvPr/>
          </p:nvSpPr>
          <p:spPr>
            <a:xfrm>
              <a:off x="4095593" y="2623824"/>
              <a:ext cx="958755" cy="623455"/>
            </a:xfrm>
            <a:prstGeom prst="cube">
              <a:avLst>
                <a:gd name="adj" fmla="val 46428"/>
              </a:avLst>
            </a:prstGeom>
          </p:spPr>
          <p:style>
            <a:lnRef idx="0">
              <a:schemeClr val="accent6"/>
            </a:lnRef>
            <a:fillRef idx="3">
              <a:schemeClr val="accent6"/>
            </a:fillRef>
            <a:effectRef idx="3">
              <a:schemeClr val="accent6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pic>
          <p:nvPicPr>
            <p:cNvPr id="15" name="Picture 14"/>
            <p:cNvPicPr>
              <a:picLocks noChangeAspect="1"/>
            </p:cNvPicPr>
            <p:nvPr/>
          </p:nvPicPr>
          <p:blipFill>
            <a:blip r:embed="rId3" cstate="print">
              <a:extLst>
                <a:ext uri="{28A0092B-C50C-407E-A947-70E740481C1C}">
                  <a14:useLocalDpi xmlns:a14="http://schemas.microsoft.com/office/drawing/2010/main" xmlns="" val="0"/>
                </a:ext>
              </a:extLst>
            </a:blip>
            <a:stretch>
              <a:fillRect/>
            </a:stretch>
          </p:blipFill>
          <p:spPr>
            <a:xfrm>
              <a:off x="4249999" y="2319023"/>
              <a:ext cx="637033" cy="609601"/>
            </a:xfrm>
            <a:prstGeom prst="rect">
              <a:avLst/>
            </a:prstGeom>
          </p:spPr>
        </p:pic>
      </p:grpSp>
      <p:grpSp>
        <p:nvGrpSpPr>
          <p:cNvPr id="17" name="Group 17"/>
          <p:cNvGrpSpPr/>
          <p:nvPr/>
        </p:nvGrpSpPr>
        <p:grpSpPr>
          <a:xfrm>
            <a:off x="2721847" y="2292863"/>
            <a:ext cx="958755" cy="954416"/>
            <a:chOff x="2721847" y="2292863"/>
            <a:chExt cx="958755" cy="954416"/>
          </a:xfrm>
        </p:grpSpPr>
        <p:sp>
          <p:nvSpPr>
            <p:cNvPr id="5" name="Cube 4"/>
            <p:cNvSpPr/>
            <p:nvPr/>
          </p:nvSpPr>
          <p:spPr>
            <a:xfrm>
              <a:off x="2721847" y="2623824"/>
              <a:ext cx="958755" cy="623455"/>
            </a:xfrm>
            <a:prstGeom prst="cube">
              <a:avLst>
                <a:gd name="adj" fmla="val 46428"/>
              </a:avLst>
            </a:prstGeom>
          </p:spPr>
          <p:style>
            <a:lnRef idx="0">
              <a:schemeClr val="accent6"/>
            </a:lnRef>
            <a:fillRef idx="3">
              <a:schemeClr val="accent6"/>
            </a:fillRef>
            <a:effectRef idx="3">
              <a:schemeClr val="accent6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pic>
          <p:nvPicPr>
            <p:cNvPr id="14" name="Picture 13"/>
            <p:cNvPicPr>
              <a:picLocks noChangeAspect="1"/>
            </p:cNvPicPr>
            <p:nvPr/>
          </p:nvPicPr>
          <p:blipFill>
            <a:blip r:embed="rId3" cstate="print">
              <a:extLst>
                <a:ext uri="{28A0092B-C50C-407E-A947-70E740481C1C}">
                  <a14:useLocalDpi xmlns:a14="http://schemas.microsoft.com/office/drawing/2010/main" xmlns="" val="0"/>
                </a:ext>
              </a:extLst>
            </a:blip>
            <a:stretch>
              <a:fillRect/>
            </a:stretch>
          </p:blipFill>
          <p:spPr>
            <a:xfrm>
              <a:off x="2882707" y="2292863"/>
              <a:ext cx="637033" cy="609601"/>
            </a:xfrm>
            <a:prstGeom prst="rect">
              <a:avLst/>
            </a:prstGeom>
          </p:spPr>
        </p:pic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 smtClean="0"/>
              <a:t>Example app: elastic NF scaling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3644721"/>
            <a:ext cx="8229600" cy="2717442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2000" dirty="0" err="1" smtClean="0">
                <a:latin typeface="Lucida Console" panose="020B0609040504020204" pitchFamily="49" charset="0"/>
              </a:rPr>
              <a:t>movePrefix</a:t>
            </a:r>
            <a:r>
              <a:rPr lang="en-US" sz="2000" dirty="0" smtClean="0">
                <a:latin typeface="Lucida Console" panose="020B0609040504020204" pitchFamily="49" charset="0"/>
              </a:rPr>
              <a:t>(</a:t>
            </a:r>
            <a:r>
              <a:rPr lang="en-US" sz="2000" dirty="0" err="1" smtClean="0">
                <a:latin typeface="Lucida Console" panose="020B0609040504020204" pitchFamily="49" charset="0"/>
              </a:rPr>
              <a:t>prefix,oldInst,newInst</a:t>
            </a:r>
            <a:r>
              <a:rPr lang="en-US" sz="2000" dirty="0" smtClean="0">
                <a:latin typeface="Lucida Console" panose="020B0609040504020204" pitchFamily="49" charset="0"/>
              </a:rPr>
              <a:t>):</a:t>
            </a:r>
            <a:endParaRPr lang="en-US" sz="2000" dirty="0">
              <a:latin typeface="Lucida Console" panose="020B0609040504020204" pitchFamily="49" charset="0"/>
            </a:endParaRPr>
          </a:p>
          <a:p>
            <a:pPr marL="0" indent="0">
              <a:buNone/>
            </a:pPr>
            <a:r>
              <a:rPr lang="en-US" sz="2000" dirty="0" smtClean="0">
                <a:latin typeface="Lucida Console" panose="020B0609040504020204" pitchFamily="49" charset="0"/>
              </a:rPr>
              <a:t>  copy(</a:t>
            </a:r>
            <a:r>
              <a:rPr lang="en-US" sz="2000" dirty="0" err="1" smtClean="0">
                <a:latin typeface="Lucida Console" panose="020B0609040504020204" pitchFamily="49" charset="0"/>
              </a:rPr>
              <a:t>oldInst,newInst</a:t>
            </a:r>
            <a:r>
              <a:rPr lang="en-US" sz="2000" dirty="0" smtClean="0">
                <a:latin typeface="Lucida Console" panose="020B0609040504020204" pitchFamily="49" charset="0"/>
              </a:rPr>
              <a:t>,{</a:t>
            </a:r>
            <a:r>
              <a:rPr lang="en-US" sz="2000" dirty="0" err="1" smtClean="0">
                <a:latin typeface="Lucida Console" panose="020B0609040504020204" pitchFamily="49" charset="0"/>
              </a:rPr>
              <a:t>nw_src:prefix</a:t>
            </a:r>
            <a:r>
              <a:rPr lang="en-US" sz="2000" dirty="0" smtClean="0">
                <a:latin typeface="Lucida Console" panose="020B0609040504020204" pitchFamily="49" charset="0"/>
              </a:rPr>
              <a:t>},multi)</a:t>
            </a:r>
          </a:p>
          <a:p>
            <a:pPr marL="0" indent="0">
              <a:buNone/>
            </a:pPr>
            <a:r>
              <a:rPr lang="en-US" sz="2000" dirty="0" smtClean="0">
                <a:latin typeface="Lucida Console" panose="020B0609040504020204" pitchFamily="49" charset="0"/>
              </a:rPr>
              <a:t>  move(</a:t>
            </a:r>
            <a:r>
              <a:rPr lang="en-US" sz="2000" dirty="0" err="1" smtClean="0">
                <a:latin typeface="Lucida Console" panose="020B0609040504020204" pitchFamily="49" charset="0"/>
              </a:rPr>
              <a:t>oldInst,newInst</a:t>
            </a:r>
            <a:r>
              <a:rPr lang="en-US" sz="2000" dirty="0" smtClean="0">
                <a:latin typeface="Lucida Console" panose="020B0609040504020204" pitchFamily="49" charset="0"/>
              </a:rPr>
              <a:t>,{</a:t>
            </a:r>
            <a:r>
              <a:rPr lang="en-US" sz="2000" dirty="0" err="1" smtClean="0">
                <a:latin typeface="Lucida Console" panose="020B0609040504020204" pitchFamily="49" charset="0"/>
              </a:rPr>
              <a:t>nw_src:prefix</a:t>
            </a:r>
            <a:r>
              <a:rPr lang="en-US" sz="2000" dirty="0" smtClean="0">
                <a:latin typeface="Lucida Console" panose="020B0609040504020204" pitchFamily="49" charset="0"/>
              </a:rPr>
              <a:t>},</a:t>
            </a:r>
            <a:r>
              <a:rPr lang="en-US" sz="2000" dirty="0" err="1" smtClean="0">
                <a:latin typeface="Lucida Console" panose="020B0609040504020204" pitchFamily="49" charset="0"/>
              </a:rPr>
              <a:t>per,LF+OP</a:t>
            </a:r>
            <a:r>
              <a:rPr lang="en-US" sz="2000" dirty="0" smtClean="0">
                <a:latin typeface="Lucida Console" panose="020B0609040504020204" pitchFamily="49" charset="0"/>
              </a:rPr>
              <a:t>)</a:t>
            </a:r>
          </a:p>
          <a:p>
            <a:pPr marL="0" indent="0">
              <a:buNone/>
            </a:pPr>
            <a:r>
              <a:rPr lang="en-US" sz="2000" dirty="0" smtClean="0">
                <a:latin typeface="Lucida Console" panose="020B0609040504020204" pitchFamily="49" charset="0"/>
              </a:rPr>
              <a:t>  while (true):</a:t>
            </a:r>
          </a:p>
          <a:p>
            <a:pPr marL="0" indent="0">
              <a:buNone/>
            </a:pPr>
            <a:r>
              <a:rPr lang="en-US" sz="2000" dirty="0" smtClean="0">
                <a:latin typeface="Lucida Console" panose="020B0609040504020204" pitchFamily="49" charset="0"/>
              </a:rPr>
              <a:t>    sleep(60)</a:t>
            </a:r>
          </a:p>
          <a:p>
            <a:pPr marL="0" indent="0">
              <a:buNone/>
            </a:pPr>
            <a:r>
              <a:rPr lang="en-US" sz="2000" dirty="0">
                <a:latin typeface="Lucida Console" panose="020B0609040504020204" pitchFamily="49" charset="0"/>
              </a:rPr>
              <a:t> </a:t>
            </a:r>
            <a:r>
              <a:rPr lang="en-US" sz="2000" dirty="0" smtClean="0">
                <a:latin typeface="Lucida Console" panose="020B0609040504020204" pitchFamily="49" charset="0"/>
              </a:rPr>
              <a:t>   copy(</a:t>
            </a:r>
            <a:r>
              <a:rPr lang="en-US" sz="2000" dirty="0" err="1" smtClean="0">
                <a:latin typeface="Lucida Console" panose="020B0609040504020204" pitchFamily="49" charset="0"/>
              </a:rPr>
              <a:t>oldInst,newInst</a:t>
            </a:r>
            <a:r>
              <a:rPr lang="en-US" sz="2000" dirty="0">
                <a:latin typeface="Lucida Console" panose="020B0609040504020204" pitchFamily="49" charset="0"/>
              </a:rPr>
              <a:t>,{</a:t>
            </a:r>
            <a:r>
              <a:rPr lang="en-US" sz="2000" dirty="0" err="1">
                <a:latin typeface="Lucida Console" panose="020B0609040504020204" pitchFamily="49" charset="0"/>
              </a:rPr>
              <a:t>nw_src:prefix</a:t>
            </a:r>
            <a:r>
              <a:rPr lang="en-US" sz="2000" dirty="0">
                <a:latin typeface="Lucida Console" panose="020B0609040504020204" pitchFamily="49" charset="0"/>
              </a:rPr>
              <a:t>},multi</a:t>
            </a:r>
            <a:r>
              <a:rPr lang="en-US" sz="2000" dirty="0" smtClean="0">
                <a:latin typeface="Lucida Console" panose="020B0609040504020204" pitchFamily="49" charset="0"/>
              </a:rPr>
              <a:t>)</a:t>
            </a:r>
          </a:p>
          <a:p>
            <a:pPr marL="0" indent="0">
              <a:buNone/>
            </a:pPr>
            <a:r>
              <a:rPr lang="en-US" sz="2000" dirty="0">
                <a:latin typeface="Lucida Console" panose="020B0609040504020204" pitchFamily="49" charset="0"/>
              </a:rPr>
              <a:t> </a:t>
            </a:r>
            <a:r>
              <a:rPr lang="en-US" sz="2000" dirty="0" smtClean="0">
                <a:latin typeface="Lucida Console" panose="020B0609040504020204" pitchFamily="49" charset="0"/>
              </a:rPr>
              <a:t>   copy(</a:t>
            </a:r>
            <a:r>
              <a:rPr lang="en-US" sz="2000" dirty="0" err="1" smtClean="0">
                <a:latin typeface="Lucida Console" panose="020B0609040504020204" pitchFamily="49" charset="0"/>
              </a:rPr>
              <a:t>newInst,oldInst</a:t>
            </a:r>
            <a:r>
              <a:rPr lang="en-US" sz="2000" dirty="0" smtClean="0">
                <a:latin typeface="Lucida Console" panose="020B0609040504020204" pitchFamily="49" charset="0"/>
              </a:rPr>
              <a:t>,{</a:t>
            </a:r>
            <a:r>
              <a:rPr lang="en-US" sz="2000" dirty="0" err="1" smtClean="0">
                <a:latin typeface="Lucida Console" panose="020B0609040504020204" pitchFamily="49" charset="0"/>
              </a:rPr>
              <a:t>nw_src:prefix</a:t>
            </a:r>
            <a:r>
              <a:rPr lang="en-US" sz="2000" dirty="0" smtClean="0">
                <a:latin typeface="Lucida Console" panose="020B0609040504020204" pitchFamily="49" charset="0"/>
              </a:rPr>
              <a:t>},multi)</a:t>
            </a:r>
            <a:endParaRPr lang="en-US" sz="2000" dirty="0">
              <a:latin typeface="Lucida Console" panose="020B0609040504020204" pitchFamily="49" charset="0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457200" y="2255313"/>
            <a:ext cx="1554785" cy="923330"/>
          </a:xfrm>
          <a:prstGeom prst="rect">
            <a:avLst/>
          </a:prstGeom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wrap="none" rtlCol="0">
            <a:spAutoFit/>
          </a:bodyPr>
          <a:lstStyle/>
          <a:p>
            <a:r>
              <a:rPr lang="en-US" dirty="0" err="1" smtClean="0"/>
              <a:t>scan.bro</a:t>
            </a:r>
            <a:endParaRPr lang="en-US" dirty="0" smtClean="0"/>
          </a:p>
          <a:p>
            <a:r>
              <a:rPr lang="en-US" dirty="0" err="1"/>
              <a:t>v</a:t>
            </a:r>
            <a:r>
              <a:rPr lang="en-US" dirty="0" err="1" smtClean="0"/>
              <a:t>ulnerable.bro</a:t>
            </a:r>
            <a:endParaRPr lang="en-US" dirty="0" smtClean="0"/>
          </a:p>
          <a:p>
            <a:r>
              <a:rPr lang="en-US" dirty="0" err="1" smtClean="0"/>
              <a:t>weird.bro</a:t>
            </a:r>
            <a:endParaRPr lang="en-US" dirty="0"/>
          </a:p>
        </p:txBody>
      </p:sp>
      <p:pic>
        <p:nvPicPr>
          <p:cNvPr id="10" name="Picture 9"/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tretch>
            <a:fillRect/>
          </a:stretch>
        </p:blipFill>
        <p:spPr>
          <a:xfrm>
            <a:off x="4458119" y="1568616"/>
            <a:ext cx="596229" cy="593543"/>
          </a:xfrm>
          <a:prstGeom prst="rect">
            <a:avLst/>
          </a:prstGeom>
        </p:spPr>
      </p:pic>
      <p:sp>
        <p:nvSpPr>
          <p:cNvPr id="11" name="Freeform 10"/>
          <p:cNvSpPr/>
          <p:nvPr/>
        </p:nvSpPr>
        <p:spPr>
          <a:xfrm>
            <a:off x="2882707" y="1568616"/>
            <a:ext cx="1692263" cy="1804430"/>
          </a:xfrm>
          <a:custGeom>
            <a:avLst/>
            <a:gdLst>
              <a:gd name="connsiteX0" fmla="*/ 1105468 w 1130489"/>
              <a:gd name="connsiteY0" fmla="*/ 0 h 1665027"/>
              <a:gd name="connsiteX1" fmla="*/ 982638 w 1130489"/>
              <a:gd name="connsiteY1" fmla="*/ 341194 h 1665027"/>
              <a:gd name="connsiteX2" fmla="*/ 218364 w 1130489"/>
              <a:gd name="connsiteY2" fmla="*/ 1064526 h 1665027"/>
              <a:gd name="connsiteX3" fmla="*/ 0 w 1130489"/>
              <a:gd name="connsiteY3" fmla="*/ 1665027 h 166502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130489" h="1665027">
                <a:moveTo>
                  <a:pt x="1105468" y="0"/>
                </a:moveTo>
                <a:cubicBezTo>
                  <a:pt x="1117978" y="81886"/>
                  <a:pt x="1130489" y="163773"/>
                  <a:pt x="982638" y="341194"/>
                </a:cubicBezTo>
                <a:cubicBezTo>
                  <a:pt x="834787" y="518615"/>
                  <a:pt x="382137" y="843887"/>
                  <a:pt x="218364" y="1064526"/>
                </a:cubicBezTo>
                <a:cubicBezTo>
                  <a:pt x="54591" y="1285165"/>
                  <a:pt x="27295" y="1475096"/>
                  <a:pt x="0" y="1665027"/>
                </a:cubicBezTo>
              </a:path>
            </a:pathLst>
          </a:custGeom>
          <a:ln w="76200">
            <a:solidFill>
              <a:schemeClr val="accent5"/>
            </a:solidFill>
            <a:tailEnd type="arrow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Freeform 11"/>
          <p:cNvSpPr/>
          <p:nvPr/>
        </p:nvSpPr>
        <p:spPr>
          <a:xfrm flipH="1">
            <a:off x="4893969" y="1568616"/>
            <a:ext cx="1061185" cy="1752914"/>
          </a:xfrm>
          <a:custGeom>
            <a:avLst/>
            <a:gdLst>
              <a:gd name="connsiteX0" fmla="*/ 1105468 w 1130489"/>
              <a:gd name="connsiteY0" fmla="*/ 0 h 1665027"/>
              <a:gd name="connsiteX1" fmla="*/ 982638 w 1130489"/>
              <a:gd name="connsiteY1" fmla="*/ 341194 h 1665027"/>
              <a:gd name="connsiteX2" fmla="*/ 218364 w 1130489"/>
              <a:gd name="connsiteY2" fmla="*/ 1064526 h 1665027"/>
              <a:gd name="connsiteX3" fmla="*/ 0 w 1130489"/>
              <a:gd name="connsiteY3" fmla="*/ 1665027 h 166502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130489" h="1665027">
                <a:moveTo>
                  <a:pt x="1105468" y="0"/>
                </a:moveTo>
                <a:cubicBezTo>
                  <a:pt x="1117978" y="81886"/>
                  <a:pt x="1130489" y="163773"/>
                  <a:pt x="982638" y="341194"/>
                </a:cubicBezTo>
                <a:cubicBezTo>
                  <a:pt x="834787" y="518615"/>
                  <a:pt x="382137" y="843887"/>
                  <a:pt x="218364" y="1064526"/>
                </a:cubicBezTo>
                <a:cubicBezTo>
                  <a:pt x="54591" y="1285165"/>
                  <a:pt x="27295" y="1475096"/>
                  <a:pt x="0" y="1665027"/>
                </a:cubicBezTo>
              </a:path>
            </a:pathLst>
          </a:custGeom>
          <a:ln w="76200">
            <a:solidFill>
              <a:schemeClr val="accent3"/>
            </a:solidFill>
            <a:tailEnd type="arrow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Freeform 12"/>
          <p:cNvSpPr/>
          <p:nvPr/>
        </p:nvSpPr>
        <p:spPr>
          <a:xfrm>
            <a:off x="4458119" y="1568615"/>
            <a:ext cx="298113" cy="1752915"/>
          </a:xfrm>
          <a:custGeom>
            <a:avLst/>
            <a:gdLst>
              <a:gd name="connsiteX0" fmla="*/ 1105468 w 1130489"/>
              <a:gd name="connsiteY0" fmla="*/ 0 h 1665027"/>
              <a:gd name="connsiteX1" fmla="*/ 982638 w 1130489"/>
              <a:gd name="connsiteY1" fmla="*/ 341194 h 1665027"/>
              <a:gd name="connsiteX2" fmla="*/ 218364 w 1130489"/>
              <a:gd name="connsiteY2" fmla="*/ 1064526 h 1665027"/>
              <a:gd name="connsiteX3" fmla="*/ 0 w 1130489"/>
              <a:gd name="connsiteY3" fmla="*/ 1665027 h 166502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130489" h="1665027">
                <a:moveTo>
                  <a:pt x="1105468" y="0"/>
                </a:moveTo>
                <a:cubicBezTo>
                  <a:pt x="1117978" y="81886"/>
                  <a:pt x="1130489" y="163773"/>
                  <a:pt x="982638" y="341194"/>
                </a:cubicBezTo>
                <a:cubicBezTo>
                  <a:pt x="834787" y="518615"/>
                  <a:pt x="382137" y="843887"/>
                  <a:pt x="218364" y="1064526"/>
                </a:cubicBezTo>
                <a:cubicBezTo>
                  <a:pt x="54591" y="1285165"/>
                  <a:pt x="27295" y="1475096"/>
                  <a:pt x="0" y="1665027"/>
                </a:cubicBezTo>
              </a:path>
            </a:pathLst>
          </a:custGeom>
          <a:ln w="76200">
            <a:solidFill>
              <a:schemeClr val="accent2"/>
            </a:solidFill>
            <a:tailEnd type="arrow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2" name="Freeform 21"/>
          <p:cNvSpPr/>
          <p:nvPr/>
        </p:nvSpPr>
        <p:spPr>
          <a:xfrm>
            <a:off x="3201224" y="1617582"/>
            <a:ext cx="1555008" cy="1801149"/>
          </a:xfrm>
          <a:custGeom>
            <a:avLst/>
            <a:gdLst>
              <a:gd name="connsiteX0" fmla="*/ 1105468 w 1130489"/>
              <a:gd name="connsiteY0" fmla="*/ 0 h 1665027"/>
              <a:gd name="connsiteX1" fmla="*/ 982638 w 1130489"/>
              <a:gd name="connsiteY1" fmla="*/ 341194 h 1665027"/>
              <a:gd name="connsiteX2" fmla="*/ 218364 w 1130489"/>
              <a:gd name="connsiteY2" fmla="*/ 1064526 h 1665027"/>
              <a:gd name="connsiteX3" fmla="*/ 0 w 1130489"/>
              <a:gd name="connsiteY3" fmla="*/ 1665027 h 166502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130489" h="1665027">
                <a:moveTo>
                  <a:pt x="1105468" y="0"/>
                </a:moveTo>
                <a:cubicBezTo>
                  <a:pt x="1117978" y="81886"/>
                  <a:pt x="1130489" y="163773"/>
                  <a:pt x="982638" y="341194"/>
                </a:cubicBezTo>
                <a:cubicBezTo>
                  <a:pt x="834787" y="518615"/>
                  <a:pt x="382137" y="843887"/>
                  <a:pt x="218364" y="1064526"/>
                </a:cubicBezTo>
                <a:cubicBezTo>
                  <a:pt x="54591" y="1285165"/>
                  <a:pt x="27295" y="1475096"/>
                  <a:pt x="0" y="1665027"/>
                </a:cubicBezTo>
              </a:path>
            </a:pathLst>
          </a:custGeom>
          <a:ln w="76200">
            <a:solidFill>
              <a:schemeClr val="accent2"/>
            </a:solidFill>
            <a:tailEnd type="arrow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26" name="Straight Arrow Connector 25"/>
          <p:cNvCxnSpPr/>
          <p:nvPr/>
        </p:nvCxnSpPr>
        <p:spPr>
          <a:xfrm flipH="1" flipV="1">
            <a:off x="3624289" y="3216061"/>
            <a:ext cx="209098" cy="428660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28" name="Straight Arrow Connector 27"/>
          <p:cNvCxnSpPr/>
          <p:nvPr/>
        </p:nvCxnSpPr>
        <p:spPr>
          <a:xfrm flipH="1" flipV="1">
            <a:off x="5007144" y="3230159"/>
            <a:ext cx="209098" cy="414562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29" name="Straight Arrow Connector 28"/>
          <p:cNvCxnSpPr/>
          <p:nvPr/>
        </p:nvCxnSpPr>
        <p:spPr>
          <a:xfrm flipV="1">
            <a:off x="2882707" y="3321530"/>
            <a:ext cx="221101" cy="323191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36" name="Can 35"/>
          <p:cNvSpPr/>
          <p:nvPr/>
        </p:nvSpPr>
        <p:spPr>
          <a:xfrm>
            <a:off x="2434102" y="2630750"/>
            <a:ext cx="386366" cy="355997"/>
          </a:xfrm>
          <a:prstGeom prst="can">
            <a:avLst/>
          </a:prstGeom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7" name="Can 36"/>
          <p:cNvSpPr/>
          <p:nvPr/>
        </p:nvSpPr>
        <p:spPr>
          <a:xfrm>
            <a:off x="2417158" y="2637024"/>
            <a:ext cx="386366" cy="355997"/>
          </a:xfrm>
          <a:prstGeom prst="can">
            <a:avLst/>
          </a:prstGeom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8" name="Cube 37"/>
          <p:cNvSpPr/>
          <p:nvPr/>
        </p:nvSpPr>
        <p:spPr>
          <a:xfrm>
            <a:off x="2402593" y="3028977"/>
            <a:ext cx="353476" cy="374168"/>
          </a:xfrm>
          <a:prstGeom prst="cube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1" dirty="0"/>
          </a:p>
        </p:txBody>
      </p:sp>
      <p:sp>
        <p:nvSpPr>
          <p:cNvPr id="41" name="Can 40"/>
          <p:cNvSpPr/>
          <p:nvPr/>
        </p:nvSpPr>
        <p:spPr>
          <a:xfrm>
            <a:off x="2417158" y="2623823"/>
            <a:ext cx="386366" cy="355997"/>
          </a:xfrm>
          <a:prstGeom prst="can">
            <a:avLst/>
          </a:prstGeom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0" name="Slide Number Placeholder 29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2C5A87-65DC-41FD-9E53-7EAC48455B9A}" type="slidenum">
              <a:rPr lang="en-US" smtClean="0"/>
              <a:pPr/>
              <a:t>29</a:t>
            </a:fld>
            <a:endParaRPr lang="en-US" dirty="0"/>
          </a:p>
        </p:txBody>
      </p:sp>
      <p:sp>
        <p:nvSpPr>
          <p:cNvPr id="27" name="Bent Arrow 26">
            <a:hlinkClick r:id="rId5" action="ppaction://hlinksldjump"/>
          </p:cNvPr>
          <p:cNvSpPr/>
          <p:nvPr/>
        </p:nvSpPr>
        <p:spPr>
          <a:xfrm flipH="1" flipV="1">
            <a:off x="381000" y="6172200"/>
            <a:ext cx="381000" cy="381000"/>
          </a:xfrm>
          <a:prstGeom prst="bentArrow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26" presetClass="emph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8" dur="500" tmFilter="0, 0; .2, .5; .8, .5; 1, 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9" dur="250" autoRev="1" fill="hold"/>
                                        <p:tgtEl>
                                          <p:spTgt spid="22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4" presetID="26" presetClass="emp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5" dur="500" tmFilter="0, 0; .2, .5; .8, .5; 1, 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16" dur="250" autoRev="1" fill="hold"/>
                                        <p:tgtEl>
                                          <p:spTgt spid="17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26" presetClass="emp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2" dur="500" tmFilter="0, 0; .2, .5; .8, .5; 1, 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23" dur="250" autoRev="1" fill="hold"/>
                                        <p:tgtEl>
                                          <p:spTgt spid="8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8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0" presetID="1" presetClass="entr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63" presetClass="path" presetSubtype="0" accel="50000" decel="5000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3.33333E-6 2.99722E-6 L 0.15677 2.99722E-6 " pathEditMode="relative" rAng="0" ptsTypes="AA">
                                      <p:cBhvr>
                                        <p:cTn id="34" dur="2000" fill="hold"/>
                                        <p:tgtEl>
                                          <p:spTgt spid="37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7830" y="0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1" presetID="63" presetClass="path" presetSubtype="0" accel="50000" decel="5000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4.44444E-6 2.35893E-6 L 0.16025 2.35893E-6 " pathEditMode="relative" rAng="0" ptsTypes="AA">
                                      <p:cBhvr>
                                        <p:cTn id="42" dur="2000" fill="hold"/>
                                        <p:tgtEl>
                                          <p:spTgt spid="38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8003" y="0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3" fill="hold">
                            <p:stCondLst>
                              <p:cond delay="2000"/>
                            </p:stCondLst>
                            <p:childTnLst>
                              <p:par>
                                <p:cTn id="44" presetID="22" presetClass="exit" presetSubtype="4" fill="hold" grpId="2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down)">
                                      <p:cBhvr>
                                        <p:cTn id="45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7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9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0" fill="hold">
                      <p:stCondLst>
                        <p:cond delay="indefinite"/>
                      </p:stCondLst>
                      <p:childTnLst>
                        <p:par>
                          <p:cTn id="51" fill="hold">
                            <p:stCondLst>
                              <p:cond delay="0"/>
                            </p:stCondLst>
                            <p:childTnLst>
                              <p:par>
                                <p:cTn id="52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4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6" fill="hold">
                      <p:stCondLst>
                        <p:cond delay="indefinite"/>
                      </p:stCondLst>
                      <p:childTnLst>
                        <p:par>
                          <p:cTn id="57" fill="hold">
                            <p:stCondLst>
                              <p:cond delay="0"/>
                            </p:stCondLst>
                            <p:childTnLst>
                              <p:par>
                                <p:cTn id="58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0" presetID="1" presetClass="entr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2" fill="hold">
                            <p:stCondLst>
                              <p:cond delay="0"/>
                            </p:stCondLst>
                            <p:childTnLst>
                              <p:par>
                                <p:cTn id="63" presetID="63" presetClass="path" presetSubtype="0" accel="50000" decel="5000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3.33333E-6 2.99722E-6 L 0.15677 2.99722E-6 " pathEditMode="relative" rAng="0" ptsTypes="AA">
                                      <p:cBhvr>
                                        <p:cTn id="64" dur="2000" fill="hold"/>
                                        <p:tgtEl>
                                          <p:spTgt spid="41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7830" y="0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5" fill="hold">
                      <p:stCondLst>
                        <p:cond delay="indefinite"/>
                      </p:stCondLst>
                      <p:childTnLst>
                        <p:par>
                          <p:cTn id="66" fill="hold">
                            <p:stCondLst>
                              <p:cond delay="0"/>
                            </p:stCondLst>
                            <p:childTnLst>
                              <p:par>
                                <p:cTn id="6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35" presetClass="path" presetSubtype="0" accel="50000" decel="50000" fill="hold" grpId="2" nodeType="after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.15677 0.00185 L 3.33333E-6 0.00185 " pathEditMode="relative" rAng="0" ptsTypes="AA">
                                      <p:cBhvr>
                                        <p:cTn id="71" dur="2000" fill="hold"/>
                                        <p:tgtEl>
                                          <p:spTgt spid="41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7847" y="0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  <p:bldP spid="13" grpId="0" uiExpand="1" animBg="1"/>
      <p:bldP spid="22" grpId="1" uiExpand="1" animBg="1"/>
      <p:bldP spid="22" grpId="2" uiExpand="1" animBg="1"/>
      <p:bldP spid="36" grpId="0" uiExpand="1" animBg="1"/>
      <p:bldP spid="37" grpId="0" uiExpand="1" animBg="1"/>
      <p:bldP spid="37" grpId="1" uiExpand="1" animBg="1"/>
      <p:bldP spid="38" grpId="0" uiExpand="1" animBg="1"/>
      <p:bldP spid="38" grpId="1" uiExpand="1" animBg="1"/>
      <p:bldP spid="41" grpId="0" uiExpand="1" animBg="1"/>
      <p:bldP spid="41" grpId="1" uiExpand="1" animBg="1"/>
      <p:bldP spid="41" grpId="2" animBg="1"/>
    </p:bld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Evaluation: controller scalability</a:t>
            </a:r>
            <a:endParaRPr lang="en-US" dirty="0"/>
          </a:p>
        </p:txBody>
      </p:sp>
      <p:sp>
        <p:nvSpPr>
          <p:cNvPr id="9" name="Content Placeholder 8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endParaRPr lang="en-US" dirty="0" smtClean="0"/>
          </a:p>
          <a:p>
            <a:endParaRPr lang="en-US" dirty="0" smtClean="0"/>
          </a:p>
          <a:p>
            <a:endParaRPr lang="en-US" dirty="0" smtClean="0"/>
          </a:p>
          <a:p>
            <a:endParaRPr lang="en-US" dirty="0" smtClean="0"/>
          </a:p>
          <a:p>
            <a:endParaRPr lang="en-US" dirty="0" smtClean="0"/>
          </a:p>
          <a:p>
            <a:pPr lvl="1">
              <a:buNone/>
            </a:pPr>
            <a:endParaRPr lang="en-US" dirty="0" smtClean="0"/>
          </a:p>
          <a:p>
            <a:pPr algn="ctr">
              <a:buNone/>
            </a:pPr>
            <a:r>
              <a:rPr lang="en-US" dirty="0" smtClean="0"/>
              <a:t>Improve scalability with P2P state transfers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2C5A87-65DC-41FD-9E53-7EAC48455B9A}" type="slidenum">
              <a:rPr lang="en-US" smtClean="0"/>
              <a:pPr/>
              <a:t>30</a:t>
            </a:fld>
            <a:endParaRPr lang="en-US"/>
          </a:p>
        </p:txBody>
      </p:sp>
      <p:pic>
        <p:nvPicPr>
          <p:cNvPr id="2051" name="Picture 3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rcRect/>
          <a:stretch>
            <a:fillRect/>
          </a:stretch>
        </p:blipFill>
        <p:spPr bwMode="auto">
          <a:xfrm>
            <a:off x="2362198" y="1447800"/>
            <a:ext cx="4439841" cy="3352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8" name="Bent Arrow 7">
            <a:hlinkClick r:id="rId3" action="ppaction://hlinksldjump"/>
          </p:cNvPr>
          <p:cNvSpPr/>
          <p:nvPr/>
        </p:nvSpPr>
        <p:spPr>
          <a:xfrm flipH="1" flipV="1">
            <a:off x="381000" y="6172200"/>
            <a:ext cx="381000" cy="381000"/>
          </a:xfrm>
          <a:prstGeom prst="bentArrow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xmlns="" val="327141297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477962"/>
          </a:xfrm>
        </p:spPr>
        <p:txBody>
          <a:bodyPr>
            <a:normAutofit/>
          </a:bodyPr>
          <a:lstStyle/>
          <a:p>
            <a:r>
              <a:rPr lang="en-US" dirty="0" smtClean="0"/>
              <a:t>Evaluation: importance</a:t>
            </a:r>
            <a:br>
              <a:rPr lang="en-US" dirty="0" smtClean="0"/>
            </a:br>
            <a:r>
              <a:rPr lang="en-US" dirty="0" smtClean="0"/>
              <a:t>of guarantees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905000"/>
            <a:ext cx="8229600" cy="4221163"/>
          </a:xfrm>
        </p:spPr>
        <p:txBody>
          <a:bodyPr/>
          <a:lstStyle/>
          <a:p>
            <a:r>
              <a:rPr lang="en-US" dirty="0" smtClean="0"/>
              <a:t>Bro</a:t>
            </a:r>
            <a:r>
              <a:rPr lang="en-US" baseline="-25000" dirty="0" smtClean="0"/>
              <a:t>1</a:t>
            </a:r>
            <a:r>
              <a:rPr lang="en-US" dirty="0" smtClean="0"/>
              <a:t> processing malicious trace @ 1K </a:t>
            </a:r>
            <a:r>
              <a:rPr lang="en-US" dirty="0" err="1" smtClean="0"/>
              <a:t>pkts</a:t>
            </a:r>
            <a:r>
              <a:rPr lang="en-US" dirty="0" smtClean="0"/>
              <a:t>/sec</a:t>
            </a:r>
          </a:p>
          <a:p>
            <a:r>
              <a:rPr lang="en-US" dirty="0" smtClean="0"/>
              <a:t>After 14K packets: move active flows to Bro</a:t>
            </a:r>
            <a:r>
              <a:rPr lang="en-US" baseline="-25000" dirty="0" smtClean="0"/>
              <a:t>2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533400" y="3352800"/>
          <a:ext cx="8001000" cy="259080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2895600"/>
                <a:gridCol w="1524000"/>
                <a:gridCol w="1295400"/>
                <a:gridCol w="1143000"/>
                <a:gridCol w="1143000"/>
              </a:tblGrid>
              <a:tr h="370840">
                <a:tc>
                  <a:txBody>
                    <a:bodyPr/>
                    <a:lstStyle/>
                    <a:p>
                      <a:r>
                        <a:rPr lang="en-US" sz="2800" b="1" dirty="0" smtClean="0"/>
                        <a:t>Alert</a:t>
                      </a:r>
                      <a:endParaRPr lang="en-US" sz="2800" b="1" dirty="0"/>
                    </a:p>
                  </a:txBody>
                  <a:tcPr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b="1" dirty="0" smtClean="0"/>
                        <a:t>Baseline</a:t>
                      </a:r>
                      <a:endParaRPr lang="en-US" sz="2800" b="1" i="1" dirty="0"/>
                    </a:p>
                  </a:txBody>
                  <a:tcPr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b="1" dirty="0" smtClean="0"/>
                        <a:t>NF</a:t>
                      </a:r>
                      <a:endParaRPr lang="en-US" sz="2800" b="1" i="1" dirty="0"/>
                    </a:p>
                  </a:txBody>
                  <a:tcPr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b="1" dirty="0" smtClean="0"/>
                        <a:t>LF</a:t>
                      </a:r>
                      <a:endParaRPr lang="en-US" sz="2800" b="1" i="1" dirty="0"/>
                    </a:p>
                  </a:txBody>
                  <a:tcPr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b="1" i="0" dirty="0" smtClean="0"/>
                        <a:t>LF+OP</a:t>
                      </a:r>
                      <a:endParaRPr lang="en-US" sz="2800" b="1" i="0" dirty="0"/>
                    </a:p>
                  </a:txBody>
                  <a:tcPr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US" sz="2800" b="1" dirty="0" smtClean="0"/>
                        <a:t>Incorrect file type</a:t>
                      </a:r>
                      <a:endParaRPr lang="en-US" sz="2800" b="1" baseline="-25000" dirty="0"/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dirty="0" smtClean="0"/>
                        <a:t>26</a:t>
                      </a:r>
                      <a:endParaRPr lang="en-US" sz="2800" dirty="0"/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dirty="0" smtClean="0"/>
                        <a:t>25</a:t>
                      </a:r>
                      <a:endParaRPr lang="en-US" sz="2800" dirty="0"/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dirty="0" smtClean="0"/>
                        <a:t>24</a:t>
                      </a:r>
                      <a:endParaRPr lang="en-US" sz="2800" dirty="0"/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dirty="0" smtClean="0"/>
                        <a:t>26</a:t>
                      </a:r>
                      <a:endParaRPr lang="en-US" sz="2800" dirty="0"/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US" sz="2800" b="1" smtClean="0"/>
                        <a:t>MHR </a:t>
                      </a:r>
                      <a:r>
                        <a:rPr lang="en-US" sz="2800" b="1" baseline="0" smtClean="0"/>
                        <a:t>Match</a:t>
                      </a:r>
                      <a:endParaRPr lang="en-US" sz="2800" b="1" baseline="-25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i="0" dirty="0" smtClean="0"/>
                        <a:t>31</a:t>
                      </a:r>
                      <a:endParaRPr lang="en-US" sz="2800" i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dirty="0" smtClean="0"/>
                        <a:t>28</a:t>
                      </a:r>
                      <a:endParaRPr lang="en-US" sz="2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dirty="0" smtClean="0"/>
                        <a:t>27</a:t>
                      </a:r>
                      <a:endParaRPr lang="en-US" sz="2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dirty="0" smtClean="0"/>
                        <a:t>31</a:t>
                      </a:r>
                      <a:endParaRPr lang="en-US" sz="2800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US" sz="2800" b="1" dirty="0" smtClean="0"/>
                        <a:t>MD5</a:t>
                      </a:r>
                      <a:endParaRPr lang="en-US" sz="2800" b="1" dirty="0"/>
                    </a:p>
                  </a:txBody>
                  <a:tcP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dirty="0" smtClean="0"/>
                        <a:t>116</a:t>
                      </a:r>
                      <a:endParaRPr lang="en-US" sz="2800" dirty="0"/>
                    </a:p>
                  </a:txBody>
                  <a:tcP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dirty="0" smtClean="0"/>
                        <a:t>111</a:t>
                      </a:r>
                      <a:endParaRPr lang="en-US" sz="2800" dirty="0"/>
                    </a:p>
                  </a:txBody>
                  <a:tcP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dirty="0" smtClean="0"/>
                        <a:t>106</a:t>
                      </a:r>
                      <a:endParaRPr lang="en-US" sz="2800" dirty="0"/>
                    </a:p>
                  </a:txBody>
                  <a:tcP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smtClean="0"/>
                        <a:t>116</a:t>
                      </a:r>
                      <a:endParaRPr lang="en-US" sz="2800" dirty="0"/>
                    </a:p>
                  </a:txBody>
                  <a:tcP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US" sz="2800" b="1" dirty="0" smtClean="0"/>
                        <a:t>Total</a:t>
                      </a:r>
                      <a:endParaRPr lang="en-US" sz="2800" b="1" dirty="0"/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dirty="0" smtClean="0"/>
                        <a:t>173</a:t>
                      </a:r>
                      <a:endParaRPr lang="en-US" sz="2800" dirty="0"/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dirty="0" smtClean="0"/>
                        <a:t>164</a:t>
                      </a:r>
                      <a:endParaRPr lang="en-US" sz="2800" dirty="0"/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dirty="0" smtClean="0"/>
                        <a:t>157</a:t>
                      </a:r>
                      <a:endParaRPr lang="en-US" sz="2800" dirty="0"/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dirty="0" smtClean="0"/>
                        <a:t>173</a:t>
                      </a:r>
                      <a:endParaRPr lang="en-US" sz="2800" dirty="0"/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</a:tr>
            </a:tbl>
          </a:graphicData>
        </a:graphic>
      </p:graphicFrame>
      <p:sp>
        <p:nvSpPr>
          <p:cNvPr id="9" name="Bent Arrow 8">
            <a:hlinkClick r:id="rId2" action="ppaction://hlinksldjump"/>
          </p:cNvPr>
          <p:cNvSpPr/>
          <p:nvPr/>
        </p:nvSpPr>
        <p:spPr>
          <a:xfrm flipH="1" flipV="1">
            <a:off x="381000" y="6172200"/>
            <a:ext cx="381000" cy="381000"/>
          </a:xfrm>
          <a:prstGeom prst="bentArrow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</p:spTree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477962"/>
          </a:xfrm>
        </p:spPr>
        <p:txBody>
          <a:bodyPr>
            <a:normAutofit/>
          </a:bodyPr>
          <a:lstStyle/>
          <a:p>
            <a:r>
              <a:rPr lang="en-US" dirty="0" smtClean="0"/>
              <a:t>Evaluation: benefits</a:t>
            </a:r>
            <a:br>
              <a:rPr lang="en-US" dirty="0" smtClean="0"/>
            </a:br>
            <a:r>
              <a:rPr lang="en-US" dirty="0" smtClean="0"/>
              <a:t>of granular control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905000"/>
            <a:ext cx="8229600" cy="4221163"/>
          </a:xfrm>
        </p:spPr>
        <p:txBody>
          <a:bodyPr/>
          <a:lstStyle/>
          <a:p>
            <a:r>
              <a:rPr lang="en-US" dirty="0" smtClean="0"/>
              <a:t>HTTP requests from 2 clients (40 unique URLs)</a:t>
            </a:r>
          </a:p>
          <a:p>
            <a:r>
              <a:rPr lang="en-US" dirty="0" smtClean="0"/>
              <a:t>Initially: both go to Squid</a:t>
            </a:r>
            <a:r>
              <a:rPr lang="en-US" baseline="-25000" dirty="0" smtClean="0"/>
              <a:t>1</a:t>
            </a:r>
          </a:p>
          <a:p>
            <a:r>
              <a:rPr lang="en-US" dirty="0" smtClean="0"/>
              <a:t>20s later: </a:t>
            </a:r>
            <a:r>
              <a:rPr lang="en-US" dirty="0" smtClean="0">
                <a:sym typeface="Wingdings"/>
              </a:rPr>
              <a:t>reassign Client</a:t>
            </a:r>
            <a:r>
              <a:rPr lang="en-US" baseline="-25000" dirty="0" smtClean="0">
                <a:sym typeface="Wingdings"/>
              </a:rPr>
              <a:t>1</a:t>
            </a:r>
            <a:r>
              <a:rPr lang="en-US" dirty="0" smtClean="0">
                <a:sym typeface="Wingdings"/>
              </a:rPr>
              <a:t> to Squid</a:t>
            </a:r>
            <a:r>
              <a:rPr lang="en-US" baseline="-25000" dirty="0" smtClean="0">
                <a:sym typeface="Wingdings"/>
              </a:rPr>
              <a:t>2</a:t>
            </a:r>
            <a:endParaRPr lang="en-US" baseline="-25000" dirty="0"/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533400" y="3962400"/>
          <a:ext cx="8001000" cy="207264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2895600"/>
                <a:gridCol w="1524000"/>
                <a:gridCol w="2057400"/>
                <a:gridCol w="1524000"/>
              </a:tblGrid>
              <a:tr h="370840">
                <a:tc>
                  <a:txBody>
                    <a:bodyPr/>
                    <a:lstStyle/>
                    <a:p>
                      <a:endParaRPr lang="en-US" sz="2800" b="1" dirty="0"/>
                    </a:p>
                  </a:txBody>
                  <a:tcPr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b="1" dirty="0" smtClean="0"/>
                        <a:t>Ignore</a:t>
                      </a:r>
                      <a:endParaRPr lang="en-US" sz="2800" b="1" i="1" dirty="0"/>
                    </a:p>
                  </a:txBody>
                  <a:tcPr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b="1" dirty="0" smtClean="0"/>
                        <a:t>Copy-client</a:t>
                      </a:r>
                      <a:endParaRPr lang="en-US" sz="2800" b="1" i="1" dirty="0"/>
                    </a:p>
                  </a:txBody>
                  <a:tcPr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b="1" dirty="0" smtClean="0"/>
                        <a:t>Copy-all</a:t>
                      </a:r>
                      <a:endParaRPr lang="en-US" sz="2800" b="1" i="1" dirty="0"/>
                    </a:p>
                  </a:txBody>
                  <a:tcPr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US" sz="2800" b="1" dirty="0" smtClean="0"/>
                        <a:t>Hits</a:t>
                      </a:r>
                      <a:r>
                        <a:rPr lang="en-US" sz="2800" b="1" baseline="0" dirty="0" smtClean="0"/>
                        <a:t> @ Squid</a:t>
                      </a:r>
                      <a:r>
                        <a:rPr lang="en-US" sz="2800" b="1" baseline="-25000" dirty="0" smtClean="0"/>
                        <a:t>1</a:t>
                      </a:r>
                      <a:endParaRPr lang="en-US" sz="2800" b="1" baseline="-25000" dirty="0"/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dirty="0" smtClean="0"/>
                        <a:t>117</a:t>
                      </a:r>
                      <a:endParaRPr lang="en-US" sz="2800" dirty="0"/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dirty="0" smtClean="0"/>
                        <a:t>117</a:t>
                      </a:r>
                      <a:endParaRPr lang="en-US" sz="2800" dirty="0"/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dirty="0" smtClean="0"/>
                        <a:t>117</a:t>
                      </a:r>
                      <a:endParaRPr lang="en-US" sz="2800" dirty="0"/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US" sz="2800" b="1" dirty="0" smtClean="0"/>
                        <a:t>Hits @ </a:t>
                      </a:r>
                      <a:r>
                        <a:rPr lang="en-US" sz="2800" b="1" baseline="0" dirty="0" smtClean="0"/>
                        <a:t>Squid</a:t>
                      </a:r>
                      <a:r>
                        <a:rPr lang="en-US" sz="2800" b="1" baseline="-25000" dirty="0" smtClean="0"/>
                        <a:t>2</a:t>
                      </a:r>
                      <a:endParaRPr lang="en-US" sz="2800" b="1" baseline="-25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dirty="0" smtClean="0"/>
                        <a:t>Crash!</a:t>
                      </a:r>
                      <a:endParaRPr lang="en-US" sz="2800" i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dirty="0" smtClean="0"/>
                        <a:t>39</a:t>
                      </a:r>
                      <a:endParaRPr lang="en-US" sz="2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dirty="0" smtClean="0"/>
                        <a:t>50</a:t>
                      </a:r>
                      <a:endParaRPr lang="en-US" sz="2800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US" sz="2800" b="1" dirty="0" smtClean="0"/>
                        <a:t>State transferred</a:t>
                      </a:r>
                      <a:endParaRPr lang="en-US" sz="2800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dirty="0" smtClean="0"/>
                        <a:t>0 MB</a:t>
                      </a:r>
                      <a:endParaRPr lang="en-US" sz="2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dirty="0" smtClean="0"/>
                        <a:t>4 MB</a:t>
                      </a:r>
                      <a:endParaRPr lang="en-US" sz="2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dirty="0" smtClean="0"/>
                        <a:t>54 MB</a:t>
                      </a:r>
                      <a:endParaRPr lang="en-US" sz="2800" dirty="0"/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9" name="Bent Arrow 8">
            <a:hlinkClick r:id="rId2" action="ppaction://hlinksldjump"/>
          </p:cNvPr>
          <p:cNvSpPr/>
          <p:nvPr/>
        </p:nvSpPr>
        <p:spPr>
          <a:xfrm flipH="1" flipV="1">
            <a:off x="381000" y="6172200"/>
            <a:ext cx="381000" cy="381000"/>
          </a:xfrm>
          <a:prstGeom prst="bentArrow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</p:spTree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1_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1669</TotalTime>
  <Words>1039</Words>
  <Application>Microsoft Office PowerPoint</Application>
  <PresentationFormat>On-screen Show (4:3)</PresentationFormat>
  <Paragraphs>414</Paragraphs>
  <Slides>32</Slides>
  <Notes>24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32</vt:i4>
      </vt:variant>
    </vt:vector>
  </HeadingPairs>
  <TitlesOfParts>
    <vt:vector size="33" baseType="lpstr">
      <vt:lpstr>1_Office Theme</vt:lpstr>
      <vt:lpstr>OpenNF: Enabling Innovation in Network Function Control</vt:lpstr>
      <vt:lpstr>Network functions (NFs)</vt:lpstr>
      <vt:lpstr>NF trends</vt:lpstr>
      <vt:lpstr>Example: elastic NF scaling</vt:lpstr>
      <vt:lpstr>Example: elastic NF scaling</vt:lpstr>
      <vt:lpstr>Why NFV + SDN falls short</vt:lpstr>
      <vt:lpstr>SLAs + cost + accuracy:  What do we need?</vt:lpstr>
      <vt:lpstr>Outline</vt:lpstr>
      <vt:lpstr>Challenges</vt:lpstr>
      <vt:lpstr>OpenNF overview</vt:lpstr>
      <vt:lpstr>NF state taxonomy</vt:lpstr>
      <vt:lpstr>NF API: export/import state</vt:lpstr>
      <vt:lpstr>Control operations: move</vt:lpstr>
      <vt:lpstr>Lost updates during move</vt:lpstr>
      <vt:lpstr>NF API: observe/prevent  updates using events</vt:lpstr>
      <vt:lpstr>Use events for loss-free move</vt:lpstr>
      <vt:lpstr>Re-ordering of packets</vt:lpstr>
      <vt:lpstr>OpenNF: SLAs + cost + accuracy</vt:lpstr>
      <vt:lpstr>Implementation</vt:lpstr>
      <vt:lpstr>Overall benefits for elastic scaling</vt:lpstr>
      <vt:lpstr>Evaluation: state export/import</vt:lpstr>
      <vt:lpstr>Evaluation: operations</vt:lpstr>
      <vt:lpstr>Conclusion</vt:lpstr>
      <vt:lpstr>Backup</vt:lpstr>
      <vt:lpstr>Existing approaches</vt:lpstr>
      <vt:lpstr>Copy and share operations</vt:lpstr>
      <vt:lpstr>Order-preserving move</vt:lpstr>
      <vt:lpstr>Bounding overhead</vt:lpstr>
      <vt:lpstr>Example app: elastic NF scaling</vt:lpstr>
      <vt:lpstr>Evaluation: controller scalability</vt:lpstr>
      <vt:lpstr>Evaluation: importance of guarantees</vt:lpstr>
      <vt:lpstr>Evaluation: benefits of granular control</vt:lpstr>
    </vt:vector>
  </TitlesOfParts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Slide 1</dc:title>
  <dc:creator>Aaron Gember</dc:creator>
  <cp:lastModifiedBy>Aaron Gember</cp:lastModifiedBy>
  <cp:revision>756</cp:revision>
  <dcterms:created xsi:type="dcterms:W3CDTF">2014-04-29T19:27:48Z</dcterms:created>
  <dcterms:modified xsi:type="dcterms:W3CDTF">2014-08-20T19:28:12Z</dcterms:modified>
</cp:coreProperties>
</file>