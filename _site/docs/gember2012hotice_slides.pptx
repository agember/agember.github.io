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3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71" r:id="rId15"/>
    <p:sldId id="272" r:id="rId16"/>
    <p:sldId id="273" r:id="rId17"/>
    <p:sldId id="277" r:id="rId18"/>
    <p:sldId id="276" r:id="rId19"/>
    <p:sldId id="275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93" autoAdjust="0"/>
    <p:restoredTop sz="94660"/>
  </p:normalViewPr>
  <p:slideViewPr>
    <p:cSldViewPr>
      <p:cViewPr varScale="1">
        <p:scale>
          <a:sx n="69" d="100"/>
          <a:sy n="69" d="100"/>
        </p:scale>
        <p:origin x="-147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hotice2012\trunk\data\fullsys_latency.od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hotice2012\trunk\data\fullsys_energy.od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hotice2012\trunk\data\fullsys_algos.od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autoTitleDeleted val="1"/>
    <c:plotArea>
      <c:layout>
        <c:manualLayout>
          <c:layoutTarget val="inner"/>
          <c:xMode val="edge"/>
          <c:yMode val="edge"/>
          <c:x val="0.11493953442735549"/>
          <c:y val="4.2140245913507013E-2"/>
          <c:w val="0.86697181543895974"/>
          <c:h val="0.71258483026084074"/>
        </c:manualLayout>
      </c:layout>
      <c:barChart>
        <c:barDir val="col"/>
        <c:grouping val="clustered"/>
        <c:ser>
          <c:idx val="0"/>
          <c:order val="0"/>
          <c:tx>
            <c:strRef>
              <c:f>nooffload!$A$51</c:f>
              <c:strCache>
                <c:ptCount val="1"/>
                <c:pt idx="0">
                  <c:v>No Offloading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val>
            <c:numRef>
              <c:f>nooffload!$B$52:$M$52</c:f>
              <c:numCache>
                <c:formatCode>General</c:formatCode>
                <c:ptCount val="12"/>
                <c:pt idx="0">
                  <c:v>368.48200000000003</c:v>
                </c:pt>
                <c:pt idx="1">
                  <c:v>371.77299999999963</c:v>
                </c:pt>
                <c:pt idx="2">
                  <c:v>374.42599999999936</c:v>
                </c:pt>
                <c:pt idx="3">
                  <c:v>366.81450000000001</c:v>
                </c:pt>
                <c:pt idx="4">
                  <c:v>371.04199999999969</c:v>
                </c:pt>
                <c:pt idx="5">
                  <c:v>362.35449999999997</c:v>
                </c:pt>
                <c:pt idx="6">
                  <c:v>345.64000000000038</c:v>
                </c:pt>
                <c:pt idx="7">
                  <c:v>349.76</c:v>
                </c:pt>
                <c:pt idx="8">
                  <c:v>345.65199999999999</c:v>
                </c:pt>
                <c:pt idx="9">
                  <c:v>361.77</c:v>
                </c:pt>
                <c:pt idx="10">
                  <c:v>349.94099999999969</c:v>
                </c:pt>
                <c:pt idx="11">
                  <c:v>352.84100000000001</c:v>
                </c:pt>
              </c:numCache>
            </c:numRef>
          </c:val>
        </c:ser>
        <c:ser>
          <c:idx val="1"/>
          <c:order val="1"/>
          <c:tx>
            <c:strRef>
              <c:f>'4desktops'!$A$51</c:f>
              <c:strCache>
                <c:ptCount val="1"/>
                <c:pt idx="0">
                  <c:v>4 Desktops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val>
            <c:numRef>
              <c:f>'4desktops'!$B$52:$M$52</c:f>
              <c:numCache>
                <c:formatCode>General</c:formatCode>
                <c:ptCount val="12"/>
                <c:pt idx="0">
                  <c:v>51.552</c:v>
                </c:pt>
                <c:pt idx="1">
                  <c:v>51.172000000000011</c:v>
                </c:pt>
                <c:pt idx="2">
                  <c:v>50.886999999999993</c:v>
                </c:pt>
                <c:pt idx="3">
                  <c:v>72.494000000000113</c:v>
                </c:pt>
                <c:pt idx="4">
                  <c:v>86.894999999999996</c:v>
                </c:pt>
                <c:pt idx="5">
                  <c:v>83.124999999999986</c:v>
                </c:pt>
                <c:pt idx="6">
                  <c:v>22.433</c:v>
                </c:pt>
                <c:pt idx="7">
                  <c:v>24.111000000000036</c:v>
                </c:pt>
                <c:pt idx="8">
                  <c:v>23.52</c:v>
                </c:pt>
                <c:pt idx="9">
                  <c:v>365.13599999999963</c:v>
                </c:pt>
                <c:pt idx="10">
                  <c:v>28.085999999999967</c:v>
                </c:pt>
                <c:pt idx="11">
                  <c:v>24.238</c:v>
                </c:pt>
              </c:numCache>
            </c:numRef>
          </c:val>
        </c:ser>
        <c:ser>
          <c:idx val="2"/>
          <c:order val="2"/>
          <c:tx>
            <c:strRef>
              <c:f>'6desktops'!$A$51</c:f>
              <c:strCache>
                <c:ptCount val="1"/>
                <c:pt idx="0">
                  <c:v>6 Desktops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val>
            <c:numRef>
              <c:f>'6desktops'!$B$52:$M$52</c:f>
              <c:numCache>
                <c:formatCode>General</c:formatCode>
                <c:ptCount val="12"/>
                <c:pt idx="0">
                  <c:v>54.21</c:v>
                </c:pt>
                <c:pt idx="1">
                  <c:v>34.797000000000011</c:v>
                </c:pt>
                <c:pt idx="2">
                  <c:v>52.977000000000004</c:v>
                </c:pt>
                <c:pt idx="3">
                  <c:v>74.822000000000003</c:v>
                </c:pt>
                <c:pt idx="4">
                  <c:v>83.521999999999991</c:v>
                </c:pt>
                <c:pt idx="5">
                  <c:v>81.238</c:v>
                </c:pt>
                <c:pt idx="6">
                  <c:v>23.334000000000028</c:v>
                </c:pt>
                <c:pt idx="7">
                  <c:v>23.591000000000001</c:v>
                </c:pt>
                <c:pt idx="8">
                  <c:v>20.195</c:v>
                </c:pt>
                <c:pt idx="9">
                  <c:v>20.094999999999999</c:v>
                </c:pt>
                <c:pt idx="10">
                  <c:v>21.337000000000028</c:v>
                </c:pt>
                <c:pt idx="11">
                  <c:v>20.492999999999967</c:v>
                </c:pt>
              </c:numCache>
            </c:numRef>
          </c:val>
        </c:ser>
        <c:gapWidth val="100"/>
        <c:axId val="79155200"/>
        <c:axId val="78546048"/>
      </c:barChart>
      <c:valAx>
        <c:axId val="78546048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/>
                  <a:t>Time (sec)</a:t>
                </a:r>
              </a:p>
            </c:rich>
          </c:tx>
          <c:layout>
            <c:manualLayout>
              <c:xMode val="edge"/>
              <c:yMode val="edge"/>
              <c:x val="1.536487845561366E-2"/>
              <c:y val="0.34124627570233795"/>
            </c:manualLayout>
          </c:layout>
        </c:title>
        <c:numFmt formatCode="General" sourceLinked="1"/>
        <c:maj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400" b="0"/>
            </a:pPr>
            <a:endParaRPr lang="en-US"/>
          </a:p>
        </c:txPr>
        <c:crossAx val="79155200"/>
        <c:crosses val="autoZero"/>
        <c:crossBetween val="between"/>
      </c:valAx>
      <c:catAx>
        <c:axId val="7915520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/>
                  <a:t>Phones</a:t>
                </a:r>
              </a:p>
            </c:rich>
          </c:tx>
          <c:layout>
            <c:manualLayout>
              <c:xMode val="edge"/>
              <c:yMode val="edge"/>
              <c:x val="0.46194642725734136"/>
              <c:y val="0.83257232226409561"/>
            </c:manualLayout>
          </c:layout>
        </c:title>
        <c:numFmt formatCode="General" sourceLinked="1"/>
        <c:maj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400" b="0"/>
            </a:pPr>
            <a:endParaRPr lang="en-US"/>
          </a:p>
        </c:txPr>
        <c:crossAx val="78546048"/>
        <c:crosses val="autoZero"/>
        <c:auto val="1"/>
        <c:lblAlgn val="ctr"/>
        <c:lblOffset val="100"/>
      </c:catAx>
      <c:spPr>
        <a:noFill/>
        <a:ln>
          <a:solidFill>
            <a:srgbClr val="000000"/>
          </a:solidFill>
          <a:prstDash val="solid"/>
        </a:ln>
      </c:spPr>
    </c:plotArea>
    <c:legend>
      <c:legendPos val="b"/>
      <c:layout/>
      <c:spPr>
        <a:noFill/>
        <a:ln>
          <a:noFill/>
        </a:ln>
      </c:spPr>
      <c:txPr>
        <a:bodyPr/>
        <a:lstStyle/>
        <a:p>
          <a:pPr>
            <a:defRPr sz="1600" b="1"/>
          </a:pPr>
          <a:endParaRPr lang="en-US"/>
        </a:p>
      </c:txPr>
    </c:legend>
    <c:plotVisOnly val="1"/>
  </c:chart>
  <c:spPr>
    <a:solidFill>
      <a:srgbClr val="FFFFFF"/>
    </a:solidFill>
    <a:ln>
      <a:noFill/>
    </a:ln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.13423467025612476"/>
          <c:y val="5.2233361633459166E-2"/>
          <c:w val="0.85254541691853714"/>
          <c:h val="0.69255738313980209"/>
        </c:manualLayout>
      </c:layout>
      <c:barChart>
        <c:barDir val="col"/>
        <c:grouping val="clustered"/>
        <c:ser>
          <c:idx val="0"/>
          <c:order val="0"/>
          <c:tx>
            <c:strRef>
              <c:f>no_offload!$B$1</c:f>
              <c:strCache>
                <c:ptCount val="1"/>
                <c:pt idx="0">
                  <c:v>No Offload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cat>
            <c:numRef>
              <c:f>no_offload!$A$2:$A$13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no_offload!$B$2:$B$13</c:f>
              <c:numCache>
                <c:formatCode>General</c:formatCode>
                <c:ptCount val="12"/>
                <c:pt idx="0">
                  <c:v>229161.26226287501</c:v>
                </c:pt>
                <c:pt idx="1">
                  <c:v>227362.33419725983</c:v>
                </c:pt>
                <c:pt idx="2">
                  <c:v>229679.069575709</c:v>
                </c:pt>
                <c:pt idx="3">
                  <c:v>230754.84734720612</c:v>
                </c:pt>
                <c:pt idx="4">
                  <c:v>227800.466257956</c:v>
                </c:pt>
                <c:pt idx="5">
                  <c:v>226533.03974826512</c:v>
                </c:pt>
                <c:pt idx="6">
                  <c:v>212353.03790135213</c:v>
                </c:pt>
                <c:pt idx="7">
                  <c:v>209956.85475648288</c:v>
                </c:pt>
                <c:pt idx="8">
                  <c:v>211419.46471019788</c:v>
                </c:pt>
                <c:pt idx="9">
                  <c:v>212985.49527230201</c:v>
                </c:pt>
                <c:pt idx="10">
                  <c:v>211823.54478839599</c:v>
                </c:pt>
                <c:pt idx="11">
                  <c:v>212803.01437063713</c:v>
                </c:pt>
              </c:numCache>
            </c:numRef>
          </c:val>
        </c:ser>
        <c:ser>
          <c:idx val="1"/>
          <c:order val="1"/>
          <c:tx>
            <c:strRef>
              <c:f>'4desktops'!$B$1</c:f>
              <c:strCache>
                <c:ptCount val="1"/>
                <c:pt idx="0">
                  <c:v>4 Desktops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cat>
            <c:numRef>
              <c:f>no_offload!$A$2:$A$13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'4desktops'!$B$2:$B$13</c:f>
              <c:numCache>
                <c:formatCode>General</c:formatCode>
                <c:ptCount val="12"/>
                <c:pt idx="0">
                  <c:v>169730.18619568399</c:v>
                </c:pt>
                <c:pt idx="1">
                  <c:v>173931.4854539799</c:v>
                </c:pt>
                <c:pt idx="2">
                  <c:v>174502.39493570599</c:v>
                </c:pt>
                <c:pt idx="3">
                  <c:v>175534.63507252501</c:v>
                </c:pt>
                <c:pt idx="4">
                  <c:v>174025.25050389298</c:v>
                </c:pt>
                <c:pt idx="5">
                  <c:v>170222.26254104511</c:v>
                </c:pt>
                <c:pt idx="6">
                  <c:v>113883.431123822</c:v>
                </c:pt>
                <c:pt idx="7">
                  <c:v>120109.13143062399</c:v>
                </c:pt>
                <c:pt idx="8">
                  <c:v>113466.88734374402</c:v>
                </c:pt>
                <c:pt idx="9">
                  <c:v>239946.09431318098</c:v>
                </c:pt>
                <c:pt idx="10">
                  <c:v>122406.98631371793</c:v>
                </c:pt>
                <c:pt idx="11">
                  <c:v>119748.94976051502</c:v>
                </c:pt>
              </c:numCache>
            </c:numRef>
          </c:val>
        </c:ser>
        <c:ser>
          <c:idx val="2"/>
          <c:order val="2"/>
          <c:tx>
            <c:strRef>
              <c:f>'6desktops'!$B$1</c:f>
              <c:strCache>
                <c:ptCount val="1"/>
                <c:pt idx="0">
                  <c:v>6 Desktops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cat>
            <c:numRef>
              <c:f>no_offload!$A$2:$A$13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'6desktops'!$B$2:$B$13</c:f>
              <c:numCache>
                <c:formatCode>General</c:formatCode>
                <c:ptCount val="12"/>
                <c:pt idx="0">
                  <c:v>174069.93103444189</c:v>
                </c:pt>
                <c:pt idx="1">
                  <c:v>172597.32867766099</c:v>
                </c:pt>
                <c:pt idx="2">
                  <c:v>157883.52083986101</c:v>
                </c:pt>
                <c:pt idx="3">
                  <c:v>169071.40778333999</c:v>
                </c:pt>
                <c:pt idx="4">
                  <c:v>175023.03875282701</c:v>
                </c:pt>
                <c:pt idx="5">
                  <c:v>175144.18132900301</c:v>
                </c:pt>
                <c:pt idx="6">
                  <c:v>120127.498461051</c:v>
                </c:pt>
                <c:pt idx="7">
                  <c:v>111320.380563492</c:v>
                </c:pt>
                <c:pt idx="8">
                  <c:v>111738.26865366301</c:v>
                </c:pt>
                <c:pt idx="9">
                  <c:v>120241.190681817</c:v>
                </c:pt>
                <c:pt idx="10">
                  <c:v>119019.707014053</c:v>
                </c:pt>
                <c:pt idx="11">
                  <c:v>119157.112717168</c:v>
                </c:pt>
              </c:numCache>
            </c:numRef>
          </c:val>
        </c:ser>
        <c:gapWidth val="100"/>
        <c:axId val="79955072"/>
        <c:axId val="79293440"/>
      </c:barChart>
      <c:valAx>
        <c:axId val="79293440"/>
        <c:scaling>
          <c:orientation val="minMax"/>
          <c:max val="250000"/>
        </c:scaling>
        <c:axPos val="l"/>
        <c:majorGridlines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/>
                  <a:t>Energy (mW)</a:t>
                </a:r>
              </a:p>
            </c:rich>
          </c:tx>
          <c:layout>
            <c:manualLayout>
              <c:xMode val="edge"/>
              <c:yMode val="edge"/>
              <c:x val="9.4519583598474573E-3"/>
              <c:y val="0.32385893290461798"/>
            </c:manualLayout>
          </c:layout>
        </c:title>
        <c:numFmt formatCode="General" sourceLinked="1"/>
        <c:maj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400" b="0"/>
            </a:pPr>
            <a:endParaRPr lang="en-US"/>
          </a:p>
        </c:txPr>
        <c:crossAx val="79955072"/>
        <c:crosses val="autoZero"/>
        <c:crossBetween val="between"/>
      </c:valAx>
      <c:catAx>
        <c:axId val="7995507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/>
                  <a:t>Phones</a:t>
                </a:r>
              </a:p>
            </c:rich>
          </c:tx>
          <c:layout>
            <c:manualLayout>
              <c:xMode val="edge"/>
              <c:yMode val="edge"/>
              <c:x val="0.47037027783661567"/>
              <c:y val="0.84051205163869769"/>
            </c:manualLayout>
          </c:layout>
        </c:title>
        <c:numFmt formatCode="General" sourceLinked="0"/>
        <c:maj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400" b="0"/>
            </a:pPr>
            <a:endParaRPr lang="en-US"/>
          </a:p>
        </c:txPr>
        <c:crossAx val="79293440"/>
        <c:crosses val="autoZero"/>
        <c:auto val="1"/>
        <c:lblAlgn val="ctr"/>
        <c:lblOffset val="100"/>
      </c:catAx>
      <c:spPr>
        <a:noFill/>
        <a:ln>
          <a:solidFill>
            <a:srgbClr val="000000"/>
          </a:solidFill>
          <a:prstDash val="solid"/>
        </a:ln>
      </c:spPr>
    </c:plotArea>
    <c:legend>
      <c:legendPos val="b"/>
      <c:layout/>
      <c:spPr>
        <a:noFill/>
        <a:ln>
          <a:noFill/>
        </a:ln>
      </c:spPr>
      <c:txPr>
        <a:bodyPr/>
        <a:lstStyle/>
        <a:p>
          <a:pPr>
            <a:defRPr sz="1600" b="1"/>
          </a:pPr>
          <a:endParaRPr lang="en-US"/>
        </a:p>
      </c:txPr>
    </c:legend>
    <c:plotVisOnly val="1"/>
  </c:chart>
  <c:spPr>
    <a:solidFill>
      <a:srgbClr val="FFFFFF"/>
    </a:solidFill>
    <a:ln>
      <a:noFill/>
    </a:ln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autoTitleDeleted val="1"/>
    <c:plotArea>
      <c:layout>
        <c:manualLayout>
          <c:layoutTarget val="inner"/>
          <c:xMode val="edge"/>
          <c:yMode val="edge"/>
          <c:x val="0.11816953843112712"/>
          <c:y val="0.10936022137504312"/>
          <c:w val="0.86608316219886761"/>
          <c:h val="0.6318848944786889"/>
        </c:manualLayout>
      </c:layout>
      <c:barChart>
        <c:barDir val="col"/>
        <c:grouping val="clustered"/>
        <c:ser>
          <c:idx val="0"/>
          <c:order val="0"/>
          <c:tx>
            <c:strRef>
              <c:f>nooffload!$A$51</c:f>
              <c:strCache>
                <c:ptCount val="1"/>
                <c:pt idx="0">
                  <c:v>No Offloading</c:v>
                </c:pt>
              </c:strCache>
            </c:strRef>
          </c:tx>
          <c:spPr>
            <a:solidFill>
              <a:srgbClr val="C0504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cat>
            <c:strRef>
              <c:f>nooffload!$B$1:$M$1</c:f>
              <c:strCache>
                <c:ptCount val="12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</c:strCache>
            </c:strRef>
          </c:cat>
          <c:val>
            <c:numRef>
              <c:f>nooffload!$B$52:$M$52</c:f>
              <c:numCache>
                <c:formatCode>General</c:formatCode>
                <c:ptCount val="12"/>
                <c:pt idx="0">
                  <c:v>368.48200000000003</c:v>
                </c:pt>
                <c:pt idx="1">
                  <c:v>371.7729999999998</c:v>
                </c:pt>
                <c:pt idx="2">
                  <c:v>374.42599999999965</c:v>
                </c:pt>
                <c:pt idx="3">
                  <c:v>366.81450000000001</c:v>
                </c:pt>
                <c:pt idx="4">
                  <c:v>371.04199999999975</c:v>
                </c:pt>
                <c:pt idx="5">
                  <c:v>362.35449999999997</c:v>
                </c:pt>
                <c:pt idx="6">
                  <c:v>345.64000000000021</c:v>
                </c:pt>
                <c:pt idx="7">
                  <c:v>349.76</c:v>
                </c:pt>
                <c:pt idx="8">
                  <c:v>345.65199999999999</c:v>
                </c:pt>
                <c:pt idx="9">
                  <c:v>361.77</c:v>
                </c:pt>
                <c:pt idx="10">
                  <c:v>349.94099999999975</c:v>
                </c:pt>
                <c:pt idx="11">
                  <c:v>352.84100000000001</c:v>
                </c:pt>
              </c:numCache>
            </c:numRef>
          </c:val>
        </c:ser>
        <c:ser>
          <c:idx val="3"/>
          <c:order val="1"/>
          <c:tx>
            <c:strRef>
              <c:f>fullsys_oneaffin4!$A$51</c:f>
              <c:strCache>
                <c:ptCount val="1"/>
                <c:pt idx="0">
                  <c:v>One-to-One + Affinity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cat>
            <c:strRef>
              <c:f>nooffload!$B$1:$M$1</c:f>
              <c:strCache>
                <c:ptCount val="12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</c:strCache>
            </c:strRef>
          </c:cat>
          <c:val>
            <c:numRef>
              <c:f>fullsys_oneaffin4!$B$52:$M$52</c:f>
              <c:numCache>
                <c:formatCode>General</c:formatCode>
                <c:ptCount val="12"/>
                <c:pt idx="0">
                  <c:v>61.363</c:v>
                </c:pt>
                <c:pt idx="1">
                  <c:v>149.124</c:v>
                </c:pt>
                <c:pt idx="2">
                  <c:v>124.46599999999999</c:v>
                </c:pt>
                <c:pt idx="3">
                  <c:v>90.417000000000058</c:v>
                </c:pt>
                <c:pt idx="4">
                  <c:v>69.766000000000005</c:v>
                </c:pt>
                <c:pt idx="5">
                  <c:v>137.672</c:v>
                </c:pt>
                <c:pt idx="6">
                  <c:v>23.300999999999988</c:v>
                </c:pt>
                <c:pt idx="7">
                  <c:v>15.47</c:v>
                </c:pt>
                <c:pt idx="8">
                  <c:v>86.465999999999994</c:v>
                </c:pt>
                <c:pt idx="9">
                  <c:v>15.196</c:v>
                </c:pt>
                <c:pt idx="10">
                  <c:v>117.65199999999999</c:v>
                </c:pt>
                <c:pt idx="11">
                  <c:v>35.545000000000002</c:v>
                </c:pt>
              </c:numCache>
            </c:numRef>
          </c:val>
        </c:ser>
        <c:ser>
          <c:idx val="2"/>
          <c:order val="2"/>
          <c:tx>
            <c:strRef>
              <c:f>fullsys_multinoaffin4!$A$51</c:f>
              <c:strCache>
                <c:ptCount val="1"/>
                <c:pt idx="0">
                  <c:v>Multiplexing No Affinity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cat>
            <c:strRef>
              <c:f>nooffload!$B$1:$M$1</c:f>
              <c:strCache>
                <c:ptCount val="12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</c:strCache>
            </c:strRef>
          </c:cat>
          <c:val>
            <c:numRef>
              <c:f>fullsys_multinoaffin4!$B$52:$M$52</c:f>
              <c:numCache>
                <c:formatCode>General</c:formatCode>
                <c:ptCount val="12"/>
                <c:pt idx="0">
                  <c:v>67.542000000000002</c:v>
                </c:pt>
                <c:pt idx="1">
                  <c:v>66.263999999999996</c:v>
                </c:pt>
                <c:pt idx="2">
                  <c:v>65.545000000000002</c:v>
                </c:pt>
                <c:pt idx="3">
                  <c:v>68.542000000000002</c:v>
                </c:pt>
                <c:pt idx="4">
                  <c:v>81.186999999999998</c:v>
                </c:pt>
                <c:pt idx="5">
                  <c:v>80.248999999999995</c:v>
                </c:pt>
                <c:pt idx="6">
                  <c:v>32.808</c:v>
                </c:pt>
                <c:pt idx="7">
                  <c:v>36.083000000000006</c:v>
                </c:pt>
                <c:pt idx="8">
                  <c:v>33.387999999999998</c:v>
                </c:pt>
                <c:pt idx="9">
                  <c:v>62.837000000000003</c:v>
                </c:pt>
                <c:pt idx="10">
                  <c:v>33.711000000000006</c:v>
                </c:pt>
                <c:pt idx="11">
                  <c:v>32.65</c:v>
                </c:pt>
              </c:numCache>
            </c:numRef>
          </c:val>
        </c:ser>
        <c:ser>
          <c:idx val="1"/>
          <c:order val="3"/>
          <c:tx>
            <c:strRef>
              <c:f>fullsys_multiaffin4!$A$51</c:f>
              <c:strCache>
                <c:ptCount val="1"/>
                <c:pt idx="0">
                  <c:v>Multiplexing + Affinity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cat>
            <c:strRef>
              <c:f>nooffload!$B$1:$M$1</c:f>
              <c:strCache>
                <c:ptCount val="12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</c:strCache>
            </c:strRef>
          </c:cat>
          <c:val>
            <c:numRef>
              <c:f>fullsys_multiaffin4!$B$52:$M$52</c:f>
              <c:numCache>
                <c:formatCode>General</c:formatCode>
                <c:ptCount val="12"/>
                <c:pt idx="0">
                  <c:v>51.552</c:v>
                </c:pt>
                <c:pt idx="1">
                  <c:v>51.172000000000011</c:v>
                </c:pt>
                <c:pt idx="2">
                  <c:v>50.886999999999993</c:v>
                </c:pt>
                <c:pt idx="3">
                  <c:v>72.494000000000057</c:v>
                </c:pt>
                <c:pt idx="4">
                  <c:v>86.894999999999996</c:v>
                </c:pt>
                <c:pt idx="5">
                  <c:v>83.124999999999986</c:v>
                </c:pt>
                <c:pt idx="6">
                  <c:v>22.433</c:v>
                </c:pt>
                <c:pt idx="7">
                  <c:v>24.111000000000015</c:v>
                </c:pt>
                <c:pt idx="8">
                  <c:v>23.52</c:v>
                </c:pt>
                <c:pt idx="9">
                  <c:v>365.1359999999998</c:v>
                </c:pt>
                <c:pt idx="10">
                  <c:v>28.085999999999981</c:v>
                </c:pt>
                <c:pt idx="11">
                  <c:v>24.238</c:v>
                </c:pt>
              </c:numCache>
            </c:numRef>
          </c:val>
        </c:ser>
        <c:gapWidth val="100"/>
        <c:axId val="80107008"/>
        <c:axId val="80104832"/>
      </c:barChart>
      <c:valAx>
        <c:axId val="80104832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/>
                  <a:t>Time (sec)</a:t>
                </a:r>
              </a:p>
            </c:rich>
          </c:tx>
          <c:layout>
            <c:manualLayout>
              <c:xMode val="edge"/>
              <c:yMode val="edge"/>
              <c:x val="8.8683893592799122E-3"/>
              <c:y val="0.30436265602546364"/>
            </c:manualLayout>
          </c:layout>
        </c:title>
        <c:numFmt formatCode="General" sourceLinked="1"/>
        <c:maj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400" b="0"/>
            </a:pPr>
            <a:endParaRPr lang="en-US"/>
          </a:p>
        </c:txPr>
        <c:crossAx val="80107008"/>
        <c:crosses val="autoZero"/>
        <c:crossBetween val="between"/>
      </c:valAx>
      <c:catAx>
        <c:axId val="8010700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/>
                  <a:t>Phones</a:t>
                </a:r>
              </a:p>
            </c:rich>
          </c:tx>
          <c:layout>
            <c:manualLayout>
              <c:xMode val="edge"/>
              <c:yMode val="edge"/>
              <c:x val="0.4763049770647842"/>
              <c:y val="0.81833398653222533"/>
            </c:manualLayout>
          </c:layout>
        </c:title>
        <c:numFmt formatCode="General" sourceLinked="1"/>
        <c:maj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400" b="0"/>
            </a:pPr>
            <a:endParaRPr lang="en-US"/>
          </a:p>
        </c:txPr>
        <c:crossAx val="80104832"/>
        <c:crosses val="autoZero"/>
        <c:auto val="1"/>
        <c:lblAlgn val="ctr"/>
        <c:lblOffset val="100"/>
      </c:catAx>
      <c:spPr>
        <a:noFill/>
        <a:ln>
          <a:solidFill>
            <a:srgbClr val="000000"/>
          </a:solidFill>
          <a:prstDash val="solid"/>
        </a:ln>
      </c:spPr>
    </c:plotArea>
    <c:legend>
      <c:legendPos val="b"/>
      <c:layout>
        <c:manualLayout>
          <c:xMode val="edge"/>
          <c:yMode val="edge"/>
          <c:x val="7.9251600559275912E-3"/>
          <c:y val="0.87580907590171164"/>
          <c:w val="0.98570731228689989"/>
          <c:h val="0.12117433284640323"/>
        </c:manualLayout>
      </c:layout>
      <c:spPr>
        <a:noFill/>
        <a:ln>
          <a:noFill/>
        </a:ln>
      </c:spPr>
      <c:txPr>
        <a:bodyPr/>
        <a:lstStyle/>
        <a:p>
          <a:pPr>
            <a:defRPr sz="1500" b="1"/>
          </a:pPr>
          <a:endParaRPr lang="en-US"/>
        </a:p>
      </c:txPr>
    </c:legend>
    <c:plotVisOnly val="1"/>
  </c:chart>
  <c:spPr>
    <a:solidFill>
      <a:srgbClr val="FFFFFF"/>
    </a:solidFill>
    <a:ln>
      <a:noFill/>
    </a:ln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91A80-10CF-4632-B70B-9111156F1F53}" type="datetimeFigureOut">
              <a:rPr lang="en-US" smtClean="0"/>
              <a:pPr/>
              <a:t>5/2/2012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5AD0E-3006-461F-A05D-E3F5988E22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5AD0E-3006-461F-A05D-E3F5988E220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977E-565B-437C-988A-20E31D08406E}" type="datetime1">
              <a:rPr lang="en-US" smtClean="0"/>
              <a:pPr/>
              <a:t>5/2/2012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ADF76-2765-49AE-BBFD-1F681EA72E3C}" type="datetime1">
              <a:rPr lang="en-US" smtClean="0"/>
              <a:pPr/>
              <a:t>5/2/2012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86BB-E4A9-4552-B92B-D4E5E138767C}" type="datetime1">
              <a:rPr lang="en-US" smtClean="0"/>
              <a:pPr/>
              <a:t>5/2/2012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030C-1155-4AD1-98BB-D6D0239BC505}" type="datetime1">
              <a:rPr lang="en-US" smtClean="0"/>
              <a:pPr/>
              <a:t>5/2/2012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840E6-F0E0-482D-B757-0DEB675DD820}" type="datetime1">
              <a:rPr lang="en-US" smtClean="0"/>
              <a:pPr/>
              <a:t>5/2/2012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F629-6ABF-421C-BE9F-83E68E174B15}" type="datetime1">
              <a:rPr lang="en-US" smtClean="0"/>
              <a:pPr/>
              <a:t>5/2/2012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60061-1885-4F42-8C96-F6AAC19BBAF4}" type="datetime1">
              <a:rPr lang="en-US" smtClean="0"/>
              <a:pPr/>
              <a:t>5/2/2012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ED24-8778-4581-9B37-98F9CFC23203}" type="datetime1">
              <a:rPr lang="en-US" smtClean="0"/>
              <a:pPr/>
              <a:t>5/2/2012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FA34-B6CD-4675-B3CA-53EE157D584F}" type="datetime1">
              <a:rPr lang="en-US" smtClean="0"/>
              <a:pPr/>
              <a:t>5/2/2012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0A64-0812-4427-AE93-6F7A74148C86}" type="datetime1">
              <a:rPr lang="en-US" smtClean="0"/>
              <a:pPr/>
              <a:t>5/2/2012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AAE3-889A-4EEA-B064-B9DB0A0AE18C}" type="datetime1">
              <a:rPr lang="en-US" smtClean="0"/>
              <a:pPr/>
              <a:t>5/2/2012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3C46B-E014-4A27-ADD9-1A941C99A17D}" type="datetime1">
              <a:rPr lang="en-US" smtClean="0"/>
              <a:pPr/>
              <a:t>5/2/2012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D929A-10AB-4950-A941-84C3E150B8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8.png"/><Relationship Id="rId7" Type="http://schemas.openxmlformats.org/officeDocument/2006/relationships/image" Target="../media/image11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13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6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6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ECOS: Practical Mobile Application Offloading for Enterprises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</p:spPr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Aaron </a:t>
            </a:r>
            <a:r>
              <a:rPr lang="en-US" b="1" dirty="0" err="1" smtClean="0">
                <a:solidFill>
                  <a:schemeClr val="accent1"/>
                </a:solidFill>
              </a:rPr>
              <a:t>Gember</a:t>
            </a:r>
            <a:r>
              <a:rPr lang="en-US" dirty="0" smtClean="0">
                <a:solidFill>
                  <a:schemeClr val="accent1"/>
                </a:solidFill>
              </a:rPr>
              <a:t>, Chris </a:t>
            </a:r>
            <a:r>
              <a:rPr lang="en-US" dirty="0" err="1" smtClean="0">
                <a:solidFill>
                  <a:schemeClr val="accent1"/>
                </a:solidFill>
              </a:rPr>
              <a:t>Dragga</a:t>
            </a:r>
            <a:r>
              <a:rPr lang="en-US" dirty="0" smtClean="0">
                <a:solidFill>
                  <a:schemeClr val="accent1"/>
                </a:solidFill>
              </a:rPr>
              <a:t>, </a:t>
            </a:r>
            <a:r>
              <a:rPr lang="en-US" dirty="0" err="1" smtClean="0">
                <a:solidFill>
                  <a:schemeClr val="accent1"/>
                </a:solidFill>
              </a:rPr>
              <a:t>Aditya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Akella</a:t>
            </a:r>
            <a:endParaRPr lang="en-US" dirty="0" smtClean="0">
              <a:solidFill>
                <a:schemeClr val="accent1"/>
              </a:solidFill>
            </a:endParaRPr>
          </a:p>
          <a:p>
            <a:r>
              <a:rPr lang="en-US" i="1" dirty="0" smtClean="0">
                <a:solidFill>
                  <a:schemeClr val="accent1"/>
                </a:solidFill>
              </a:rPr>
              <a:t>University of Wisconsin-Madison</a:t>
            </a:r>
            <a:endParaRPr lang="en-US" i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Mobile Device Trends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More mobile device usage in enterprises</a:t>
            </a:r>
          </a:p>
          <a:p>
            <a:pPr lvl="1"/>
            <a:r>
              <a:rPr lang="en-US" dirty="0" smtClean="0"/>
              <a:t>Need to run complex applications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Complex mobile applications have significant CPU, memory, and energy demands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85800" y="5029200"/>
            <a:ext cx="7699248" cy="10464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>
            <a:spAutoFit/>
          </a:bodyPr>
          <a:lstStyle/>
          <a:p>
            <a:pPr algn="ctr"/>
            <a:r>
              <a:rPr lang="en-US" sz="2800" dirty="0" smtClean="0"/>
              <a:t>Need to reconcile application </a:t>
            </a:r>
            <a:br>
              <a:rPr lang="en-US" sz="2800" dirty="0" smtClean="0"/>
            </a:br>
            <a:r>
              <a:rPr lang="en-US" sz="2800" dirty="0" smtClean="0"/>
              <a:t>demands  and device capabilities</a:t>
            </a:r>
            <a:endParaRPr lang="en-US" sz="2800" dirty="0"/>
          </a:p>
        </p:txBody>
      </p:sp>
      <p:pic>
        <p:nvPicPr>
          <p:cNvPr id="9" name="Picture 8" descr="ipho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900000">
            <a:off x="5133628" y="2800789"/>
            <a:ext cx="816038" cy="914400"/>
          </a:xfrm>
          <a:prstGeom prst="rect">
            <a:avLst/>
          </a:prstGeom>
        </p:spPr>
      </p:pic>
      <p:pic>
        <p:nvPicPr>
          <p:cNvPr id="10" name="Picture 9" descr="android_nexus_on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14800" y="2786965"/>
            <a:ext cx="547688" cy="1007746"/>
          </a:xfrm>
          <a:prstGeom prst="rect">
            <a:avLst/>
          </a:prstGeom>
        </p:spPr>
      </p:pic>
      <p:pic>
        <p:nvPicPr>
          <p:cNvPr id="11" name="Picture 10" descr="blackberry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19400" y="2786965"/>
            <a:ext cx="564788" cy="963036"/>
          </a:xfrm>
          <a:prstGeom prst="rect">
            <a:avLst/>
          </a:prstGeom>
        </p:spPr>
      </p:pic>
      <p:pic>
        <p:nvPicPr>
          <p:cNvPr id="13" name="Picture 12" descr="iphone_4s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76400" y="2786965"/>
            <a:ext cx="534594" cy="1023035"/>
          </a:xfrm>
          <a:prstGeom prst="rect">
            <a:avLst/>
          </a:prstGeom>
        </p:spPr>
      </p:pic>
      <p:pic>
        <p:nvPicPr>
          <p:cNvPr id="16" name="Picture 15" descr="ipad_2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553200" y="2177365"/>
            <a:ext cx="1235334" cy="16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for Remote Computation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Mobile apps designed to use remote services</a:t>
            </a:r>
          </a:p>
          <a:p>
            <a:pPr lvl="1"/>
            <a:r>
              <a:rPr lang="en-US" dirty="0" smtClean="0"/>
              <a:t>e.g., Google Voice Search, Apple’s </a:t>
            </a:r>
            <a:r>
              <a:rPr lang="en-US" dirty="0" err="1" smtClean="0"/>
              <a:t>Siri</a:t>
            </a:r>
            <a:r>
              <a:rPr lang="en-US" dirty="0" smtClean="0"/>
              <a:t>, Amazon Silk</a:t>
            </a:r>
          </a:p>
          <a:p>
            <a:pPr lvl="1">
              <a:buNone/>
            </a:pPr>
            <a:r>
              <a:rPr lang="en-US" dirty="0" smtClean="0"/>
              <a:t>	Requires developers to use this paradigm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Remote desktop / VNC</a:t>
            </a:r>
          </a:p>
          <a:p>
            <a:pPr lvl="1">
              <a:buNone/>
            </a:pPr>
            <a:r>
              <a:rPr lang="en-US" dirty="0" smtClean="0"/>
              <a:t>	User interface not designed for mobile devices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7" name="Picture 6" descr="siri_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68436" y="3505200"/>
            <a:ext cx="1219200" cy="1219200"/>
          </a:xfrm>
          <a:prstGeom prst="rect">
            <a:avLst/>
          </a:prstGeom>
        </p:spPr>
      </p:pic>
      <p:pic>
        <p:nvPicPr>
          <p:cNvPr id="8" name="Picture 7" descr="silk_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25836" y="3657600"/>
            <a:ext cx="3103764" cy="874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ndroid_speech_popu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11036" y="3581400"/>
            <a:ext cx="1219200" cy="10246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x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38200" y="274320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x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38200" y="559031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Application-Independent Offloading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Dynamically divide execution between mobile device and compute resource</a:t>
            </a:r>
          </a:p>
          <a:p>
            <a:pPr lvl="1"/>
            <a:r>
              <a:rPr lang="en-US" dirty="0" smtClean="0"/>
              <a:t>Application code unmodified</a:t>
            </a:r>
          </a:p>
          <a:p>
            <a:pPr lvl="1"/>
            <a:r>
              <a:rPr lang="en-US" dirty="0" smtClean="0"/>
              <a:t>Informed by model and/or runtime monitoring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Several proposed systems – </a:t>
            </a:r>
            <a:r>
              <a:rPr lang="en-US" dirty="0" err="1" smtClean="0"/>
              <a:t>Chroma</a:t>
            </a:r>
            <a:r>
              <a:rPr lang="en-US" dirty="0" smtClean="0"/>
              <a:t> </a:t>
            </a:r>
            <a:r>
              <a:rPr lang="en-US" sz="1800" i="1" dirty="0" smtClean="0"/>
              <a:t>[</a:t>
            </a:r>
            <a:r>
              <a:rPr lang="en-US" sz="1800" i="1" dirty="0" err="1" smtClean="0"/>
              <a:t>Balan</a:t>
            </a:r>
            <a:r>
              <a:rPr lang="en-US" sz="1800" i="1" dirty="0" smtClean="0"/>
              <a:t> et al. 2003]</a:t>
            </a:r>
            <a:r>
              <a:rPr lang="en-US" dirty="0" smtClean="0"/>
              <a:t>, MAUI </a:t>
            </a:r>
            <a:r>
              <a:rPr lang="en-US" sz="1800" i="1" dirty="0" smtClean="0"/>
              <a:t>[</a:t>
            </a:r>
            <a:r>
              <a:rPr lang="en-US" sz="1800" i="1" dirty="0" err="1" smtClean="0"/>
              <a:t>Cuervo</a:t>
            </a:r>
            <a:r>
              <a:rPr lang="en-US" sz="1800" i="1" dirty="0" smtClean="0"/>
              <a:t> et al. 2011]</a:t>
            </a:r>
            <a:r>
              <a:rPr lang="en-US" dirty="0" smtClean="0"/>
              <a:t>, </a:t>
            </a:r>
            <a:r>
              <a:rPr lang="en-US" dirty="0" err="1" smtClean="0"/>
              <a:t>CloneCloud</a:t>
            </a:r>
            <a:r>
              <a:rPr lang="en-US" dirty="0" smtClean="0"/>
              <a:t> </a:t>
            </a:r>
            <a:r>
              <a:rPr lang="en-US" sz="1800" i="1" dirty="0" smtClean="0"/>
              <a:t>[Chun et al. 2011]</a:t>
            </a:r>
          </a:p>
          <a:p>
            <a:pPr lvl="1"/>
            <a:endParaRPr lang="en-US" dirty="0"/>
          </a:p>
        </p:txBody>
      </p:sp>
      <p:pic>
        <p:nvPicPr>
          <p:cNvPr id="4" name="Picture 3" descr="blackberr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3600" y="3962400"/>
            <a:ext cx="583245" cy="994507"/>
          </a:xfrm>
          <a:prstGeom prst="rect">
            <a:avLst/>
          </a:prstGeom>
        </p:spPr>
      </p:pic>
      <p:pic>
        <p:nvPicPr>
          <p:cNvPr id="5" name="Picture 4" descr="desktop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67200" y="3657600"/>
            <a:ext cx="1173566" cy="14227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209800" y="4038600"/>
            <a:ext cx="457200" cy="685800"/>
            <a:chOff x="1143000" y="2286000"/>
            <a:chExt cx="1371600" cy="2057400"/>
          </a:xfrm>
        </p:grpSpPr>
        <p:sp>
          <p:nvSpPr>
            <p:cNvPr id="8" name="Rectangle 7"/>
            <p:cNvSpPr/>
            <p:nvPr/>
          </p:nvSpPr>
          <p:spPr>
            <a:xfrm>
              <a:off x="1143000" y="2286000"/>
              <a:ext cx="1371600" cy="2057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6" descr="C:\Users\agember\AppData\Local\Microsoft\Windows\Temporary Internet Files\Content.IE5\02TZN55D\MC900433871[1]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19200" y="2590800"/>
              <a:ext cx="1295400" cy="12954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0"/>
                            </p:stCondLst>
                            <p:childTnLst>
                              <p:par>
                                <p:cTn id="8" presetID="35" presetClass="path" presetSubtype="0" accel="50000" decel="5000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25 -4.44444E-6 L 3.33333E-6 -4.44444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0"/>
                            </p:stCondLst>
                            <p:childTnLst>
                              <p:par>
                                <p:cTn id="11" presetID="63" presetClass="path" presetSubtype="0" accel="50000" decel="5000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4" presetID="35" presetClass="path" presetSubtype="0" accel="50000" decel="5000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25 -3.33333E-6 L -3.33333E-6 -3.33333E-6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Roadblocks to Offloading Adoption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4525963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Privacy and trust</a:t>
            </a:r>
          </a:p>
          <a:p>
            <a:pPr lvl="1"/>
            <a:r>
              <a:rPr lang="en-US" dirty="0" smtClean="0"/>
              <a:t>Proposed systems largely ignore privacy</a:t>
            </a:r>
          </a:p>
          <a:p>
            <a:pPr lvl="1"/>
            <a:r>
              <a:rPr lang="en-US" dirty="0" smtClean="0"/>
              <a:t>Privacy is paramount in enterprises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>
                <a:solidFill>
                  <a:schemeClr val="tx1"/>
                </a:solidFill>
              </a:rPr>
              <a:t>Resource sharing  and churn</a:t>
            </a:r>
          </a:p>
          <a:p>
            <a:pPr lvl="1"/>
            <a:r>
              <a:rPr lang="en-US" dirty="0" smtClean="0"/>
              <a:t>Proposed systems consider one device, </a:t>
            </a:r>
            <a:br>
              <a:rPr lang="en-US" dirty="0" smtClean="0"/>
            </a:br>
            <a:r>
              <a:rPr lang="en-US" dirty="0" smtClean="0"/>
              <a:t>plus a dedicated resource</a:t>
            </a:r>
          </a:p>
          <a:p>
            <a:pPr lvl="1"/>
            <a:r>
              <a:rPr lang="en-US" dirty="0" smtClean="0"/>
              <a:t>Enterprises have </a:t>
            </a:r>
            <a:r>
              <a:rPr lang="en-US" i="1" dirty="0" smtClean="0"/>
              <a:t>many devices </a:t>
            </a:r>
            <a:r>
              <a:rPr lang="en-US" dirty="0" smtClean="0"/>
              <a:t>and </a:t>
            </a:r>
            <a:r>
              <a:rPr lang="en-US" i="1" dirty="0" smtClean="0"/>
              <a:t>many resources</a:t>
            </a:r>
            <a:endParaRPr lang="en-US" i="1" dirty="0"/>
          </a:p>
        </p:txBody>
      </p:sp>
      <p:pic>
        <p:nvPicPr>
          <p:cNvPr id="5" name="Picture 4" descr="roadblock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0" y="1295400"/>
            <a:ext cx="1068182" cy="838200"/>
          </a:xfrm>
          <a:prstGeom prst="rect">
            <a:avLst/>
          </a:prstGeom>
        </p:spPr>
      </p:pic>
      <p:pic>
        <p:nvPicPr>
          <p:cNvPr id="6" name="Picture 5" descr="roadblock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38800" y="3429000"/>
            <a:ext cx="1068182" cy="8382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09600"/>
            <a:ext cx="7699248" cy="381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>
            <a:normAutofit lnSpcReduction="10000"/>
          </a:bodyPr>
          <a:lstStyle/>
          <a:p>
            <a:pPr marL="0" indent="0" algn="ctr">
              <a:buNone/>
            </a:pPr>
            <a:r>
              <a:rPr lang="en-US" sz="5800" i="1" dirty="0" smtClean="0">
                <a:solidFill>
                  <a:schemeClr val="bg1"/>
                </a:solidFill>
              </a:rPr>
              <a:t>E</a:t>
            </a:r>
            <a:r>
              <a:rPr lang="en-US" i="1" dirty="0" smtClean="0">
                <a:solidFill>
                  <a:schemeClr val="bg1"/>
                </a:solidFill>
              </a:rPr>
              <a:t>nterprise-</a:t>
            </a:r>
            <a:r>
              <a:rPr lang="en-US" sz="4400" i="1" dirty="0" smtClean="0">
                <a:solidFill>
                  <a:schemeClr val="bg1"/>
                </a:solidFill>
              </a:rPr>
              <a:t>C</a:t>
            </a:r>
            <a:r>
              <a:rPr lang="en-US" i="1" dirty="0" smtClean="0">
                <a:solidFill>
                  <a:schemeClr val="bg1"/>
                </a:solidFill>
              </a:rPr>
              <a:t>entric </a:t>
            </a:r>
            <a:r>
              <a:rPr lang="en-US" sz="4400" i="1" dirty="0" smtClean="0">
                <a:solidFill>
                  <a:schemeClr val="bg1"/>
                </a:solidFill>
              </a:rPr>
              <a:t>O</a:t>
            </a:r>
            <a:r>
              <a:rPr lang="en-US" i="1" dirty="0" smtClean="0">
                <a:solidFill>
                  <a:schemeClr val="bg1"/>
                </a:solidFill>
              </a:rPr>
              <a:t>ffload </a:t>
            </a:r>
            <a:r>
              <a:rPr lang="en-US" sz="4400" i="1" dirty="0" smtClean="0">
                <a:solidFill>
                  <a:schemeClr val="bg1"/>
                </a:solidFill>
              </a:rPr>
              <a:t>S</a:t>
            </a:r>
            <a:r>
              <a:rPr lang="en-US" i="1" dirty="0" smtClean="0">
                <a:solidFill>
                  <a:schemeClr val="bg1"/>
                </a:solidFill>
              </a:rPr>
              <a:t>ystem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chemeClr val="bg1"/>
                </a:solidFill>
              </a:rPr>
              <a:t>allows </a:t>
            </a:r>
            <a:r>
              <a:rPr lang="en-US" b="1" u="sng" dirty="0" smtClean="0">
                <a:solidFill>
                  <a:schemeClr val="bg1"/>
                </a:solidFill>
              </a:rPr>
              <a:t>many devices</a:t>
            </a:r>
            <a:r>
              <a:rPr lang="en-US" dirty="0" smtClean="0">
                <a:solidFill>
                  <a:schemeClr val="bg1"/>
                </a:solidFill>
              </a:rPr>
              <a:t> to opportunistically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chemeClr val="bg1"/>
                </a:solidFill>
              </a:rPr>
              <a:t>leverage </a:t>
            </a:r>
            <a:r>
              <a:rPr lang="en-US" b="1" u="sng" dirty="0" smtClean="0">
                <a:solidFill>
                  <a:schemeClr val="bg1"/>
                </a:solidFill>
              </a:rPr>
              <a:t>diverse compute resources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chemeClr val="bg1"/>
                </a:solidFill>
              </a:rPr>
              <a:t>while </a:t>
            </a:r>
            <a:r>
              <a:rPr lang="en-US" b="1" u="sng" dirty="0" smtClean="0">
                <a:solidFill>
                  <a:schemeClr val="bg1"/>
                </a:solidFill>
              </a:rPr>
              <a:t>controlling where</a:t>
            </a:r>
            <a:r>
              <a:rPr lang="en-US" dirty="0" smtClean="0">
                <a:solidFill>
                  <a:schemeClr val="bg1"/>
                </a:solidFill>
              </a:rPr>
              <a:t> applications 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chemeClr val="bg1"/>
                </a:solidFill>
              </a:rPr>
              <a:t>offload depending on </a:t>
            </a:r>
            <a:r>
              <a:rPr lang="en-US" b="1" u="sng" dirty="0" smtClean="0">
                <a:solidFill>
                  <a:schemeClr val="bg1"/>
                </a:solidFill>
              </a:rPr>
              <a:t>privacy, performance, </a:t>
            </a:r>
          </a:p>
          <a:p>
            <a:pPr marL="0" indent="0" algn="ctr">
              <a:buNone/>
            </a:pPr>
            <a:r>
              <a:rPr lang="en-US" b="1" u="sng" dirty="0" smtClean="0">
                <a:solidFill>
                  <a:schemeClr val="bg1"/>
                </a:solidFill>
              </a:rPr>
              <a:t>and energy constraints </a:t>
            </a:r>
            <a:r>
              <a:rPr lang="en-US" dirty="0" smtClean="0">
                <a:solidFill>
                  <a:schemeClr val="bg1"/>
                </a:solidFill>
              </a:rPr>
              <a:t>of users and apps.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4800600"/>
            <a:ext cx="8229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Augment</a:t>
            </a:r>
            <a:r>
              <a:rPr kumimoji="0" lang="en-US" sz="3200" b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offloading decisions with </a:t>
            </a:r>
            <a:br>
              <a:rPr kumimoji="0" lang="en-US" sz="3200" b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3200" b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privacy and resource considerations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Offloading benefits and roadblocks</a:t>
            </a:r>
          </a:p>
          <a:p>
            <a:r>
              <a:rPr lang="en-US" dirty="0" smtClean="0"/>
              <a:t>Privacy and trust</a:t>
            </a:r>
          </a:p>
          <a:p>
            <a:r>
              <a:rPr lang="en-US" dirty="0" smtClean="0"/>
              <a:t>Resource sharing and churn</a:t>
            </a:r>
          </a:p>
          <a:p>
            <a:r>
              <a:rPr lang="en-US" dirty="0" smtClean="0"/>
              <a:t>ECOS Prototype</a:t>
            </a:r>
          </a:p>
          <a:p>
            <a:r>
              <a:rPr lang="en-US" dirty="0" smtClean="0"/>
              <a:t>Evaluation for small enterprise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Privacy and Trust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may leave device without explicit actions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Sufficient privacy requires</a:t>
            </a:r>
          </a:p>
          <a:p>
            <a:pPr lvl="1"/>
            <a:r>
              <a:rPr lang="en-US" dirty="0" smtClean="0"/>
              <a:t>Protecting execution state in transit</a:t>
            </a:r>
          </a:p>
          <a:p>
            <a:pPr lvl="1"/>
            <a:r>
              <a:rPr lang="en-US" dirty="0" smtClean="0"/>
              <a:t>Executing on trusted compute resources</a:t>
            </a:r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723900" y="5029200"/>
            <a:ext cx="7696200" cy="10464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>
            <a:spAutoFit/>
          </a:bodyPr>
          <a:lstStyle/>
          <a:p>
            <a:pPr algn="ctr"/>
            <a:r>
              <a:rPr lang="en-US" sz="2800" dirty="0" smtClean="0"/>
              <a:t>Offloading benefits and opportunities </a:t>
            </a:r>
            <a:br>
              <a:rPr lang="en-US" sz="2800" dirty="0" smtClean="0"/>
            </a:br>
            <a:r>
              <a:rPr lang="en-US" sz="2800" dirty="0" smtClean="0"/>
              <a:t>should not be significantly diminished</a:t>
            </a:r>
            <a:endParaRPr lang="en-US" sz="2800" dirty="0"/>
          </a:p>
        </p:txBody>
      </p:sp>
      <p:pic>
        <p:nvPicPr>
          <p:cNvPr id="5" name="Picture 2" descr="C:\Users\agember\AppData\Local\Microsoft\Windows\Temporary Internet Files\Content.IE5\QZT0K7D8\MC900431599[2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9000" y="2819400"/>
            <a:ext cx="1371486" cy="13714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Overhead of Privacy Protection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Encrypting state in transit with TLS</a:t>
            </a:r>
          </a:p>
          <a:p>
            <a:pPr lvl="1">
              <a:buNone/>
            </a:pPr>
            <a:r>
              <a:rPr lang="en-US" dirty="0" smtClean="0"/>
              <a:t>	High latency and energy overhead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Limited number of trusted compute resources</a:t>
            </a:r>
          </a:p>
          <a:p>
            <a:pPr lvl="1">
              <a:buNone/>
            </a:pPr>
            <a:r>
              <a:rPr lang="en-US" dirty="0" smtClean="0"/>
              <a:t>	Reduced offloading opportunities</a:t>
            </a:r>
            <a:endParaRPr lang="en-US" dirty="0"/>
          </a:p>
        </p:txBody>
      </p:sp>
      <p:pic>
        <p:nvPicPr>
          <p:cNvPr id="4" name="Picture 3" descr="x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223978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x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539521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transfer_encrypt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53000" y="2743200"/>
            <a:ext cx="2857500" cy="1905000"/>
          </a:xfrm>
          <a:prstGeom prst="rect">
            <a:avLst/>
          </a:prstGeom>
        </p:spPr>
      </p:pic>
      <p:pic>
        <p:nvPicPr>
          <p:cNvPr id="9" name="Picture 8" descr="transfer_unencrypt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00200" y="2743200"/>
            <a:ext cx="2857500" cy="190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rot="19800000">
            <a:off x="6111501" y="3005205"/>
            <a:ext cx="1146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Encrypted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 rot="19800000">
            <a:off x="2282923" y="3226935"/>
            <a:ext cx="1424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Unencrypted</a:t>
            </a:r>
            <a:endParaRPr lang="en-US" b="1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324600" y="3505200"/>
            <a:ext cx="381000" cy="1066800"/>
          </a:xfrm>
          <a:prstGeom prst="ellipse">
            <a:avLst/>
          </a:prstGeom>
          <a:noFill/>
          <a:ln w="571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971800" y="3886200"/>
            <a:ext cx="381000" cy="685800"/>
          </a:xfrm>
          <a:prstGeom prst="ellipse">
            <a:avLst/>
          </a:prstGeom>
          <a:noFill/>
          <a:ln w="571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Data-Driven Privacy Protection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405128"/>
          <a:ext cx="7848600" cy="377647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90800"/>
                <a:gridCol w="2628900"/>
                <a:gridCol w="26289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Data</a:t>
                      </a:r>
                      <a:r>
                        <a:rPr lang="en-US" sz="2800" baseline="0" dirty="0" smtClean="0"/>
                        <a:t/>
                      </a:r>
                      <a:br>
                        <a:rPr lang="en-US" sz="2800" baseline="0" dirty="0" smtClean="0"/>
                      </a:br>
                      <a:r>
                        <a:rPr lang="en-US" sz="2800" baseline="0" dirty="0" smtClean="0"/>
                        <a:t>Privacy</a:t>
                      </a:r>
                      <a:endParaRPr lang="en-US" sz="28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Resources</a:t>
                      </a:r>
                      <a:r>
                        <a:rPr lang="en-US" sz="2800" baseline="0" dirty="0" smtClean="0"/>
                        <a:t> Trusted</a:t>
                      </a:r>
                      <a:endParaRPr lang="en-US" sz="28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Communication</a:t>
                      </a:r>
                      <a:r>
                        <a:rPr lang="en-US" sz="2800" baseline="0" dirty="0" smtClean="0"/>
                        <a:t> Protection</a:t>
                      </a:r>
                      <a:endParaRPr lang="en-US" sz="28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marL="688975" indent="0" algn="l"/>
                      <a:r>
                        <a:rPr lang="en-US" sz="2800" b="1" dirty="0" smtClean="0"/>
                        <a:t>None</a:t>
                      </a:r>
                      <a:endParaRPr lang="en-US" sz="2800" b="1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Any</a:t>
                      </a:r>
                      <a:endParaRPr lang="en-US" sz="28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None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688975" indent="0" algn="l"/>
                      <a:r>
                        <a:rPr lang="en-US" sz="2800" b="1" dirty="0" smtClean="0"/>
                        <a:t>Enterprise</a:t>
                      </a:r>
                      <a:endParaRPr lang="en-US" sz="2800" b="1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All internal</a:t>
                      </a:r>
                      <a:r>
                        <a:rPr lang="en-US" sz="2800" baseline="0" dirty="0" smtClean="0"/>
                        <a:t> resources</a:t>
                      </a:r>
                      <a:endParaRPr lang="en-US" sz="28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None</a:t>
                      </a:r>
                      <a:endParaRPr lang="en-US" sz="28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marL="688975" indent="0" algn="l"/>
                      <a:r>
                        <a:rPr lang="en-US" sz="2800" b="1" dirty="0" smtClean="0"/>
                        <a:t>User</a:t>
                      </a:r>
                      <a:endParaRPr lang="en-US" sz="2800" b="1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Select servers and desktops</a:t>
                      </a:r>
                      <a:endParaRPr lang="en-US" sz="28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Encrypt always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6" name="Picture 5" descr="building_offic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3429000"/>
            <a:ext cx="685800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person_business_man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" y="4419600"/>
            <a:ext cx="685800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x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3400" y="2514600"/>
            <a:ext cx="609600" cy="609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381000" y="5486400"/>
            <a:ext cx="8382000" cy="71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/>
              <a:t>Policy specifies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labels for devices &amp; applications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8600" y="4191000"/>
            <a:ext cx="8458200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7200" y="3276600"/>
            <a:ext cx="8458200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2362200"/>
            <a:ext cx="8458200" cy="30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  <p:bldP spid="13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 Sharing and Churn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Systems consider one device and static resource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Challenges</a:t>
            </a:r>
          </a:p>
          <a:p>
            <a:pPr lvl="1"/>
            <a:r>
              <a:rPr lang="en-US" dirty="0" smtClean="0"/>
              <a:t>Devices with varying applications and objectives</a:t>
            </a:r>
          </a:p>
          <a:p>
            <a:pPr lvl="1"/>
            <a:r>
              <a:rPr lang="en-US" dirty="0" smtClean="0"/>
              <a:t>Limited resources and diverse capabilities</a:t>
            </a:r>
          </a:p>
          <a:p>
            <a:pPr lvl="1"/>
            <a:r>
              <a:rPr lang="en-US" dirty="0" smtClean="0"/>
              <a:t>Offload requests not know a priori</a:t>
            </a:r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2382560"/>
            <a:ext cx="7696200" cy="10464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>
            <a:spAutoFit/>
          </a:bodyPr>
          <a:lstStyle/>
          <a:p>
            <a:pPr algn="ctr"/>
            <a:r>
              <a:rPr lang="en-US" sz="2800" dirty="0" smtClean="0"/>
              <a:t>Enable many mobile devices to opportunistically leverage diverse compute resources</a:t>
            </a:r>
            <a:endParaRPr lang="en-US" sz="2800" dirty="0"/>
          </a:p>
        </p:txBody>
      </p:sp>
      <p:pic>
        <p:nvPicPr>
          <p:cNvPr id="5" name="Picture 4" descr="x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170638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offload assigned a dedicated resource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dirty="0" smtClean="0"/>
              <a:t>	Dedicated CPU capacity -&gt; faster performance</a:t>
            </a:r>
          </a:p>
          <a:p>
            <a:pPr>
              <a:buNone/>
            </a:pPr>
            <a:r>
              <a:rPr lang="en-US" dirty="0" smtClean="0"/>
              <a:t>	Fewer “slots” -&gt; reduced offload opportunities</a:t>
            </a:r>
          </a:p>
          <a:p>
            <a:pPr>
              <a:buNone/>
            </a:pPr>
            <a:r>
              <a:rPr lang="en-US" dirty="0" smtClean="0"/>
              <a:t>	More affected by trust constraints or reduced resource availability</a:t>
            </a:r>
          </a:p>
        </p:txBody>
      </p:sp>
      <p:pic>
        <p:nvPicPr>
          <p:cNvPr id="20" name="Picture 19" descr="clou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0" y="3117277"/>
            <a:ext cx="1390429" cy="6927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One-to-One Scheduling</a:t>
            </a:r>
            <a:endParaRPr lang="en-US" dirty="0"/>
          </a:p>
        </p:txBody>
      </p:sp>
      <p:pic>
        <p:nvPicPr>
          <p:cNvPr id="4" name="Picture 3" descr="x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457200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check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7200" y="396240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x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518160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desktop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57400" y="2812477"/>
            <a:ext cx="762000" cy="9237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0" name="Shape 9"/>
          <p:cNvCxnSpPr>
            <a:endCxn id="8" idx="1"/>
          </p:cNvCxnSpPr>
          <p:nvPr/>
        </p:nvCxnSpPr>
        <p:spPr>
          <a:xfrm>
            <a:off x="1600200" y="2680104"/>
            <a:ext cx="457200" cy="594270"/>
          </a:xfrm>
          <a:prstGeom prst="curvedConnector3">
            <a:avLst>
              <a:gd name="adj1" fmla="val 50000"/>
            </a:avLst>
          </a:prstGeom>
          <a:ln>
            <a:headEnd type="none" w="lg" len="med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hape 9"/>
          <p:cNvCxnSpPr/>
          <p:nvPr/>
        </p:nvCxnSpPr>
        <p:spPr>
          <a:xfrm>
            <a:off x="3657600" y="2670710"/>
            <a:ext cx="457200" cy="594270"/>
          </a:xfrm>
          <a:prstGeom prst="curvedConnector3">
            <a:avLst>
              <a:gd name="adj1" fmla="val 50000"/>
            </a:avLst>
          </a:prstGeom>
          <a:ln>
            <a:headEnd type="none" w="lg" len="med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blackber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562600" y="2355277"/>
            <a:ext cx="381000" cy="649654"/>
          </a:xfrm>
          <a:prstGeom prst="rect">
            <a:avLst/>
          </a:prstGeom>
        </p:spPr>
      </p:pic>
      <p:cxnSp>
        <p:nvCxnSpPr>
          <p:cNvPr id="17" name="Shape 9"/>
          <p:cNvCxnSpPr>
            <a:stCxn id="15" idx="3"/>
          </p:cNvCxnSpPr>
          <p:nvPr/>
        </p:nvCxnSpPr>
        <p:spPr>
          <a:xfrm>
            <a:off x="5943600" y="2680104"/>
            <a:ext cx="457200" cy="594270"/>
          </a:xfrm>
          <a:prstGeom prst="curvedConnector3">
            <a:avLst>
              <a:gd name="adj1" fmla="val 50000"/>
            </a:avLst>
          </a:prstGeom>
          <a:ln>
            <a:headEnd type="none" w="lg" len="med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iphone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124200" y="2355277"/>
            <a:ext cx="612027" cy="685799"/>
          </a:xfrm>
          <a:prstGeom prst="rect">
            <a:avLst/>
          </a:prstGeom>
        </p:spPr>
      </p:pic>
      <p:pic>
        <p:nvPicPr>
          <p:cNvPr id="19" name="Picture 18" descr="desktop-and-monitor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439009" y="2964877"/>
            <a:ext cx="1180991" cy="813001"/>
          </a:xfrm>
          <a:prstGeom prst="rect">
            <a:avLst/>
          </a:prstGeom>
        </p:spPr>
      </p:pic>
      <p:pic>
        <p:nvPicPr>
          <p:cNvPr id="22" name="Picture 21" descr="desktop4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267200" y="3041077"/>
            <a:ext cx="439821" cy="729883"/>
          </a:xfrm>
          <a:prstGeom prst="rect">
            <a:avLst/>
          </a:prstGeom>
        </p:spPr>
      </p:pic>
      <p:pic>
        <p:nvPicPr>
          <p:cNvPr id="23" name="Picture 22" descr="smartphone2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6800" y="2279077"/>
            <a:ext cx="685800" cy="685800"/>
          </a:xfrm>
          <a:prstGeom prst="rect">
            <a:avLst/>
          </a:prstGeom>
        </p:spPr>
      </p:pic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Multiplexing Based on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534400" cy="4648200"/>
          </a:xfrm>
        </p:spPr>
        <p:txBody>
          <a:bodyPr>
            <a:normAutofit/>
          </a:bodyPr>
          <a:lstStyle/>
          <a:p>
            <a:r>
              <a:rPr lang="en-US" dirty="0" smtClean="0"/>
              <a:t>Offloads with same objective use same resource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Performance improvement</a:t>
            </a:r>
          </a:p>
          <a:p>
            <a:pPr lvl="1"/>
            <a:r>
              <a:rPr lang="en-US" dirty="0" smtClean="0"/>
              <a:t>Resources with unused CPU &gt; mobile CPU speed</a:t>
            </a:r>
          </a:p>
          <a:p>
            <a:r>
              <a:rPr lang="en-US" dirty="0" smtClean="0"/>
              <a:t>Energy savings</a:t>
            </a:r>
          </a:p>
          <a:p>
            <a:pPr lvl="1"/>
            <a:r>
              <a:rPr lang="en-US" dirty="0" smtClean="0"/>
              <a:t>Separate from performance seeking offloads</a:t>
            </a:r>
          </a:p>
        </p:txBody>
      </p:sp>
      <p:pic>
        <p:nvPicPr>
          <p:cNvPr id="4" name="Picture 3" descr="clou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38399" y="2456676"/>
            <a:ext cx="1390429" cy="6927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" name="Shape 9"/>
          <p:cNvCxnSpPr>
            <a:endCxn id="4" idx="1"/>
          </p:cNvCxnSpPr>
          <p:nvPr/>
        </p:nvCxnSpPr>
        <p:spPr>
          <a:xfrm>
            <a:off x="1447799" y="2532876"/>
            <a:ext cx="990600" cy="270162"/>
          </a:xfrm>
          <a:prstGeom prst="curvedConnector3">
            <a:avLst>
              <a:gd name="adj1" fmla="val 50000"/>
            </a:avLst>
          </a:prstGeom>
          <a:ln>
            <a:headEnd type="none" w="lg" len="med"/>
            <a:tailEnd type="triangle" w="lg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blackber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52999" y="2412598"/>
            <a:ext cx="381000" cy="6496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hape 9"/>
          <p:cNvCxnSpPr/>
          <p:nvPr/>
        </p:nvCxnSpPr>
        <p:spPr>
          <a:xfrm>
            <a:off x="5410199" y="2737425"/>
            <a:ext cx="685800" cy="259574"/>
          </a:xfrm>
          <a:prstGeom prst="curvedConnector3">
            <a:avLst>
              <a:gd name="adj1" fmla="val 50000"/>
            </a:avLst>
          </a:prstGeom>
          <a:ln>
            <a:headEnd type="none" w="lg" len="med"/>
            <a:tailEnd type="triangle" w="lg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ipho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14399" y="2380476"/>
            <a:ext cx="612027" cy="6857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desktop-and-monitor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95999" y="2768399"/>
            <a:ext cx="1180991" cy="8130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desktop4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95599" y="2380476"/>
            <a:ext cx="439821" cy="7298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smartphone2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772399" y="2336398"/>
            <a:ext cx="685800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4" name="Shape 9"/>
          <p:cNvCxnSpPr/>
          <p:nvPr/>
        </p:nvCxnSpPr>
        <p:spPr>
          <a:xfrm rot="10800000" flipV="1">
            <a:off x="7391399" y="2717397"/>
            <a:ext cx="457200" cy="355801"/>
          </a:xfrm>
          <a:prstGeom prst="curvedConnector3">
            <a:avLst>
              <a:gd name="adj1" fmla="val 50000"/>
            </a:avLst>
          </a:prstGeom>
          <a:ln>
            <a:headEnd type="none" w="lg" len="med"/>
            <a:tailEnd type="triangle" w="lg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battery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800599" y="271739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 descr="battery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000999" y="264119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 descr="trend_graph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rot="6300000" flipH="1">
            <a:off x="806240" y="2355438"/>
            <a:ext cx="393687" cy="3936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 Affinity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Use same resource for subsequent offloads</a:t>
            </a:r>
          </a:p>
          <a:p>
            <a:pPr lvl="1">
              <a:buNone/>
            </a:pPr>
            <a:r>
              <a:rPr lang="en-US" dirty="0" smtClean="0"/>
              <a:t>	Cache state → less latency and energy overhead</a:t>
            </a:r>
          </a:p>
          <a:p>
            <a:pPr lvl="1">
              <a:buNone/>
            </a:pPr>
            <a:r>
              <a:rPr lang="en-US" dirty="0" smtClean="0"/>
              <a:t>	Assumes constant resource availability/capacity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Resource not capable/available</a:t>
            </a:r>
          </a:p>
          <a:p>
            <a:pPr lvl="1"/>
            <a:r>
              <a:rPr lang="en-US" dirty="0" smtClean="0"/>
              <a:t>Deny offloads until capacity increases</a:t>
            </a:r>
          </a:p>
          <a:p>
            <a:pPr lvl="1"/>
            <a:r>
              <a:rPr lang="en-US" dirty="0" smtClean="0"/>
              <a:t>Assign a new resource, re-transfer or migrate state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 descr="x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274320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che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200" y="2209800"/>
            <a:ext cx="381000" cy="38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Prototype</a:t>
            </a:r>
            <a:endParaRPr lang="en-US" dirty="0"/>
          </a:p>
        </p:txBody>
      </p:sp>
      <p:pic>
        <p:nvPicPr>
          <p:cNvPr id="4" name="Content Placeholder 3" descr="android_nexus_on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688592"/>
            <a:ext cx="1828800" cy="3364991"/>
          </a:xfrm>
        </p:spPr>
      </p:pic>
      <p:pic>
        <p:nvPicPr>
          <p:cNvPr id="5" name="Picture 4" descr="desktop4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5562600" y="1600200"/>
            <a:ext cx="2479544" cy="4114800"/>
          </a:xfrm>
          <a:prstGeom prst="rect">
            <a:avLst/>
          </a:prstGeom>
        </p:spPr>
      </p:pic>
      <p:pic>
        <p:nvPicPr>
          <p:cNvPr id="8" name="Picture 7" descr="virtualbox_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00800" y="28194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0" name="Group 19"/>
          <p:cNvGrpSpPr/>
          <p:nvPr/>
        </p:nvGrpSpPr>
        <p:grpSpPr>
          <a:xfrm>
            <a:off x="1066800" y="2590800"/>
            <a:ext cx="1611387" cy="1676400"/>
            <a:chOff x="1222155" y="2438400"/>
            <a:chExt cx="1611387" cy="1676400"/>
          </a:xfrm>
        </p:grpSpPr>
        <p:pic>
          <p:nvPicPr>
            <p:cNvPr id="10" name="Picture 9" descr="android_logo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222155" y="2438400"/>
              <a:ext cx="1611387" cy="1676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51" name="Picture 3" descr="C:\Users\agember\AppData\Local\Microsoft\Windows\Temporary Internet Files\Content.IE5\L26VQG3E\MC900432614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600200" y="2971800"/>
              <a:ext cx="762000" cy="762000"/>
            </a:xfrm>
            <a:prstGeom prst="rect">
              <a:avLst/>
            </a:prstGeom>
            <a:noFill/>
          </p:spPr>
        </p:pic>
      </p:grpSp>
      <p:grpSp>
        <p:nvGrpSpPr>
          <p:cNvPr id="21" name="Group 20"/>
          <p:cNvGrpSpPr/>
          <p:nvPr/>
        </p:nvGrpSpPr>
        <p:grpSpPr>
          <a:xfrm>
            <a:off x="6858000" y="3124200"/>
            <a:ext cx="1611387" cy="1676400"/>
            <a:chOff x="1222155" y="2438400"/>
            <a:chExt cx="1611387" cy="1676400"/>
          </a:xfrm>
        </p:grpSpPr>
        <p:pic>
          <p:nvPicPr>
            <p:cNvPr id="22" name="Picture 21" descr="android_logo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222155" y="2438400"/>
              <a:ext cx="1611387" cy="1676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Picture 3" descr="C:\Users\agember\AppData\Local\Microsoft\Windows\Temporary Internet Files\Content.IE5\L26VQG3E\MC900432614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600200" y="2971800"/>
              <a:ext cx="762000" cy="762000"/>
            </a:xfrm>
            <a:prstGeom prst="rect">
              <a:avLst/>
            </a:prstGeom>
            <a:noFill/>
          </p:spPr>
        </p:pic>
      </p:grpSp>
      <p:grpSp>
        <p:nvGrpSpPr>
          <p:cNvPr id="27" name="Group 26"/>
          <p:cNvGrpSpPr/>
          <p:nvPr/>
        </p:nvGrpSpPr>
        <p:grpSpPr>
          <a:xfrm>
            <a:off x="1143000" y="2286000"/>
            <a:ext cx="1371600" cy="2057400"/>
            <a:chOff x="1143000" y="2286000"/>
            <a:chExt cx="1371600" cy="2057400"/>
          </a:xfrm>
        </p:grpSpPr>
        <p:sp>
          <p:nvSpPr>
            <p:cNvPr id="25" name="Rectangle 24"/>
            <p:cNvSpPr/>
            <p:nvPr/>
          </p:nvSpPr>
          <p:spPr>
            <a:xfrm>
              <a:off x="1143000" y="2286000"/>
              <a:ext cx="1371600" cy="2057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6" descr="C:\Users\agember\AppData\Local\Microsoft\Windows\Temporary Internet Files\Content.IE5\02TZN55D\MC900433871[1]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219200" y="2590800"/>
              <a:ext cx="1295400" cy="1295400"/>
            </a:xfrm>
            <a:prstGeom prst="rect">
              <a:avLst/>
            </a:prstGeom>
            <a:noFill/>
          </p:spPr>
        </p:pic>
      </p:grpSp>
      <p:sp>
        <p:nvSpPr>
          <p:cNvPr id="32" name="Rectangle 31"/>
          <p:cNvSpPr/>
          <p:nvPr/>
        </p:nvSpPr>
        <p:spPr>
          <a:xfrm>
            <a:off x="1143000" y="2286000"/>
            <a:ext cx="1371600" cy="20574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000000">
                <a:alpha val="50196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6" name="Picture 8" descr="C:\Users\agember\AppData\Local\Microsoft\Windows\Temporary Internet Files\Content.IE5\L26VQG3E\MC900442066[1]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429000" y="4495800"/>
            <a:ext cx="1581150" cy="1847850"/>
          </a:xfrm>
          <a:prstGeom prst="rect">
            <a:avLst/>
          </a:prstGeom>
          <a:noFill/>
        </p:spPr>
      </p:pic>
      <p:cxnSp>
        <p:nvCxnSpPr>
          <p:cNvPr id="39" name="Shape 38"/>
          <p:cNvCxnSpPr>
            <a:endCxn id="2056" idx="0"/>
          </p:cNvCxnSpPr>
          <p:nvPr/>
        </p:nvCxnSpPr>
        <p:spPr>
          <a:xfrm>
            <a:off x="2819400" y="3429000"/>
            <a:ext cx="1400175" cy="1066800"/>
          </a:xfrm>
          <a:prstGeom prst="curvedConnector2">
            <a:avLst/>
          </a:prstGeom>
          <a:ln w="762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hape 40"/>
          <p:cNvCxnSpPr/>
          <p:nvPr/>
        </p:nvCxnSpPr>
        <p:spPr>
          <a:xfrm>
            <a:off x="2667000" y="3200400"/>
            <a:ext cx="3810000" cy="914400"/>
          </a:xfrm>
          <a:prstGeom prst="curvedConnector3">
            <a:avLst>
              <a:gd name="adj1" fmla="val 50000"/>
            </a:avLst>
          </a:prstGeom>
          <a:ln w="762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8" name="Picture 2" descr="C:\Users\agember\AppData\Local\Microsoft\Windows\Temporary Internet Files\Content.IE5\L26VQG3E\MC900432599[1]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038600" y="5334000"/>
            <a:ext cx="1219200" cy="1219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7" name="TextBox 36"/>
          <p:cNvSpPr txBox="1"/>
          <p:nvPr/>
        </p:nvSpPr>
        <p:spPr>
          <a:xfrm>
            <a:off x="1143000" y="2819400"/>
            <a:ext cx="1431058" cy="92333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92D050"/>
                </a:solidFill>
              </a:rPr>
              <a:t>1110101011</a:t>
            </a:r>
            <a:br>
              <a:rPr lang="en-US" dirty="0" smtClean="0">
                <a:solidFill>
                  <a:srgbClr val="92D050"/>
                </a:solidFill>
              </a:rPr>
            </a:br>
            <a:r>
              <a:rPr lang="en-US" dirty="0" smtClean="0">
                <a:solidFill>
                  <a:srgbClr val="92D050"/>
                </a:solidFill>
              </a:rPr>
              <a:t>0001101001</a:t>
            </a:r>
          </a:p>
          <a:p>
            <a:pPr algn="ctr"/>
            <a:r>
              <a:rPr lang="en-US" dirty="0" smtClean="0">
                <a:solidFill>
                  <a:srgbClr val="92D050"/>
                </a:solidFill>
              </a:rPr>
              <a:t>1101010110</a:t>
            </a:r>
            <a:endParaRPr lang="en-US" dirty="0">
              <a:solidFill>
                <a:srgbClr val="92D050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6934200" y="3048000"/>
            <a:ext cx="1371600" cy="2057400"/>
            <a:chOff x="1143000" y="2286000"/>
            <a:chExt cx="1371600" cy="2057400"/>
          </a:xfrm>
        </p:grpSpPr>
        <p:sp>
          <p:nvSpPr>
            <p:cNvPr id="29" name="Rectangle 28"/>
            <p:cNvSpPr/>
            <p:nvPr/>
          </p:nvSpPr>
          <p:spPr>
            <a:xfrm>
              <a:off x="1143000" y="2286000"/>
              <a:ext cx="1371600" cy="2057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6" descr="C:\Users\agember\AppData\Local\Microsoft\Windows\Temporary Internet Files\Content.IE5\02TZN55D\MC900433871[1]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219200" y="2590800"/>
              <a:ext cx="1295400" cy="1295400"/>
            </a:xfrm>
            <a:prstGeom prst="rect">
              <a:avLst/>
            </a:prstGeom>
            <a:noFill/>
          </p:spPr>
        </p:pic>
      </p:grp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36" name="Shape 35"/>
          <p:cNvCxnSpPr>
            <a:endCxn id="2056" idx="0"/>
          </p:cNvCxnSpPr>
          <p:nvPr/>
        </p:nvCxnSpPr>
        <p:spPr>
          <a:xfrm rot="10800000" flipV="1">
            <a:off x="4219576" y="3657600"/>
            <a:ext cx="1495425" cy="838200"/>
          </a:xfrm>
          <a:prstGeom prst="curvedConnector2">
            <a:avLst/>
          </a:prstGeom>
          <a:ln w="76200"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5" name="Picture 2" descr="C:\Users\agember\AppData\Local\Microsoft\Windows\Temporary Internet Files\Content.IE5\QZT0K7D8\MC900431599[2]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886200" y="2971800"/>
            <a:ext cx="914400" cy="9144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22222E-6 L 0.63021 0.11042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" y="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" presetClass="exit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3021 0.11042 L -0.00312 -0.00069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7" y="-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0"/>
                            </p:stCondLst>
                            <p:childTnLst>
                              <p:par>
                                <p:cTn id="7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7" grpId="0" animBg="1"/>
      <p:bldP spid="37" grpId="1" animBg="1"/>
      <p:bldP spid="37" grpId="2" animBg="1"/>
      <p:bldP spid="37" grpId="3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Small enterprise setting</a:t>
            </a:r>
          </a:p>
          <a:p>
            <a:pPr lvl="1"/>
            <a:r>
              <a:rPr lang="en-US" dirty="0" smtClean="0"/>
              <a:t>12 phones (Android emulator)</a:t>
            </a:r>
          </a:p>
          <a:p>
            <a:pPr lvl="1"/>
            <a:r>
              <a:rPr lang="en-US" dirty="0" smtClean="0"/>
              <a:t>4 to 6 desktops (2.4Ghz quad-core, 4GB RAM)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Two applications </a:t>
            </a:r>
          </a:p>
          <a:p>
            <a:pPr lvl="1"/>
            <a:r>
              <a:rPr lang="en-US" dirty="0" smtClean="0"/>
              <a:t>AI-decision making (Chess)</a:t>
            </a:r>
          </a:p>
          <a:p>
            <a:pPr lvl="1"/>
            <a:r>
              <a:rPr lang="en-US" dirty="0" smtClean="0"/>
              <a:t>Speech-to-text (emulated)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Varying objectives and privacy levels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5257800" y="3886200"/>
            <a:ext cx="685800" cy="1371600"/>
            <a:chOff x="5257800" y="3886200"/>
            <a:chExt cx="685800" cy="1371600"/>
          </a:xfrm>
        </p:grpSpPr>
        <p:pic>
          <p:nvPicPr>
            <p:cNvPr id="1026" name="Picture 2" descr="C:\Users\agember\AppData\Local\Microsoft\Windows\Temporary Internet Files\Content.IE5\2DGPU1UI\MC900433871[1]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34000" y="3886200"/>
              <a:ext cx="609600" cy="6096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27" name="Picture 3" descr="C:\Users\agember\AppData\Local\Microsoft\Windows\Temporary Internet Files\Content.IE5\02TZN55D\MC900433862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5257800" y="4572000"/>
              <a:ext cx="685800" cy="685800"/>
            </a:xfrm>
            <a:prstGeom prst="rect">
              <a:avLst/>
            </a:prstGeom>
            <a:noFill/>
          </p:spPr>
        </p:pic>
      </p:grpSp>
      <p:grpSp>
        <p:nvGrpSpPr>
          <p:cNvPr id="11" name="Group 10"/>
          <p:cNvGrpSpPr/>
          <p:nvPr/>
        </p:nvGrpSpPr>
        <p:grpSpPr>
          <a:xfrm>
            <a:off x="5715000" y="1371600"/>
            <a:ext cx="2819400" cy="1116247"/>
            <a:chOff x="5715000" y="1371600"/>
            <a:chExt cx="2819400" cy="1116247"/>
          </a:xfrm>
        </p:grpSpPr>
        <p:pic>
          <p:nvPicPr>
            <p:cNvPr id="4" name="Picture 3" descr="android_htc_dream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5000" y="1371600"/>
              <a:ext cx="838200" cy="1116247"/>
            </a:xfrm>
            <a:prstGeom prst="rect">
              <a:avLst/>
            </a:prstGeom>
          </p:spPr>
        </p:pic>
        <p:pic>
          <p:nvPicPr>
            <p:cNvPr id="9" name="Picture 8" descr="android_htc_dream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3200" y="1371600"/>
              <a:ext cx="838200" cy="1116247"/>
            </a:xfrm>
            <a:prstGeom prst="rect">
              <a:avLst/>
            </a:prstGeom>
          </p:spPr>
        </p:pic>
        <p:pic>
          <p:nvPicPr>
            <p:cNvPr id="12" name="Picture 11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7600" y="1371600"/>
              <a:ext cx="1066800" cy="111400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Improvement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457200" y="1676400"/>
          <a:ext cx="8153400" cy="4323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Oval 9"/>
          <p:cNvSpPr/>
          <p:nvPr/>
        </p:nvSpPr>
        <p:spPr>
          <a:xfrm>
            <a:off x="2286000" y="5486400"/>
            <a:ext cx="1828800" cy="533400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962400" y="5486400"/>
            <a:ext cx="1447800" cy="533400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334000" y="5486400"/>
            <a:ext cx="1371600" cy="533400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9" name="Picture 8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5200" y="5029200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1781273" y="50578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38600" y="5029200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8200" y="5029200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60798" y="5029200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79998" y="5029200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70398" y="5029200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2314673" y="50578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2924273" y="50578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5286472" y="50578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5896073" y="5057874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6429473" y="5057874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" descr="C:\Users\agember\AppData\Local\Microsoft\Windows\Temporary Internet Files\Content.IE5\2DGPU1UI\MC900433871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71800" y="1143000"/>
            <a:ext cx="457200" cy="457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3" descr="C:\Users\agember\AppData\Local\Microsoft\Windows\Temporary Internet Files\Content.IE5\02TZN55D\MC900433862[1]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flipH="1">
            <a:off x="6400800" y="1143000"/>
            <a:ext cx="533400" cy="533400"/>
          </a:xfrm>
          <a:prstGeom prst="rect">
            <a:avLst/>
          </a:prstGeom>
          <a:noFill/>
        </p:spPr>
      </p:pic>
      <p:sp>
        <p:nvSpPr>
          <p:cNvPr id="29" name="Right Brace 28"/>
          <p:cNvSpPr/>
          <p:nvPr/>
        </p:nvSpPr>
        <p:spPr>
          <a:xfrm rot="16200000">
            <a:off x="3009900" y="190500"/>
            <a:ext cx="304800" cy="3276600"/>
          </a:xfrm>
          <a:prstGeom prst="rightBrace">
            <a:avLst>
              <a:gd name="adj1" fmla="val 744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/>
          <p:cNvSpPr/>
          <p:nvPr/>
        </p:nvSpPr>
        <p:spPr>
          <a:xfrm rot="16200000">
            <a:off x="6515100" y="190500"/>
            <a:ext cx="304800" cy="3276600"/>
          </a:xfrm>
          <a:prstGeom prst="rightBrace">
            <a:avLst>
              <a:gd name="adj1" fmla="val 744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400800" y="1828800"/>
            <a:ext cx="1066800" cy="3886200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3581400" y="1066800"/>
            <a:ext cx="1143000" cy="706030"/>
            <a:chOff x="3581400" y="1066800"/>
            <a:chExt cx="1143000" cy="706030"/>
          </a:xfrm>
        </p:grpSpPr>
        <p:pic>
          <p:nvPicPr>
            <p:cNvPr id="37" name="Picture 36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67200" y="10668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8" name="Picture 37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38600" y="11430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9" name="Picture 38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0" name="Picture 39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14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41" name="Picture 40" descr="desktop1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715000" y="1219200"/>
            <a:ext cx="457200" cy="4774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9" name="Group 48"/>
          <p:cNvGrpSpPr/>
          <p:nvPr/>
        </p:nvGrpSpPr>
        <p:grpSpPr>
          <a:xfrm>
            <a:off x="1905000" y="1219200"/>
            <a:ext cx="685800" cy="553630"/>
            <a:chOff x="1905000" y="1219200"/>
            <a:chExt cx="685800" cy="553630"/>
          </a:xfrm>
        </p:grpSpPr>
        <p:pic>
          <p:nvPicPr>
            <p:cNvPr id="43" name="Picture 42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36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4" name="Picture 43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50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8" name="Group 47"/>
          <p:cNvGrpSpPr/>
          <p:nvPr/>
        </p:nvGrpSpPr>
        <p:grpSpPr>
          <a:xfrm>
            <a:off x="7162800" y="1219200"/>
            <a:ext cx="685800" cy="553630"/>
            <a:chOff x="7162800" y="1219200"/>
            <a:chExt cx="685800" cy="553630"/>
          </a:xfrm>
        </p:grpSpPr>
        <p:pic>
          <p:nvPicPr>
            <p:cNvPr id="42" name="Picture 41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914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6" name="Picture 45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628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  <p:bldP spid="10" grpId="0" animBg="1"/>
      <p:bldP spid="10" grpId="1" animBg="1"/>
      <p:bldP spid="15" grpId="0" animBg="1"/>
      <p:bldP spid="15" grpId="1" animBg="1"/>
      <p:bldP spid="16" grpId="0" animBg="1"/>
      <p:bldP spid="6" grpId="0" animBg="1"/>
      <p:bldP spid="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Energy Savings</a:t>
            </a:r>
            <a:endParaRPr lang="en-US" dirty="0"/>
          </a:p>
        </p:txBody>
      </p:sp>
      <p:graphicFrame>
        <p:nvGraphicFramePr>
          <p:cNvPr id="9" name="Chart 8"/>
          <p:cNvGraphicFramePr/>
          <p:nvPr/>
        </p:nvGraphicFramePr>
        <p:xfrm>
          <a:off x="457200" y="1828800"/>
          <a:ext cx="8220075" cy="4295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4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31798" y="51280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1942506" y="51340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15596" y="51280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88653" y="51280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85488" y="51280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6198" y="51280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batte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60453" y="51280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2503616" y="51340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3071651" y="51340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5426926" y="51340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6008816" y="5134074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 descr="trend_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6300000" flipH="1">
            <a:off x="6596856" y="5134074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2" descr="C:\Users\agember\AppData\Local\Microsoft\Windows\Temporary Internet Files\Content.IE5\2DGPU1UI\MC900433871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24200" y="1295400"/>
            <a:ext cx="457200" cy="457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3" descr="C:\Users\agember\AppData\Local\Microsoft\Windows\Temporary Internet Files\Content.IE5\02TZN55D\MC900433862[1]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flipH="1">
            <a:off x="6553200" y="1295400"/>
            <a:ext cx="533400" cy="533400"/>
          </a:xfrm>
          <a:prstGeom prst="rect">
            <a:avLst/>
          </a:prstGeom>
          <a:noFill/>
        </p:spPr>
      </p:pic>
      <p:sp>
        <p:nvSpPr>
          <p:cNvPr id="20" name="Right Brace 19"/>
          <p:cNvSpPr/>
          <p:nvPr/>
        </p:nvSpPr>
        <p:spPr>
          <a:xfrm rot="16200000">
            <a:off x="3162300" y="342900"/>
            <a:ext cx="304800" cy="3276600"/>
          </a:xfrm>
          <a:prstGeom prst="rightBrace">
            <a:avLst>
              <a:gd name="adj1" fmla="val 744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/>
          <p:cNvSpPr/>
          <p:nvPr/>
        </p:nvSpPr>
        <p:spPr>
          <a:xfrm rot="16200000">
            <a:off x="6667500" y="342900"/>
            <a:ext cx="304800" cy="3276600"/>
          </a:xfrm>
          <a:prstGeom prst="rightBrace">
            <a:avLst>
              <a:gd name="adj1" fmla="val 744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3733800" y="1219200"/>
            <a:ext cx="1143000" cy="706030"/>
            <a:chOff x="3581400" y="1066800"/>
            <a:chExt cx="1143000" cy="706030"/>
          </a:xfrm>
        </p:grpSpPr>
        <p:pic>
          <p:nvPicPr>
            <p:cNvPr id="23" name="Picture 22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67200" y="10668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Picture 23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38600" y="11430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5" name="Picture 24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6" name="Picture 25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14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27" name="Picture 26" descr="desktop1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867400" y="1371600"/>
            <a:ext cx="457200" cy="4774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8" name="Group 27"/>
          <p:cNvGrpSpPr/>
          <p:nvPr/>
        </p:nvGrpSpPr>
        <p:grpSpPr>
          <a:xfrm>
            <a:off x="2057400" y="1371600"/>
            <a:ext cx="685800" cy="553630"/>
            <a:chOff x="1905000" y="1219200"/>
            <a:chExt cx="685800" cy="553630"/>
          </a:xfrm>
        </p:grpSpPr>
        <p:pic>
          <p:nvPicPr>
            <p:cNvPr id="29" name="Picture 28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36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0" name="Picture 29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50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1" name="Group 30"/>
          <p:cNvGrpSpPr/>
          <p:nvPr/>
        </p:nvGrpSpPr>
        <p:grpSpPr>
          <a:xfrm>
            <a:off x="7315200" y="1371600"/>
            <a:ext cx="685800" cy="553630"/>
            <a:chOff x="7162800" y="1219200"/>
            <a:chExt cx="685800" cy="553630"/>
          </a:xfrm>
        </p:grpSpPr>
        <p:pic>
          <p:nvPicPr>
            <p:cNvPr id="32" name="Picture 31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914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3" name="Picture 32" descr="desktop1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628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/>
          <p:cNvGraphicFramePr/>
          <p:nvPr/>
        </p:nvGraphicFramePr>
        <p:xfrm>
          <a:off x="480310" y="1668748"/>
          <a:ext cx="8153400" cy="4210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 Allocation Efficiency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" name="Picture 2" descr="C:\Users\agember\AppData\Local\Microsoft\Windows\Temporary Internet Files\Content.IE5\2DGPU1UI\MC900433871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1295400"/>
            <a:ext cx="457200" cy="457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3" descr="C:\Users\agember\AppData\Local\Microsoft\Windows\Temporary Internet Files\Content.IE5\02TZN55D\MC900433862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6553200" y="1295400"/>
            <a:ext cx="533400" cy="533400"/>
          </a:xfrm>
          <a:prstGeom prst="rect">
            <a:avLst/>
          </a:prstGeom>
          <a:noFill/>
        </p:spPr>
      </p:pic>
      <p:sp>
        <p:nvSpPr>
          <p:cNvPr id="12" name="Right Brace 11"/>
          <p:cNvSpPr/>
          <p:nvPr/>
        </p:nvSpPr>
        <p:spPr>
          <a:xfrm rot="16200000">
            <a:off x="3162300" y="342900"/>
            <a:ext cx="304800" cy="3276600"/>
          </a:xfrm>
          <a:prstGeom prst="rightBrace">
            <a:avLst>
              <a:gd name="adj1" fmla="val 744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/>
          <p:cNvSpPr/>
          <p:nvPr/>
        </p:nvSpPr>
        <p:spPr>
          <a:xfrm rot="16200000">
            <a:off x="6667500" y="342900"/>
            <a:ext cx="304800" cy="3276600"/>
          </a:xfrm>
          <a:prstGeom prst="rightBrace">
            <a:avLst>
              <a:gd name="adj1" fmla="val 744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3733800" y="1219200"/>
            <a:ext cx="1143000" cy="706030"/>
            <a:chOff x="3581400" y="1066800"/>
            <a:chExt cx="1143000" cy="706030"/>
          </a:xfrm>
        </p:grpSpPr>
        <p:pic>
          <p:nvPicPr>
            <p:cNvPr id="15" name="Picture 14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7200" y="10668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6" name="Picture 15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8600" y="11430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7" name="Picture 16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00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814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23" name="Picture 22" descr="desktop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867400" y="1371600"/>
            <a:ext cx="457200" cy="4774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Group 23"/>
          <p:cNvGrpSpPr/>
          <p:nvPr/>
        </p:nvGrpSpPr>
        <p:grpSpPr>
          <a:xfrm>
            <a:off x="2057400" y="1371600"/>
            <a:ext cx="685800" cy="553630"/>
            <a:chOff x="1905000" y="1219200"/>
            <a:chExt cx="685800" cy="553630"/>
          </a:xfrm>
        </p:grpSpPr>
        <p:pic>
          <p:nvPicPr>
            <p:cNvPr id="25" name="Picture 24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36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6" name="Picture 25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50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7" name="Group 26"/>
          <p:cNvGrpSpPr/>
          <p:nvPr/>
        </p:nvGrpSpPr>
        <p:grpSpPr>
          <a:xfrm>
            <a:off x="7315200" y="1371600"/>
            <a:ext cx="685800" cy="553630"/>
            <a:chOff x="7162800" y="1219200"/>
            <a:chExt cx="685800" cy="553630"/>
          </a:xfrm>
        </p:grpSpPr>
        <p:pic>
          <p:nvPicPr>
            <p:cNvPr id="28" name="Picture 27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1400" y="12192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9" name="Picture 28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2800" y="1295400"/>
              <a:ext cx="457200" cy="47743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30" name="Picture 29" descr="batte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590233" y="48994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 descr="trend_graph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6300000" flipH="1">
            <a:off x="1900941" y="49054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1" descr="batte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174031" y="48994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Picture 32" descr="batte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747088" y="48994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33" descr="batte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143923" y="48994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 descr="batte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314633" y="48994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6" name="Picture 35" descr="battery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18888" y="4899488"/>
            <a:ext cx="254402" cy="254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36" descr="trend_graph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6300000" flipH="1">
            <a:off x="2462051" y="49054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Picture 37" descr="trend_graph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6300000" flipH="1">
            <a:off x="3030086" y="49054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Picture 38" descr="trend_graph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6300000" flipH="1">
            <a:off x="5385361" y="4905473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Picture 39" descr="trend_graph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6300000" flipH="1">
            <a:off x="5967251" y="4905474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Picture 40" descr="trend_graph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6300000" flipH="1">
            <a:off x="6555291" y="4905474"/>
            <a:ext cx="255159" cy="255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&amp; 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648200"/>
          </a:xfrm>
        </p:spPr>
        <p:txBody>
          <a:bodyPr>
            <a:normAutofit/>
          </a:bodyPr>
          <a:lstStyle/>
          <a:p>
            <a:r>
              <a:rPr lang="en-US" dirty="0" smtClean="0"/>
              <a:t>Enterprise-Centric Offloading System</a:t>
            </a:r>
          </a:p>
          <a:p>
            <a:pPr lvl="1"/>
            <a:r>
              <a:rPr lang="en-US" dirty="0" smtClean="0"/>
              <a:t>Considers privacy requirements/costs</a:t>
            </a:r>
          </a:p>
          <a:p>
            <a:pPr lvl="1"/>
            <a:r>
              <a:rPr lang="en-US" dirty="0" smtClean="0"/>
              <a:t>Resources assigned based on user goals</a:t>
            </a:r>
          </a:p>
          <a:p>
            <a:pPr lvl="1"/>
            <a:r>
              <a:rPr lang="en-US" dirty="0" smtClean="0"/>
              <a:t>Maximize latency and energy benefits</a:t>
            </a:r>
          </a:p>
          <a:p>
            <a:r>
              <a:rPr lang="en-US" dirty="0" smtClean="0"/>
              <a:t>Future Work</a:t>
            </a:r>
          </a:p>
          <a:p>
            <a:pPr lvl="1"/>
            <a:r>
              <a:rPr lang="en-US" dirty="0" smtClean="0"/>
              <a:t>Dynamic privacy label assignment</a:t>
            </a:r>
          </a:p>
          <a:p>
            <a:pPr lvl="1"/>
            <a:r>
              <a:rPr lang="en-US" dirty="0" smtClean="0"/>
              <a:t>Network path provisioning – mobility, bandwidth</a:t>
            </a:r>
          </a:p>
          <a:p>
            <a:pPr lvl="1"/>
            <a:r>
              <a:rPr lang="en-US" dirty="0" smtClean="0"/>
              <a:t>Larger evaluation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929A-10AB-4950-A941-84C3E150B881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7" name="Shape 9"/>
          <p:cNvCxnSpPr/>
          <p:nvPr/>
        </p:nvCxnSpPr>
        <p:spPr>
          <a:xfrm rot="16200000" flipH="1">
            <a:off x="7658100" y="2705100"/>
            <a:ext cx="533400" cy="304800"/>
          </a:xfrm>
          <a:prstGeom prst="curvedConnector3">
            <a:avLst>
              <a:gd name="adj1" fmla="val 50000"/>
            </a:avLst>
          </a:prstGeom>
          <a:ln>
            <a:headEnd type="none" w="lg" len="med"/>
            <a:tailEnd type="triangle" w="lg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desktop-and-monitor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62800" y="3276600"/>
            <a:ext cx="1180991" cy="8130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0" name="Group 9"/>
          <p:cNvGrpSpPr/>
          <p:nvPr/>
        </p:nvGrpSpPr>
        <p:grpSpPr>
          <a:xfrm>
            <a:off x="7315200" y="1828800"/>
            <a:ext cx="533400" cy="762000"/>
            <a:chOff x="4800599" y="2412598"/>
            <a:chExt cx="533400" cy="762000"/>
          </a:xfrm>
        </p:grpSpPr>
        <p:pic>
          <p:nvPicPr>
            <p:cNvPr id="6" name="Picture 5" descr="blackberry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2999" y="2412598"/>
              <a:ext cx="381000" cy="64965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 descr="battery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0599" y="271739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445</Words>
  <Application>Microsoft Office PowerPoint</Application>
  <PresentationFormat>On-screen Show (4:3)</PresentationFormat>
  <Paragraphs>167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ECOS: Practical Mobile Application Offloading for Enterprises</vt:lpstr>
      <vt:lpstr>Mobile Device Trends</vt:lpstr>
      <vt:lpstr>Designing for Remote Computation</vt:lpstr>
      <vt:lpstr>Application-Independent Offloading</vt:lpstr>
      <vt:lpstr>Roadblocks to Offloading Adoption</vt:lpstr>
      <vt:lpstr>Slide 6</vt:lpstr>
      <vt:lpstr>Outline</vt:lpstr>
      <vt:lpstr>Privacy and Trust</vt:lpstr>
      <vt:lpstr>Overhead of Privacy Protection</vt:lpstr>
      <vt:lpstr>Data-Driven Privacy Protection</vt:lpstr>
      <vt:lpstr>Resource Sharing and Churn</vt:lpstr>
      <vt:lpstr>One-to-One Scheduling</vt:lpstr>
      <vt:lpstr>Multiplexing Based on Objective</vt:lpstr>
      <vt:lpstr>Resource Affinity</vt:lpstr>
      <vt:lpstr>Prototype</vt:lpstr>
      <vt:lpstr>Evaluation</vt:lpstr>
      <vt:lpstr>Performance Improvement</vt:lpstr>
      <vt:lpstr>Energy Savings</vt:lpstr>
      <vt:lpstr>Resource Allocation Efficiency</vt:lpstr>
      <vt:lpstr>Summary &amp; Future Work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ECOS: Practical Mobile Application Offloading for Enterprises</dc:title>
  <dc:creator>Aaron Gember</dc:creator>
  <cp:lastModifiedBy>Aaron Gember</cp:lastModifiedBy>
  <cp:revision>275</cp:revision>
  <dcterms:created xsi:type="dcterms:W3CDTF">2012-04-02T21:26:28Z</dcterms:created>
  <dcterms:modified xsi:type="dcterms:W3CDTF">2012-05-02T14:11:43Z</dcterms:modified>
</cp:coreProperties>
</file>