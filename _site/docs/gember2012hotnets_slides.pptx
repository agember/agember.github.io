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tiff" ContentType="image/tif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1" r:id="rId3"/>
    <p:sldId id="257" r:id="rId4"/>
    <p:sldId id="258" r:id="rId5"/>
    <p:sldId id="259" r:id="rId6"/>
    <p:sldId id="296" r:id="rId7"/>
    <p:sldId id="261" r:id="rId8"/>
    <p:sldId id="292" r:id="rId9"/>
    <p:sldId id="285" r:id="rId10"/>
    <p:sldId id="289" r:id="rId11"/>
    <p:sldId id="290" r:id="rId12"/>
    <p:sldId id="276" r:id="rId13"/>
    <p:sldId id="267" r:id="rId14"/>
    <p:sldId id="268" r:id="rId15"/>
    <p:sldId id="269" r:id="rId16"/>
    <p:sldId id="295" r:id="rId17"/>
    <p:sldId id="280" r:id="rId18"/>
    <p:sldId id="271" r:id="rId19"/>
    <p:sldId id="294" r:id="rId20"/>
    <p:sldId id="293" r:id="rId21"/>
    <p:sldId id="26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00"/>
    <a:srgbClr val="FFFF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1" autoAdjust="0"/>
    <p:restoredTop sz="86022" autoAdjust="0"/>
  </p:normalViewPr>
  <p:slideViewPr>
    <p:cSldViewPr>
      <p:cViewPr varScale="1">
        <p:scale>
          <a:sx n="58" d="100"/>
          <a:sy n="58" d="100"/>
        </p:scale>
        <p:origin x="-11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3493D-56D0-43DF-88C6-7D9524355D1F}" type="datetimeFigureOut">
              <a:rPr lang="en-US" smtClean="0"/>
              <a:pPr/>
              <a:t>10/29/2012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C3B35-147C-46A3-B2E8-0275D52FBD0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SDN told</a:t>
            </a:r>
            <a:r>
              <a:rPr lang="en-US" baseline="0" dirty="0" smtClean="0"/>
              <a:t> us how to provide flexible layer 2 &amp; 3 networking.  How do we provide the same flexibility in layers 4-7?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baseline="0" dirty="0" smtClean="0"/>
              <a:t>We are witnessing new models of middlebox deployment within the context of data centers.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Software-defined</a:t>
            </a:r>
            <a:r>
              <a:rPr lang="en-US" baseline="0" dirty="0" smtClean="0"/>
              <a:t> data center means the details are abstracted away and control of compute, network, and storage has been pushed to layers of software.</a:t>
            </a:r>
          </a:p>
          <a:p>
            <a:endParaRPr lang="en-US" dirty="0" smtClean="0"/>
          </a:p>
          <a:p>
            <a:r>
              <a:rPr lang="en-US" dirty="0" smtClean="0"/>
              <a:t>You’ll hear about </a:t>
            </a:r>
            <a:r>
              <a:rPr lang="en-US" dirty="0" err="1" smtClean="0"/>
              <a:t>LIve</a:t>
            </a:r>
            <a:r>
              <a:rPr lang="en-US" baseline="0" dirty="0" smtClean="0"/>
              <a:t> Migration of an Entire network at the end of this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</a:t>
            </a:r>
            <a:r>
              <a:rPr lang="en-US" baseline="0" dirty="0" smtClean="0"/>
              <a:t> solution you may be thinking about is to simply clone the VM.  These mechanism is in fact sufficient in some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</a:t>
            </a:r>
            <a:r>
              <a:rPr lang="en-US" baseline="0" dirty="0" smtClean="0"/>
              <a:t> to work towards meeting these requirements and enabling these rich scenarios, our work makes the following contributions.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</a:t>
            </a:r>
            <a:r>
              <a:rPr lang="en-US" baseline="0" dirty="0" smtClean="0"/>
              <a:t> meet these requirements and enable these scenarios, we advocate for software-defined middlebox networking.  To understand exactly what we mean by this, let’s first take at look at how a middlebox works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Vendors would expose these</a:t>
            </a:r>
            <a:r>
              <a:rPr lang="en-US" baseline="0" dirty="0" smtClean="0"/>
              <a:t> interfaces on middleboxes, just as switch vendors expose </a:t>
            </a:r>
            <a:r>
              <a:rPr lang="en-US" baseline="0" dirty="0" err="1" smtClean="0"/>
              <a:t>OpenFlow</a:t>
            </a:r>
            <a:r>
              <a:rPr lang="en-US" baseline="0" dirty="0" smtClean="0"/>
              <a:t> interfaces today.  In fact, a specific cloud provider might offer middleboxes-as-a-service and only offer middleboxes from vendors that implement these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natural</a:t>
            </a:r>
            <a:r>
              <a:rPr lang="en-US" baseline="0" dirty="0" smtClean="0"/>
              <a:t> way to provide control over state would be to perform all state manipulation at the controller.</a:t>
            </a:r>
          </a:p>
          <a:p>
            <a:endParaRPr lang="en-US" baseline="0" dirty="0" smtClean="0"/>
          </a:p>
          <a:p>
            <a:r>
              <a:rPr lang="en-US" dirty="0" smtClean="0"/>
              <a:t>SDN makes switches dumb; doesn’t work for MBs.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Addressing</a:t>
            </a:r>
            <a:r>
              <a:rPr lang="en-US" baseline="0" dirty="0" smtClean="0"/>
              <a:t> the issue of invalid state manipulations is more complex for middleboxes than in SDN.  The state in even a single middlebox can be inconsistent.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One</a:t>
            </a:r>
            <a:r>
              <a:rPr lang="en-US" baseline="0" dirty="0" smtClean="0"/>
              <a:t> solution you may be thinking about is to simply clone the VM.  These mechanism is in fact sufficient in some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4C3B35-147C-46A3-B2E8-0275D52FBD04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5C6D5-A08E-46F3-807C-053EA37DFDB6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DE539-7798-4300-9C85-566F3E0CE56A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95423-5EDA-409B-BA1D-6D903D1A80E8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6F48E-E1BC-4CFA-9BDC-0401595BD9E1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62DF-21F1-4E54-AAE1-E11318B8FD3D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29A3C-670C-43A7-B857-E02A2D944916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577E-E4C3-425C-8582-7324828F7A8C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7A904-BCEF-4643-B213-38441945C094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E20F-8D8D-46E6-8440-2D31C4D66B52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316B8-FAE3-4953-A4C3-4D32B83447AE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D12B-5537-41E2-B1C0-3B9743C156B7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7FD43-1F1D-4F61-B8D4-BFDD1C5239B4}" type="datetime1">
              <a:rPr lang="en-US" smtClean="0"/>
              <a:pPr/>
              <a:t>10/29/2012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C5A87-65DC-41FD-9E53-7EAC48455B9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Toward Software-Defined Middlebox Networking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 smtClean="0"/>
              <a:t>Aaron </a:t>
            </a:r>
            <a:r>
              <a:rPr lang="en-US" sz="2800" b="1" u="sng" dirty="0" err="1" smtClean="0"/>
              <a:t>Gember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Prathmesh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Prabhu</a:t>
            </a:r>
            <a:r>
              <a:rPr lang="en-US" sz="2800" b="1" dirty="0" smtClean="0"/>
              <a:t>, </a:t>
            </a:r>
            <a:br>
              <a:rPr lang="en-US" sz="2800" b="1" dirty="0" smtClean="0"/>
            </a:br>
            <a:r>
              <a:rPr lang="en-US" sz="2800" b="1" dirty="0" err="1" smtClean="0"/>
              <a:t>Zainab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Ghadiyali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Aditya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Akella</a:t>
            </a:r>
            <a:endParaRPr lang="en-US" sz="2800" b="1" dirty="0" smtClean="0"/>
          </a:p>
          <a:p>
            <a:r>
              <a:rPr lang="en-US" sz="2800" i="1" dirty="0" smtClean="0"/>
              <a:t>University of Wisconsin-Madison</a:t>
            </a:r>
            <a:endParaRPr lang="en-US" sz="2800" i="1" dirty="0"/>
          </a:p>
        </p:txBody>
      </p:sp>
      <p:grpSp>
        <p:nvGrpSpPr>
          <p:cNvPr id="4" name="Group 3"/>
          <p:cNvGrpSpPr/>
          <p:nvPr/>
        </p:nvGrpSpPr>
        <p:grpSpPr>
          <a:xfrm>
            <a:off x="2362200" y="990600"/>
            <a:ext cx="4572000" cy="762000"/>
            <a:chOff x="1828800" y="5410200"/>
            <a:chExt cx="4572000" cy="762000"/>
          </a:xfrm>
        </p:grpSpPr>
        <p:grpSp>
          <p:nvGrpSpPr>
            <p:cNvPr id="5" name="Group 12"/>
            <p:cNvGrpSpPr/>
            <p:nvPr/>
          </p:nvGrpSpPr>
          <p:grpSpPr>
            <a:xfrm>
              <a:off x="3124200" y="5410200"/>
              <a:ext cx="762000" cy="762000"/>
              <a:chOff x="5791200" y="3276600"/>
              <a:chExt cx="685800" cy="685800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6" name="Picture 15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6" name="Group 15"/>
            <p:cNvGrpSpPr/>
            <p:nvPr/>
          </p:nvGrpSpPr>
          <p:grpSpPr>
            <a:xfrm>
              <a:off x="1828800" y="5410200"/>
              <a:ext cx="762000" cy="762000"/>
              <a:chOff x="4114800" y="1981200"/>
              <a:chExt cx="685800" cy="685800"/>
            </a:xfrm>
          </p:grpSpPr>
          <p:sp>
            <p:nvSpPr>
              <p:cNvPr id="13" name="Rounded Rectangle 12"/>
              <p:cNvSpPr/>
              <p:nvPr/>
            </p:nvSpPr>
            <p:spPr>
              <a:xfrm>
                <a:off x="4114800" y="1981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4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114800" y="1981200"/>
                <a:ext cx="685800" cy="685800"/>
              </a:xfrm>
              <a:prstGeom prst="rect">
                <a:avLst/>
              </a:prstGeom>
              <a:noFill/>
            </p:spPr>
          </p:pic>
        </p:grpSp>
        <p:grpSp>
          <p:nvGrpSpPr>
            <p:cNvPr id="7" name="Group 9"/>
            <p:cNvGrpSpPr/>
            <p:nvPr/>
          </p:nvGrpSpPr>
          <p:grpSpPr>
            <a:xfrm>
              <a:off x="5638800" y="5410200"/>
              <a:ext cx="762000" cy="762000"/>
              <a:chOff x="7848600" y="1600200"/>
              <a:chExt cx="685800" cy="685800"/>
            </a:xfrm>
          </p:grpSpPr>
          <p:sp>
            <p:nvSpPr>
              <p:cNvPr id="11" name="Rounded Rectangle 10"/>
              <p:cNvSpPr/>
              <p:nvPr/>
            </p:nvSpPr>
            <p:spPr>
              <a:xfrm>
                <a:off x="7848600" y="1600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Picture 11" descr="server_sync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848600" y="1600200"/>
                <a:ext cx="685800" cy="685800"/>
              </a:xfrm>
              <a:prstGeom prst="rect">
                <a:avLst/>
              </a:prstGeom>
            </p:spPr>
          </p:pic>
        </p:grpSp>
        <p:grpSp>
          <p:nvGrpSpPr>
            <p:cNvPr id="8" name="Group 15"/>
            <p:cNvGrpSpPr/>
            <p:nvPr/>
          </p:nvGrpSpPr>
          <p:grpSpPr>
            <a:xfrm>
              <a:off x="4419600" y="5410200"/>
              <a:ext cx="762000" cy="762000"/>
              <a:chOff x="6248400" y="1905000"/>
              <a:chExt cx="685800" cy="685800"/>
            </a:xfrm>
          </p:grpSpPr>
          <p:sp>
            <p:nvSpPr>
              <p:cNvPr id="9" name="Rounded Rectangle 8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" name="Picture 9" descr="firewall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</p:grp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447800" y="2266891"/>
            <a:ext cx="2514600" cy="3200400"/>
            <a:chOff x="5181600" y="1905000"/>
            <a:chExt cx="2819400" cy="3200400"/>
          </a:xfrm>
        </p:grpSpPr>
        <p:sp>
          <p:nvSpPr>
            <p:cNvPr id="11" name="Rectangle 10"/>
            <p:cNvSpPr/>
            <p:nvPr/>
          </p:nvSpPr>
          <p:spPr>
            <a:xfrm>
              <a:off x="5181600" y="37338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Network</a:t>
              </a:r>
              <a:endParaRPr lang="en-US" sz="2400" b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81600" y="46482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Physical</a:t>
              </a:r>
              <a:endParaRPr lang="en-US" sz="2400" b="1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1600" y="41910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Data Link</a:t>
              </a:r>
              <a:endParaRPr lang="en-US" sz="2400" b="1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81600" y="32766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Transport</a:t>
              </a:r>
              <a:endParaRPr lang="en-US" sz="2400" b="1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181600" y="28194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Session</a:t>
              </a:r>
              <a:endParaRPr lang="en-US" sz="2400" b="1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181600" y="23622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Presentation</a:t>
              </a:r>
              <a:endParaRPr lang="en-US" sz="2400" b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181600" y="1905000"/>
              <a:ext cx="2819400" cy="4572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Application</a:t>
              </a:r>
              <a:endParaRPr lang="en-US" sz="2400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Middleboxes?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0" y="1885891"/>
            <a:ext cx="4038600" cy="1066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 smtClean="0"/>
              <a:t>Enterprises heavily rely on middleboxes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4648200" y="3105091"/>
            <a:ext cx="3864478" cy="2762309"/>
            <a:chOff x="533400" y="2819401"/>
            <a:chExt cx="3864478" cy="2762309"/>
          </a:xfrm>
        </p:grpSpPr>
        <p:grpSp>
          <p:nvGrpSpPr>
            <p:cNvPr id="9" name="Group 8"/>
            <p:cNvGrpSpPr/>
            <p:nvPr/>
          </p:nvGrpSpPr>
          <p:grpSpPr>
            <a:xfrm>
              <a:off x="533400" y="2819401"/>
              <a:ext cx="3838851" cy="2362200"/>
              <a:chOff x="1828800" y="2286000"/>
              <a:chExt cx="4495800" cy="2766448"/>
            </a:xfrm>
          </p:grpSpPr>
          <p:pic>
            <p:nvPicPr>
              <p:cNvPr id="6" name="Picture 5" descr="combo2_trim.tif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r="21818"/>
              <a:stretch>
                <a:fillRect/>
              </a:stretch>
            </p:blipFill>
            <p:spPr>
              <a:xfrm>
                <a:off x="1828800" y="2286000"/>
                <a:ext cx="4495800" cy="2766448"/>
              </a:xfrm>
              <a:prstGeom prst="rect">
                <a:avLst/>
              </a:prstGeom>
            </p:spPr>
          </p:pic>
          <p:pic>
            <p:nvPicPr>
              <p:cNvPr id="7" name="Picture 6" descr="combo2_trim.tif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="" xmlns:a14="http://schemas.microsoft.com/office/drawing/2010/main" val="0"/>
                  </a:ext>
                </a:extLst>
              </a:blip>
              <a:srcRect l="69091" t="25888" r="2318" b="48412"/>
              <a:stretch>
                <a:fillRect/>
              </a:stretch>
            </p:blipFill>
            <p:spPr>
              <a:xfrm>
                <a:off x="1828800" y="4419600"/>
                <a:ext cx="1359195" cy="587761"/>
              </a:xfrm>
              <a:prstGeom prst="rect">
                <a:avLst/>
              </a:prstGeom>
            </p:spPr>
          </p:pic>
          <p:sp>
            <p:nvSpPr>
              <p:cNvPr id="8" name="Rectangle 7"/>
              <p:cNvSpPr/>
              <p:nvPr/>
            </p:nvSpPr>
            <p:spPr>
              <a:xfrm>
                <a:off x="5801833" y="2704214"/>
                <a:ext cx="522767" cy="1045535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TextBox 19"/>
            <p:cNvSpPr txBox="1"/>
            <p:nvPr/>
          </p:nvSpPr>
          <p:spPr>
            <a:xfrm>
              <a:off x="1036958" y="5181600"/>
              <a:ext cx="33609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i="1" dirty="0" smtClean="0"/>
                <a:t>[Sherry et al., SIGCOMM 2012]</a:t>
              </a:r>
              <a:endParaRPr lang="en-US" sz="2000" i="1" dirty="0"/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304800" y="4095691"/>
            <a:ext cx="3657600" cy="914400"/>
            <a:chOff x="304800" y="3810000"/>
            <a:chExt cx="3657600" cy="914400"/>
          </a:xfrm>
        </p:grpSpPr>
        <p:sp>
          <p:nvSpPr>
            <p:cNvPr id="22" name="Rectangle 21"/>
            <p:cNvSpPr/>
            <p:nvPr/>
          </p:nvSpPr>
          <p:spPr>
            <a:xfrm>
              <a:off x="1447800" y="3810000"/>
              <a:ext cx="2514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Network</a:t>
              </a:r>
              <a:endParaRPr lang="en-US" sz="2400" b="1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447800" y="4267200"/>
              <a:ext cx="2514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Data Link</a:t>
              </a:r>
              <a:endParaRPr lang="en-US" sz="2400" b="1" dirty="0"/>
            </a:p>
          </p:txBody>
        </p:sp>
        <p:sp>
          <p:nvSpPr>
            <p:cNvPr id="36" name="Right Brace 35"/>
            <p:cNvSpPr/>
            <p:nvPr/>
          </p:nvSpPr>
          <p:spPr>
            <a:xfrm rot="10800000">
              <a:off x="1066800" y="3810000"/>
              <a:ext cx="381000" cy="914400"/>
            </a:xfrm>
            <a:prstGeom prst="rightBrace">
              <a:avLst>
                <a:gd name="adj1" fmla="val 2500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04800" y="4038600"/>
              <a:ext cx="8034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dirty="0" smtClean="0"/>
                <a:t>SDN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81000" y="2266891"/>
            <a:ext cx="3581400" cy="1828800"/>
            <a:chOff x="381000" y="1981200"/>
            <a:chExt cx="3581400" cy="1828800"/>
          </a:xfrm>
        </p:grpSpPr>
        <p:sp>
          <p:nvSpPr>
            <p:cNvPr id="28" name="Rectangle 27"/>
            <p:cNvSpPr/>
            <p:nvPr/>
          </p:nvSpPr>
          <p:spPr>
            <a:xfrm>
              <a:off x="1447800" y="3352800"/>
              <a:ext cx="25146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Transport</a:t>
              </a:r>
              <a:endParaRPr lang="en-US" sz="2400" b="1" dirty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47800" y="2895600"/>
              <a:ext cx="25146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Session</a:t>
              </a:r>
              <a:endParaRPr lang="en-US" sz="2400" b="1" dirty="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447800" y="2438400"/>
              <a:ext cx="25146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Presentation</a:t>
              </a:r>
              <a:endParaRPr lang="en-US" sz="2400" b="1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447800" y="1981200"/>
              <a:ext cx="2514600" cy="45720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/>
                <a:t>Application</a:t>
              </a:r>
              <a:endParaRPr lang="en-US" sz="2400" b="1" dirty="0"/>
            </a:p>
          </p:txBody>
        </p:sp>
        <p:sp>
          <p:nvSpPr>
            <p:cNvPr id="38" name="Right Brace 37"/>
            <p:cNvSpPr/>
            <p:nvPr/>
          </p:nvSpPr>
          <p:spPr>
            <a:xfrm rot="10800000">
              <a:off x="1066800" y="1981200"/>
              <a:ext cx="381000" cy="1828800"/>
            </a:xfrm>
            <a:prstGeom prst="rightBrace">
              <a:avLst>
                <a:gd name="adj1" fmla="val 2500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81000" y="2667000"/>
              <a:ext cx="6848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800" dirty="0" smtClean="0"/>
                <a:t>???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/>
          <p:cNvGrpSpPr/>
          <p:nvPr/>
        </p:nvGrpSpPr>
        <p:grpSpPr>
          <a:xfrm>
            <a:off x="1752600" y="2883635"/>
            <a:ext cx="5862925" cy="1383565"/>
            <a:chOff x="1905000" y="3048000"/>
            <a:chExt cx="5862925" cy="1383565"/>
          </a:xfrm>
        </p:grpSpPr>
        <p:pic>
          <p:nvPicPr>
            <p:cNvPr id="93" name="Picture 92" descr="desktop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3581400" y="3048000"/>
              <a:ext cx="833725" cy="1383565"/>
            </a:xfrm>
            <a:prstGeom prst="rect">
              <a:avLst/>
            </a:prstGeom>
          </p:spPr>
        </p:pic>
        <p:pic>
          <p:nvPicPr>
            <p:cNvPr id="95" name="Picture 94" descr="desktop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1905000" y="3048000"/>
              <a:ext cx="833725" cy="1383565"/>
            </a:xfrm>
            <a:prstGeom prst="rect">
              <a:avLst/>
            </a:prstGeom>
          </p:spPr>
        </p:pic>
        <p:pic>
          <p:nvPicPr>
            <p:cNvPr id="99" name="Picture 98" descr="desktop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5257800" y="3048000"/>
              <a:ext cx="833725" cy="1383565"/>
            </a:xfrm>
            <a:prstGeom prst="rect">
              <a:avLst/>
            </a:prstGeom>
          </p:spPr>
        </p:pic>
        <p:pic>
          <p:nvPicPr>
            <p:cNvPr id="100" name="Picture 99" descr="desktop4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flipH="1">
              <a:off x="6934200" y="3048000"/>
              <a:ext cx="833725" cy="1383565"/>
            </a:xfrm>
            <a:prstGeom prst="rect">
              <a:avLst/>
            </a:prstGeom>
          </p:spPr>
        </p:pic>
      </p:grpSp>
      <p:grpSp>
        <p:nvGrpSpPr>
          <p:cNvPr id="186" name="Group 185"/>
          <p:cNvGrpSpPr/>
          <p:nvPr/>
        </p:nvGrpSpPr>
        <p:grpSpPr>
          <a:xfrm>
            <a:off x="1752600" y="1512035"/>
            <a:ext cx="5791200" cy="1524000"/>
            <a:chOff x="1905000" y="1524000"/>
            <a:chExt cx="5791200" cy="1524000"/>
          </a:xfrm>
        </p:grpSpPr>
        <p:pic>
          <p:nvPicPr>
            <p:cNvPr id="48" name="Picture 47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2728784"/>
              <a:ext cx="762000" cy="319216"/>
            </a:xfrm>
            <a:prstGeom prst="rect">
              <a:avLst/>
            </a:prstGeom>
          </p:spPr>
        </p:pic>
        <p:pic>
          <p:nvPicPr>
            <p:cNvPr id="55" name="Picture 54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1400" y="2728784"/>
              <a:ext cx="762000" cy="319216"/>
            </a:xfrm>
            <a:prstGeom prst="rect">
              <a:avLst/>
            </a:prstGeom>
          </p:spPr>
        </p:pic>
        <p:pic>
          <p:nvPicPr>
            <p:cNvPr id="62" name="Picture 61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2728784"/>
              <a:ext cx="762000" cy="319216"/>
            </a:xfrm>
            <a:prstGeom prst="rect">
              <a:avLst/>
            </a:prstGeom>
          </p:spPr>
        </p:pic>
        <p:pic>
          <p:nvPicPr>
            <p:cNvPr id="69" name="Picture 68" descr="cisco_switch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34200" y="2728784"/>
              <a:ext cx="762000" cy="319216"/>
            </a:xfrm>
            <a:prstGeom prst="rect">
              <a:avLst/>
            </a:prstGeom>
          </p:spPr>
        </p:pic>
        <p:pic>
          <p:nvPicPr>
            <p:cNvPr id="75" name="Picture 74" descr="cisco_rout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67000" y="1905000"/>
              <a:ext cx="645584" cy="381000"/>
            </a:xfrm>
            <a:prstGeom prst="rect">
              <a:avLst/>
            </a:prstGeom>
          </p:spPr>
        </p:pic>
        <p:pic>
          <p:nvPicPr>
            <p:cNvPr id="76" name="Picture 75" descr="cisco_rout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0800" y="1905000"/>
              <a:ext cx="609600" cy="359764"/>
            </a:xfrm>
            <a:prstGeom prst="rect">
              <a:avLst/>
            </a:prstGeom>
          </p:spPr>
        </p:pic>
        <p:pic>
          <p:nvPicPr>
            <p:cNvPr id="77" name="Picture 76" descr="cisco_router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95800" y="1524000"/>
              <a:ext cx="609600" cy="359764"/>
            </a:xfrm>
            <a:prstGeom prst="rect">
              <a:avLst/>
            </a:prstGeom>
          </p:spPr>
        </p:pic>
        <p:cxnSp>
          <p:nvCxnSpPr>
            <p:cNvPr id="78" name="Straight Connector 77"/>
            <p:cNvCxnSpPr>
              <a:stCxn id="75" idx="2"/>
              <a:endCxn id="48" idx="0"/>
            </p:cNvCxnSpPr>
            <p:nvPr/>
          </p:nvCxnSpPr>
          <p:spPr>
            <a:xfrm flipH="1">
              <a:off x="2286000" y="2286000"/>
              <a:ext cx="703792" cy="4427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>
              <a:stCxn id="75" idx="2"/>
              <a:endCxn id="55" idx="0"/>
            </p:cNvCxnSpPr>
            <p:nvPr/>
          </p:nvCxnSpPr>
          <p:spPr>
            <a:xfrm>
              <a:off x="2989792" y="2286000"/>
              <a:ext cx="972608" cy="44278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>
              <a:stCxn id="76" idx="2"/>
              <a:endCxn id="69" idx="0"/>
            </p:cNvCxnSpPr>
            <p:nvPr/>
          </p:nvCxnSpPr>
          <p:spPr>
            <a:xfrm>
              <a:off x="6705600" y="2264764"/>
              <a:ext cx="609600" cy="4640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76" idx="2"/>
              <a:endCxn id="62" idx="0"/>
            </p:cNvCxnSpPr>
            <p:nvPr/>
          </p:nvCxnSpPr>
          <p:spPr>
            <a:xfrm flipH="1">
              <a:off x="5638800" y="2264764"/>
              <a:ext cx="1066800" cy="46402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>
              <a:stCxn id="75" idx="3"/>
              <a:endCxn id="77" idx="1"/>
            </p:cNvCxnSpPr>
            <p:nvPr/>
          </p:nvCxnSpPr>
          <p:spPr>
            <a:xfrm flipV="1">
              <a:off x="3312584" y="1703882"/>
              <a:ext cx="1183216" cy="39161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>
              <a:stCxn id="77" idx="3"/>
              <a:endCxn id="76" idx="1"/>
            </p:cNvCxnSpPr>
            <p:nvPr/>
          </p:nvCxnSpPr>
          <p:spPr>
            <a:xfrm>
              <a:off x="5105400" y="1703882"/>
              <a:ext cx="1295400" cy="381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Middlebox Deployment Models</a:t>
            </a:r>
            <a:endParaRPr lang="en-US" dirty="0"/>
          </a:p>
        </p:txBody>
      </p:sp>
      <p:grpSp>
        <p:nvGrpSpPr>
          <p:cNvPr id="163" name="Group 162"/>
          <p:cNvGrpSpPr/>
          <p:nvPr/>
        </p:nvGrpSpPr>
        <p:grpSpPr>
          <a:xfrm>
            <a:off x="1905000" y="1512035"/>
            <a:ext cx="5397454" cy="1600200"/>
            <a:chOff x="2057400" y="1295400"/>
            <a:chExt cx="5397454" cy="1600200"/>
          </a:xfrm>
        </p:grpSpPr>
        <p:pic>
          <p:nvPicPr>
            <p:cNvPr id="101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57400" y="2514647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2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9400" y="1676400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3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2514647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4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10200" y="2514647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5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6600" y="2514647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6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20002" y="1295400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7" name="Content Placeholder 98" descr="openflow_logo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5946" y="1676400"/>
              <a:ext cx="368254" cy="38095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58" name="Group 157"/>
          <p:cNvGrpSpPr/>
          <p:nvPr/>
        </p:nvGrpSpPr>
        <p:grpSpPr>
          <a:xfrm>
            <a:off x="3200400" y="1512035"/>
            <a:ext cx="2895600" cy="762000"/>
            <a:chOff x="3352800" y="1676400"/>
            <a:chExt cx="2895600" cy="762000"/>
          </a:xfrm>
        </p:grpSpPr>
        <p:grpSp>
          <p:nvGrpSpPr>
            <p:cNvPr id="197" name="Group 196"/>
            <p:cNvGrpSpPr/>
            <p:nvPr/>
          </p:nvGrpSpPr>
          <p:grpSpPr>
            <a:xfrm>
              <a:off x="3886200" y="1676400"/>
              <a:ext cx="533400" cy="533400"/>
              <a:chOff x="1524000" y="1600200"/>
              <a:chExt cx="533400" cy="533400"/>
            </a:xfrm>
          </p:grpSpPr>
          <p:pic>
            <p:nvPicPr>
              <p:cNvPr id="188" name="Picture 187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1524000" y="16002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191" name="Picture 190" descr="firewall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620900" y="1676400"/>
                <a:ext cx="338667" cy="338667"/>
              </a:xfrm>
              <a:prstGeom prst="rect">
                <a:avLst/>
              </a:prstGeom>
            </p:spPr>
          </p:pic>
        </p:grpSp>
        <p:grpSp>
          <p:nvGrpSpPr>
            <p:cNvPr id="198" name="Group 197"/>
            <p:cNvGrpSpPr/>
            <p:nvPr/>
          </p:nvGrpSpPr>
          <p:grpSpPr>
            <a:xfrm>
              <a:off x="5181600" y="1676400"/>
              <a:ext cx="533400" cy="533400"/>
              <a:chOff x="1676400" y="1600200"/>
              <a:chExt cx="533400" cy="533400"/>
            </a:xfrm>
          </p:grpSpPr>
          <p:pic>
            <p:nvPicPr>
              <p:cNvPr id="199" name="Picture 198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1676400" y="16002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00" name="Picture 199" descr="firewall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805050" y="1676400"/>
                <a:ext cx="338667" cy="338667"/>
              </a:xfrm>
              <a:prstGeom prst="rect">
                <a:avLst/>
              </a:prstGeom>
            </p:spPr>
          </p:pic>
        </p:grpSp>
        <p:grpSp>
          <p:nvGrpSpPr>
            <p:cNvPr id="214" name="Group 213"/>
            <p:cNvGrpSpPr/>
            <p:nvPr/>
          </p:nvGrpSpPr>
          <p:grpSpPr>
            <a:xfrm>
              <a:off x="3352800" y="1905000"/>
              <a:ext cx="533400" cy="533400"/>
              <a:chOff x="4953000" y="4800600"/>
              <a:chExt cx="533400" cy="533400"/>
            </a:xfrm>
          </p:grpSpPr>
          <p:pic>
            <p:nvPicPr>
              <p:cNvPr id="209" name="Picture 208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4953000" y="48006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13" name="Picture 212" descr="magnifying_glass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029200" y="4876800"/>
                <a:ext cx="349250" cy="3492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215" name="Group 214"/>
            <p:cNvGrpSpPr/>
            <p:nvPr/>
          </p:nvGrpSpPr>
          <p:grpSpPr>
            <a:xfrm>
              <a:off x="5715000" y="1905000"/>
              <a:ext cx="533400" cy="533400"/>
              <a:chOff x="5105400" y="4800600"/>
              <a:chExt cx="533400" cy="533400"/>
            </a:xfrm>
          </p:grpSpPr>
          <p:pic>
            <p:nvPicPr>
              <p:cNvPr id="216" name="Picture 215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5105400" y="48006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17" name="Picture 216" descr="magnifying_glass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213350" y="4876800"/>
                <a:ext cx="349250" cy="3492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159" name="Group 158"/>
          <p:cNvGrpSpPr/>
          <p:nvPr/>
        </p:nvGrpSpPr>
        <p:grpSpPr>
          <a:xfrm>
            <a:off x="3352800" y="3569435"/>
            <a:ext cx="2514600" cy="381000"/>
            <a:chOff x="3505200" y="3733800"/>
            <a:chExt cx="2514600" cy="381000"/>
          </a:xfrm>
        </p:grpSpPr>
        <p:grpSp>
          <p:nvGrpSpPr>
            <p:cNvPr id="96" name="Group 12"/>
            <p:cNvGrpSpPr/>
            <p:nvPr/>
          </p:nvGrpSpPr>
          <p:grpSpPr>
            <a:xfrm>
              <a:off x="3505200" y="3733800"/>
              <a:ext cx="381000" cy="381000"/>
              <a:chOff x="5791200" y="3276600"/>
              <a:chExt cx="685800" cy="685800"/>
            </a:xfrm>
          </p:grpSpPr>
          <p:sp>
            <p:nvSpPr>
              <p:cNvPr id="97" name="Rounded Rectangle 96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8" name="Picture 97" descr="magnifying_glass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266" name="Group 15"/>
            <p:cNvGrpSpPr/>
            <p:nvPr/>
          </p:nvGrpSpPr>
          <p:grpSpPr>
            <a:xfrm>
              <a:off x="3962400" y="3733800"/>
              <a:ext cx="381000" cy="381000"/>
              <a:chOff x="6248400" y="1905000"/>
              <a:chExt cx="685800" cy="685800"/>
            </a:xfrm>
          </p:grpSpPr>
          <p:sp>
            <p:nvSpPr>
              <p:cNvPr id="267" name="Rounded Rectangle 266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68" name="Picture 267" descr="firewall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  <p:grpSp>
          <p:nvGrpSpPr>
            <p:cNvPr id="275" name="Group 12"/>
            <p:cNvGrpSpPr/>
            <p:nvPr/>
          </p:nvGrpSpPr>
          <p:grpSpPr>
            <a:xfrm>
              <a:off x="5181600" y="3733800"/>
              <a:ext cx="381000" cy="381000"/>
              <a:chOff x="5791200" y="3276600"/>
              <a:chExt cx="685800" cy="685800"/>
            </a:xfrm>
          </p:grpSpPr>
          <p:sp>
            <p:nvSpPr>
              <p:cNvPr id="276" name="Rounded Rectangle 275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7" name="Picture 276" descr="magnifying_glass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278" name="Group 15"/>
            <p:cNvGrpSpPr/>
            <p:nvPr/>
          </p:nvGrpSpPr>
          <p:grpSpPr>
            <a:xfrm>
              <a:off x="5638800" y="3733800"/>
              <a:ext cx="381000" cy="381000"/>
              <a:chOff x="6248400" y="1905000"/>
              <a:chExt cx="685800" cy="685800"/>
            </a:xfrm>
          </p:grpSpPr>
          <p:sp>
            <p:nvSpPr>
              <p:cNvPr id="279" name="Rounded Rectangle 278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0" name="Picture 279" descr="firewall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</p:grpSp>
      <p:grpSp>
        <p:nvGrpSpPr>
          <p:cNvPr id="321" name="Group 320"/>
          <p:cNvGrpSpPr/>
          <p:nvPr/>
        </p:nvGrpSpPr>
        <p:grpSpPr>
          <a:xfrm>
            <a:off x="2667000" y="1740635"/>
            <a:ext cx="4953000" cy="1219200"/>
            <a:chOff x="2819400" y="1752600"/>
            <a:chExt cx="4953000" cy="1219200"/>
          </a:xfrm>
        </p:grpSpPr>
        <p:cxnSp>
          <p:nvCxnSpPr>
            <p:cNvPr id="287" name="Straight Connector 286"/>
            <p:cNvCxnSpPr>
              <a:stCxn id="55" idx="1"/>
              <a:endCxn id="292" idx="3"/>
            </p:cNvCxnSpPr>
            <p:nvPr/>
          </p:nvCxnSpPr>
          <p:spPr>
            <a:xfrm flipH="1" flipV="1">
              <a:off x="3286717" y="2683934"/>
              <a:ext cx="294683" cy="2806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0" name="Group 289"/>
            <p:cNvGrpSpPr/>
            <p:nvPr/>
          </p:nvGrpSpPr>
          <p:grpSpPr>
            <a:xfrm>
              <a:off x="2819400" y="2438400"/>
              <a:ext cx="533400" cy="533400"/>
              <a:chOff x="1600200" y="1600200"/>
              <a:chExt cx="533400" cy="533400"/>
            </a:xfrm>
          </p:grpSpPr>
          <p:pic>
            <p:nvPicPr>
              <p:cNvPr id="291" name="Picture 290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1600200" y="16002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92" name="Picture 291" descr="firewall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728850" y="1676400"/>
                <a:ext cx="338667" cy="338667"/>
              </a:xfrm>
              <a:prstGeom prst="rect">
                <a:avLst/>
              </a:prstGeom>
            </p:spPr>
          </p:pic>
        </p:grpSp>
        <p:cxnSp>
          <p:nvCxnSpPr>
            <p:cNvPr id="295" name="Straight Connector 294"/>
            <p:cNvCxnSpPr>
              <a:stCxn id="62" idx="1"/>
              <a:endCxn id="298" idx="3"/>
            </p:cNvCxnSpPr>
            <p:nvPr/>
          </p:nvCxnSpPr>
          <p:spPr>
            <a:xfrm flipH="1" flipV="1">
              <a:off x="4963117" y="2683934"/>
              <a:ext cx="294683" cy="28065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6" name="Group 295"/>
            <p:cNvGrpSpPr/>
            <p:nvPr/>
          </p:nvGrpSpPr>
          <p:grpSpPr>
            <a:xfrm>
              <a:off x="4495800" y="2438400"/>
              <a:ext cx="533400" cy="533400"/>
              <a:chOff x="1600200" y="1600200"/>
              <a:chExt cx="533400" cy="533400"/>
            </a:xfrm>
          </p:grpSpPr>
          <p:pic>
            <p:nvPicPr>
              <p:cNvPr id="297" name="Picture 296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1600200" y="16002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98" name="Picture 297" descr="firewall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728850" y="1676400"/>
                <a:ext cx="338667" cy="338667"/>
              </a:xfrm>
              <a:prstGeom prst="rect">
                <a:avLst/>
              </a:prstGeom>
            </p:spPr>
          </p:pic>
        </p:grpSp>
        <p:grpSp>
          <p:nvGrpSpPr>
            <p:cNvPr id="300" name="Group 299"/>
            <p:cNvGrpSpPr/>
            <p:nvPr/>
          </p:nvGrpSpPr>
          <p:grpSpPr>
            <a:xfrm>
              <a:off x="6172200" y="2438400"/>
              <a:ext cx="533400" cy="533400"/>
              <a:chOff x="5029200" y="4800600"/>
              <a:chExt cx="533400" cy="533400"/>
            </a:xfrm>
          </p:grpSpPr>
          <p:pic>
            <p:nvPicPr>
              <p:cNvPr id="301" name="Picture 300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5029200" y="48006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302" name="Picture 301" descr="magnifying_glass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137150" y="4876800"/>
                <a:ext cx="349250" cy="3492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cxnSp>
          <p:nvCxnSpPr>
            <p:cNvPr id="303" name="Straight Connector 302"/>
            <p:cNvCxnSpPr>
              <a:stCxn id="301" idx="0"/>
              <a:endCxn id="69" idx="1"/>
            </p:cNvCxnSpPr>
            <p:nvPr/>
          </p:nvCxnSpPr>
          <p:spPr>
            <a:xfrm>
              <a:off x="6705600" y="2705100"/>
              <a:ext cx="228600" cy="25949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8" name="Group 307"/>
            <p:cNvGrpSpPr/>
            <p:nvPr/>
          </p:nvGrpSpPr>
          <p:grpSpPr>
            <a:xfrm>
              <a:off x="7239000" y="1752600"/>
              <a:ext cx="533400" cy="533400"/>
              <a:chOff x="5181600" y="4800600"/>
              <a:chExt cx="533400" cy="533400"/>
            </a:xfrm>
          </p:grpSpPr>
          <p:pic>
            <p:nvPicPr>
              <p:cNvPr id="309" name="Picture 308" descr="desktop2.png"/>
              <p:cNvPicPr>
                <a:picLocks noChangeAspect="1"/>
              </p:cNvPicPr>
              <p:nvPr/>
            </p:nvPicPr>
            <p:blipFill>
              <a:blip r:embed="rId7" cstate="print">
                <a:duotone>
                  <a:schemeClr val="accent6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5400000">
                <a:off x="5181600" y="48006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310" name="Picture 309" descr="magnifying_glass.png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5289550" y="4876800"/>
                <a:ext cx="349250" cy="3492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cxnSp>
          <p:nvCxnSpPr>
            <p:cNvPr id="311" name="Straight Connector 310"/>
            <p:cNvCxnSpPr>
              <a:stCxn id="76" idx="3"/>
              <a:endCxn id="309" idx="2"/>
            </p:cNvCxnSpPr>
            <p:nvPr/>
          </p:nvCxnSpPr>
          <p:spPr>
            <a:xfrm flipV="1">
              <a:off x="7010400" y="2019300"/>
              <a:ext cx="228600" cy="14178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4" name="Content Placeholder 2"/>
          <p:cNvSpPr>
            <a:spLocks noGrp="1"/>
          </p:cNvSpPr>
          <p:nvPr>
            <p:ph idx="1"/>
          </p:nvPr>
        </p:nvSpPr>
        <p:spPr>
          <a:xfrm>
            <a:off x="457200" y="4419600"/>
            <a:ext cx="8229600" cy="175260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/>
            <a:r>
              <a:rPr lang="en-US" dirty="0" smtClean="0"/>
              <a:t>Arbitrary middlebox placement</a:t>
            </a:r>
          </a:p>
          <a:p>
            <a:pPr marL="514350" indent="-514350"/>
            <a:r>
              <a:rPr lang="en-US" dirty="0" smtClean="0"/>
              <a:t>New forms of middlebox deployment </a:t>
            </a:r>
            <a:br>
              <a:rPr lang="en-US" dirty="0" smtClean="0"/>
            </a:br>
            <a:r>
              <a:rPr lang="en-US" dirty="0" smtClean="0"/>
              <a:t>(VMs, ETTM </a:t>
            </a:r>
            <a:r>
              <a:rPr lang="en-US" sz="2400" i="1" dirty="0" smtClean="0"/>
              <a:t>[NSDI 2011]</a:t>
            </a:r>
            <a:r>
              <a:rPr lang="en-US" dirty="0" smtClean="0"/>
              <a:t>, </a:t>
            </a:r>
            <a:r>
              <a:rPr lang="en-US" dirty="0" err="1" smtClean="0"/>
              <a:t>CoMB</a:t>
            </a:r>
            <a:r>
              <a:rPr lang="en-US" dirty="0" smtClean="0"/>
              <a:t> </a:t>
            </a:r>
            <a:r>
              <a:rPr lang="en-US" sz="2400" i="1" dirty="0" smtClean="0"/>
              <a:t>[NSDI 2012]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38" name="Slide Number Placeholder 1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3</a:t>
            </a:fld>
            <a:endParaRPr lang="en-US"/>
          </a:p>
        </p:txBody>
      </p:sp>
      <p:grpSp>
        <p:nvGrpSpPr>
          <p:cNvPr id="157" name="Group 156"/>
          <p:cNvGrpSpPr/>
          <p:nvPr/>
        </p:nvGrpSpPr>
        <p:grpSpPr>
          <a:xfrm>
            <a:off x="1600200" y="3112235"/>
            <a:ext cx="5857875" cy="371475"/>
            <a:chOff x="1752600" y="3276600"/>
            <a:chExt cx="5857875" cy="371475"/>
          </a:xfrm>
        </p:grpSpPr>
        <p:sp>
          <p:nvSpPr>
            <p:cNvPr id="239" name="Rounded Rectangle 238"/>
            <p:cNvSpPr/>
            <p:nvPr/>
          </p:nvSpPr>
          <p:spPr>
            <a:xfrm>
              <a:off x="2209800" y="32766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752600" y="32766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3505200" y="32766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ounded Rectangle 152"/>
            <p:cNvSpPr/>
            <p:nvPr/>
          </p:nvSpPr>
          <p:spPr>
            <a:xfrm>
              <a:off x="5191125" y="32766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ounded Rectangle 153"/>
            <p:cNvSpPr/>
            <p:nvPr/>
          </p:nvSpPr>
          <p:spPr>
            <a:xfrm>
              <a:off x="7239000" y="32766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ounded Rectangle 154"/>
            <p:cNvSpPr/>
            <p:nvPr/>
          </p:nvSpPr>
          <p:spPr>
            <a:xfrm>
              <a:off x="6781800" y="32766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Move between software-defined data centers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Existing VM and network migration methods</a:t>
            </a:r>
          </a:p>
          <a:p>
            <a:pPr lvl="1"/>
            <a:r>
              <a:rPr lang="en-US" dirty="0" smtClean="0"/>
              <a:t>Unsuitable for changing underlying substrate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" y="2209800"/>
            <a:ext cx="3657600" cy="16764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2743200" y="2667000"/>
            <a:ext cx="685800" cy="685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3581400" y="2209800"/>
            <a:ext cx="762000" cy="16764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Connector 96"/>
          <p:cNvCxnSpPr>
            <a:endCxn id="124" idx="0"/>
          </p:cNvCxnSpPr>
          <p:nvPr/>
        </p:nvCxnSpPr>
        <p:spPr>
          <a:xfrm flipH="1">
            <a:off x="6477000" y="3048000"/>
            <a:ext cx="533400" cy="2667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stCxn id="45" idx="3"/>
          </p:cNvCxnSpPr>
          <p:nvPr/>
        </p:nvCxnSpPr>
        <p:spPr>
          <a:xfrm>
            <a:off x="3276600" y="3009900"/>
            <a:ext cx="4648200" cy="44582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>
            <a:stCxn id="45" idx="3"/>
          </p:cNvCxnSpPr>
          <p:nvPr/>
        </p:nvCxnSpPr>
        <p:spPr>
          <a:xfrm flipV="1">
            <a:off x="3276600" y="2541320"/>
            <a:ext cx="4648200" cy="46858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45" idx="3"/>
          </p:cNvCxnSpPr>
          <p:nvPr/>
        </p:nvCxnSpPr>
        <p:spPr>
          <a:xfrm flipV="1">
            <a:off x="3276600" y="2998520"/>
            <a:ext cx="4648200" cy="1138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Live Data Center Migration</a:t>
            </a:r>
            <a:endParaRPr lang="en-US" dirty="0"/>
          </a:p>
        </p:txBody>
      </p:sp>
      <p:grpSp>
        <p:nvGrpSpPr>
          <p:cNvPr id="5" name="Group 228"/>
          <p:cNvGrpSpPr/>
          <p:nvPr/>
        </p:nvGrpSpPr>
        <p:grpSpPr>
          <a:xfrm>
            <a:off x="3810000" y="2362200"/>
            <a:ext cx="371475" cy="371475"/>
            <a:chOff x="4419600" y="5029200"/>
            <a:chExt cx="371475" cy="371475"/>
          </a:xfrm>
        </p:grpSpPr>
        <p:pic>
          <p:nvPicPr>
            <p:cNvPr id="28" name="Picture 27" descr="glob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27" name="Rounded Rectangle 26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234"/>
          <p:cNvGrpSpPr/>
          <p:nvPr/>
        </p:nvGrpSpPr>
        <p:grpSpPr>
          <a:xfrm>
            <a:off x="3810000" y="2819400"/>
            <a:ext cx="371475" cy="371475"/>
            <a:chOff x="4419600" y="5029200"/>
            <a:chExt cx="371475" cy="371475"/>
          </a:xfrm>
        </p:grpSpPr>
        <p:pic>
          <p:nvPicPr>
            <p:cNvPr id="24" name="Picture 23" descr="glob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23" name="Rounded Rectangle 22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237"/>
          <p:cNvGrpSpPr/>
          <p:nvPr/>
        </p:nvGrpSpPr>
        <p:grpSpPr>
          <a:xfrm>
            <a:off x="3810000" y="3276600"/>
            <a:ext cx="371475" cy="371475"/>
            <a:chOff x="4419600" y="5029200"/>
            <a:chExt cx="371475" cy="371475"/>
          </a:xfrm>
        </p:grpSpPr>
        <p:pic>
          <p:nvPicPr>
            <p:cNvPr id="22" name="Picture 21" descr="globe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21" name="Rounded Rectangle 20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240"/>
          <p:cNvGrpSpPr/>
          <p:nvPr/>
        </p:nvGrpSpPr>
        <p:grpSpPr>
          <a:xfrm>
            <a:off x="2895600" y="3276600"/>
            <a:ext cx="381000" cy="381000"/>
            <a:chOff x="5867400" y="5029200"/>
            <a:chExt cx="381000" cy="381000"/>
          </a:xfrm>
        </p:grpSpPr>
        <p:pic>
          <p:nvPicPr>
            <p:cNvPr id="20" name="Picture 19" descr="money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67400" y="5029200"/>
              <a:ext cx="381000" cy="381000"/>
            </a:xfrm>
            <a:prstGeom prst="rect">
              <a:avLst/>
            </a:prstGeom>
          </p:spPr>
        </p:pic>
        <p:sp>
          <p:nvSpPr>
            <p:cNvPr id="19" name="Rounded Rectangle 18"/>
            <p:cNvSpPr/>
            <p:nvPr/>
          </p:nvSpPr>
          <p:spPr>
            <a:xfrm>
              <a:off x="58674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12"/>
          <p:cNvGrpSpPr/>
          <p:nvPr/>
        </p:nvGrpSpPr>
        <p:grpSpPr>
          <a:xfrm>
            <a:off x="1981200" y="3124200"/>
            <a:ext cx="381000" cy="381000"/>
            <a:chOff x="5791200" y="3276600"/>
            <a:chExt cx="685800" cy="685800"/>
          </a:xfrm>
        </p:grpSpPr>
        <p:sp>
          <p:nvSpPr>
            <p:cNvPr id="46" name="Rounded Rectangle 45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magnifying_gla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1" name="Group 9"/>
          <p:cNvGrpSpPr/>
          <p:nvPr/>
        </p:nvGrpSpPr>
        <p:grpSpPr>
          <a:xfrm>
            <a:off x="2895600" y="2819400"/>
            <a:ext cx="381000" cy="381000"/>
            <a:chOff x="7848600" y="1600200"/>
            <a:chExt cx="685800" cy="685800"/>
          </a:xfrm>
        </p:grpSpPr>
        <p:sp>
          <p:nvSpPr>
            <p:cNvPr id="44" name="Rounded Rectangle 43"/>
            <p:cNvSpPr/>
            <p:nvPr/>
          </p:nvSpPr>
          <p:spPr>
            <a:xfrm>
              <a:off x="7848600" y="16002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5" name="Picture 44" descr="server_sync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48600" y="1600200"/>
              <a:ext cx="685800" cy="685800"/>
            </a:xfrm>
            <a:prstGeom prst="rect">
              <a:avLst/>
            </a:prstGeom>
          </p:spPr>
        </p:pic>
      </p:grpSp>
      <p:grpSp>
        <p:nvGrpSpPr>
          <p:cNvPr id="32" name="Group 15"/>
          <p:cNvGrpSpPr/>
          <p:nvPr/>
        </p:nvGrpSpPr>
        <p:grpSpPr>
          <a:xfrm>
            <a:off x="1143002" y="3200400"/>
            <a:ext cx="381000" cy="381000"/>
            <a:chOff x="6248404" y="1905001"/>
            <a:chExt cx="685800" cy="685800"/>
          </a:xfrm>
        </p:grpSpPr>
        <p:sp>
          <p:nvSpPr>
            <p:cNvPr id="42" name="Rounded Rectangle 41"/>
            <p:cNvSpPr/>
            <p:nvPr/>
          </p:nvSpPr>
          <p:spPr>
            <a:xfrm>
              <a:off x="6248404" y="1905001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3" name="Picture 42" descr="firewall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78381" y="1951220"/>
              <a:ext cx="609601" cy="609601"/>
            </a:xfrm>
            <a:prstGeom prst="rect">
              <a:avLst/>
            </a:prstGeom>
          </p:spPr>
        </p:pic>
      </p:grpSp>
      <p:cxnSp>
        <p:nvCxnSpPr>
          <p:cNvPr id="49" name="Straight Connector 48"/>
          <p:cNvCxnSpPr>
            <a:stCxn id="43" idx="3"/>
            <a:endCxn id="47" idx="1"/>
          </p:cNvCxnSpPr>
          <p:nvPr/>
        </p:nvCxnSpPr>
        <p:spPr>
          <a:xfrm flipV="1">
            <a:off x="1498323" y="3298825"/>
            <a:ext cx="482877" cy="9658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1"/>
            <a:endCxn id="47" idx="3"/>
          </p:cNvCxnSpPr>
          <p:nvPr/>
        </p:nvCxnSpPr>
        <p:spPr>
          <a:xfrm flipH="1">
            <a:off x="2330450" y="3009900"/>
            <a:ext cx="565150" cy="2889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28" idx="1"/>
            <a:endCxn id="45" idx="3"/>
          </p:cNvCxnSpPr>
          <p:nvPr/>
        </p:nvCxnSpPr>
        <p:spPr>
          <a:xfrm flipH="1">
            <a:off x="3276600" y="2541320"/>
            <a:ext cx="533400" cy="4685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24" idx="1"/>
            <a:endCxn id="45" idx="3"/>
          </p:cNvCxnSpPr>
          <p:nvPr/>
        </p:nvCxnSpPr>
        <p:spPr>
          <a:xfrm flipH="1">
            <a:off x="3276600" y="2998520"/>
            <a:ext cx="533400" cy="113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stCxn id="22" idx="1"/>
            <a:endCxn id="45" idx="3"/>
          </p:cNvCxnSpPr>
          <p:nvPr/>
        </p:nvCxnSpPr>
        <p:spPr>
          <a:xfrm flipH="1" flipV="1">
            <a:off x="3276600" y="3009900"/>
            <a:ext cx="533400" cy="4458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/>
          <p:cNvCxnSpPr>
            <a:stCxn id="20" idx="1"/>
            <a:endCxn id="47" idx="3"/>
          </p:cNvCxnSpPr>
          <p:nvPr/>
        </p:nvCxnSpPr>
        <p:spPr>
          <a:xfrm flipH="1" flipV="1">
            <a:off x="2330450" y="3298825"/>
            <a:ext cx="565150" cy="1682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3" idx="1"/>
          </p:cNvCxnSpPr>
          <p:nvPr/>
        </p:nvCxnSpPr>
        <p:spPr>
          <a:xfrm flipH="1">
            <a:off x="685800" y="3395412"/>
            <a:ext cx="473856" cy="10978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 flipH="1">
            <a:off x="7391400" y="2541320"/>
            <a:ext cx="533400" cy="4685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/>
          <p:cNvCxnSpPr/>
          <p:nvPr/>
        </p:nvCxnSpPr>
        <p:spPr>
          <a:xfrm flipH="1">
            <a:off x="7391400" y="2998520"/>
            <a:ext cx="533400" cy="113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 flipH="1" flipV="1">
            <a:off x="7391400" y="3009900"/>
            <a:ext cx="533400" cy="4458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3" name="Rectangle 102"/>
          <p:cNvSpPr/>
          <p:nvPr/>
        </p:nvSpPr>
        <p:spPr>
          <a:xfrm>
            <a:off x="4800600" y="2209800"/>
            <a:ext cx="3657600" cy="16764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685800" y="2209800"/>
            <a:ext cx="16618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Data Center A</a:t>
            </a: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4800600" y="2209800"/>
            <a:ext cx="16506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accent5"/>
                </a:solidFill>
              </a:rPr>
              <a:t>Data Center B</a:t>
            </a:r>
            <a:endParaRPr lang="en-US" sz="2000" b="1" dirty="0">
              <a:solidFill>
                <a:schemeClr val="accent5"/>
              </a:solidFill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1981200" y="2895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299"/>
          <p:cNvGrpSpPr/>
          <p:nvPr/>
        </p:nvGrpSpPr>
        <p:grpSpPr>
          <a:xfrm>
            <a:off x="5943600" y="3048000"/>
            <a:ext cx="533400" cy="533400"/>
            <a:chOff x="5029200" y="4800600"/>
            <a:chExt cx="533400" cy="533400"/>
          </a:xfrm>
        </p:grpSpPr>
        <p:pic>
          <p:nvPicPr>
            <p:cNvPr id="124" name="Picture 123" descr="desktop2.png"/>
            <p:cNvPicPr>
              <a:picLocks noChangeAspect="1"/>
            </p:cNvPicPr>
            <p:nvPr/>
          </p:nvPicPr>
          <p:blipFill>
            <a:blip r:embed="rId8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5400000">
              <a:off x="5029200" y="4800600"/>
              <a:ext cx="533400" cy="533400"/>
            </a:xfrm>
            <a:prstGeom prst="rect">
              <a:avLst/>
            </a:prstGeom>
          </p:spPr>
        </p:pic>
        <p:pic>
          <p:nvPicPr>
            <p:cNvPr id="125" name="Picture 124" descr="magnifying_gla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37150" y="4876800"/>
              <a:ext cx="349250" cy="3492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cxnSp>
        <p:nvCxnSpPr>
          <p:cNvPr id="140" name="Straight Connector 139"/>
          <p:cNvCxnSpPr>
            <a:stCxn id="47" idx="3"/>
          </p:cNvCxnSpPr>
          <p:nvPr/>
        </p:nvCxnSpPr>
        <p:spPr>
          <a:xfrm flipV="1">
            <a:off x="2330450" y="3009900"/>
            <a:ext cx="4679950" cy="288925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Rectangle 145"/>
          <p:cNvSpPr/>
          <p:nvPr/>
        </p:nvSpPr>
        <p:spPr>
          <a:xfrm>
            <a:off x="685800" y="34290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/>
          <p:cNvSpPr/>
          <p:nvPr/>
        </p:nvSpPr>
        <p:spPr>
          <a:xfrm>
            <a:off x="2895600" y="25908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0" name="Straight Connector 469"/>
          <p:cNvCxnSpPr>
            <a:stCxn id="42" idx="3"/>
            <a:endCxn id="124" idx="2"/>
          </p:cNvCxnSpPr>
          <p:nvPr/>
        </p:nvCxnSpPr>
        <p:spPr>
          <a:xfrm flipV="1">
            <a:off x="1524002" y="3314700"/>
            <a:ext cx="4419598" cy="76200"/>
          </a:xfrm>
          <a:prstGeom prst="straightConnector1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5" name="Straight Connector 474"/>
          <p:cNvCxnSpPr>
            <a:stCxn id="20" idx="3"/>
            <a:endCxn id="124" idx="2"/>
          </p:cNvCxnSpPr>
          <p:nvPr/>
        </p:nvCxnSpPr>
        <p:spPr>
          <a:xfrm flipV="1">
            <a:off x="3276600" y="3314700"/>
            <a:ext cx="2667000" cy="15240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7" name="Content Placeholder 2"/>
          <p:cNvSpPr txBox="1">
            <a:spLocks/>
          </p:cNvSpPr>
          <p:nvPr/>
        </p:nvSpPr>
        <p:spPr>
          <a:xfrm>
            <a:off x="381000" y="5486400"/>
            <a:ext cx="8382000" cy="685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Programmatic control over middlebox state</a:t>
            </a: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1.11111E-6 L 0.44635 1.11111E-6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4.44444E-6 L 0.44635 4.44444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2.22222E-6 L 0.44635 -2.22222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71 -0.02082 L 0.15382 -0.03122 L 0.25555 -0.07656 L 0.80608 -0.07425 " pathEditMode="relative" ptsTypes="AAAAA">
                                      <p:cBhvr>
                                        <p:cTn id="42" dur="5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0"/>
                            </p:stCondLst>
                            <p:childTnLst>
                              <p:par>
                                <p:cTn id="4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2.28314E-6 L 0.44583 2.28314E-6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2.41499E-6 L 0.45417 -2.41499E-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7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4.44444E-6 L 0.44583 -4.44444E-6 " pathEditMode="relative" rAng="0" ptsTypes="AA">
                                      <p:cBhvr>
                                        <p:cTn id="100" dur="1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8" grpId="0" animBg="1"/>
      <p:bldP spid="58" grpId="1" animBg="1"/>
      <p:bldP spid="57" grpId="0" animBg="1"/>
      <p:bldP spid="57" grpId="1" animBg="1"/>
      <p:bldP spid="108" grpId="0" animBg="1"/>
      <p:bldP spid="108" grpId="1" animBg="1"/>
      <p:bldP spid="146" grpId="0" animBg="1"/>
      <p:bldP spid="146" grpId="1" animBg="1"/>
      <p:bldP spid="146" grpId="2" animBg="1"/>
      <p:bldP spid="147" grpId="0" animBg="1"/>
      <p:bldP spid="48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or remove middlebox VMs based on load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Clone VM (logic, policy, and internal state)</a:t>
            </a:r>
          </a:p>
          <a:p>
            <a:pPr lvl="1"/>
            <a:r>
              <a:rPr lang="en-US" dirty="0" smtClean="0"/>
              <a:t>Unsuitable for scaling down or some scaling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057400"/>
            <a:ext cx="3886200" cy="14478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3962400" y="2209800"/>
            <a:ext cx="685800" cy="685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Middlebox Scaling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1000" y="5486400"/>
            <a:ext cx="8382000" cy="685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Fine-grained control</a:t>
            </a:r>
          </a:p>
        </p:txBody>
      </p:sp>
      <p:grpSp>
        <p:nvGrpSpPr>
          <p:cNvPr id="9" name="Group 12"/>
          <p:cNvGrpSpPr/>
          <p:nvPr/>
        </p:nvGrpSpPr>
        <p:grpSpPr>
          <a:xfrm>
            <a:off x="4114800" y="2819400"/>
            <a:ext cx="381000" cy="381000"/>
            <a:chOff x="5791200" y="3276600"/>
            <a:chExt cx="685800" cy="685800"/>
          </a:xfrm>
        </p:grpSpPr>
        <p:sp>
          <p:nvSpPr>
            <p:cNvPr id="25" name="Rounded Rectangle 24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 descr="magnifying_glas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3" name="Group 252"/>
          <p:cNvGrpSpPr/>
          <p:nvPr/>
        </p:nvGrpSpPr>
        <p:grpSpPr>
          <a:xfrm>
            <a:off x="6029325" y="2819400"/>
            <a:ext cx="371475" cy="371475"/>
            <a:chOff x="4419600" y="5029200"/>
            <a:chExt cx="371475" cy="371475"/>
          </a:xfrm>
        </p:grpSpPr>
        <p:pic>
          <p:nvPicPr>
            <p:cNvPr id="41" name="Picture 40" descr="globe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40" name="Rounded Rectangle 39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Group 252"/>
          <p:cNvGrpSpPr/>
          <p:nvPr/>
        </p:nvGrpSpPr>
        <p:grpSpPr>
          <a:xfrm>
            <a:off x="6029325" y="2371725"/>
            <a:ext cx="371475" cy="371475"/>
            <a:chOff x="4419600" y="5029200"/>
            <a:chExt cx="371475" cy="371475"/>
          </a:xfrm>
        </p:grpSpPr>
        <p:pic>
          <p:nvPicPr>
            <p:cNvPr id="57" name="Picture 56" descr="globe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56" name="Rounded Rectangle 55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" name="Straight Connector 57"/>
          <p:cNvCxnSpPr>
            <a:stCxn id="26" idx="1"/>
            <a:endCxn id="5" idx="1"/>
          </p:cNvCxnSpPr>
          <p:nvPr/>
        </p:nvCxnSpPr>
        <p:spPr>
          <a:xfrm flipH="1" flipV="1">
            <a:off x="2743200" y="2781300"/>
            <a:ext cx="1371600" cy="2127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9" name="Group 118"/>
          <p:cNvGrpSpPr/>
          <p:nvPr/>
        </p:nvGrpSpPr>
        <p:grpSpPr>
          <a:xfrm>
            <a:off x="2743200" y="2362200"/>
            <a:ext cx="3286125" cy="642938"/>
            <a:chOff x="695325" y="2438400"/>
            <a:chExt cx="3286125" cy="642938"/>
          </a:xfrm>
        </p:grpSpPr>
        <p:cxnSp>
          <p:nvCxnSpPr>
            <p:cNvPr id="67" name="Straight Connector 66"/>
            <p:cNvCxnSpPr>
              <a:stCxn id="54" idx="3"/>
              <a:endCxn id="40" idx="1"/>
            </p:cNvCxnSpPr>
            <p:nvPr/>
          </p:nvCxnSpPr>
          <p:spPr>
            <a:xfrm>
              <a:off x="2406650" y="2613025"/>
              <a:ext cx="1574800" cy="46831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2" name="Group 12"/>
            <p:cNvGrpSpPr/>
            <p:nvPr/>
          </p:nvGrpSpPr>
          <p:grpSpPr>
            <a:xfrm>
              <a:off x="2057400" y="2438400"/>
              <a:ext cx="381000" cy="381000"/>
              <a:chOff x="5791200" y="3276600"/>
              <a:chExt cx="685800" cy="685800"/>
            </a:xfrm>
          </p:grpSpPr>
          <p:sp>
            <p:nvSpPr>
              <p:cNvPr id="53" name="Rounded Rectangle 52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4" name="Picture 53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cxnSp>
          <p:nvCxnSpPr>
            <p:cNvPr id="61" name="Straight Connector 60"/>
            <p:cNvCxnSpPr>
              <a:stCxn id="54" idx="1"/>
              <a:endCxn id="136" idx="1"/>
            </p:cNvCxnSpPr>
            <p:nvPr/>
          </p:nvCxnSpPr>
          <p:spPr>
            <a:xfrm flipH="1">
              <a:off x="695325" y="2613025"/>
              <a:ext cx="1362075" cy="20637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53" idx="3"/>
              <a:endCxn id="56" idx="1"/>
            </p:cNvCxnSpPr>
            <p:nvPr/>
          </p:nvCxnSpPr>
          <p:spPr>
            <a:xfrm>
              <a:off x="2438400" y="2628900"/>
              <a:ext cx="1543050" cy="4763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0" name="Straight Connector 69"/>
          <p:cNvCxnSpPr>
            <a:stCxn id="57" idx="1"/>
            <a:endCxn id="26" idx="3"/>
          </p:cNvCxnSpPr>
          <p:nvPr/>
        </p:nvCxnSpPr>
        <p:spPr>
          <a:xfrm flipH="1">
            <a:off x="4464050" y="2550845"/>
            <a:ext cx="1565275" cy="4431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6" idx="3"/>
            <a:endCxn id="41" idx="1"/>
          </p:cNvCxnSpPr>
          <p:nvPr/>
        </p:nvCxnSpPr>
        <p:spPr>
          <a:xfrm>
            <a:off x="4464050" y="2994025"/>
            <a:ext cx="1565275" cy="44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4114800" y="32766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4267200" y="3276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4495800" y="2133600"/>
            <a:ext cx="76200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2743200" y="26670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2743200" y="26670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6019800" y="21336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6019800" y="3276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6172200" y="2133600"/>
            <a:ext cx="76200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2743200" y="2667000"/>
            <a:ext cx="76200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4114800" y="21336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4267200" y="2133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2743200" y="26670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8" name="Group 157"/>
          <p:cNvGrpSpPr/>
          <p:nvPr/>
        </p:nvGrpSpPr>
        <p:grpSpPr>
          <a:xfrm>
            <a:off x="4038600" y="2133600"/>
            <a:ext cx="381000" cy="152400"/>
            <a:chOff x="7467600" y="2362200"/>
            <a:chExt cx="381000" cy="152400"/>
          </a:xfrm>
        </p:grpSpPr>
        <p:cxnSp>
          <p:nvCxnSpPr>
            <p:cNvPr id="159" name="Straight Connector 158"/>
            <p:cNvCxnSpPr/>
            <p:nvPr/>
          </p:nvCxnSpPr>
          <p:spPr>
            <a:xfrm flipH="1">
              <a:off x="7467600" y="2362200"/>
              <a:ext cx="3810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7467600" y="2362200"/>
              <a:ext cx="3810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/>
          <p:cNvCxnSpPr/>
          <p:nvPr/>
        </p:nvCxnSpPr>
        <p:spPr>
          <a:xfrm>
            <a:off x="5486400" y="3962400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Slide Number Placeholder 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667 0.03889 L 0.37605 -0.03055 " pathEditMode="relative" ptsTypes="AAA">
                                      <p:cBhvr>
                                        <p:cTn id="9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0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354 0.04028 L 0.375 0.0375 " pathEditMode="relative" ptsTypes="AAA">
                                      <p:cBhvr>
                                        <p:cTn id="22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79 0.04167 L 0.37187 -0.03194 " pathEditMode="relative" ptsTypes="AAA">
                                      <p:cBhvr>
                                        <p:cTn id="52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1.11111E-6 L 0.16666 -0.03611 L 0.36979 -0.03055 " pathEditMode="relative" ptsTypes="AAA">
                                      <p:cBhvr>
                                        <p:cTn id="61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0" grpId="0" animBg="1"/>
      <p:bldP spid="4" grpId="0" animBg="1"/>
      <p:bldP spid="98" grpId="0" animBg="1"/>
      <p:bldP spid="98" grpId="1" animBg="1"/>
      <p:bldP spid="99" grpId="0" animBg="1"/>
      <p:bldP spid="115" grpId="0" animBg="1"/>
      <p:bldP spid="120" grpId="0" animBg="1"/>
      <p:bldP spid="120" grpId="1" animBg="1"/>
      <p:bldP spid="120" grpId="2" animBg="1"/>
      <p:bldP spid="124" grpId="1" animBg="1"/>
      <p:bldP spid="124" grpId="2" animBg="1"/>
      <p:bldP spid="124" grpId="3" animBg="1"/>
      <p:bldP spid="127" grpId="0" animBg="1"/>
      <p:bldP spid="127" grpId="1" animBg="1"/>
      <p:bldP spid="128" grpId="0" animBg="1"/>
      <p:bldP spid="129" grpId="0" animBg="1"/>
      <p:bldP spid="130" grpId="0" animBg="1"/>
      <p:bldP spid="130" grpId="1" animBg="1"/>
      <p:bldP spid="130" grpId="2" animBg="1"/>
      <p:bldP spid="134" grpId="0" animBg="1"/>
      <p:bldP spid="135" grpId="0" animBg="1"/>
      <p:bldP spid="136" grpId="0" animBg="1"/>
      <p:bldP spid="136" grpId="1" animBg="1"/>
      <p:bldP spid="136" grpId="2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Contributions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 smtClean="0"/>
              <a:t>Classify middlebox state, and discuss what should be controlled</a:t>
            </a:r>
          </a:p>
          <a:p>
            <a:r>
              <a:rPr lang="en-US" dirty="0" smtClean="0"/>
              <a:t>Abstractions and interfaces</a:t>
            </a:r>
          </a:p>
          <a:p>
            <a:pPr lvl="1"/>
            <a:r>
              <a:rPr lang="en-US" dirty="0" smtClean="0"/>
              <a:t>R</a:t>
            </a:r>
            <a:r>
              <a:rPr lang="en-US" dirty="0" smtClean="0"/>
              <a:t>epresenting state</a:t>
            </a:r>
          </a:p>
          <a:p>
            <a:pPr lvl="1"/>
            <a:r>
              <a:rPr lang="en-US" dirty="0" smtClean="0"/>
              <a:t>Manipulating where state resides</a:t>
            </a:r>
          </a:p>
          <a:p>
            <a:pPr lvl="1">
              <a:spcAft>
                <a:spcPts val="1200"/>
              </a:spcAft>
            </a:pPr>
            <a:r>
              <a:rPr lang="en-US" dirty="0" smtClean="0"/>
              <a:t>Announcing state-related events</a:t>
            </a:r>
          </a:p>
          <a:p>
            <a:r>
              <a:rPr lang="en-US" dirty="0" smtClean="0"/>
              <a:t>Control logic design sketches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6858000" y="2286000"/>
            <a:ext cx="762000" cy="3733800"/>
            <a:chOff x="7162800" y="2133600"/>
            <a:chExt cx="762000" cy="3733800"/>
          </a:xfrm>
        </p:grpSpPr>
        <p:grpSp>
          <p:nvGrpSpPr>
            <p:cNvPr id="6" name="Group 12"/>
            <p:cNvGrpSpPr/>
            <p:nvPr/>
          </p:nvGrpSpPr>
          <p:grpSpPr>
            <a:xfrm>
              <a:off x="7162800" y="3124200"/>
              <a:ext cx="762000" cy="762000"/>
              <a:chOff x="5791200" y="3276600"/>
              <a:chExt cx="685800" cy="685800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7" name="Group 15"/>
            <p:cNvGrpSpPr/>
            <p:nvPr/>
          </p:nvGrpSpPr>
          <p:grpSpPr>
            <a:xfrm>
              <a:off x="7162800" y="2133600"/>
              <a:ext cx="762000" cy="762000"/>
              <a:chOff x="4114800" y="1981200"/>
              <a:chExt cx="685800" cy="68580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4114800" y="1981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4114800" y="1981200"/>
                <a:ext cx="685800" cy="685800"/>
              </a:xfrm>
              <a:prstGeom prst="rect">
                <a:avLst/>
              </a:prstGeom>
              <a:noFill/>
            </p:spPr>
          </p:pic>
        </p:grpSp>
        <p:grpSp>
          <p:nvGrpSpPr>
            <p:cNvPr id="8" name="Group 9"/>
            <p:cNvGrpSpPr/>
            <p:nvPr/>
          </p:nvGrpSpPr>
          <p:grpSpPr>
            <a:xfrm>
              <a:off x="7162800" y="5105400"/>
              <a:ext cx="762000" cy="762000"/>
              <a:chOff x="7848600" y="1600200"/>
              <a:chExt cx="685800" cy="685800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7848600" y="1600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 descr="server_sync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848600" y="1600200"/>
                <a:ext cx="685800" cy="685800"/>
              </a:xfrm>
              <a:prstGeom prst="rect">
                <a:avLst/>
              </a:prstGeom>
            </p:spPr>
          </p:pic>
        </p:grpSp>
        <p:grpSp>
          <p:nvGrpSpPr>
            <p:cNvPr id="9" name="Group 15"/>
            <p:cNvGrpSpPr/>
            <p:nvPr/>
          </p:nvGrpSpPr>
          <p:grpSpPr>
            <a:xfrm>
              <a:off x="7162800" y="4114800"/>
              <a:ext cx="762000" cy="762000"/>
              <a:chOff x="6248400" y="1905000"/>
              <a:chExt cx="685800" cy="685800"/>
            </a:xfrm>
          </p:grpSpPr>
          <p:sp>
            <p:nvSpPr>
              <p:cNvPr id="10" name="Rounded Rectangle 9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 descr="firewall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roup 178"/>
          <p:cNvGrpSpPr/>
          <p:nvPr/>
        </p:nvGrpSpPr>
        <p:grpSpPr>
          <a:xfrm>
            <a:off x="4648200" y="3962400"/>
            <a:ext cx="3124200" cy="762000"/>
            <a:chOff x="5105400" y="3352800"/>
            <a:chExt cx="3124200" cy="762000"/>
          </a:xfrm>
        </p:grpSpPr>
        <p:sp>
          <p:nvSpPr>
            <p:cNvPr id="180" name="Rounded Rectangle 179"/>
            <p:cNvSpPr/>
            <p:nvPr/>
          </p:nvSpPr>
          <p:spPr>
            <a:xfrm>
              <a:off x="5105400" y="3352800"/>
              <a:ext cx="31242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81" name="TextBox 180"/>
            <p:cNvSpPr txBox="1"/>
            <p:nvPr/>
          </p:nvSpPr>
          <p:spPr>
            <a:xfrm>
              <a:off x="5105400" y="350520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Controller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83" name="Group 182"/>
          <p:cNvGrpSpPr/>
          <p:nvPr/>
        </p:nvGrpSpPr>
        <p:grpSpPr>
          <a:xfrm>
            <a:off x="5105400" y="5334000"/>
            <a:ext cx="3124200" cy="762000"/>
            <a:chOff x="5105400" y="4210110"/>
            <a:chExt cx="3124200" cy="762000"/>
          </a:xfrm>
        </p:grpSpPr>
        <p:sp>
          <p:nvSpPr>
            <p:cNvPr id="184" name="Rounded Rectangle 183"/>
            <p:cNvSpPr/>
            <p:nvPr/>
          </p:nvSpPr>
          <p:spPr>
            <a:xfrm>
              <a:off x="5105400" y="4210110"/>
              <a:ext cx="31242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85" name="TextBox 184"/>
            <p:cNvSpPr txBox="1"/>
            <p:nvPr/>
          </p:nvSpPr>
          <p:spPr>
            <a:xfrm>
              <a:off x="5181600" y="436251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Middlebox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91" name="Group 90"/>
          <p:cNvGrpSpPr/>
          <p:nvPr/>
        </p:nvGrpSpPr>
        <p:grpSpPr>
          <a:xfrm>
            <a:off x="4648200" y="2590800"/>
            <a:ext cx="1447800" cy="762000"/>
            <a:chOff x="685800" y="4495800"/>
            <a:chExt cx="1447800" cy="762000"/>
          </a:xfrm>
        </p:grpSpPr>
        <p:sp>
          <p:nvSpPr>
            <p:cNvPr id="192" name="Rounded Rectangle 191"/>
            <p:cNvSpPr/>
            <p:nvPr/>
          </p:nvSpPr>
          <p:spPr>
            <a:xfrm>
              <a:off x="685800" y="4495800"/>
              <a:ext cx="14478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685800" y="4648200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App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95" name="Group 90"/>
          <p:cNvGrpSpPr/>
          <p:nvPr/>
        </p:nvGrpSpPr>
        <p:grpSpPr>
          <a:xfrm>
            <a:off x="6302992" y="2590800"/>
            <a:ext cx="1447800" cy="762000"/>
            <a:chOff x="685800" y="4495800"/>
            <a:chExt cx="1447800" cy="762000"/>
          </a:xfrm>
        </p:grpSpPr>
        <p:sp>
          <p:nvSpPr>
            <p:cNvPr id="196" name="Rounded Rectangle 195"/>
            <p:cNvSpPr/>
            <p:nvPr/>
          </p:nvSpPr>
          <p:spPr>
            <a:xfrm>
              <a:off x="685800" y="4495800"/>
              <a:ext cx="14478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685800" y="4648200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App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99" name="Group 198"/>
          <p:cNvGrpSpPr/>
          <p:nvPr/>
        </p:nvGrpSpPr>
        <p:grpSpPr>
          <a:xfrm>
            <a:off x="1524000" y="5334000"/>
            <a:ext cx="3124200" cy="762000"/>
            <a:chOff x="5105400" y="4210110"/>
            <a:chExt cx="3124200" cy="762000"/>
          </a:xfrm>
        </p:grpSpPr>
        <p:sp>
          <p:nvSpPr>
            <p:cNvPr id="200" name="Rounded Rectangle 199"/>
            <p:cNvSpPr/>
            <p:nvPr/>
          </p:nvSpPr>
          <p:spPr>
            <a:xfrm>
              <a:off x="5105400" y="4210110"/>
              <a:ext cx="31242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5181600" y="436251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Middlebox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cxnSp>
        <p:nvCxnSpPr>
          <p:cNvPr id="209" name="Straight Arrow Connector 208"/>
          <p:cNvCxnSpPr/>
          <p:nvPr/>
        </p:nvCxnSpPr>
        <p:spPr>
          <a:xfrm>
            <a:off x="5791200" y="4572000"/>
            <a:ext cx="381000" cy="762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10" name="Group 209"/>
          <p:cNvGrpSpPr/>
          <p:nvPr/>
        </p:nvGrpSpPr>
        <p:grpSpPr>
          <a:xfrm>
            <a:off x="4887686" y="3276600"/>
            <a:ext cx="2035628" cy="685800"/>
            <a:chOff x="4887686" y="3276600"/>
            <a:chExt cx="2035628" cy="685800"/>
          </a:xfrm>
        </p:grpSpPr>
        <p:cxnSp>
          <p:nvCxnSpPr>
            <p:cNvPr id="212" name="Straight Arrow Connector 211"/>
            <p:cNvCxnSpPr/>
            <p:nvPr/>
          </p:nvCxnSpPr>
          <p:spPr>
            <a:xfrm flipH="1">
              <a:off x="4887686" y="3276600"/>
              <a:ext cx="293914" cy="6858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/>
            <p:nvPr/>
          </p:nvCxnSpPr>
          <p:spPr>
            <a:xfrm>
              <a:off x="6629400" y="3276600"/>
              <a:ext cx="293914" cy="6858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arrow"/>
              <a:tailEnd type="arrow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16" name="Straight Arrow Connector 215"/>
          <p:cNvCxnSpPr/>
          <p:nvPr/>
        </p:nvCxnSpPr>
        <p:spPr>
          <a:xfrm flipH="1">
            <a:off x="4419600" y="4572000"/>
            <a:ext cx="381000" cy="762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6" name="Content Placeholder 75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1000" cy="4525963"/>
          </a:xfrm>
        </p:spPr>
        <p:txBody>
          <a:bodyPr/>
          <a:lstStyle/>
          <a:p>
            <a:pPr>
              <a:buNone/>
            </a:pPr>
            <a:r>
              <a:rPr lang="en-US" sz="3200" dirty="0" smtClean="0"/>
              <a:t>SDN-like Middleboxes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914400" y="1524000"/>
            <a:ext cx="2895600" cy="2686110"/>
            <a:chOff x="685800" y="3257490"/>
            <a:chExt cx="2895600" cy="2686110"/>
          </a:xfrm>
        </p:grpSpPr>
        <p:grpSp>
          <p:nvGrpSpPr>
            <p:cNvPr id="80" name="Group 76"/>
            <p:cNvGrpSpPr/>
            <p:nvPr/>
          </p:nvGrpSpPr>
          <p:grpSpPr>
            <a:xfrm>
              <a:off x="685800" y="4476690"/>
              <a:ext cx="2667000" cy="1466910"/>
              <a:chOff x="685800" y="4476690"/>
              <a:chExt cx="2667000" cy="1466910"/>
            </a:xfrm>
          </p:grpSpPr>
          <p:sp>
            <p:nvSpPr>
              <p:cNvPr id="82" name="Rounded Rectangle 81"/>
              <p:cNvSpPr/>
              <p:nvPr/>
            </p:nvSpPr>
            <p:spPr>
              <a:xfrm>
                <a:off x="685800" y="4495800"/>
                <a:ext cx="2667000" cy="1447800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1066800" y="4476690"/>
                <a:ext cx="68580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 smtClean="0">
                    <a:solidFill>
                      <a:schemeClr val="accent6"/>
                    </a:solidFill>
                  </a:rPr>
                  <a:t>IPS</a:t>
                </a:r>
                <a:endParaRPr lang="en-US" sz="2400" b="1" dirty="0">
                  <a:solidFill>
                    <a:schemeClr val="accent6"/>
                  </a:solidFill>
                </a:endParaRPr>
              </a:p>
            </p:txBody>
          </p:sp>
          <p:grpSp>
            <p:nvGrpSpPr>
              <p:cNvPr id="84" name="Group 64"/>
              <p:cNvGrpSpPr/>
              <p:nvPr/>
            </p:nvGrpSpPr>
            <p:grpSpPr>
              <a:xfrm>
                <a:off x="838200" y="4933890"/>
                <a:ext cx="1142999" cy="869733"/>
                <a:chOff x="838200" y="4038600"/>
                <a:chExt cx="1142999" cy="869733"/>
              </a:xfrm>
            </p:grpSpPr>
            <p:pic>
              <p:nvPicPr>
                <p:cNvPr id="88" name="Picture 38" descr="C:\Users\agember\AppData\Local\Microsoft\Windows\Temporary Internet Files\Content.IE5\02TZN55D\MC900434742[1].png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1066799" y="4038600"/>
                  <a:ext cx="685800" cy="685802"/>
                </a:xfrm>
                <a:prstGeom prst="rect">
                  <a:avLst/>
                </a:prstGeom>
                <a:noFill/>
              </p:spPr>
            </p:pic>
            <p:pic>
              <p:nvPicPr>
                <p:cNvPr id="89" name="Picture 38" descr="C:\Users\agember\AppData\Local\Microsoft\Windows\Temporary Internet Files\Content.IE5\02TZN55D\MC900434742[1].png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duotone>
                    <a:prstClr val="black"/>
                    <a:schemeClr val="accent6"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1523998" y="4419599"/>
                  <a:ext cx="457201" cy="457203"/>
                </a:xfrm>
                <a:prstGeom prst="rect">
                  <a:avLst/>
                </a:prstGeom>
                <a:noFill/>
              </p:spPr>
            </p:pic>
            <p:pic>
              <p:nvPicPr>
                <p:cNvPr id="90" name="Picture 38" descr="C:\Users\agember\AppData\Local\Microsoft\Windows\Temporary Internet Files\Content.IE5\02TZN55D\MC900434742[1].png"/>
                <p:cNvPicPr>
                  <a:picLocks noChangeAspect="1" noChangeArrowheads="1"/>
                </p:cNvPicPr>
                <p:nvPr/>
              </p:nvPicPr>
              <p:blipFill>
                <a:blip r:embed="rId4" cstate="print">
                  <a:duotone>
                    <a:prstClr val="black"/>
                    <a:schemeClr val="accent6">
                      <a:tint val="45000"/>
                      <a:satMod val="400000"/>
                    </a:schemeClr>
                  </a:duotone>
                </a:blip>
                <a:srcRect/>
                <a:stretch>
                  <a:fillRect/>
                </a:stretch>
              </p:blipFill>
              <p:spPr bwMode="auto">
                <a:xfrm>
                  <a:off x="838200" y="4451132"/>
                  <a:ext cx="457200" cy="457201"/>
                </a:xfrm>
                <a:prstGeom prst="rect">
                  <a:avLst/>
                </a:prstGeom>
                <a:noFill/>
              </p:spPr>
            </p:pic>
          </p:grpSp>
          <p:grpSp>
            <p:nvGrpSpPr>
              <p:cNvPr id="85" name="Group 12"/>
              <p:cNvGrpSpPr/>
              <p:nvPr/>
            </p:nvGrpSpPr>
            <p:grpSpPr>
              <a:xfrm>
                <a:off x="762000" y="4552890"/>
                <a:ext cx="381000" cy="381000"/>
                <a:chOff x="685800" y="3505200"/>
                <a:chExt cx="609600" cy="609600"/>
              </a:xfrm>
            </p:grpSpPr>
            <p:pic>
              <p:nvPicPr>
                <p:cNvPr id="86" name="Picture 85" descr="magnifying_gla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85800" y="3505200"/>
                  <a:ext cx="609600" cy="609600"/>
                </a:xfrm>
                <a:prstGeom prst="rect">
                  <a:avLst/>
                </a:prstGeo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87" name="Picture 2" descr="C:\Users\agember\AppData\Local\Microsoft\Windows\Temporary Internet Files\Content.IE5\2DGPU1UI\MC900431599[1].png"/>
                <p:cNvPicPr>
                  <a:picLocks noChangeAspect="1" noChangeArrowheads="1"/>
                </p:cNvPicPr>
                <p:nvPr/>
              </p:nvPicPr>
              <p:blipFill>
                <a:blip r:embed="rId6" cstate="print"/>
                <a:srcRect/>
                <a:stretch>
                  <a:fillRect/>
                </a:stretch>
              </p:blipFill>
              <p:spPr bwMode="auto">
                <a:xfrm>
                  <a:off x="685800" y="3733686"/>
                  <a:ext cx="381000" cy="381000"/>
                </a:xfrm>
                <a:prstGeom prst="rect">
                  <a:avLst/>
                </a:prstGeom>
                <a:noFill/>
              </p:spPr>
            </p:pic>
          </p:grpSp>
        </p:grpSp>
        <p:pic>
          <p:nvPicPr>
            <p:cNvPr id="81" name="Picture 80" descr="monitor-and-user4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00" y="3257490"/>
              <a:ext cx="990600" cy="9906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Software-Defined Middlebox Networking</a:t>
            </a:r>
            <a:endParaRPr lang="en-US" sz="3800" dirty="0"/>
          </a:p>
        </p:txBody>
      </p:sp>
      <p:sp>
        <p:nvSpPr>
          <p:cNvPr id="75" name="Content Placeholder 7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3200" dirty="0" smtClean="0"/>
              <a:t>Today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9" name="Cube 68"/>
          <p:cNvSpPr/>
          <p:nvPr/>
        </p:nvSpPr>
        <p:spPr>
          <a:xfrm>
            <a:off x="2362200" y="3524310"/>
            <a:ext cx="457200" cy="4572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Cube 69"/>
          <p:cNvSpPr/>
          <p:nvPr/>
        </p:nvSpPr>
        <p:spPr>
          <a:xfrm>
            <a:off x="2971800" y="3524310"/>
            <a:ext cx="457200" cy="457200"/>
          </a:xfrm>
          <a:prstGeom prst="cube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762000" y="3352800"/>
            <a:ext cx="228600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762000" y="3352800"/>
            <a:ext cx="228600" cy="4572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ube 65"/>
          <p:cNvSpPr/>
          <p:nvPr/>
        </p:nvSpPr>
        <p:spPr>
          <a:xfrm>
            <a:off x="2209800" y="2152710"/>
            <a:ext cx="762000" cy="4572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7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7010400" y="5410200"/>
            <a:ext cx="457201" cy="457203"/>
          </a:xfrm>
          <a:prstGeom prst="rect">
            <a:avLst/>
          </a:prstGeom>
          <a:noFill/>
        </p:spPr>
      </p:pic>
      <p:pic>
        <p:nvPicPr>
          <p:cNvPr id="188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7315200" y="5486400"/>
            <a:ext cx="457200" cy="457201"/>
          </a:xfrm>
          <a:prstGeom prst="rect">
            <a:avLst/>
          </a:prstGeom>
          <a:noFill/>
        </p:spPr>
      </p:pic>
      <p:pic>
        <p:nvPicPr>
          <p:cNvPr id="203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429000" y="5410200"/>
            <a:ext cx="457201" cy="457203"/>
          </a:xfrm>
          <a:prstGeom prst="rect">
            <a:avLst/>
          </a:prstGeom>
          <a:noFill/>
        </p:spPr>
      </p:pic>
      <p:pic>
        <p:nvPicPr>
          <p:cNvPr id="204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3733800" y="5486400"/>
            <a:ext cx="457200" cy="457201"/>
          </a:xfrm>
          <a:prstGeom prst="rect">
            <a:avLst/>
          </a:prstGeom>
          <a:noFill/>
        </p:spPr>
      </p:pic>
      <p:sp>
        <p:nvSpPr>
          <p:cNvPr id="198" name="Cube 197"/>
          <p:cNvSpPr/>
          <p:nvPr/>
        </p:nvSpPr>
        <p:spPr>
          <a:xfrm>
            <a:off x="7620000" y="5638800"/>
            <a:ext cx="381000" cy="381000"/>
          </a:xfrm>
          <a:prstGeom prst="cub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" name="Cube 204"/>
          <p:cNvSpPr/>
          <p:nvPr/>
        </p:nvSpPr>
        <p:spPr>
          <a:xfrm>
            <a:off x="3200400" y="56388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" name="Cube 205"/>
          <p:cNvSpPr/>
          <p:nvPr/>
        </p:nvSpPr>
        <p:spPr>
          <a:xfrm>
            <a:off x="4038600" y="5638800"/>
            <a:ext cx="381000" cy="381000"/>
          </a:xfrm>
          <a:prstGeom prst="cube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3765E-6 L 0.04167 0.111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" y="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62535E-8 L 0.35417 4.62535E-8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62535E-8 L 0.35417 4.62535E-8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7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60962E-6 L 0.29167 -0.18871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6" y="-94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44218E-6 L -0.10833 -0.18871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" y="-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69103E-6 L 0.24583 -0.21646 " pathEditMode="relative" rAng="0" ptsTypes="AA">
                                      <p:cBhvr>
                                        <p:cTn id="78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" y="-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583 -0.21646 L 0.30417 0.00555 " pathEditMode="relative" rAng="0" ptsTypes="AA">
                                      <p:cBhvr>
                                        <p:cTn id="81" dur="10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" y="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uiExpand="1" build="p"/>
      <p:bldP spid="75" grpId="0" uiExpand="1" build="p"/>
      <p:bldP spid="69" grpId="0" animBg="1"/>
      <p:bldP spid="70" grpId="0" animBg="1"/>
      <p:bldP spid="73" grpId="0" animBg="1"/>
      <p:bldP spid="73" grpId="1" animBg="1"/>
      <p:bldP spid="73" grpId="3" animBg="1"/>
      <p:bldP spid="74" grpId="0" animBg="1"/>
      <p:bldP spid="74" grpId="1" animBg="1"/>
      <p:bldP spid="74" grpId="2" animBg="1"/>
      <p:bldP spid="66" grpId="0" animBg="1"/>
      <p:bldP spid="66" grpId="1" animBg="1"/>
      <p:bldP spid="198" grpId="0" animBg="1"/>
      <p:bldP spid="205" grpId="0" animBg="1"/>
      <p:bldP spid="206" grpId="0" animBg="1"/>
      <p:bldP spid="206" grpId="1" animBg="1"/>
      <p:bldP spid="206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685800" y="2590800"/>
            <a:ext cx="3124200" cy="1981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8" name="Group 97"/>
          <p:cNvGrpSpPr/>
          <p:nvPr/>
        </p:nvGrpSpPr>
        <p:grpSpPr>
          <a:xfrm>
            <a:off x="4648200" y="3962400"/>
            <a:ext cx="3124200" cy="762000"/>
            <a:chOff x="5105400" y="3352800"/>
            <a:chExt cx="3124200" cy="762000"/>
          </a:xfrm>
        </p:grpSpPr>
        <p:sp>
          <p:nvSpPr>
            <p:cNvPr id="92" name="Rounded Rectangle 91"/>
            <p:cNvSpPr/>
            <p:nvPr/>
          </p:nvSpPr>
          <p:spPr>
            <a:xfrm>
              <a:off x="5105400" y="3352800"/>
              <a:ext cx="31242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5105400" y="350520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Controller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800" dirty="0" smtClean="0"/>
              <a:t>Key </a:t>
            </a:r>
            <a:r>
              <a:rPr lang="en-US" sz="3800" dirty="0" smtClean="0"/>
              <a:t>Issues</a:t>
            </a:r>
            <a:endParaRPr lang="en-US" sz="3800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9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4038600"/>
            <a:ext cx="609600" cy="609602"/>
          </a:xfrm>
          <a:prstGeom prst="rect">
            <a:avLst/>
          </a:prstGeom>
          <a:noFill/>
        </p:spPr>
      </p:pic>
      <p:grpSp>
        <p:nvGrpSpPr>
          <p:cNvPr id="101" name="Group 100"/>
          <p:cNvGrpSpPr/>
          <p:nvPr/>
        </p:nvGrpSpPr>
        <p:grpSpPr>
          <a:xfrm>
            <a:off x="5105400" y="5334000"/>
            <a:ext cx="3124200" cy="762000"/>
            <a:chOff x="5105400" y="4210110"/>
            <a:chExt cx="3124200" cy="762000"/>
          </a:xfrm>
        </p:grpSpPr>
        <p:sp>
          <p:nvSpPr>
            <p:cNvPr id="44" name="Rounded Rectangle 43"/>
            <p:cNvSpPr/>
            <p:nvPr/>
          </p:nvSpPr>
          <p:spPr>
            <a:xfrm>
              <a:off x="5105400" y="4210110"/>
              <a:ext cx="31242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181600" y="436251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Middlebox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7010400" y="5410200"/>
            <a:ext cx="762000" cy="533401"/>
            <a:chOff x="7010400" y="4800600"/>
            <a:chExt cx="762000" cy="533401"/>
          </a:xfrm>
        </p:grpSpPr>
        <p:pic>
          <p:nvPicPr>
            <p:cNvPr id="60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7010400" y="4800600"/>
              <a:ext cx="457201" cy="457203"/>
            </a:xfrm>
            <a:prstGeom prst="rect">
              <a:avLst/>
            </a:prstGeom>
            <a:noFill/>
          </p:spPr>
        </p:pic>
        <p:pic>
          <p:nvPicPr>
            <p:cNvPr id="61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7315200" y="4876800"/>
              <a:ext cx="457200" cy="457201"/>
            </a:xfrm>
            <a:prstGeom prst="rect">
              <a:avLst/>
            </a:prstGeom>
            <a:noFill/>
          </p:spPr>
        </p:pic>
      </p:grpSp>
      <p:sp>
        <p:nvSpPr>
          <p:cNvPr id="46" name="Content Placeholder 45"/>
          <p:cNvSpPr>
            <a:spLocks noGrp="1"/>
          </p:cNvSpPr>
          <p:nvPr>
            <p:ph sz="half" idx="1"/>
          </p:nvPr>
        </p:nvSpPr>
        <p:spPr>
          <a:xfrm>
            <a:off x="762000" y="1676400"/>
            <a:ext cx="3048000" cy="44196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How is the logic divided?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Where is state manipulated?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What interfaces </a:t>
            </a:r>
            <a:br>
              <a:rPr lang="en-US" dirty="0" smtClean="0"/>
            </a:br>
            <a:r>
              <a:rPr lang="en-US" dirty="0" smtClean="0"/>
              <a:t>are exposed?</a:t>
            </a:r>
          </a:p>
        </p:txBody>
      </p:sp>
      <p:pic>
        <p:nvPicPr>
          <p:cNvPr id="62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2667000"/>
            <a:ext cx="457200" cy="457201"/>
          </a:xfrm>
          <a:prstGeom prst="rect">
            <a:avLst/>
          </a:prstGeom>
          <a:noFill/>
        </p:spPr>
      </p:pic>
      <p:grpSp>
        <p:nvGrpSpPr>
          <p:cNvPr id="67" name="Group 90"/>
          <p:cNvGrpSpPr/>
          <p:nvPr/>
        </p:nvGrpSpPr>
        <p:grpSpPr>
          <a:xfrm>
            <a:off x="4648200" y="2590800"/>
            <a:ext cx="1447800" cy="762000"/>
            <a:chOff x="685800" y="4495800"/>
            <a:chExt cx="1447800" cy="762000"/>
          </a:xfrm>
        </p:grpSpPr>
        <p:sp>
          <p:nvSpPr>
            <p:cNvPr id="72" name="Rounded Rectangle 71"/>
            <p:cNvSpPr/>
            <p:nvPr/>
          </p:nvSpPr>
          <p:spPr>
            <a:xfrm>
              <a:off x="685800" y="4495800"/>
              <a:ext cx="14478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85800" y="4648200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App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pic>
        <p:nvPicPr>
          <p:cNvPr id="80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39000" y="2667000"/>
            <a:ext cx="457200" cy="457201"/>
          </a:xfrm>
          <a:prstGeom prst="rect">
            <a:avLst/>
          </a:prstGeom>
          <a:noFill/>
        </p:spPr>
      </p:pic>
      <p:grpSp>
        <p:nvGrpSpPr>
          <p:cNvPr id="84" name="Group 90"/>
          <p:cNvGrpSpPr/>
          <p:nvPr/>
        </p:nvGrpSpPr>
        <p:grpSpPr>
          <a:xfrm>
            <a:off x="6302992" y="2590800"/>
            <a:ext cx="1447800" cy="762000"/>
            <a:chOff x="685800" y="4495800"/>
            <a:chExt cx="1447800" cy="762000"/>
          </a:xfrm>
        </p:grpSpPr>
        <p:sp>
          <p:nvSpPr>
            <p:cNvPr id="85" name="Rounded Rectangle 84"/>
            <p:cNvSpPr/>
            <p:nvPr/>
          </p:nvSpPr>
          <p:spPr>
            <a:xfrm>
              <a:off x="685800" y="4495800"/>
              <a:ext cx="14478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685800" y="4648200"/>
              <a:ext cx="7620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App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102" name="Cube 101"/>
          <p:cNvSpPr/>
          <p:nvPr/>
        </p:nvSpPr>
        <p:spPr>
          <a:xfrm>
            <a:off x="7620000" y="5638800"/>
            <a:ext cx="381000" cy="381000"/>
          </a:xfrm>
          <a:prstGeom prst="cub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3" name="Group 112"/>
          <p:cNvGrpSpPr/>
          <p:nvPr/>
        </p:nvGrpSpPr>
        <p:grpSpPr>
          <a:xfrm>
            <a:off x="1524000" y="5334000"/>
            <a:ext cx="3124200" cy="762000"/>
            <a:chOff x="5105400" y="4210110"/>
            <a:chExt cx="3124200" cy="762000"/>
          </a:xfrm>
        </p:grpSpPr>
        <p:sp>
          <p:nvSpPr>
            <p:cNvPr id="114" name="Rounded Rectangle 113"/>
            <p:cNvSpPr/>
            <p:nvPr/>
          </p:nvSpPr>
          <p:spPr>
            <a:xfrm>
              <a:off x="5105400" y="4210110"/>
              <a:ext cx="3124200" cy="7620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5181600" y="4362510"/>
              <a:ext cx="175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accent6"/>
                  </a:solidFill>
                </a:rPr>
                <a:t>Middlebox</a:t>
              </a:r>
              <a:endParaRPr lang="en-US" sz="24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116" name="Group 115"/>
          <p:cNvGrpSpPr/>
          <p:nvPr/>
        </p:nvGrpSpPr>
        <p:grpSpPr>
          <a:xfrm>
            <a:off x="3429000" y="5410200"/>
            <a:ext cx="762000" cy="533401"/>
            <a:chOff x="7010400" y="4800600"/>
            <a:chExt cx="762000" cy="533401"/>
          </a:xfrm>
        </p:grpSpPr>
        <p:pic>
          <p:nvPicPr>
            <p:cNvPr id="117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7010400" y="4800600"/>
              <a:ext cx="457201" cy="457203"/>
            </a:xfrm>
            <a:prstGeom prst="rect">
              <a:avLst/>
            </a:prstGeom>
            <a:noFill/>
          </p:spPr>
        </p:pic>
        <p:pic>
          <p:nvPicPr>
            <p:cNvPr id="118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7315200" y="4876800"/>
              <a:ext cx="457200" cy="457201"/>
            </a:xfrm>
            <a:prstGeom prst="rect">
              <a:avLst/>
            </a:prstGeom>
            <a:noFill/>
          </p:spPr>
        </p:pic>
      </p:grpSp>
      <p:sp>
        <p:nvSpPr>
          <p:cNvPr id="119" name="Cube 118"/>
          <p:cNvSpPr/>
          <p:nvPr/>
        </p:nvSpPr>
        <p:spPr>
          <a:xfrm>
            <a:off x="3200400" y="56388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" name="Cube 119"/>
          <p:cNvSpPr/>
          <p:nvPr/>
        </p:nvSpPr>
        <p:spPr>
          <a:xfrm>
            <a:off x="4038600" y="5638800"/>
            <a:ext cx="381000" cy="381000"/>
          </a:xfrm>
          <a:prstGeom prst="cube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Double Wave 111"/>
          <p:cNvSpPr/>
          <p:nvPr/>
        </p:nvSpPr>
        <p:spPr>
          <a:xfrm>
            <a:off x="5105400" y="5181600"/>
            <a:ext cx="3124200" cy="152400"/>
          </a:xfrm>
          <a:prstGeom prst="double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/>
          <p:cNvCxnSpPr/>
          <p:nvPr/>
        </p:nvCxnSpPr>
        <p:spPr>
          <a:xfrm>
            <a:off x="5791200" y="4572000"/>
            <a:ext cx="381000" cy="762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0" name="Double Wave 109"/>
          <p:cNvSpPr/>
          <p:nvPr/>
        </p:nvSpPr>
        <p:spPr>
          <a:xfrm>
            <a:off x="4648200" y="3810000"/>
            <a:ext cx="3124200" cy="152400"/>
          </a:xfrm>
          <a:prstGeom prst="double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5" name="Straight Arrow Connector 134"/>
          <p:cNvCxnSpPr/>
          <p:nvPr/>
        </p:nvCxnSpPr>
        <p:spPr>
          <a:xfrm flipH="1">
            <a:off x="4876800" y="3276600"/>
            <a:ext cx="304800" cy="6858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>
            <a:off x="6629400" y="3276600"/>
            <a:ext cx="293914" cy="6858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1" name="Double Wave 120"/>
          <p:cNvSpPr/>
          <p:nvPr/>
        </p:nvSpPr>
        <p:spPr>
          <a:xfrm>
            <a:off x="1524000" y="5181600"/>
            <a:ext cx="3124200" cy="152400"/>
          </a:xfrm>
          <a:prstGeom prst="double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/>
          <p:cNvCxnSpPr/>
          <p:nvPr/>
        </p:nvCxnSpPr>
        <p:spPr>
          <a:xfrm flipH="1">
            <a:off x="4419600" y="4572000"/>
            <a:ext cx="381000" cy="762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1" name="Cube 150"/>
          <p:cNvSpPr/>
          <p:nvPr/>
        </p:nvSpPr>
        <p:spPr>
          <a:xfrm>
            <a:off x="6096000" y="42672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2" name="Cube 151"/>
          <p:cNvSpPr/>
          <p:nvPr/>
        </p:nvSpPr>
        <p:spPr>
          <a:xfrm>
            <a:off x="6934200" y="4267200"/>
            <a:ext cx="381000" cy="381000"/>
          </a:xfrm>
          <a:prstGeom prst="cube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Cube 149"/>
          <p:cNvSpPr/>
          <p:nvPr/>
        </p:nvSpPr>
        <p:spPr>
          <a:xfrm>
            <a:off x="6934200" y="4267200"/>
            <a:ext cx="381000" cy="381000"/>
          </a:xfrm>
          <a:prstGeom prst="cube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35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2951E-6 L -0.32083 0.19426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" y="97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2951E-6 L -0.32084 0.19426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0" y="97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2951E-6 L 0.07083 0.19426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6" grpId="0" uiExpand="1" build="p"/>
      <p:bldP spid="102" grpId="0" animBg="1"/>
      <p:bldP spid="102" grpId="1" animBg="1"/>
      <p:bldP spid="119" grpId="0" animBg="1"/>
      <p:bldP spid="119" grpId="1" animBg="1"/>
      <p:bldP spid="120" grpId="0" animBg="1"/>
      <p:bldP spid="120" grpId="1" animBg="1"/>
      <p:bldP spid="110" grpId="0" animBg="1"/>
      <p:bldP spid="121" grpId="0" animBg="1"/>
      <p:bldP spid="151" grpId="0" animBg="1"/>
      <p:bldP spid="151" grpId="1" animBg="1"/>
      <p:bldP spid="152" grpId="0" animBg="1"/>
      <p:bldP spid="152" grpId="1" animBg="1"/>
      <p:bldP spid="150" grpId="0" animBg="1"/>
      <p:bldP spid="15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114800" cy="533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Configuration input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Middlebox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3886200" y="3352800"/>
            <a:ext cx="2362200" cy="914400"/>
            <a:chOff x="3886200" y="3810000"/>
            <a:chExt cx="2362200" cy="914400"/>
          </a:xfrm>
        </p:grpSpPr>
        <p:sp>
          <p:nvSpPr>
            <p:cNvPr id="52" name="Rectangle 51"/>
            <p:cNvSpPr/>
            <p:nvPr/>
          </p:nvSpPr>
          <p:spPr>
            <a:xfrm>
              <a:off x="4038600" y="3810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62400" y="3886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886200" y="3962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Showcard Gothic" pitchFamily="82" charset="0"/>
                </a:rPr>
                <a:t>State: ESTAB</a:t>
              </a:r>
              <a:br>
                <a:rPr lang="en-US" sz="2200" dirty="0" smtClean="0">
                  <a:latin typeface="Showcard Gothic" pitchFamily="82" charset="0"/>
                </a:rPr>
              </a:br>
              <a:r>
                <a:rPr lang="en-US" sz="2200" dirty="0" err="1" smtClean="0">
                  <a:latin typeface="Showcard Gothic" pitchFamily="82" charset="0"/>
                </a:rPr>
                <a:t>Seq</a:t>
              </a:r>
              <a:r>
                <a:rPr lang="en-US" sz="2200" dirty="0" smtClean="0">
                  <a:latin typeface="Showcard Gothic" pitchFamily="82" charset="0"/>
                </a:rPr>
                <a:t> #: 3423</a:t>
              </a:r>
            </a:p>
          </p:txBody>
        </p:sp>
      </p:grpSp>
      <p:pic>
        <p:nvPicPr>
          <p:cNvPr id="36" name="Picture 7" descr="C:\Users\agember\AppData\Local\Microsoft\Windows\Temporary Internet Files\Content.IE5\QZT0K7D8\MC900434719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648200"/>
            <a:ext cx="685800" cy="685800"/>
          </a:xfrm>
          <a:prstGeom prst="rect">
            <a:avLst/>
          </a:prstGeom>
          <a:noFill/>
        </p:spPr>
      </p:pic>
      <p:grpSp>
        <p:nvGrpSpPr>
          <p:cNvPr id="61" name="Group 60"/>
          <p:cNvGrpSpPr/>
          <p:nvPr/>
        </p:nvGrpSpPr>
        <p:grpSpPr>
          <a:xfrm>
            <a:off x="3886200" y="2286000"/>
            <a:ext cx="2362200" cy="914400"/>
            <a:chOff x="3886200" y="2743200"/>
            <a:chExt cx="2362200" cy="914400"/>
          </a:xfrm>
        </p:grpSpPr>
        <p:sp>
          <p:nvSpPr>
            <p:cNvPr id="51" name="Rectangle 50"/>
            <p:cNvSpPr/>
            <p:nvPr/>
          </p:nvSpPr>
          <p:spPr>
            <a:xfrm>
              <a:off x="4038600" y="2743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62400" y="2819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86200" y="28956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Copperplate Gothic Light" pitchFamily="34" charset="0"/>
                </a:rPr>
                <a:t>Server: B</a:t>
              </a:r>
            </a:p>
            <a:p>
              <a:r>
                <a:rPr lang="en-US" sz="2200" dirty="0" smtClean="0">
                  <a:latin typeface="Copperplate Gothic Light" pitchFamily="34" charset="0"/>
                </a:rPr>
                <a:t>CPU: 50%</a:t>
              </a:r>
              <a:endParaRPr lang="en-US" sz="2200" dirty="0">
                <a:latin typeface="Copperplate Gothic Light" pitchFamily="34" charset="0"/>
              </a:endParaRPr>
            </a:p>
          </p:txBody>
        </p:sp>
      </p:grpSp>
      <p:pic>
        <p:nvPicPr>
          <p:cNvPr id="42" name="Picture 41" descr="server_sync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2514600"/>
            <a:ext cx="609600" cy="609600"/>
          </a:xfrm>
          <a:prstGeom prst="rect">
            <a:avLst/>
          </a:prstGeom>
        </p:spPr>
      </p:pic>
      <p:grpSp>
        <p:nvGrpSpPr>
          <p:cNvPr id="63" name="Group 62"/>
          <p:cNvGrpSpPr/>
          <p:nvPr/>
        </p:nvGrpSpPr>
        <p:grpSpPr>
          <a:xfrm>
            <a:off x="3886200" y="4419600"/>
            <a:ext cx="2362200" cy="914400"/>
            <a:chOff x="3886200" y="4800600"/>
            <a:chExt cx="2362200" cy="914400"/>
          </a:xfrm>
        </p:grpSpPr>
        <p:sp>
          <p:nvSpPr>
            <p:cNvPr id="58" name="Rectangle 57"/>
            <p:cNvSpPr/>
            <p:nvPr/>
          </p:nvSpPr>
          <p:spPr>
            <a:xfrm>
              <a:off x="4038600" y="48006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2400" y="48768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886200" y="4953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Harrington" pitchFamily="82" charset="0"/>
                </a:rPr>
                <a:t>Hash: 34225</a:t>
              </a:r>
            </a:p>
            <a:p>
              <a:r>
                <a:rPr lang="en-US" sz="2200" dirty="0" smtClean="0">
                  <a:latin typeface="Harrington" pitchFamily="82" charset="0"/>
                </a:rPr>
                <a:t>Content: ABCDE</a:t>
              </a:r>
            </a:p>
          </p:txBody>
        </p:sp>
      </p:grpSp>
      <p:sp>
        <p:nvSpPr>
          <p:cNvPr id="64" name="Content Placeholder 2"/>
          <p:cNvSpPr txBox="1">
            <a:spLocks/>
          </p:cNvSpPr>
          <p:nvPr/>
        </p:nvSpPr>
        <p:spPr>
          <a:xfrm>
            <a:off x="381000" y="5562600"/>
            <a:ext cx="8382000" cy="685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Significant state diversity</a:t>
            </a:r>
          </a:p>
        </p:txBody>
      </p:sp>
      <p:sp>
        <p:nvSpPr>
          <p:cNvPr id="65" name="Content Placeholder 2"/>
          <p:cNvSpPr txBox="1">
            <a:spLocks/>
          </p:cNvSpPr>
          <p:nvPr/>
        </p:nvSpPr>
        <p:spPr>
          <a:xfrm>
            <a:off x="4114800" y="1600200"/>
            <a:ext cx="4572000" cy="5334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 detailed internal records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8" name="Picture 37" descr="firewall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3400" y="3505200"/>
            <a:ext cx="685800" cy="685800"/>
          </a:xfrm>
          <a:prstGeom prst="rect">
            <a:avLst/>
          </a:prstGeom>
        </p:spPr>
      </p:pic>
      <p:grpSp>
        <p:nvGrpSpPr>
          <p:cNvPr id="70" name="Group 69"/>
          <p:cNvGrpSpPr/>
          <p:nvPr/>
        </p:nvGrpSpPr>
        <p:grpSpPr>
          <a:xfrm>
            <a:off x="6400800" y="2286000"/>
            <a:ext cx="2362200" cy="914400"/>
            <a:chOff x="6477000" y="3276600"/>
            <a:chExt cx="2362200" cy="914400"/>
          </a:xfrm>
        </p:grpSpPr>
        <p:sp>
          <p:nvSpPr>
            <p:cNvPr id="69" name="Trapezoid 68"/>
            <p:cNvSpPr/>
            <p:nvPr/>
          </p:nvSpPr>
          <p:spPr>
            <a:xfrm>
              <a:off x="6629400" y="32766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68" name="Trapezoid 67"/>
            <p:cNvSpPr/>
            <p:nvPr/>
          </p:nvSpPr>
          <p:spPr>
            <a:xfrm>
              <a:off x="6553200" y="33528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67" name="Trapezoid 66"/>
            <p:cNvSpPr/>
            <p:nvPr/>
          </p:nvSpPr>
          <p:spPr>
            <a:xfrm>
              <a:off x="6477000" y="34290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Rage Italic" pitchFamily="66" charset="0"/>
                </a:rPr>
                <a:t>Balance Method:</a:t>
              </a:r>
            </a:p>
            <a:p>
              <a:r>
                <a:rPr lang="en-US" sz="2200" dirty="0" smtClean="0">
                  <a:latin typeface="Rage Italic" pitchFamily="66" charset="0"/>
                </a:rPr>
                <a:t>Round Robin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6400800" y="4419600"/>
            <a:ext cx="2362200" cy="914400"/>
            <a:chOff x="6477000" y="3276600"/>
            <a:chExt cx="2362200" cy="914400"/>
          </a:xfrm>
        </p:grpSpPr>
        <p:sp>
          <p:nvSpPr>
            <p:cNvPr id="76" name="Trapezoid 75"/>
            <p:cNvSpPr/>
            <p:nvPr/>
          </p:nvSpPr>
          <p:spPr>
            <a:xfrm>
              <a:off x="6629400" y="32766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77" name="Trapezoid 76"/>
            <p:cNvSpPr/>
            <p:nvPr/>
          </p:nvSpPr>
          <p:spPr>
            <a:xfrm>
              <a:off x="6553200" y="33528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78" name="Trapezoid 77"/>
            <p:cNvSpPr/>
            <p:nvPr/>
          </p:nvSpPr>
          <p:spPr>
            <a:xfrm>
              <a:off x="6477000" y="34290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High Tower Text" pitchFamily="18" charset="0"/>
                </a:rPr>
                <a:t>Cache size: 100</a:t>
              </a:r>
              <a:endParaRPr lang="en-US" sz="2200" dirty="0">
                <a:latin typeface="High Tower Text" pitchFamily="18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1371600" y="2286000"/>
            <a:ext cx="2362200" cy="914400"/>
            <a:chOff x="1371600" y="2286000"/>
            <a:chExt cx="2362200" cy="914400"/>
          </a:xfrm>
        </p:grpSpPr>
        <p:sp>
          <p:nvSpPr>
            <p:cNvPr id="80" name="Parallelogram 79"/>
            <p:cNvSpPr/>
            <p:nvPr/>
          </p:nvSpPr>
          <p:spPr>
            <a:xfrm>
              <a:off x="1524000" y="22860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81" name="Parallelogram 80"/>
            <p:cNvSpPr/>
            <p:nvPr/>
          </p:nvSpPr>
          <p:spPr>
            <a:xfrm>
              <a:off x="1447800" y="23622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79" name="Parallelogram 78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100" dirty="0" err="1" smtClean="0">
                  <a:latin typeface="Elephant" pitchFamily="18" charset="0"/>
                </a:rPr>
                <a:t>Src</a:t>
              </a:r>
              <a:r>
                <a:rPr lang="en-US" sz="2100" dirty="0" smtClean="0">
                  <a:latin typeface="Elephant" pitchFamily="18" charset="0"/>
                </a:rPr>
                <a:t>: </a:t>
              </a:r>
              <a:r>
                <a:rPr lang="en-US" sz="2100" dirty="0" err="1" smtClean="0">
                  <a:latin typeface="Elephant" pitchFamily="18" charset="0"/>
                </a:rPr>
                <a:t>HostA</a:t>
              </a:r>
              <a:endParaRPr lang="en-US" sz="2100" dirty="0" smtClean="0">
                <a:latin typeface="Elephant" pitchFamily="18" charset="0"/>
              </a:endParaRPr>
            </a:p>
            <a:p>
              <a:r>
                <a:rPr lang="en-US" sz="2100" dirty="0" smtClean="0">
                  <a:latin typeface="Elephant" pitchFamily="18" charset="0"/>
                </a:rPr>
                <a:t>Server: B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1371600" y="3352800"/>
            <a:ext cx="2362200" cy="914400"/>
            <a:chOff x="1371600" y="2286000"/>
            <a:chExt cx="2362200" cy="914400"/>
          </a:xfrm>
        </p:grpSpPr>
        <p:sp>
          <p:nvSpPr>
            <p:cNvPr id="89" name="Parallelogram 88"/>
            <p:cNvSpPr/>
            <p:nvPr/>
          </p:nvSpPr>
          <p:spPr>
            <a:xfrm>
              <a:off x="1524000" y="22860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90" name="Parallelogram 89"/>
            <p:cNvSpPr/>
            <p:nvPr/>
          </p:nvSpPr>
          <p:spPr>
            <a:xfrm>
              <a:off x="1447800" y="23622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91" name="Parallelogram 90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dirty="0" smtClean="0">
                  <a:latin typeface="Segoe Print" pitchFamily="2" charset="0"/>
                </a:rPr>
                <a:t>Proto: TCP</a:t>
              </a:r>
            </a:p>
            <a:p>
              <a:r>
                <a:rPr lang="en-US" sz="2000" dirty="0" smtClean="0">
                  <a:latin typeface="Segoe Print" pitchFamily="2" charset="0"/>
                </a:rPr>
                <a:t>Port: 22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4" grpId="0" animBg="1"/>
      <p:bldP spid="6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6400800" y="2286000"/>
            <a:ext cx="2362200" cy="914400"/>
            <a:chOff x="6477000" y="3276600"/>
            <a:chExt cx="2362200" cy="914400"/>
          </a:xfrm>
        </p:grpSpPr>
        <p:sp>
          <p:nvSpPr>
            <p:cNvPr id="75" name="Trapezoid 74"/>
            <p:cNvSpPr/>
            <p:nvPr/>
          </p:nvSpPr>
          <p:spPr>
            <a:xfrm>
              <a:off x="6629400" y="32766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76" name="Trapezoid 75"/>
            <p:cNvSpPr/>
            <p:nvPr/>
          </p:nvSpPr>
          <p:spPr>
            <a:xfrm>
              <a:off x="6553200" y="33528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77" name="Trapezoid 76"/>
            <p:cNvSpPr/>
            <p:nvPr/>
          </p:nvSpPr>
          <p:spPr>
            <a:xfrm>
              <a:off x="6477000" y="34290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Rage Italic" pitchFamily="66" charset="0"/>
                </a:rPr>
                <a:t>Balance Method:</a:t>
              </a:r>
            </a:p>
            <a:p>
              <a:r>
                <a:rPr lang="en-US" sz="2200" dirty="0" smtClean="0">
                  <a:latin typeface="Rage Italic" pitchFamily="66" charset="0"/>
                </a:rPr>
                <a:t>Round Robin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6400800" y="4419600"/>
            <a:ext cx="2362200" cy="914400"/>
            <a:chOff x="6477000" y="3276600"/>
            <a:chExt cx="2362200" cy="914400"/>
          </a:xfrm>
        </p:grpSpPr>
        <p:sp>
          <p:nvSpPr>
            <p:cNvPr id="79" name="Trapezoid 78"/>
            <p:cNvSpPr/>
            <p:nvPr/>
          </p:nvSpPr>
          <p:spPr>
            <a:xfrm>
              <a:off x="6629400" y="32766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80" name="Trapezoid 79"/>
            <p:cNvSpPr/>
            <p:nvPr/>
          </p:nvSpPr>
          <p:spPr>
            <a:xfrm>
              <a:off x="6553200" y="33528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200" dirty="0" smtClean="0">
                <a:latin typeface="Rage Italic" pitchFamily="66" charset="0"/>
              </a:endParaRPr>
            </a:p>
          </p:txBody>
        </p:sp>
        <p:sp>
          <p:nvSpPr>
            <p:cNvPr id="81" name="Trapezoid 80"/>
            <p:cNvSpPr/>
            <p:nvPr/>
          </p:nvSpPr>
          <p:spPr>
            <a:xfrm>
              <a:off x="6477000" y="3429000"/>
              <a:ext cx="2209800" cy="762000"/>
            </a:xfrm>
            <a:prstGeom prst="trapezoi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High Tower Text" pitchFamily="18" charset="0"/>
                </a:rPr>
                <a:t>Cache size: 100</a:t>
              </a:r>
              <a:endParaRPr lang="en-US" sz="2200" dirty="0">
                <a:latin typeface="High Tower Text" pitchFamily="18" charset="0"/>
              </a:endParaRPr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1371600" y="2286000"/>
            <a:ext cx="2362200" cy="914400"/>
            <a:chOff x="1371600" y="2286000"/>
            <a:chExt cx="2362200" cy="914400"/>
          </a:xfrm>
        </p:grpSpPr>
        <p:sp>
          <p:nvSpPr>
            <p:cNvPr id="83" name="Parallelogram 82"/>
            <p:cNvSpPr/>
            <p:nvPr/>
          </p:nvSpPr>
          <p:spPr>
            <a:xfrm>
              <a:off x="1524000" y="22860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84" name="Parallelogram 83"/>
            <p:cNvSpPr/>
            <p:nvPr/>
          </p:nvSpPr>
          <p:spPr>
            <a:xfrm>
              <a:off x="1447800" y="23622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85" name="Parallelogram 84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100" dirty="0" err="1" smtClean="0">
                  <a:latin typeface="Elephant" pitchFamily="18" charset="0"/>
                </a:rPr>
                <a:t>Src</a:t>
              </a:r>
              <a:r>
                <a:rPr lang="en-US" sz="2100" dirty="0" smtClean="0">
                  <a:latin typeface="Elephant" pitchFamily="18" charset="0"/>
                </a:rPr>
                <a:t>: </a:t>
              </a:r>
              <a:r>
                <a:rPr lang="en-US" sz="2100" dirty="0" err="1" smtClean="0">
                  <a:latin typeface="Elephant" pitchFamily="18" charset="0"/>
                </a:rPr>
                <a:t>HostA</a:t>
              </a:r>
              <a:endParaRPr lang="en-US" sz="2100" dirty="0" smtClean="0">
                <a:latin typeface="Elephant" pitchFamily="18" charset="0"/>
              </a:endParaRPr>
            </a:p>
            <a:p>
              <a:r>
                <a:rPr lang="en-US" sz="2100" dirty="0" smtClean="0">
                  <a:latin typeface="Elephant" pitchFamily="18" charset="0"/>
                </a:rPr>
                <a:t>Server: B</a:t>
              </a:r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1371600" y="3352800"/>
            <a:ext cx="2362200" cy="914400"/>
            <a:chOff x="1371600" y="2286000"/>
            <a:chExt cx="2362200" cy="914400"/>
          </a:xfrm>
        </p:grpSpPr>
        <p:sp>
          <p:nvSpPr>
            <p:cNvPr id="87" name="Parallelogram 86"/>
            <p:cNvSpPr/>
            <p:nvPr/>
          </p:nvSpPr>
          <p:spPr>
            <a:xfrm>
              <a:off x="1524000" y="22860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88" name="Parallelogram 87"/>
            <p:cNvSpPr/>
            <p:nvPr/>
          </p:nvSpPr>
          <p:spPr>
            <a:xfrm>
              <a:off x="1447800" y="23622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89" name="Parallelogram 88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dirty="0" smtClean="0">
                  <a:latin typeface="Segoe Print" pitchFamily="2" charset="0"/>
                </a:rPr>
                <a:t>Proto: TCP</a:t>
              </a:r>
            </a:p>
            <a:p>
              <a:r>
                <a:rPr lang="en-US" sz="2000" dirty="0" smtClean="0">
                  <a:latin typeface="Segoe Print" pitchFamily="2" charset="0"/>
                </a:rPr>
                <a:t>Port: 22</a:t>
              </a:r>
            </a:p>
          </p:txBody>
        </p:sp>
      </p:grpSp>
      <p:pic>
        <p:nvPicPr>
          <p:cNvPr id="44" name="Picture 43" descr="firewall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3505200"/>
            <a:ext cx="685800" cy="6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of State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6" name="Group 61"/>
          <p:cNvGrpSpPr/>
          <p:nvPr/>
        </p:nvGrpSpPr>
        <p:grpSpPr>
          <a:xfrm>
            <a:off x="3886200" y="3352800"/>
            <a:ext cx="2362200" cy="914400"/>
            <a:chOff x="3886200" y="3810000"/>
            <a:chExt cx="2362200" cy="914400"/>
          </a:xfrm>
        </p:grpSpPr>
        <p:sp>
          <p:nvSpPr>
            <p:cNvPr id="52" name="Rectangle 51"/>
            <p:cNvSpPr/>
            <p:nvPr/>
          </p:nvSpPr>
          <p:spPr>
            <a:xfrm>
              <a:off x="4038600" y="3810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962400" y="3886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886200" y="3962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Showcard Gothic" pitchFamily="82" charset="0"/>
                </a:rPr>
                <a:t>State: ESTAB</a:t>
              </a:r>
              <a:br>
                <a:rPr lang="en-US" sz="2200" dirty="0" smtClean="0">
                  <a:latin typeface="Showcard Gothic" pitchFamily="82" charset="0"/>
                </a:rPr>
              </a:br>
              <a:r>
                <a:rPr lang="en-US" sz="2200" dirty="0" err="1" smtClean="0">
                  <a:latin typeface="Showcard Gothic" pitchFamily="82" charset="0"/>
                </a:rPr>
                <a:t>Seq</a:t>
              </a:r>
              <a:r>
                <a:rPr lang="en-US" sz="2200" dirty="0" smtClean="0">
                  <a:latin typeface="Showcard Gothic" pitchFamily="82" charset="0"/>
                </a:rPr>
                <a:t> #: 3423</a:t>
              </a:r>
            </a:p>
          </p:txBody>
        </p:sp>
      </p:grpSp>
      <p:pic>
        <p:nvPicPr>
          <p:cNvPr id="36" name="Picture 7" descr="C:\Users\agember\AppData\Local\Microsoft\Windows\Temporary Internet Files\Content.IE5\QZT0K7D8\MC90043471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648200"/>
            <a:ext cx="685800" cy="685800"/>
          </a:xfrm>
          <a:prstGeom prst="rect">
            <a:avLst/>
          </a:prstGeom>
          <a:noFill/>
        </p:spPr>
      </p:pic>
      <p:grpSp>
        <p:nvGrpSpPr>
          <p:cNvPr id="10" name="Group 60"/>
          <p:cNvGrpSpPr/>
          <p:nvPr/>
        </p:nvGrpSpPr>
        <p:grpSpPr>
          <a:xfrm>
            <a:off x="3886200" y="2286000"/>
            <a:ext cx="2362200" cy="914400"/>
            <a:chOff x="3886200" y="2743200"/>
            <a:chExt cx="2362200" cy="914400"/>
          </a:xfrm>
        </p:grpSpPr>
        <p:sp>
          <p:nvSpPr>
            <p:cNvPr id="51" name="Rectangle 50"/>
            <p:cNvSpPr/>
            <p:nvPr/>
          </p:nvSpPr>
          <p:spPr>
            <a:xfrm>
              <a:off x="4038600" y="2743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962400" y="2819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886200" y="28956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Copperplate Gothic Light" pitchFamily="34" charset="0"/>
                </a:rPr>
                <a:t>Server: B</a:t>
              </a:r>
            </a:p>
            <a:p>
              <a:r>
                <a:rPr lang="en-US" sz="2200" dirty="0" smtClean="0">
                  <a:latin typeface="Copperplate Gothic Light" pitchFamily="34" charset="0"/>
                </a:rPr>
                <a:t>CPU: 50%</a:t>
              </a:r>
              <a:endParaRPr lang="en-US" sz="2200" dirty="0">
                <a:latin typeface="Copperplate Gothic Light" pitchFamily="34" charset="0"/>
              </a:endParaRPr>
            </a:p>
          </p:txBody>
        </p:sp>
      </p:grpSp>
      <p:pic>
        <p:nvPicPr>
          <p:cNvPr id="42" name="Picture 41" descr="server_sync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3400" y="2514600"/>
            <a:ext cx="609600" cy="609600"/>
          </a:xfrm>
          <a:prstGeom prst="rect">
            <a:avLst/>
          </a:prstGeom>
        </p:spPr>
      </p:pic>
      <p:grpSp>
        <p:nvGrpSpPr>
          <p:cNvPr id="11" name="Group 62"/>
          <p:cNvGrpSpPr/>
          <p:nvPr/>
        </p:nvGrpSpPr>
        <p:grpSpPr>
          <a:xfrm>
            <a:off x="3886200" y="4419600"/>
            <a:ext cx="2362200" cy="914400"/>
            <a:chOff x="3886200" y="4800600"/>
            <a:chExt cx="2362200" cy="914400"/>
          </a:xfrm>
        </p:grpSpPr>
        <p:sp>
          <p:nvSpPr>
            <p:cNvPr id="58" name="Rectangle 57"/>
            <p:cNvSpPr/>
            <p:nvPr/>
          </p:nvSpPr>
          <p:spPr>
            <a:xfrm>
              <a:off x="4038600" y="48006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962400" y="48768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3886200" y="4953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Harrington" pitchFamily="82" charset="0"/>
                </a:rPr>
                <a:t>Hash: 34225</a:t>
              </a:r>
            </a:p>
            <a:p>
              <a:r>
                <a:rPr lang="en-US" sz="2200" dirty="0" smtClean="0">
                  <a:latin typeface="Harrington" pitchFamily="82" charset="0"/>
                </a:rPr>
                <a:t>Content: ABCDE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295400" y="1548825"/>
            <a:ext cx="243840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Action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10000" y="1548825"/>
            <a:ext cx="243840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Supporting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24600" y="1548825"/>
            <a:ext cx="2438400" cy="584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C00000"/>
                </a:solidFill>
              </a:rPr>
              <a:t>Tuning</a:t>
            </a:r>
            <a:endParaRPr lang="en-US" sz="3200" b="1" dirty="0">
              <a:solidFill>
                <a:srgbClr val="C00000"/>
              </a:solidFill>
            </a:endParaRPr>
          </a:p>
        </p:txBody>
      </p:sp>
      <p:grpSp>
        <p:nvGrpSpPr>
          <p:cNvPr id="61" name="Group 60"/>
          <p:cNvGrpSpPr/>
          <p:nvPr/>
        </p:nvGrpSpPr>
        <p:grpSpPr>
          <a:xfrm>
            <a:off x="2895600" y="5486400"/>
            <a:ext cx="3200400" cy="904220"/>
            <a:chOff x="2895600" y="5486400"/>
            <a:chExt cx="3200400" cy="904220"/>
          </a:xfrm>
        </p:grpSpPr>
        <p:sp>
          <p:nvSpPr>
            <p:cNvPr id="46" name="Right Brace 45"/>
            <p:cNvSpPr/>
            <p:nvPr/>
          </p:nvSpPr>
          <p:spPr>
            <a:xfrm rot="5400000">
              <a:off x="4762500" y="4610100"/>
              <a:ext cx="457200" cy="2209800"/>
            </a:xfrm>
            <a:prstGeom prst="rightBrace">
              <a:avLst>
                <a:gd name="adj1" fmla="val 2500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895600" y="5867400"/>
              <a:ext cx="304525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Internal  &amp; dynamic</a:t>
              </a:r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6400800" y="5486400"/>
            <a:ext cx="2209800" cy="914400"/>
            <a:chOff x="6400800" y="5486400"/>
            <a:chExt cx="2209800" cy="914400"/>
          </a:xfrm>
        </p:grpSpPr>
        <p:sp>
          <p:nvSpPr>
            <p:cNvPr id="59" name="Right Brace 58"/>
            <p:cNvSpPr/>
            <p:nvPr/>
          </p:nvSpPr>
          <p:spPr>
            <a:xfrm rot="5400000">
              <a:off x="7277100" y="4610100"/>
              <a:ext cx="457200" cy="2209800"/>
            </a:xfrm>
            <a:prstGeom prst="rightBrace">
              <a:avLst>
                <a:gd name="adj1" fmla="val 25000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6553200" y="5877580"/>
              <a:ext cx="19337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 smtClean="0"/>
                <a:t>Many forms</a:t>
              </a:r>
            </a:p>
          </p:txBody>
        </p:sp>
      </p:grpSp>
      <p:sp>
        <p:nvSpPr>
          <p:cNvPr id="63" name="Rectangle 62"/>
          <p:cNvSpPr/>
          <p:nvPr/>
        </p:nvSpPr>
        <p:spPr>
          <a:xfrm>
            <a:off x="6324600" y="2209800"/>
            <a:ext cx="2514600" cy="3200400"/>
          </a:xfrm>
          <a:prstGeom prst="rect">
            <a:avLst/>
          </a:prstGeom>
          <a:solidFill>
            <a:srgbClr val="000000">
              <a:alpha val="74902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/>
              <a:t>Only affects performance, not correctness</a:t>
            </a:r>
            <a:endParaRPr lang="en-US" sz="2800" b="1" dirty="0"/>
          </a:p>
        </p:txBody>
      </p:sp>
      <p:cxnSp>
        <p:nvCxnSpPr>
          <p:cNvPr id="67" name="Straight Connector 66"/>
          <p:cNvCxnSpPr/>
          <p:nvPr/>
        </p:nvCxnSpPr>
        <p:spPr>
          <a:xfrm>
            <a:off x="6858000" y="1828800"/>
            <a:ext cx="1447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1295400" y="3276600"/>
            <a:ext cx="2514600" cy="2057400"/>
            <a:chOff x="1295400" y="3276600"/>
            <a:chExt cx="2514600" cy="2057400"/>
          </a:xfrm>
        </p:grpSpPr>
        <p:sp>
          <p:nvSpPr>
            <p:cNvPr id="61" name="Rectangle 60"/>
            <p:cNvSpPr/>
            <p:nvPr/>
          </p:nvSpPr>
          <p:spPr>
            <a:xfrm>
              <a:off x="1295400" y="3276600"/>
              <a:ext cx="2514600" cy="2057400"/>
            </a:xfrm>
            <a:prstGeom prst="rect">
              <a:avLst/>
            </a:prstGeom>
            <a:solidFill>
              <a:srgbClr val="FFFF99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866330" y="4419600"/>
              <a:ext cx="139320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b="1" dirty="0" smtClean="0"/>
                <a:t>Policy</a:t>
              </a:r>
            </a:p>
            <a:p>
              <a:pPr algn="ctr"/>
              <a:r>
                <a:rPr lang="en-US" sz="2400" b="1" dirty="0" smtClean="0"/>
                <a:t>Language</a:t>
              </a:r>
              <a:endParaRPr lang="en-US" sz="2400" b="1" dirty="0"/>
            </a:p>
          </p:txBody>
        </p:sp>
      </p:grpSp>
      <p:grpSp>
        <p:nvGrpSpPr>
          <p:cNvPr id="60" name="Group 59"/>
          <p:cNvGrpSpPr/>
          <p:nvPr/>
        </p:nvGrpSpPr>
        <p:grpSpPr>
          <a:xfrm>
            <a:off x="1371600" y="2286000"/>
            <a:ext cx="2362200" cy="914400"/>
            <a:chOff x="1371600" y="2286000"/>
            <a:chExt cx="2362200" cy="914400"/>
          </a:xfrm>
        </p:grpSpPr>
        <p:sp>
          <p:nvSpPr>
            <p:cNvPr id="63" name="Parallelogram 62"/>
            <p:cNvSpPr/>
            <p:nvPr/>
          </p:nvSpPr>
          <p:spPr>
            <a:xfrm>
              <a:off x="1524000" y="22860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64" name="Parallelogram 63"/>
            <p:cNvSpPr/>
            <p:nvPr/>
          </p:nvSpPr>
          <p:spPr>
            <a:xfrm>
              <a:off x="1447800" y="23622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65" name="Parallelogram 64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100" dirty="0" err="1" smtClean="0">
                  <a:latin typeface="Elephant" pitchFamily="18" charset="0"/>
                </a:rPr>
                <a:t>Src</a:t>
              </a:r>
              <a:r>
                <a:rPr lang="en-US" sz="2100" dirty="0" smtClean="0">
                  <a:latin typeface="Elephant" pitchFamily="18" charset="0"/>
                </a:rPr>
                <a:t>: </a:t>
              </a:r>
              <a:r>
                <a:rPr lang="en-US" sz="2100" dirty="0" err="1" smtClean="0">
                  <a:latin typeface="Elephant" pitchFamily="18" charset="0"/>
                </a:rPr>
                <a:t>HostA</a:t>
              </a:r>
              <a:endParaRPr lang="en-US" sz="2100" dirty="0" smtClean="0">
                <a:latin typeface="Elephant" pitchFamily="18" charset="0"/>
              </a:endParaRPr>
            </a:p>
            <a:p>
              <a:r>
                <a:rPr lang="en-US" sz="2100" dirty="0" smtClean="0">
                  <a:latin typeface="Elephant" pitchFamily="18" charset="0"/>
                </a:rPr>
                <a:t>Server: B</a:t>
              </a: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1371600" y="3352800"/>
            <a:ext cx="2362200" cy="914400"/>
            <a:chOff x="1371600" y="2286000"/>
            <a:chExt cx="2362200" cy="914400"/>
          </a:xfrm>
        </p:grpSpPr>
        <p:sp>
          <p:nvSpPr>
            <p:cNvPr id="67" name="Parallelogram 66"/>
            <p:cNvSpPr/>
            <p:nvPr/>
          </p:nvSpPr>
          <p:spPr>
            <a:xfrm>
              <a:off x="1524000" y="22860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68" name="Parallelogram 67"/>
            <p:cNvSpPr/>
            <p:nvPr/>
          </p:nvSpPr>
          <p:spPr>
            <a:xfrm>
              <a:off x="1447800" y="23622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  <p:sp>
          <p:nvSpPr>
            <p:cNvPr id="79" name="Parallelogram 78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000" dirty="0" smtClean="0">
                  <a:latin typeface="Segoe Print" pitchFamily="2" charset="0"/>
                </a:rPr>
                <a:t>Proto: TCP</a:t>
              </a:r>
            </a:p>
            <a:p>
              <a:r>
                <a:rPr lang="en-US" sz="2000" dirty="0" smtClean="0">
                  <a:latin typeface="Segoe Print" pitchFamily="2" charset="0"/>
                </a:rPr>
                <a:t>Port: 22</a:t>
              </a:r>
            </a:p>
          </p:txBody>
        </p:sp>
      </p:grpSp>
      <p:grpSp>
        <p:nvGrpSpPr>
          <p:cNvPr id="80" name="Group 61"/>
          <p:cNvGrpSpPr/>
          <p:nvPr/>
        </p:nvGrpSpPr>
        <p:grpSpPr>
          <a:xfrm>
            <a:off x="3886200" y="3352800"/>
            <a:ext cx="2362200" cy="914400"/>
            <a:chOff x="3886200" y="3810000"/>
            <a:chExt cx="2362200" cy="914400"/>
          </a:xfrm>
        </p:grpSpPr>
        <p:sp>
          <p:nvSpPr>
            <p:cNvPr id="82" name="Rectangle 81"/>
            <p:cNvSpPr/>
            <p:nvPr/>
          </p:nvSpPr>
          <p:spPr>
            <a:xfrm>
              <a:off x="4038600" y="3810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962400" y="3886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886200" y="3962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Showcard Gothic" pitchFamily="82" charset="0"/>
                </a:rPr>
                <a:t>State: ESTAB</a:t>
              </a:r>
              <a:br>
                <a:rPr lang="en-US" sz="2200" dirty="0" smtClean="0">
                  <a:latin typeface="Showcard Gothic" pitchFamily="82" charset="0"/>
                </a:rPr>
              </a:br>
              <a:r>
                <a:rPr lang="en-US" sz="2200" dirty="0" err="1" smtClean="0">
                  <a:latin typeface="Showcard Gothic" pitchFamily="82" charset="0"/>
                </a:rPr>
                <a:t>Seq</a:t>
              </a:r>
              <a:r>
                <a:rPr lang="en-US" sz="2200" dirty="0" smtClean="0">
                  <a:latin typeface="Showcard Gothic" pitchFamily="82" charset="0"/>
                </a:rPr>
                <a:t> #: 3423</a:t>
              </a:r>
            </a:p>
          </p:txBody>
        </p:sp>
      </p:grpSp>
      <p:grpSp>
        <p:nvGrpSpPr>
          <p:cNvPr id="85" name="Group 60"/>
          <p:cNvGrpSpPr/>
          <p:nvPr/>
        </p:nvGrpSpPr>
        <p:grpSpPr>
          <a:xfrm>
            <a:off x="3886200" y="2286000"/>
            <a:ext cx="2362200" cy="914400"/>
            <a:chOff x="3886200" y="2743200"/>
            <a:chExt cx="2362200" cy="914400"/>
          </a:xfrm>
        </p:grpSpPr>
        <p:sp>
          <p:nvSpPr>
            <p:cNvPr id="86" name="Rectangle 85"/>
            <p:cNvSpPr/>
            <p:nvPr/>
          </p:nvSpPr>
          <p:spPr>
            <a:xfrm>
              <a:off x="4038600" y="2743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87" name="Rectangle 86"/>
            <p:cNvSpPr/>
            <p:nvPr/>
          </p:nvSpPr>
          <p:spPr>
            <a:xfrm>
              <a:off x="3962400" y="2819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886200" y="28956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Copperplate Gothic Light" pitchFamily="34" charset="0"/>
                </a:rPr>
                <a:t>Server: B</a:t>
              </a:r>
            </a:p>
            <a:p>
              <a:r>
                <a:rPr lang="en-US" sz="2200" dirty="0" smtClean="0">
                  <a:latin typeface="Copperplate Gothic Light" pitchFamily="34" charset="0"/>
                </a:rPr>
                <a:t>CPU: 50%</a:t>
              </a:r>
              <a:endParaRPr lang="en-US" sz="2200" dirty="0">
                <a:latin typeface="Copperplate Gothic Light" pitchFamily="34" charset="0"/>
              </a:endParaRPr>
            </a:p>
          </p:txBody>
        </p:sp>
      </p:grpSp>
      <p:grpSp>
        <p:nvGrpSpPr>
          <p:cNvPr id="89" name="Group 62"/>
          <p:cNvGrpSpPr/>
          <p:nvPr/>
        </p:nvGrpSpPr>
        <p:grpSpPr>
          <a:xfrm>
            <a:off x="3886200" y="4419600"/>
            <a:ext cx="2362200" cy="914400"/>
            <a:chOff x="3886200" y="4800600"/>
            <a:chExt cx="2362200" cy="914400"/>
          </a:xfrm>
        </p:grpSpPr>
        <p:sp>
          <p:nvSpPr>
            <p:cNvPr id="90" name="Rectangle 89"/>
            <p:cNvSpPr/>
            <p:nvPr/>
          </p:nvSpPr>
          <p:spPr>
            <a:xfrm>
              <a:off x="4038600" y="48006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3962400" y="48768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2400" dirty="0" smtClean="0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3886200" y="4953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200" dirty="0" smtClean="0">
                  <a:latin typeface="Harrington" pitchFamily="82" charset="0"/>
                </a:rPr>
                <a:t>Hash: 34225</a:t>
              </a:r>
            </a:p>
            <a:p>
              <a:r>
                <a:rPr lang="en-US" sz="2200" dirty="0" smtClean="0">
                  <a:latin typeface="Harrington" pitchFamily="82" charset="0"/>
                </a:rPr>
                <a:t>Content: ABCDE</a:t>
              </a:r>
            </a:p>
          </p:txBody>
        </p:sp>
      </p:grpSp>
      <p:pic>
        <p:nvPicPr>
          <p:cNvPr id="59" name="Picture 58" descr="firewal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3400" y="3505200"/>
            <a:ext cx="685800" cy="685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Represent State?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36" name="Picture 7" descr="C:\Users\agember\AppData\Local\Microsoft\Windows\Temporary Internet Files\Content.IE5\QZT0K7D8\MC900434719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" y="4648200"/>
            <a:ext cx="685800" cy="685800"/>
          </a:xfrm>
          <a:prstGeom prst="rect">
            <a:avLst/>
          </a:prstGeom>
          <a:noFill/>
        </p:spPr>
      </p:pic>
      <p:pic>
        <p:nvPicPr>
          <p:cNvPr id="42" name="Picture 41" descr="server_sync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3400" y="2514600"/>
            <a:ext cx="609600" cy="609600"/>
          </a:xfrm>
          <a:prstGeom prst="rect">
            <a:avLst/>
          </a:prstGeom>
        </p:spPr>
      </p:pic>
      <p:sp>
        <p:nvSpPr>
          <p:cNvPr id="74" name="Content Placeholder 2"/>
          <p:cNvSpPr txBox="1">
            <a:spLocks/>
          </p:cNvSpPr>
          <p:nvPr/>
        </p:nvSpPr>
        <p:spPr>
          <a:xfrm>
            <a:off x="6553200" y="4191000"/>
            <a:ext cx="22860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Unknown structure</a:t>
            </a:r>
          </a:p>
        </p:txBody>
      </p:sp>
      <p:sp>
        <p:nvSpPr>
          <p:cNvPr id="76" name="Content Placeholder 2"/>
          <p:cNvSpPr txBox="1">
            <a:spLocks/>
          </p:cNvSpPr>
          <p:nvPr/>
        </p:nvSpPr>
        <p:spPr>
          <a:xfrm>
            <a:off x="6553200" y="1600200"/>
            <a:ext cx="22860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Significant diversity</a:t>
            </a:r>
          </a:p>
        </p:txBody>
      </p:sp>
      <p:sp>
        <p:nvSpPr>
          <p:cNvPr id="77" name="Content Placeholder 2"/>
          <p:cNvSpPr txBox="1">
            <a:spLocks/>
          </p:cNvSpPr>
          <p:nvPr/>
        </p:nvSpPr>
        <p:spPr>
          <a:xfrm>
            <a:off x="6553200" y="2895600"/>
            <a:ext cx="2286000" cy="1066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May be shared</a:t>
            </a:r>
          </a:p>
        </p:txBody>
      </p:sp>
      <p:grpSp>
        <p:nvGrpSpPr>
          <p:cNvPr id="116" name="Group 115"/>
          <p:cNvGrpSpPr/>
          <p:nvPr/>
        </p:nvGrpSpPr>
        <p:grpSpPr>
          <a:xfrm>
            <a:off x="2628900" y="1447800"/>
            <a:ext cx="3543300" cy="2362200"/>
            <a:chOff x="2628900" y="1447800"/>
            <a:chExt cx="3543300" cy="2362200"/>
          </a:xfrm>
        </p:grpSpPr>
        <p:sp>
          <p:nvSpPr>
            <p:cNvPr id="78" name="Rectangle 77"/>
            <p:cNvSpPr/>
            <p:nvPr/>
          </p:nvSpPr>
          <p:spPr>
            <a:xfrm>
              <a:off x="3048000" y="1447800"/>
              <a:ext cx="13716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 smtClean="0"/>
                <a:t>Per flow</a:t>
              </a:r>
            </a:p>
          </p:txBody>
        </p:sp>
        <p:cxnSp>
          <p:nvCxnSpPr>
            <p:cNvPr id="81" name="Curved Connector 80"/>
            <p:cNvCxnSpPr>
              <a:stCxn id="78" idx="1"/>
              <a:endCxn id="54" idx="0"/>
            </p:cNvCxnSpPr>
            <p:nvPr/>
          </p:nvCxnSpPr>
          <p:spPr>
            <a:xfrm rot="10800000" flipV="1">
              <a:off x="2628900" y="1709410"/>
              <a:ext cx="419100" cy="576590"/>
            </a:xfrm>
            <a:prstGeom prst="curvedConnector2">
              <a:avLst/>
            </a:prstGeom>
            <a:ln>
              <a:tailEnd type="triangle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urved Connector 80"/>
            <p:cNvCxnSpPr>
              <a:stCxn id="78" idx="3"/>
              <a:endCxn id="49" idx="3"/>
            </p:cNvCxnSpPr>
            <p:nvPr/>
          </p:nvCxnSpPr>
          <p:spPr>
            <a:xfrm>
              <a:off x="4419600" y="1709410"/>
              <a:ext cx="1752600" cy="2100590"/>
            </a:xfrm>
            <a:prstGeom prst="curvedConnector3">
              <a:avLst>
                <a:gd name="adj1" fmla="val 113043"/>
              </a:avLst>
            </a:prstGeom>
            <a:ln>
              <a:tailEnd type="triangle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4" name="Group 123"/>
          <p:cNvGrpSpPr/>
          <p:nvPr/>
        </p:nvGrpSpPr>
        <p:grpSpPr>
          <a:xfrm>
            <a:off x="2476500" y="2819400"/>
            <a:ext cx="2514600" cy="3266420"/>
            <a:chOff x="2476500" y="2819400"/>
            <a:chExt cx="2514600" cy="3266420"/>
          </a:xfrm>
        </p:grpSpPr>
        <p:sp>
          <p:nvSpPr>
            <p:cNvPr id="94" name="Rectangle 93"/>
            <p:cNvSpPr/>
            <p:nvPr/>
          </p:nvSpPr>
          <p:spPr>
            <a:xfrm>
              <a:off x="3581400" y="5562600"/>
              <a:ext cx="12192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800" i="1" dirty="0" smtClean="0"/>
                <a:t>Shared</a:t>
              </a:r>
            </a:p>
          </p:txBody>
        </p:sp>
        <p:cxnSp>
          <p:nvCxnSpPr>
            <p:cNvPr id="95" name="Curved Connector 80"/>
            <p:cNvCxnSpPr>
              <a:stCxn id="94" idx="1"/>
              <a:endCxn id="37" idx="1"/>
            </p:cNvCxnSpPr>
            <p:nvPr/>
          </p:nvCxnSpPr>
          <p:spPr>
            <a:xfrm rot="10800000" flipH="1">
              <a:off x="3581400" y="2819400"/>
              <a:ext cx="304800" cy="3004810"/>
            </a:xfrm>
            <a:prstGeom prst="curvedConnector3">
              <a:avLst>
                <a:gd name="adj1" fmla="val -75000"/>
              </a:avLst>
            </a:prstGeom>
            <a:ln>
              <a:tailEnd type="triangle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Curved Connector 80"/>
            <p:cNvCxnSpPr>
              <a:stCxn id="94" idx="3"/>
              <a:endCxn id="47" idx="2"/>
            </p:cNvCxnSpPr>
            <p:nvPr/>
          </p:nvCxnSpPr>
          <p:spPr>
            <a:xfrm flipV="1">
              <a:off x="4800600" y="5334000"/>
              <a:ext cx="190500" cy="490210"/>
            </a:xfrm>
            <a:prstGeom prst="curvedConnector2">
              <a:avLst/>
            </a:prstGeom>
            <a:ln>
              <a:tailEnd type="triangle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Curved Connector 80"/>
            <p:cNvCxnSpPr>
              <a:stCxn id="94" idx="1"/>
              <a:endCxn id="7" idx="2"/>
            </p:cNvCxnSpPr>
            <p:nvPr/>
          </p:nvCxnSpPr>
          <p:spPr>
            <a:xfrm rot="10800000">
              <a:off x="2476500" y="4267200"/>
              <a:ext cx="1104900" cy="1557010"/>
            </a:xfrm>
            <a:prstGeom prst="curvedConnector2">
              <a:avLst/>
            </a:prstGeom>
            <a:ln>
              <a:tailEnd type="triangle" w="lg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51" name="Content Placeholder 2"/>
          <p:cNvSpPr txBox="1">
            <a:spLocks/>
          </p:cNvSpPr>
          <p:nvPr/>
        </p:nvSpPr>
        <p:spPr>
          <a:xfrm>
            <a:off x="381000" y="5562600"/>
            <a:ext cx="8382000" cy="685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Commonality among middlebox operations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1371600" y="2438400"/>
            <a:ext cx="4724400" cy="2895600"/>
            <a:chOff x="1371600" y="2438400"/>
            <a:chExt cx="4724400" cy="2895600"/>
          </a:xfrm>
        </p:grpSpPr>
        <p:sp>
          <p:nvSpPr>
            <p:cNvPr id="70" name="Rectangle 69"/>
            <p:cNvSpPr/>
            <p:nvPr/>
          </p:nvSpPr>
          <p:spPr>
            <a:xfrm>
              <a:off x="3886200" y="24384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3886200" y="35052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3886200" y="4572000"/>
              <a:ext cx="2209800" cy="762000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/>
            </a:p>
          </p:txBody>
        </p:sp>
        <p:sp>
          <p:nvSpPr>
            <p:cNvPr id="96" name="Parallelogram 95"/>
            <p:cNvSpPr/>
            <p:nvPr/>
          </p:nvSpPr>
          <p:spPr>
            <a:xfrm>
              <a:off x="1371600" y="2438400"/>
              <a:ext cx="2209800" cy="762000"/>
            </a:xfrm>
            <a:prstGeom prst="parallelogram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100" dirty="0" smtClean="0">
                <a:latin typeface="Elephant" pitchFamily="18" charset="0"/>
              </a:endParaRPr>
            </a:p>
          </p:txBody>
        </p:sp>
      </p:grpSp>
      <p:grpSp>
        <p:nvGrpSpPr>
          <p:cNvPr id="134" name="Group 133"/>
          <p:cNvGrpSpPr/>
          <p:nvPr/>
        </p:nvGrpSpPr>
        <p:grpSpPr>
          <a:xfrm>
            <a:off x="1371600" y="2438400"/>
            <a:ext cx="4724400" cy="2895600"/>
            <a:chOff x="1371600" y="2438400"/>
            <a:chExt cx="4724400" cy="2895600"/>
          </a:xfrm>
        </p:grpSpPr>
        <p:sp>
          <p:nvSpPr>
            <p:cNvPr id="129" name="Cloud 128"/>
            <p:cNvSpPr/>
            <p:nvPr/>
          </p:nvSpPr>
          <p:spPr>
            <a:xfrm>
              <a:off x="3886200" y="2438400"/>
              <a:ext cx="2209800" cy="76200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/>
                <a:t>1000101</a:t>
              </a:r>
              <a:endParaRPr lang="en-US" sz="2000" b="1" dirty="0"/>
            </a:p>
          </p:txBody>
        </p:sp>
        <p:sp>
          <p:nvSpPr>
            <p:cNvPr id="130" name="Cloud 129"/>
            <p:cNvSpPr/>
            <p:nvPr/>
          </p:nvSpPr>
          <p:spPr>
            <a:xfrm>
              <a:off x="3886200" y="3505200"/>
              <a:ext cx="2209800" cy="76200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/>
                <a:t>1101010</a:t>
              </a:r>
              <a:endParaRPr lang="en-US" sz="2000" b="1" dirty="0"/>
            </a:p>
          </p:txBody>
        </p:sp>
        <p:sp>
          <p:nvSpPr>
            <p:cNvPr id="131" name="Cloud 130"/>
            <p:cNvSpPr/>
            <p:nvPr/>
          </p:nvSpPr>
          <p:spPr>
            <a:xfrm>
              <a:off x="3886200" y="4572000"/>
              <a:ext cx="2209800" cy="76200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/>
                <a:t>0101001</a:t>
              </a:r>
              <a:endParaRPr lang="en-US" sz="2000" b="1" dirty="0"/>
            </a:p>
          </p:txBody>
        </p:sp>
        <p:sp>
          <p:nvSpPr>
            <p:cNvPr id="132" name="Cloud 131"/>
            <p:cNvSpPr/>
            <p:nvPr/>
          </p:nvSpPr>
          <p:spPr>
            <a:xfrm>
              <a:off x="1371600" y="3505200"/>
              <a:ext cx="2209800" cy="76200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/>
                <a:t>1111000</a:t>
              </a:r>
              <a:endParaRPr lang="en-US" sz="2000" b="1" dirty="0"/>
            </a:p>
          </p:txBody>
        </p:sp>
        <p:sp>
          <p:nvSpPr>
            <p:cNvPr id="133" name="Cloud 132"/>
            <p:cNvSpPr/>
            <p:nvPr/>
          </p:nvSpPr>
          <p:spPr>
            <a:xfrm>
              <a:off x="1371600" y="2438400"/>
              <a:ext cx="2209800" cy="76200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 smtClean="0"/>
                <a:t>1010110</a:t>
              </a:r>
              <a:endParaRPr lang="en-US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76" grpId="0" animBg="1"/>
      <p:bldP spid="77" grpId="0" animBg="1"/>
      <p:bldP spid="1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endParaRPr lang="en-US" i="1" dirty="0" smtClean="0"/>
          </a:p>
          <a:p>
            <a:endParaRPr lang="en-US" i="1" dirty="0" smtClean="0"/>
          </a:p>
          <a:p>
            <a:pPr algn="r"/>
            <a:endParaRPr lang="en-US" i="1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Key:</a:t>
            </a:r>
            <a:r>
              <a:rPr lang="en-US" dirty="0" smtClean="0"/>
              <a:t> protocol header field/value pairs identify traffic subsets to which state applies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Action:</a:t>
            </a:r>
            <a:r>
              <a:rPr lang="en-US" dirty="0" smtClean="0"/>
              <a:t> transformation function to change parts of packet to new constants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Supporting:</a:t>
            </a:r>
            <a:r>
              <a:rPr lang="en-US" dirty="0" smtClean="0"/>
              <a:t> binary blob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600200"/>
            <a:ext cx="2438400" cy="1600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Key</a:t>
            </a:r>
          </a:p>
          <a:p>
            <a:pPr algn="ctr"/>
            <a:endParaRPr lang="en-US" sz="2400" dirty="0" smtClean="0"/>
          </a:p>
          <a:p>
            <a:pPr algn="ctr"/>
            <a:endParaRPr lang="en-US" sz="2400" dirty="0" smtClean="0"/>
          </a:p>
          <a:p>
            <a:pPr algn="ctr"/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3276600" y="1600200"/>
            <a:ext cx="2514600" cy="1600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Action</a:t>
            </a:r>
          </a:p>
          <a:p>
            <a:pPr algn="ctr"/>
            <a:endParaRPr lang="en-US" sz="2400" b="1" dirty="0" smtClean="0">
              <a:solidFill>
                <a:srgbClr val="C00000"/>
              </a:solidFill>
            </a:endParaRPr>
          </a:p>
          <a:p>
            <a:pPr algn="ctr"/>
            <a:endParaRPr lang="en-US" sz="2400" b="1" dirty="0" smtClean="0">
              <a:solidFill>
                <a:srgbClr val="C00000"/>
              </a:solidFill>
            </a:endParaRPr>
          </a:p>
          <a:p>
            <a:pPr algn="ctr"/>
            <a:endParaRPr lang="en-US" sz="2400" b="1" dirty="0" smtClean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91200" y="1600200"/>
            <a:ext cx="2438400" cy="1600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rgbClr val="C00000"/>
                </a:solidFill>
              </a:rPr>
              <a:t>Supporting</a:t>
            </a:r>
          </a:p>
          <a:p>
            <a:pPr algn="ctr"/>
            <a:endParaRPr lang="en-US" sz="2400" b="1" dirty="0" smtClean="0">
              <a:solidFill>
                <a:srgbClr val="C00000"/>
              </a:solidFill>
            </a:endParaRPr>
          </a:p>
          <a:p>
            <a:pPr algn="ctr"/>
            <a:endParaRPr lang="en-US" sz="2400" b="1" dirty="0" smtClean="0">
              <a:solidFill>
                <a:srgbClr val="C00000"/>
              </a:solidFill>
            </a:endParaRPr>
          </a:p>
          <a:p>
            <a:pPr algn="ctr"/>
            <a:endParaRPr lang="en-US" sz="2400" b="1" dirty="0" smtClean="0">
              <a:solidFill>
                <a:srgbClr val="C00000"/>
              </a:solidFill>
            </a:endParaRPr>
          </a:p>
        </p:txBody>
      </p:sp>
      <p:sp>
        <p:nvSpPr>
          <p:cNvPr id="13" name="Cloud 12"/>
          <p:cNvSpPr/>
          <p:nvPr/>
        </p:nvSpPr>
        <p:spPr>
          <a:xfrm>
            <a:off x="5943600" y="2133600"/>
            <a:ext cx="2133600" cy="914400"/>
          </a:xfrm>
          <a:prstGeom prst="clou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Binary Blob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838200" y="1981200"/>
            <a:ext cx="2438400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Field1 </a:t>
            </a:r>
            <a:r>
              <a:rPr lang="en-US" sz="2400" b="1" dirty="0" smtClean="0"/>
              <a:t>=</a:t>
            </a:r>
            <a:r>
              <a:rPr lang="en-US" sz="2400" dirty="0" smtClean="0"/>
              <a:t> Value1</a:t>
            </a:r>
          </a:p>
          <a:p>
            <a:pPr algn="ctr"/>
            <a:r>
              <a:rPr lang="en-US" sz="2400" dirty="0" smtClean="0"/>
              <a:t>…</a:t>
            </a:r>
          </a:p>
          <a:p>
            <a:pPr algn="ctr"/>
            <a:r>
              <a:rPr lang="en-US" sz="2400" dirty="0" err="1" smtClean="0"/>
              <a:t>FieldN</a:t>
            </a:r>
            <a:r>
              <a:rPr lang="en-US" sz="2400" dirty="0" smtClean="0"/>
              <a:t> </a:t>
            </a:r>
            <a:r>
              <a:rPr lang="en-US" sz="2400" b="1" dirty="0" smtClean="0"/>
              <a:t>=</a:t>
            </a:r>
            <a:r>
              <a:rPr lang="en-US" sz="2400" dirty="0" smtClean="0"/>
              <a:t> </a:t>
            </a:r>
            <a:r>
              <a:rPr lang="en-US" sz="2400" dirty="0" err="1" smtClean="0"/>
              <a:t>ValueN</a:t>
            </a:r>
            <a:endParaRPr lang="en-US" sz="2400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276600" y="1981200"/>
            <a:ext cx="2514600" cy="1219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Offset1 </a:t>
            </a:r>
            <a:r>
              <a:rPr lang="en-US" sz="2400" b="1" dirty="0" smtClean="0"/>
              <a:t>→</a:t>
            </a:r>
            <a:r>
              <a:rPr lang="en-US" sz="2400" dirty="0" smtClean="0"/>
              <a:t> Const1</a:t>
            </a:r>
          </a:p>
          <a:p>
            <a:pPr algn="ctr"/>
            <a:r>
              <a:rPr lang="en-US" sz="2400" dirty="0" smtClean="0"/>
              <a:t>…</a:t>
            </a:r>
          </a:p>
          <a:p>
            <a:pPr algn="ctr"/>
            <a:r>
              <a:rPr lang="en-US" sz="2400" dirty="0" err="1" smtClean="0"/>
              <a:t>OffsetN</a:t>
            </a:r>
            <a:r>
              <a:rPr lang="en-US" sz="2400" dirty="0" smtClean="0"/>
              <a:t> </a:t>
            </a:r>
            <a:r>
              <a:rPr lang="en-US" sz="2400" b="1" dirty="0" smtClean="0"/>
              <a:t>→</a:t>
            </a:r>
            <a:r>
              <a:rPr lang="en-US" sz="2400" dirty="0" smtClean="0"/>
              <a:t> </a:t>
            </a:r>
            <a:r>
              <a:rPr lang="en-US" sz="2400" dirty="0" err="1" smtClean="0"/>
              <a:t>ConstN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0" y="1219200"/>
            <a:ext cx="9144000" cy="5638800"/>
            <a:chOff x="0" y="1219200"/>
            <a:chExt cx="9144000" cy="5638800"/>
          </a:xfrm>
        </p:grpSpPr>
        <p:sp>
          <p:nvSpPr>
            <p:cNvPr id="10" name="Rectangle 9"/>
            <p:cNvSpPr/>
            <p:nvPr/>
          </p:nvSpPr>
          <p:spPr>
            <a:xfrm>
              <a:off x="0" y="1219200"/>
              <a:ext cx="9144000" cy="5638800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1600200" y="3429000"/>
              <a:ext cx="5943600" cy="116205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lIns="91440" tIns="45720" rIns="91440" bIns="45720" rtlCol="0">
              <a:noAutofit/>
            </a:bodyPr>
            <a:lstStyle/>
            <a:p>
              <a:pPr marL="463550" indent="-463550">
                <a:buFont typeface="Arial" pitchFamily="34" charset="0"/>
                <a:buChar char="•"/>
              </a:pPr>
              <a:r>
                <a:rPr lang="en-US" sz="3200" dirty="0" smtClean="0"/>
                <a:t>Only suitable for per-flow state</a:t>
              </a:r>
            </a:p>
            <a:p>
              <a:pPr marL="463550" indent="-463550">
                <a:buFont typeface="Arial" pitchFamily="34" charset="0"/>
                <a:buChar char="•"/>
              </a:pPr>
              <a:r>
                <a:rPr lang="en-US" sz="3200" dirty="0" smtClean="0"/>
                <a:t>Not fully vendor independent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13" grpId="0" animBg="1"/>
      <p:bldP spid="8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/>
          <p:cNvGrpSpPr/>
          <p:nvPr/>
        </p:nvGrpSpPr>
        <p:grpSpPr>
          <a:xfrm>
            <a:off x="2514600" y="4267200"/>
            <a:ext cx="2743200" cy="1905000"/>
            <a:chOff x="2514600" y="4114800"/>
            <a:chExt cx="2743200" cy="1905000"/>
          </a:xfrm>
        </p:grpSpPr>
        <p:grpSp>
          <p:nvGrpSpPr>
            <p:cNvPr id="40" name="Group 39"/>
            <p:cNvGrpSpPr/>
            <p:nvPr/>
          </p:nvGrpSpPr>
          <p:grpSpPr>
            <a:xfrm>
              <a:off x="2514600" y="4114800"/>
              <a:ext cx="2743200" cy="1905000"/>
              <a:chOff x="2514600" y="3429000"/>
              <a:chExt cx="2743200" cy="1905000"/>
            </a:xfrm>
          </p:grpSpPr>
          <p:grpSp>
            <p:nvGrpSpPr>
              <p:cNvPr id="34" name="Group 20"/>
              <p:cNvGrpSpPr/>
              <p:nvPr/>
            </p:nvGrpSpPr>
            <p:grpSpPr>
              <a:xfrm>
                <a:off x="2514600" y="3429000"/>
                <a:ext cx="2743200" cy="685800"/>
                <a:chOff x="3733800" y="2133600"/>
                <a:chExt cx="2743200" cy="685800"/>
              </a:xfrm>
            </p:grpSpPr>
            <p:sp>
              <p:nvSpPr>
                <p:cNvPr id="36" name="Rounded Rectangle 15"/>
                <p:cNvSpPr/>
                <p:nvPr/>
              </p:nvSpPr>
              <p:spPr>
                <a:xfrm>
                  <a:off x="3733800" y="2133600"/>
                  <a:ext cx="2743200" cy="685800"/>
                </a:xfrm>
                <a:prstGeom prst="round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37" name="TextBox 36"/>
                <p:cNvSpPr txBox="1"/>
                <p:nvPr/>
              </p:nvSpPr>
              <p:spPr>
                <a:xfrm>
                  <a:off x="3733800" y="2209800"/>
                  <a:ext cx="2667000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 smtClean="0">
                      <a:solidFill>
                        <a:schemeClr val="accent6"/>
                      </a:solidFill>
                    </a:rPr>
                    <a:t>Controller</a:t>
                  </a:r>
                  <a:endParaRPr lang="en-US" sz="2200" b="1" dirty="0">
                    <a:solidFill>
                      <a:schemeClr val="accent6"/>
                    </a:solidFill>
                  </a:endParaRPr>
                </a:p>
              </p:txBody>
            </p:sp>
          </p:grpSp>
          <p:grpSp>
            <p:nvGrpSpPr>
              <p:cNvPr id="25" name="Group 24"/>
              <p:cNvGrpSpPr/>
              <p:nvPr/>
            </p:nvGrpSpPr>
            <p:grpSpPr>
              <a:xfrm>
                <a:off x="2514600" y="4343400"/>
                <a:ext cx="2743200" cy="990600"/>
                <a:chOff x="4114800" y="3581400"/>
                <a:chExt cx="2743200" cy="990600"/>
              </a:xfrm>
            </p:grpSpPr>
            <p:sp>
              <p:nvSpPr>
                <p:cNvPr id="26" name="Rounded Rectangle 25"/>
                <p:cNvSpPr/>
                <p:nvPr/>
              </p:nvSpPr>
              <p:spPr>
                <a:xfrm>
                  <a:off x="4114800" y="3581400"/>
                  <a:ext cx="2743200" cy="990600"/>
                </a:xfrm>
                <a:prstGeom prst="roundRect">
                  <a:avLst/>
                </a:prstGeom>
                <a:noFill/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5"/>
                </a:lnRef>
                <a:fillRef idx="1">
                  <a:schemeClr val="lt1"/>
                </a:fillRef>
                <a:effectRef idx="0">
                  <a:schemeClr val="accent5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rgbClr val="C00000"/>
                    </a:solidFill>
                  </a:endParaRPr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4114800" y="3581400"/>
                  <a:ext cx="1557490" cy="4308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1" dirty="0" smtClean="0">
                      <a:solidFill>
                        <a:schemeClr val="accent6"/>
                      </a:solidFill>
                    </a:rPr>
                    <a:t>Middlebox</a:t>
                  </a:r>
                  <a:endParaRPr lang="en-US" sz="2200" b="1" dirty="0">
                    <a:solidFill>
                      <a:schemeClr val="accent6"/>
                    </a:solidFill>
                  </a:endParaRPr>
                </a:p>
              </p:txBody>
            </p:sp>
          </p:grpSp>
        </p:grpSp>
        <p:pic>
          <p:nvPicPr>
            <p:cNvPr id="22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4191000"/>
              <a:ext cx="533400" cy="533402"/>
            </a:xfrm>
            <a:prstGeom prst="rect">
              <a:avLst/>
            </a:prstGeom>
            <a:noFill/>
          </p:spPr>
        </p:pic>
      </p:grpSp>
      <p:grpSp>
        <p:nvGrpSpPr>
          <p:cNvPr id="18" name="Group 17"/>
          <p:cNvGrpSpPr/>
          <p:nvPr/>
        </p:nvGrpSpPr>
        <p:grpSpPr>
          <a:xfrm>
            <a:off x="2895600" y="5562600"/>
            <a:ext cx="762000" cy="533401"/>
            <a:chOff x="7010400" y="4800600"/>
            <a:chExt cx="762000" cy="533401"/>
          </a:xfrm>
        </p:grpSpPr>
        <p:pic>
          <p:nvPicPr>
            <p:cNvPr id="19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7010400" y="4800600"/>
              <a:ext cx="457201" cy="457203"/>
            </a:xfrm>
            <a:prstGeom prst="rect">
              <a:avLst/>
            </a:prstGeom>
            <a:noFill/>
          </p:spPr>
        </p:pic>
        <p:pic>
          <p:nvPicPr>
            <p:cNvPr id="20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7315200" y="4876800"/>
              <a:ext cx="457200" cy="457201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Manipulate State?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Today: only control some state</a:t>
            </a:r>
          </a:p>
          <a:p>
            <a:pPr lvl="1"/>
            <a:r>
              <a:rPr lang="en-US" dirty="0" smtClean="0"/>
              <a:t>Constrains flexibility and sophistication</a:t>
            </a:r>
            <a:r>
              <a:rPr lang="en-US" sz="1400" dirty="0" smtClean="0"/>
              <a:t/>
            </a:r>
            <a:br>
              <a:rPr lang="en-US" sz="1400" dirty="0" smtClean="0"/>
            </a:br>
            <a:endParaRPr lang="en-US" sz="1400" dirty="0" smtClean="0"/>
          </a:p>
          <a:p>
            <a:r>
              <a:rPr lang="en-US" dirty="0" smtClean="0"/>
              <a:t>Manipulate all state at controller</a:t>
            </a:r>
          </a:p>
          <a:p>
            <a:pPr lvl="1"/>
            <a:r>
              <a:rPr lang="en-US" dirty="0" smtClean="0"/>
              <a:t>Removes too much functionality from middleboxes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21" name="Cube 20"/>
          <p:cNvSpPr/>
          <p:nvPr/>
        </p:nvSpPr>
        <p:spPr>
          <a:xfrm>
            <a:off x="4648200" y="44196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ube 22"/>
          <p:cNvSpPr/>
          <p:nvPr/>
        </p:nvSpPr>
        <p:spPr>
          <a:xfrm>
            <a:off x="4038600" y="4419600"/>
            <a:ext cx="381000" cy="381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/>
          <p:cNvSpPr/>
          <p:nvPr/>
        </p:nvSpPr>
        <p:spPr>
          <a:xfrm>
            <a:off x="2438400" y="5638800"/>
            <a:ext cx="195943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3004457" y="5638800"/>
            <a:ext cx="195943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667 0.00555 L 0.15833 -0.17761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" y="-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2.12766E-6 L 0.00417 0.12766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44218E-6 L 0.06441 -2.44218E-6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3 -2.44218E-6 L 0.00243 -0.18871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2.12766E-6 L 0.00417 0.12766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441 -2.44218E-6 L 0.30607 -2.44218E-6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1" grpId="0" animBg="1"/>
      <p:bldP spid="21" grpId="1" animBg="1"/>
      <p:bldP spid="23" grpId="0" animBg="1"/>
      <p:bldP spid="23" grpId="1" animBg="1"/>
      <p:bldP spid="44" grpId="0" animBg="1"/>
      <p:bldP spid="44" grpId="1" animBg="1"/>
      <p:bldP spid="44" grpId="2" animBg="1"/>
      <p:bldP spid="44" grpId="3" animBg="1"/>
      <p:bldP spid="45" grpId="0" animBg="1"/>
      <p:bldP spid="45" grpId="1" animBg="1"/>
      <p:bldP spid="45" grpId="2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 Manipulation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62400"/>
            <a:ext cx="8229600" cy="2163763"/>
          </a:xfrm>
        </p:spPr>
        <p:txBody>
          <a:bodyPr>
            <a:normAutofit/>
          </a:bodyPr>
          <a:lstStyle/>
          <a:p>
            <a:r>
              <a:rPr lang="en-US" dirty="0" smtClean="0"/>
              <a:t>Control over state placement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Broad operations interface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Expose state-related events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44" name="Group 20"/>
          <p:cNvGrpSpPr/>
          <p:nvPr/>
        </p:nvGrpSpPr>
        <p:grpSpPr>
          <a:xfrm>
            <a:off x="2286000" y="1524000"/>
            <a:ext cx="2743200" cy="685800"/>
            <a:chOff x="3733800" y="2133600"/>
            <a:chExt cx="2743200" cy="685800"/>
          </a:xfrm>
        </p:grpSpPr>
        <p:sp>
          <p:nvSpPr>
            <p:cNvPr id="51" name="Rounded Rectangle 15"/>
            <p:cNvSpPr/>
            <p:nvPr/>
          </p:nvSpPr>
          <p:spPr>
            <a:xfrm>
              <a:off x="3733800" y="2133600"/>
              <a:ext cx="2743200" cy="685800"/>
            </a:xfrm>
            <a:prstGeom prst="round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733800" y="2209800"/>
              <a:ext cx="2667000" cy="43088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200" b="1" dirty="0" smtClean="0">
                  <a:solidFill>
                    <a:schemeClr val="accent6"/>
                  </a:solidFill>
                </a:rPr>
                <a:t>Controller</a:t>
              </a:r>
              <a:endParaRPr lang="en-US" sz="2200" b="1" dirty="0">
                <a:solidFill>
                  <a:schemeClr val="accent6"/>
                </a:solidFill>
              </a:endParaRPr>
            </a:p>
          </p:txBody>
        </p:sp>
      </p:grpSp>
      <p:pic>
        <p:nvPicPr>
          <p:cNvPr id="43" name="Picture 38" descr="C:\Users\agember\AppData\Local\Microsoft\Windows\Temporary Internet Files\Content.IE5\02TZN55D\MC900434742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57600" y="1600200"/>
            <a:ext cx="533400" cy="533402"/>
          </a:xfrm>
          <a:prstGeom prst="rect">
            <a:avLst/>
          </a:prstGeom>
          <a:noFill/>
        </p:spPr>
      </p:pic>
      <p:grpSp>
        <p:nvGrpSpPr>
          <p:cNvPr id="68" name="Group 67"/>
          <p:cNvGrpSpPr/>
          <p:nvPr/>
        </p:nvGrpSpPr>
        <p:grpSpPr>
          <a:xfrm>
            <a:off x="838200" y="2514600"/>
            <a:ext cx="2743200" cy="1066800"/>
            <a:chOff x="1219200" y="2362200"/>
            <a:chExt cx="2743200" cy="1066800"/>
          </a:xfrm>
        </p:grpSpPr>
        <p:grpSp>
          <p:nvGrpSpPr>
            <p:cNvPr id="46" name="Group 24"/>
            <p:cNvGrpSpPr/>
            <p:nvPr/>
          </p:nvGrpSpPr>
          <p:grpSpPr>
            <a:xfrm>
              <a:off x="1219200" y="2362200"/>
              <a:ext cx="2743200" cy="1066800"/>
              <a:chOff x="4114800" y="3505200"/>
              <a:chExt cx="2743200" cy="1066800"/>
            </a:xfrm>
          </p:grpSpPr>
          <p:sp>
            <p:nvSpPr>
              <p:cNvPr id="47" name="Rounded Rectangle 46"/>
              <p:cNvSpPr/>
              <p:nvPr/>
            </p:nvSpPr>
            <p:spPr>
              <a:xfrm>
                <a:off x="4114800" y="3505200"/>
                <a:ext cx="2743200" cy="1066800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48" name="TextBox 47"/>
              <p:cNvSpPr txBox="1"/>
              <p:nvPr/>
            </p:nvSpPr>
            <p:spPr>
              <a:xfrm>
                <a:off x="4495800" y="3505200"/>
                <a:ext cx="117649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 smtClean="0">
                    <a:solidFill>
                      <a:schemeClr val="accent6"/>
                    </a:solidFill>
                  </a:rPr>
                  <a:t>IPS 1</a:t>
                </a:r>
                <a:endParaRPr lang="en-US" sz="22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1600200" y="2819400"/>
              <a:ext cx="762000" cy="533401"/>
              <a:chOff x="7010400" y="4800600"/>
              <a:chExt cx="762000" cy="533401"/>
            </a:xfrm>
          </p:grpSpPr>
          <p:pic>
            <p:nvPicPr>
              <p:cNvPr id="59" name="Picture 38" descr="C:\Users\agember\AppData\Local\Microsoft\Windows\Temporary Internet Files\Content.IE5\02TZN55D\MC900434742[1]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7010400" y="4800600"/>
                <a:ext cx="457201" cy="457203"/>
              </a:xfrm>
              <a:prstGeom prst="rect">
                <a:avLst/>
              </a:prstGeom>
              <a:noFill/>
            </p:spPr>
          </p:pic>
          <p:pic>
            <p:nvPicPr>
              <p:cNvPr id="60" name="Picture 38" descr="C:\Users\agember\AppData\Local\Microsoft\Windows\Temporary Internet Files\Content.IE5\02TZN55D\MC900434742[1]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7315200" y="4876800"/>
                <a:ext cx="457200" cy="457201"/>
              </a:xfrm>
              <a:prstGeom prst="rect">
                <a:avLst/>
              </a:prstGeom>
              <a:noFill/>
            </p:spPr>
          </p:pic>
        </p:grpSp>
      </p:grpSp>
      <p:grpSp>
        <p:nvGrpSpPr>
          <p:cNvPr id="69" name="Group 68"/>
          <p:cNvGrpSpPr/>
          <p:nvPr/>
        </p:nvGrpSpPr>
        <p:grpSpPr>
          <a:xfrm>
            <a:off x="3886200" y="2514600"/>
            <a:ext cx="2743200" cy="1066800"/>
            <a:chOff x="1219200" y="2362200"/>
            <a:chExt cx="2743200" cy="1066800"/>
          </a:xfrm>
        </p:grpSpPr>
        <p:grpSp>
          <p:nvGrpSpPr>
            <p:cNvPr id="70" name="Group 24"/>
            <p:cNvGrpSpPr/>
            <p:nvPr/>
          </p:nvGrpSpPr>
          <p:grpSpPr>
            <a:xfrm>
              <a:off x="1219200" y="2362200"/>
              <a:ext cx="2743200" cy="1066800"/>
              <a:chOff x="4114800" y="3505200"/>
              <a:chExt cx="2743200" cy="1066800"/>
            </a:xfrm>
          </p:grpSpPr>
          <p:sp>
            <p:nvSpPr>
              <p:cNvPr id="74" name="Rounded Rectangle 73"/>
              <p:cNvSpPr/>
              <p:nvPr/>
            </p:nvSpPr>
            <p:spPr>
              <a:xfrm>
                <a:off x="4114800" y="3505200"/>
                <a:ext cx="2743200" cy="1066800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75" name="TextBox 74"/>
              <p:cNvSpPr txBox="1"/>
              <p:nvPr/>
            </p:nvSpPr>
            <p:spPr>
              <a:xfrm>
                <a:off x="4495800" y="3505200"/>
                <a:ext cx="117649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 smtClean="0">
                    <a:solidFill>
                      <a:schemeClr val="accent6"/>
                    </a:solidFill>
                  </a:rPr>
                  <a:t>IPS 2</a:t>
                </a:r>
                <a:endParaRPr lang="en-US" sz="2200" b="1" dirty="0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71" name="Group 57"/>
            <p:cNvGrpSpPr/>
            <p:nvPr/>
          </p:nvGrpSpPr>
          <p:grpSpPr>
            <a:xfrm>
              <a:off x="1600200" y="2819400"/>
              <a:ext cx="762000" cy="533401"/>
              <a:chOff x="7010400" y="4800600"/>
              <a:chExt cx="762000" cy="533401"/>
            </a:xfrm>
          </p:grpSpPr>
          <p:pic>
            <p:nvPicPr>
              <p:cNvPr id="72" name="Picture 38" descr="C:\Users\agember\AppData\Local\Microsoft\Windows\Temporary Internet Files\Content.IE5\02TZN55D\MC900434742[1]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7010400" y="4800600"/>
                <a:ext cx="457201" cy="457203"/>
              </a:xfrm>
              <a:prstGeom prst="rect">
                <a:avLst/>
              </a:prstGeom>
              <a:noFill/>
            </p:spPr>
          </p:pic>
          <p:pic>
            <p:nvPicPr>
              <p:cNvPr id="73" name="Picture 38" descr="C:\Users\agember\AppData\Local\Microsoft\Windows\Temporary Internet Files\Content.IE5\02TZN55D\MC900434742[1].png"/>
              <p:cNvPicPr>
                <a:picLocks noChangeAspect="1" noChangeArrowheads="1"/>
              </p:cNvPicPr>
              <p:nvPr/>
            </p:nvPicPr>
            <p:blipFill>
              <a:blip r:embed="rId4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7315200" y="4876800"/>
                <a:ext cx="457200" cy="457201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76" name="TextBox 75"/>
          <p:cNvSpPr txBox="1"/>
          <p:nvPr/>
        </p:nvSpPr>
        <p:spPr>
          <a:xfrm>
            <a:off x="6870828" y="2667000"/>
            <a:ext cx="1750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Create and </a:t>
            </a:r>
          </a:p>
          <a:p>
            <a:r>
              <a:rPr lang="en-US" sz="2400" dirty="0" smtClean="0"/>
              <a:t>update state</a:t>
            </a:r>
            <a:endParaRPr lang="en-US" sz="2400" dirty="0"/>
          </a:p>
        </p:txBody>
      </p:sp>
      <p:sp>
        <p:nvSpPr>
          <p:cNvPr id="77" name="TextBox 76"/>
          <p:cNvSpPr txBox="1"/>
          <p:nvPr/>
        </p:nvSpPr>
        <p:spPr>
          <a:xfrm>
            <a:off x="5334000" y="1371600"/>
            <a:ext cx="23797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Determine where</a:t>
            </a:r>
            <a:br>
              <a:rPr lang="en-US" sz="2400" dirty="0" smtClean="0"/>
            </a:br>
            <a:r>
              <a:rPr lang="en-US" sz="2400" dirty="0" smtClean="0"/>
              <a:t>state resides</a:t>
            </a:r>
            <a:endParaRPr lang="en-US" sz="2400" dirty="0"/>
          </a:p>
        </p:txBody>
      </p:sp>
      <p:grpSp>
        <p:nvGrpSpPr>
          <p:cNvPr id="83" name="Group 82"/>
          <p:cNvGrpSpPr/>
          <p:nvPr/>
        </p:nvGrpSpPr>
        <p:grpSpPr>
          <a:xfrm>
            <a:off x="914400" y="2590800"/>
            <a:ext cx="381000" cy="381000"/>
            <a:chOff x="609600" y="1609796"/>
            <a:chExt cx="381000" cy="381000"/>
          </a:xfrm>
        </p:grpSpPr>
        <p:pic>
          <p:nvPicPr>
            <p:cNvPr id="81" name="Picture 80" descr="magnifying_gla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1609796"/>
              <a:ext cx="381000" cy="381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2" name="Picture 2" descr="C:\Users\agember\AppData\Local\Microsoft\Windows\Temporary Internet Files\Content.IE5\2DGPU1UI\MC90043159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09600" y="1752600"/>
              <a:ext cx="238125" cy="238125"/>
            </a:xfrm>
            <a:prstGeom prst="rect">
              <a:avLst/>
            </a:prstGeom>
            <a:noFill/>
          </p:spPr>
        </p:pic>
      </p:grpSp>
      <p:grpSp>
        <p:nvGrpSpPr>
          <p:cNvPr id="84" name="Group 83"/>
          <p:cNvGrpSpPr/>
          <p:nvPr/>
        </p:nvGrpSpPr>
        <p:grpSpPr>
          <a:xfrm>
            <a:off x="3962400" y="2590800"/>
            <a:ext cx="381000" cy="381000"/>
            <a:chOff x="609600" y="1609796"/>
            <a:chExt cx="381000" cy="381000"/>
          </a:xfrm>
        </p:grpSpPr>
        <p:pic>
          <p:nvPicPr>
            <p:cNvPr id="85" name="Picture 84" descr="magnifying_gla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9600" y="1609796"/>
              <a:ext cx="381000" cy="38100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6" name="Picture 2" descr="C:\Users\agember\AppData\Local\Microsoft\Windows\Temporary Internet Files\Content.IE5\2DGPU1UI\MC900431599[1]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609600" y="1752600"/>
              <a:ext cx="238125" cy="238125"/>
            </a:xfrm>
            <a:prstGeom prst="rect">
              <a:avLst/>
            </a:prstGeom>
            <a:noFill/>
          </p:spPr>
        </p:pic>
      </p:grpSp>
      <p:sp>
        <p:nvSpPr>
          <p:cNvPr id="88" name="Double Wave 87"/>
          <p:cNvSpPr/>
          <p:nvPr/>
        </p:nvSpPr>
        <p:spPr>
          <a:xfrm>
            <a:off x="914400" y="2362200"/>
            <a:ext cx="2590800" cy="152400"/>
          </a:xfrm>
          <a:prstGeom prst="double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Double Wave 88"/>
          <p:cNvSpPr/>
          <p:nvPr/>
        </p:nvSpPr>
        <p:spPr>
          <a:xfrm>
            <a:off x="3962400" y="2362200"/>
            <a:ext cx="2590800" cy="152400"/>
          </a:xfrm>
          <a:prstGeom prst="double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Cube 60"/>
          <p:cNvSpPr/>
          <p:nvPr/>
        </p:nvSpPr>
        <p:spPr>
          <a:xfrm>
            <a:off x="2971800" y="27813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Cube 61"/>
          <p:cNvSpPr/>
          <p:nvPr/>
        </p:nvSpPr>
        <p:spPr>
          <a:xfrm>
            <a:off x="3810000" y="1685925"/>
            <a:ext cx="381000" cy="381000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Cube 79"/>
          <p:cNvSpPr/>
          <p:nvPr/>
        </p:nvSpPr>
        <p:spPr>
          <a:xfrm>
            <a:off x="6019800" y="2752725"/>
            <a:ext cx="381000" cy="381000"/>
          </a:xfrm>
          <a:prstGeom prst="cube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762000" y="3048000"/>
            <a:ext cx="195943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3810000" y="2971800"/>
            <a:ext cx="195943" cy="4572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/>
          <p:cNvGrpSpPr/>
          <p:nvPr/>
        </p:nvGrpSpPr>
        <p:grpSpPr>
          <a:xfrm>
            <a:off x="1828800" y="2667000"/>
            <a:ext cx="533400" cy="685801"/>
            <a:chOff x="1828800" y="2667000"/>
            <a:chExt cx="533400" cy="685801"/>
          </a:xfrm>
        </p:grpSpPr>
        <p:pic>
          <p:nvPicPr>
            <p:cNvPr id="41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828800" y="2819400"/>
              <a:ext cx="533400" cy="533401"/>
            </a:xfrm>
            <a:prstGeom prst="rect">
              <a:avLst/>
            </a:prstGeom>
            <a:noFill/>
          </p:spPr>
        </p:pic>
        <p:sp>
          <p:nvSpPr>
            <p:cNvPr id="49" name="Down Arrow 48"/>
            <p:cNvSpPr/>
            <p:nvPr/>
          </p:nvSpPr>
          <p:spPr>
            <a:xfrm flipV="1">
              <a:off x="1981200" y="2667000"/>
              <a:ext cx="243840" cy="304800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4876800" y="2667000"/>
            <a:ext cx="533400" cy="685801"/>
            <a:chOff x="1828800" y="2667000"/>
            <a:chExt cx="533400" cy="685801"/>
          </a:xfrm>
        </p:grpSpPr>
        <p:pic>
          <p:nvPicPr>
            <p:cNvPr id="53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828800" y="2819400"/>
              <a:ext cx="533400" cy="533401"/>
            </a:xfrm>
            <a:prstGeom prst="rect">
              <a:avLst/>
            </a:prstGeom>
            <a:noFill/>
          </p:spPr>
        </p:pic>
        <p:sp>
          <p:nvSpPr>
            <p:cNvPr id="54" name="Down Arrow 53"/>
            <p:cNvSpPr/>
            <p:nvPr/>
          </p:nvSpPr>
          <p:spPr>
            <a:xfrm flipV="1">
              <a:off x="1981200" y="2667000"/>
              <a:ext cx="243840" cy="304800"/>
            </a:xfrm>
            <a:prstGeom prst="downArrow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13506E-6 L 0.29774 -4.13506E-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13506E-6 L 0.29774 -4.13506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9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2.22222E-6 L -0.15417 0.16111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7" y="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16 -0.00556 L 0.14167 -0.16667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" y="-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67 -0.16667 L 0.27917 -0.00556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6" grpId="0"/>
      <p:bldP spid="77" grpId="0"/>
      <p:bldP spid="88" grpId="0" animBg="1"/>
      <p:bldP spid="89" grpId="0" animBg="1"/>
      <p:bldP spid="61" grpId="0" animBg="1"/>
      <p:bldP spid="61" grpId="1" animBg="1"/>
      <p:bldP spid="61" grpId="2" animBg="1"/>
      <p:bldP spid="62" grpId="0" animBg="1"/>
      <p:bldP spid="62" grpId="1" animBg="1"/>
      <p:bldP spid="80" grpId="0" animBg="1"/>
      <p:bldP spid="63" grpId="0" animBg="1"/>
      <p:bldP spid="63" grpId="1" animBg="1"/>
      <p:bldP spid="63" grpId="3" animBg="1"/>
      <p:bldP spid="79" grpId="0" animBg="1"/>
      <p:bldP spid="79" grpId="1" animBg="1"/>
      <p:bldP spid="79" grpId="2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4800600" y="1447800"/>
            <a:ext cx="3886200" cy="2743200"/>
            <a:chOff x="4800600" y="1447800"/>
            <a:chExt cx="3886200" cy="2743200"/>
          </a:xfrm>
        </p:grpSpPr>
        <p:grpSp>
          <p:nvGrpSpPr>
            <p:cNvPr id="23" name="Group 22"/>
            <p:cNvGrpSpPr/>
            <p:nvPr/>
          </p:nvGrpSpPr>
          <p:grpSpPr>
            <a:xfrm>
              <a:off x="5715000" y="1447800"/>
              <a:ext cx="2971800" cy="838200"/>
              <a:chOff x="5791200" y="1295400"/>
              <a:chExt cx="2971800" cy="9906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7924800" y="1295400"/>
                <a:ext cx="838200" cy="9906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C00000"/>
                    </a:solidFill>
                  </a:rPr>
                  <a:t>Action</a:t>
                </a:r>
              </a:p>
              <a:p>
                <a:pPr algn="ctr">
                  <a:spcBef>
                    <a:spcPts val="1200"/>
                  </a:spcBef>
                </a:pPr>
                <a:r>
                  <a:rPr lang="en-US" sz="2400" dirty="0" smtClean="0"/>
                  <a:t>*</a:t>
                </a:r>
                <a:endParaRPr lang="en-US" sz="2400" dirty="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791200" y="1295400"/>
                <a:ext cx="2133600" cy="9906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 smtClean="0">
                    <a:solidFill>
                      <a:srgbClr val="C00000"/>
                    </a:solidFill>
                  </a:rPr>
                  <a:t>Key</a:t>
                </a:r>
              </a:p>
              <a:p>
                <a:r>
                  <a:rPr lang="en-US" dirty="0" err="1" smtClean="0"/>
                  <a:t>SrcIP</a:t>
                </a:r>
                <a:r>
                  <a:rPr lang="en-US" dirty="0" smtClean="0"/>
                  <a:t> = 10.10.0.0/16</a:t>
                </a:r>
              </a:p>
              <a:p>
                <a:r>
                  <a:rPr lang="en-US" dirty="0" err="1" smtClean="0"/>
                  <a:t>DPort</a:t>
                </a:r>
                <a:r>
                  <a:rPr lang="en-US" dirty="0" smtClean="0"/>
                  <a:t> = 22</a:t>
                </a:r>
                <a:endParaRPr lang="en-US" dirty="0"/>
              </a:p>
            </p:txBody>
          </p:sp>
        </p:grpSp>
        <p:cxnSp>
          <p:nvCxnSpPr>
            <p:cNvPr id="25" name="Straight Arrow Connector 24"/>
            <p:cNvCxnSpPr/>
            <p:nvPr/>
          </p:nvCxnSpPr>
          <p:spPr>
            <a:xfrm>
              <a:off x="4800600" y="1828800"/>
              <a:ext cx="6096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4800600" y="2044988"/>
              <a:ext cx="533400" cy="39341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/>
            <p:cNvGrpSpPr/>
            <p:nvPr/>
          </p:nvGrpSpPr>
          <p:grpSpPr>
            <a:xfrm>
              <a:off x="5105400" y="2743200"/>
              <a:ext cx="3429000" cy="1447800"/>
              <a:chOff x="5105400" y="2743200"/>
              <a:chExt cx="3429000" cy="14478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7239000" y="2743200"/>
                <a:ext cx="1295400" cy="1447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5105400" y="2743200"/>
                <a:ext cx="2133600" cy="14478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 smtClean="0">
                    <a:solidFill>
                      <a:srgbClr val="C00000"/>
                    </a:solidFill>
                  </a:rPr>
                  <a:t>Key</a:t>
                </a:r>
              </a:p>
              <a:p>
                <a:r>
                  <a:rPr lang="en-US" dirty="0" err="1" smtClean="0"/>
                  <a:t>SrcIP</a:t>
                </a:r>
                <a:r>
                  <a:rPr lang="en-US" dirty="0" smtClean="0"/>
                  <a:t> = 10.10.54.41</a:t>
                </a:r>
              </a:p>
              <a:p>
                <a:r>
                  <a:rPr lang="en-US" dirty="0" err="1" smtClean="0"/>
                  <a:t>DstIP</a:t>
                </a:r>
                <a:r>
                  <a:rPr lang="en-US" dirty="0" smtClean="0"/>
                  <a:t> = 10.20.1.23</a:t>
                </a:r>
              </a:p>
              <a:p>
                <a:r>
                  <a:rPr lang="en-US" dirty="0" err="1" smtClean="0"/>
                  <a:t>SPort</a:t>
                </a:r>
                <a:r>
                  <a:rPr lang="en-US" dirty="0" smtClean="0"/>
                  <a:t> = 12983</a:t>
                </a:r>
              </a:p>
              <a:p>
                <a:r>
                  <a:rPr lang="en-US" dirty="0" err="1" smtClean="0"/>
                  <a:t>DPort</a:t>
                </a:r>
                <a:r>
                  <a:rPr lang="en-US" dirty="0" smtClean="0"/>
                  <a:t> = 22</a:t>
                </a:r>
                <a:endParaRPr lang="en-US" dirty="0"/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7315201" y="3200400"/>
                <a:ext cx="1219199" cy="762000"/>
                <a:chOff x="7848600" y="3200400"/>
                <a:chExt cx="909801" cy="762000"/>
              </a:xfrm>
            </p:grpSpPr>
            <p:sp>
              <p:nvSpPr>
                <p:cNvPr id="17" name="Cloud 16"/>
                <p:cNvSpPr/>
                <p:nvPr/>
              </p:nvSpPr>
              <p:spPr>
                <a:xfrm>
                  <a:off x="7848600" y="3200400"/>
                  <a:ext cx="838200" cy="762000"/>
                </a:xfrm>
                <a:prstGeom prst="cloud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7848600" y="3239869"/>
                  <a:ext cx="909801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 smtClean="0"/>
                    <a:t>State = </a:t>
                  </a:r>
                  <a:br>
                    <a:rPr lang="en-US" dirty="0" smtClean="0"/>
                  </a:br>
                  <a:r>
                    <a:rPr lang="en-US" dirty="0" smtClean="0"/>
                    <a:t>ESTAB   </a:t>
                  </a:r>
                  <a:endParaRPr lang="en-US" dirty="0"/>
                </a:p>
              </p:txBody>
            </p:sp>
          </p:grpSp>
          <p:sp>
            <p:nvSpPr>
              <p:cNvPr id="40" name="Rectangle 39"/>
              <p:cNvSpPr/>
              <p:nvPr/>
            </p:nvSpPr>
            <p:spPr>
              <a:xfrm>
                <a:off x="7239000" y="2743200"/>
                <a:ext cx="12954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b="1" dirty="0" smtClean="0">
                    <a:solidFill>
                      <a:srgbClr val="C00000"/>
                    </a:solidFill>
                  </a:rPr>
                  <a:t>Supporting</a:t>
                </a: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Operations Interface</a:t>
            </a:r>
            <a:endParaRPr lang="en-US" dirty="0"/>
          </a:p>
        </p:txBody>
      </p:sp>
      <p:grpSp>
        <p:nvGrpSpPr>
          <p:cNvPr id="35" name="Group 34"/>
          <p:cNvGrpSpPr/>
          <p:nvPr/>
        </p:nvGrpSpPr>
        <p:grpSpPr>
          <a:xfrm>
            <a:off x="457200" y="1524000"/>
            <a:ext cx="4343400" cy="838200"/>
            <a:chOff x="533400" y="1371600"/>
            <a:chExt cx="4343400" cy="838200"/>
          </a:xfrm>
        </p:grpSpPr>
        <p:sp>
          <p:nvSpPr>
            <p:cNvPr id="5" name="TextBox 4"/>
            <p:cNvSpPr txBox="1"/>
            <p:nvPr/>
          </p:nvSpPr>
          <p:spPr>
            <a:xfrm>
              <a:off x="533400" y="1524000"/>
              <a:ext cx="4343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get </a:t>
              </a:r>
              <a:r>
                <a:rPr lang="en-US" sz="3200" b="1" dirty="0" smtClean="0"/>
                <a:t>(                        ,          )</a:t>
              </a:r>
              <a:endParaRPr lang="en-US" sz="3200" b="1" dirty="0"/>
            </a:p>
          </p:txBody>
        </p:sp>
        <p:pic>
          <p:nvPicPr>
            <p:cNvPr id="6" name="Picture 5" descr="firewall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0" y="1371600"/>
              <a:ext cx="838200" cy="8382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447800" y="1487269"/>
              <a:ext cx="1971822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</a:rPr>
                <a:t>Filter</a:t>
              </a:r>
            </a:p>
            <a:p>
              <a:r>
                <a:rPr lang="en-US" dirty="0" err="1" smtClean="0"/>
                <a:t>SrcIP</a:t>
              </a:r>
              <a:r>
                <a:rPr lang="en-US" dirty="0" smtClean="0"/>
                <a:t> = 10.10.54.41</a:t>
              </a:r>
              <a:endParaRPr lang="en-US" dirty="0"/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457200" y="3449320"/>
            <a:ext cx="6096000" cy="838200"/>
            <a:chOff x="609600" y="5715000"/>
            <a:chExt cx="6096000" cy="838200"/>
          </a:xfrm>
        </p:grpSpPr>
        <p:sp>
          <p:nvSpPr>
            <p:cNvPr id="38" name="TextBox 37"/>
            <p:cNvSpPr txBox="1"/>
            <p:nvPr/>
          </p:nvSpPr>
          <p:spPr>
            <a:xfrm>
              <a:off x="609600" y="5791200"/>
              <a:ext cx="6096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add </a:t>
              </a:r>
              <a:r>
                <a:rPr lang="en-US" sz="3200" b="1" dirty="0" smtClean="0"/>
                <a:t>(                                    ,          )</a:t>
              </a:r>
              <a:endParaRPr lang="en-US" sz="3200" b="1" dirty="0"/>
            </a:p>
          </p:txBody>
        </p:sp>
        <p:pic>
          <p:nvPicPr>
            <p:cNvPr id="39" name="Picture 38" descr="firewall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29200" y="5715000"/>
              <a:ext cx="838200" cy="838200"/>
            </a:xfrm>
            <a:prstGeom prst="rect">
              <a:avLst/>
            </a:prstGeom>
          </p:spPr>
        </p:pic>
        <p:grpSp>
          <p:nvGrpSpPr>
            <p:cNvPr id="42" name="Group 22"/>
            <p:cNvGrpSpPr/>
            <p:nvPr/>
          </p:nvGrpSpPr>
          <p:grpSpPr>
            <a:xfrm>
              <a:off x="1600200" y="5791200"/>
              <a:ext cx="3124200" cy="609600"/>
              <a:chOff x="5791200" y="1295400"/>
              <a:chExt cx="3124200" cy="99060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7924800" y="1295400"/>
                <a:ext cx="990600" cy="9906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smtClean="0">
                    <a:solidFill>
                      <a:srgbClr val="C00000"/>
                    </a:solidFill>
                  </a:rPr>
                  <a:t>Action</a:t>
                </a:r>
              </a:p>
              <a:p>
                <a:pPr algn="ctr"/>
                <a:r>
                  <a:rPr lang="en-US" dirty="0" smtClean="0"/>
                  <a:t>DROP</a:t>
                </a:r>
                <a:endParaRPr lang="en-US" dirty="0"/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5791200" y="1295400"/>
                <a:ext cx="2133600" cy="99060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 smtClean="0">
                    <a:solidFill>
                      <a:srgbClr val="C00000"/>
                    </a:solidFill>
                  </a:rPr>
                  <a:t>Key</a:t>
                </a:r>
              </a:p>
              <a:p>
                <a:r>
                  <a:rPr lang="en-US" dirty="0" err="1" smtClean="0"/>
                  <a:t>DstIP</a:t>
                </a:r>
                <a:r>
                  <a:rPr lang="en-US" dirty="0" smtClean="0"/>
                  <a:t> = 10.20.1.0/24</a:t>
                </a:r>
              </a:p>
            </p:txBody>
          </p:sp>
        </p:grpSp>
      </p:grp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3962400" y="4516120"/>
          <a:ext cx="4648200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4400"/>
                <a:gridCol w="1371600"/>
                <a:gridCol w="762000"/>
                <a:gridCol w="762000"/>
                <a:gridCol w="8382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Source</a:t>
                      </a:r>
                      <a:endParaRPr lang="en-US" sz="1800" b="1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Destination</a:t>
                      </a:r>
                      <a:endParaRPr lang="en-US" sz="1800" b="1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Proto</a:t>
                      </a:r>
                      <a:endParaRPr lang="en-US" sz="1800" b="1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Other</a:t>
                      </a:r>
                      <a:endParaRPr lang="en-US" sz="1800" b="1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/>
                        <a:t>Action</a:t>
                      </a:r>
                      <a:endParaRPr lang="en-US" sz="1800" b="1" dirty="0"/>
                    </a:p>
                  </a:txBody>
                  <a:tcPr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*</a:t>
                      </a:r>
                      <a:endParaRPr lang="en-US" sz="1800" b="0" i="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10.20.1.0/24</a:t>
                      </a:r>
                      <a:endParaRPr lang="en-US" sz="18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TCP</a:t>
                      </a:r>
                      <a:endParaRPr lang="en-US" sz="18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*</a:t>
                      </a:r>
                      <a:endParaRPr lang="en-US" sz="18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DROP</a:t>
                      </a:r>
                      <a:endParaRPr lang="en-US" sz="1800" dirty="0"/>
                    </a:p>
                  </a:txBody>
                  <a:tcP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cxnSp>
        <p:nvCxnSpPr>
          <p:cNvPr id="62" name="Straight Arrow Connector 61"/>
          <p:cNvCxnSpPr/>
          <p:nvPr/>
        </p:nvCxnSpPr>
        <p:spPr>
          <a:xfrm>
            <a:off x="3200400" y="4287520"/>
            <a:ext cx="533400" cy="39341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63" name="Group 62"/>
          <p:cNvGrpSpPr/>
          <p:nvPr/>
        </p:nvGrpSpPr>
        <p:grpSpPr>
          <a:xfrm>
            <a:off x="533400" y="5105400"/>
            <a:ext cx="3733800" cy="838200"/>
            <a:chOff x="533400" y="1371600"/>
            <a:chExt cx="3733800" cy="838200"/>
          </a:xfrm>
        </p:grpSpPr>
        <p:sp>
          <p:nvSpPr>
            <p:cNvPr id="64" name="TextBox 63"/>
            <p:cNvSpPr txBox="1"/>
            <p:nvPr/>
          </p:nvSpPr>
          <p:spPr>
            <a:xfrm>
              <a:off x="533400" y="1524000"/>
              <a:ext cx="3733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remove</a:t>
              </a:r>
              <a:r>
                <a:rPr lang="en-US" sz="3200" b="1" dirty="0" smtClean="0"/>
                <a:t>(          ,          )</a:t>
              </a:r>
              <a:endParaRPr lang="en-US" sz="3200" b="1" dirty="0"/>
            </a:p>
          </p:txBody>
        </p:sp>
        <p:pic>
          <p:nvPicPr>
            <p:cNvPr id="65" name="Picture 64" descr="firewall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4200" y="1371600"/>
              <a:ext cx="838200" cy="838200"/>
            </a:xfrm>
            <a:prstGeom prst="rect">
              <a:avLst/>
            </a:prstGeom>
          </p:spPr>
        </p:pic>
        <p:sp>
          <p:nvSpPr>
            <p:cNvPr id="66" name="TextBox 65"/>
            <p:cNvSpPr txBox="1"/>
            <p:nvPr/>
          </p:nvSpPr>
          <p:spPr>
            <a:xfrm>
              <a:off x="2142227" y="1487269"/>
              <a:ext cx="677173" cy="6463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b="1" dirty="0" smtClean="0"/>
                <a:t>Filter</a:t>
              </a:r>
            </a:p>
            <a:p>
              <a:r>
                <a:rPr lang="en-US" dirty="0" smtClean="0"/>
                <a:t>…</a:t>
              </a:r>
              <a:endParaRPr lang="en-US" dirty="0"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0" y="1295400"/>
            <a:ext cx="9144000" cy="5562600"/>
            <a:chOff x="0" y="1295400"/>
            <a:chExt cx="9144000" cy="5562600"/>
          </a:xfrm>
        </p:grpSpPr>
        <p:sp>
          <p:nvSpPr>
            <p:cNvPr id="70" name="Rectangle 69"/>
            <p:cNvSpPr/>
            <p:nvPr/>
          </p:nvSpPr>
          <p:spPr>
            <a:xfrm>
              <a:off x="0" y="1295400"/>
              <a:ext cx="9144000" cy="5562600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Content Placeholder 2"/>
            <p:cNvSpPr txBox="1">
              <a:spLocks/>
            </p:cNvSpPr>
            <p:nvPr/>
          </p:nvSpPr>
          <p:spPr>
            <a:xfrm>
              <a:off x="685800" y="3505200"/>
              <a:ext cx="7772400" cy="10668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lIns="91440" tIns="45720" rIns="91440" bIns="45720" rtlCol="0">
              <a:noAutofit/>
            </a:bodyPr>
            <a:lstStyle/>
            <a:p>
              <a:pPr marL="463550" indent="-463550">
                <a:buFont typeface="Arial" pitchFamily="34" charset="0"/>
                <a:buChar char="•"/>
              </a:pPr>
              <a:r>
                <a:rPr lang="en-US" sz="3200" dirty="0" smtClean="0"/>
                <a:t>Need atomic blocks of operations</a:t>
              </a:r>
            </a:p>
            <a:p>
              <a:pPr marL="463550" indent="-463550">
                <a:buFont typeface="Arial" pitchFamily="34" charset="0"/>
                <a:buChar char="•"/>
              </a:pPr>
              <a:r>
                <a:rPr lang="en-US" sz="3200" dirty="0" smtClean="0"/>
                <a:t>Potential for invalid manipulations of state</a:t>
              </a:r>
            </a:p>
          </p:txBody>
        </p:sp>
      </p:grp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838200" y="2667000"/>
            <a:ext cx="3276600" cy="1371600"/>
            <a:chOff x="838200" y="2514600"/>
            <a:chExt cx="3276600" cy="1371600"/>
          </a:xfrm>
        </p:grpSpPr>
        <p:grpSp>
          <p:nvGrpSpPr>
            <p:cNvPr id="45" name="Group 24"/>
            <p:cNvGrpSpPr/>
            <p:nvPr/>
          </p:nvGrpSpPr>
          <p:grpSpPr>
            <a:xfrm>
              <a:off x="838200" y="2514600"/>
              <a:ext cx="3276600" cy="1371600"/>
              <a:chOff x="4114800" y="3505200"/>
              <a:chExt cx="3276600" cy="1371600"/>
            </a:xfrm>
          </p:grpSpPr>
          <p:sp>
            <p:nvSpPr>
              <p:cNvPr id="49" name="Rounded Rectangle 48"/>
              <p:cNvSpPr/>
              <p:nvPr/>
            </p:nvSpPr>
            <p:spPr>
              <a:xfrm>
                <a:off x="4114800" y="3505200"/>
                <a:ext cx="3276600" cy="1371600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50" name="TextBox 49"/>
              <p:cNvSpPr txBox="1"/>
              <p:nvPr/>
            </p:nvSpPr>
            <p:spPr>
              <a:xfrm>
                <a:off x="4538510" y="3531513"/>
                <a:ext cx="117649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 smtClean="0">
                    <a:solidFill>
                      <a:schemeClr val="accent6"/>
                    </a:solidFill>
                  </a:rPr>
                  <a:t>Firewall</a:t>
                </a:r>
                <a:endParaRPr lang="en-US" sz="2200" b="1" dirty="0">
                  <a:solidFill>
                    <a:schemeClr val="accent6"/>
                  </a:solidFill>
                </a:endParaRPr>
              </a:p>
            </p:txBody>
          </p:sp>
        </p:grpSp>
        <p:pic>
          <p:nvPicPr>
            <p:cNvPr id="47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219200" y="3200399"/>
              <a:ext cx="457201" cy="457203"/>
            </a:xfrm>
            <a:prstGeom prst="rect">
              <a:avLst/>
            </a:prstGeom>
            <a:noFill/>
          </p:spPr>
        </p:pic>
        <p:pic>
          <p:nvPicPr>
            <p:cNvPr id="48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rcRect/>
            <a:stretch>
              <a:fillRect/>
            </a:stretch>
          </p:blipFill>
          <p:spPr bwMode="auto">
            <a:xfrm>
              <a:off x="1524000" y="3276599"/>
              <a:ext cx="457200" cy="457201"/>
            </a:xfrm>
            <a:prstGeom prst="rect">
              <a:avLst/>
            </a:prstGeom>
            <a:noFill/>
          </p:spPr>
        </p:pic>
        <p:pic>
          <p:nvPicPr>
            <p:cNvPr id="82" name="Picture 81" descr="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400" y="2571750"/>
              <a:ext cx="400050" cy="400050"/>
            </a:xfrm>
            <a:prstGeom prst="rect">
              <a:avLst/>
            </a:prstGeom>
          </p:spPr>
        </p:pic>
        <p:grpSp>
          <p:nvGrpSpPr>
            <p:cNvPr id="84" name="Group 83"/>
            <p:cNvGrpSpPr/>
            <p:nvPr/>
          </p:nvGrpSpPr>
          <p:grpSpPr>
            <a:xfrm>
              <a:off x="1828800" y="2895599"/>
              <a:ext cx="533400" cy="685801"/>
              <a:chOff x="1828800" y="2667000"/>
              <a:chExt cx="533400" cy="685801"/>
            </a:xfrm>
          </p:grpSpPr>
          <p:pic>
            <p:nvPicPr>
              <p:cNvPr id="85" name="Picture 38" descr="C:\Users\agember\AppData\Local\Microsoft\Windows\Temporary Internet Files\Content.IE5\02TZN55D\MC900434742[1]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828800" y="2819400"/>
                <a:ext cx="533400" cy="533401"/>
              </a:xfrm>
              <a:prstGeom prst="rect">
                <a:avLst/>
              </a:prstGeom>
              <a:noFill/>
            </p:spPr>
          </p:pic>
          <p:sp>
            <p:nvSpPr>
              <p:cNvPr id="86" name="Down Arrow 85"/>
              <p:cNvSpPr/>
              <p:nvPr/>
            </p:nvSpPr>
            <p:spPr>
              <a:xfrm flipV="1">
                <a:off x="1981200" y="2667000"/>
                <a:ext cx="243840" cy="304800"/>
              </a:xfrm>
              <a:prstGeom prst="down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Events Interface</a:t>
            </a:r>
            <a:endParaRPr lang="en-US" dirty="0"/>
          </a:p>
        </p:txBody>
      </p:sp>
      <p:sp>
        <p:nvSpPr>
          <p:cNvPr id="89" name="Content Placeholder 88"/>
          <p:cNvSpPr>
            <a:spLocks noGrp="1"/>
          </p:cNvSpPr>
          <p:nvPr>
            <p:ph sz="half" idx="2"/>
          </p:nvPr>
        </p:nvSpPr>
        <p:spPr>
          <a:xfrm>
            <a:off x="4419600" y="1600200"/>
            <a:ext cx="4267200" cy="4525963"/>
          </a:xfrm>
        </p:spPr>
        <p:txBody>
          <a:bodyPr/>
          <a:lstStyle/>
          <a:p>
            <a:r>
              <a:rPr lang="en-US" sz="3200" dirty="0" smtClean="0"/>
              <a:t>Triggers</a:t>
            </a:r>
          </a:p>
          <a:p>
            <a:pPr lvl="1"/>
            <a:r>
              <a:rPr lang="en-US" sz="2800" dirty="0" smtClean="0"/>
              <a:t>Created/updated state</a:t>
            </a:r>
          </a:p>
          <a:p>
            <a:pPr lvl="1"/>
            <a:r>
              <a:rPr lang="en-US" sz="2800" dirty="0" smtClean="0"/>
              <a:t> Require state to complete operation</a:t>
            </a:r>
          </a:p>
          <a:p>
            <a:r>
              <a:rPr lang="en-US" sz="3200" dirty="0" smtClean="0"/>
              <a:t>Contents</a:t>
            </a:r>
          </a:p>
          <a:p>
            <a:pPr lvl="1"/>
            <a:r>
              <a:rPr lang="en-US" sz="2800" dirty="0" smtClean="0"/>
              <a:t>Key</a:t>
            </a:r>
          </a:p>
          <a:p>
            <a:pPr lvl="1"/>
            <a:r>
              <a:rPr lang="en-US" sz="2800" dirty="0" smtClean="0"/>
              <a:t>Copy of packet?</a:t>
            </a:r>
          </a:p>
          <a:p>
            <a:pPr lvl="1"/>
            <a:r>
              <a:rPr lang="en-US" sz="2800" dirty="0" smtClean="0"/>
              <a:t>Copy of new state?</a:t>
            </a:r>
            <a:endParaRPr lang="en-US" sz="2800" dirty="0"/>
          </a:p>
        </p:txBody>
      </p:sp>
      <p:sp>
        <p:nvSpPr>
          <p:cNvPr id="37" name="Slide Number Placeholder 3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16</a:t>
            </a:fld>
            <a:endParaRPr lang="en-US"/>
          </a:p>
        </p:txBody>
      </p:sp>
      <p:grpSp>
        <p:nvGrpSpPr>
          <p:cNvPr id="83" name="Group 82"/>
          <p:cNvGrpSpPr/>
          <p:nvPr/>
        </p:nvGrpSpPr>
        <p:grpSpPr>
          <a:xfrm>
            <a:off x="838200" y="1600200"/>
            <a:ext cx="3276600" cy="685800"/>
            <a:chOff x="838200" y="1447800"/>
            <a:chExt cx="3276600" cy="685800"/>
          </a:xfrm>
        </p:grpSpPr>
        <p:grpSp>
          <p:nvGrpSpPr>
            <p:cNvPr id="36" name="Group 20"/>
            <p:cNvGrpSpPr/>
            <p:nvPr/>
          </p:nvGrpSpPr>
          <p:grpSpPr>
            <a:xfrm>
              <a:off x="838200" y="1447800"/>
              <a:ext cx="3276600" cy="685800"/>
              <a:chOff x="3733800" y="2133600"/>
              <a:chExt cx="3276600" cy="685800"/>
            </a:xfrm>
          </p:grpSpPr>
          <p:sp>
            <p:nvSpPr>
              <p:cNvPr id="41" name="Rounded Rectangle 15"/>
              <p:cNvSpPr/>
              <p:nvPr/>
            </p:nvSpPr>
            <p:spPr>
              <a:xfrm>
                <a:off x="3733800" y="2133600"/>
                <a:ext cx="3276600" cy="685800"/>
              </a:xfrm>
              <a:prstGeom prst="roundRect">
                <a:avLst/>
              </a:prstGeom>
              <a:noFill/>
              <a:ln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C00000"/>
                  </a:solidFill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3733800" y="2286000"/>
                <a:ext cx="266700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 smtClean="0">
                    <a:solidFill>
                      <a:schemeClr val="accent6"/>
                    </a:solidFill>
                  </a:rPr>
                  <a:t>Controller</a:t>
                </a:r>
                <a:endParaRPr lang="en-US" sz="2200" b="1" dirty="0">
                  <a:solidFill>
                    <a:schemeClr val="accent6"/>
                  </a:solidFill>
                </a:endParaRPr>
              </a:p>
            </p:txBody>
          </p:sp>
        </p:grpSp>
        <p:pic>
          <p:nvPicPr>
            <p:cNvPr id="43" name="Picture 38" descr="C:\Users\agember\AppData\Local\Microsoft\Windows\Temporary Internet Files\Content.IE5\02TZN55D\MC900434742[1].pn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2209800" y="1524000"/>
              <a:ext cx="533400" cy="533402"/>
            </a:xfrm>
            <a:prstGeom prst="rect">
              <a:avLst/>
            </a:prstGeom>
            <a:noFill/>
          </p:spPr>
        </p:pic>
      </p:grpSp>
      <p:sp>
        <p:nvSpPr>
          <p:cNvPr id="75" name="Double Wave 74"/>
          <p:cNvSpPr/>
          <p:nvPr/>
        </p:nvSpPr>
        <p:spPr>
          <a:xfrm>
            <a:off x="914400" y="2514600"/>
            <a:ext cx="3124200" cy="152400"/>
          </a:xfrm>
          <a:prstGeom prst="doubleWav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Cube 76"/>
          <p:cNvSpPr/>
          <p:nvPr/>
        </p:nvSpPr>
        <p:spPr>
          <a:xfrm>
            <a:off x="1828800" y="33528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Cube 77"/>
          <p:cNvSpPr/>
          <p:nvPr/>
        </p:nvSpPr>
        <p:spPr>
          <a:xfrm>
            <a:off x="3429000" y="1752600"/>
            <a:ext cx="381000" cy="381000"/>
          </a:xfrm>
          <a:prstGeom prst="cub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762000" y="3352800"/>
            <a:ext cx="195943" cy="4572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762000" y="3352800"/>
            <a:ext cx="195943" cy="4572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Diamond 90"/>
          <p:cNvSpPr/>
          <p:nvPr/>
        </p:nvSpPr>
        <p:spPr>
          <a:xfrm>
            <a:off x="1676400" y="3048000"/>
            <a:ext cx="838200" cy="698500"/>
          </a:xfrm>
          <a:prstGeom prst="diamon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1676400" y="3048000"/>
            <a:ext cx="838200" cy="6858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2514600" y="4953000"/>
            <a:ext cx="1676400" cy="12192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Diamond 97"/>
          <p:cNvSpPr/>
          <p:nvPr/>
        </p:nvSpPr>
        <p:spPr>
          <a:xfrm>
            <a:off x="762000" y="4343400"/>
            <a:ext cx="1828800" cy="1295400"/>
          </a:xfrm>
          <a:prstGeom prst="diamond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3276600" y="5334000"/>
            <a:ext cx="195943" cy="4572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1524000" y="4724400"/>
            <a:ext cx="195943" cy="533400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Cube 100"/>
          <p:cNvSpPr/>
          <p:nvPr/>
        </p:nvSpPr>
        <p:spPr>
          <a:xfrm>
            <a:off x="1828800" y="4800600"/>
            <a:ext cx="381000" cy="381000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70"/>
          <p:cNvGrpSpPr/>
          <p:nvPr/>
        </p:nvGrpSpPr>
        <p:grpSpPr>
          <a:xfrm>
            <a:off x="0" y="1295400"/>
            <a:ext cx="9144000" cy="5562600"/>
            <a:chOff x="0" y="1295400"/>
            <a:chExt cx="9144000" cy="5562600"/>
          </a:xfrm>
        </p:grpSpPr>
        <p:sp>
          <p:nvSpPr>
            <p:cNvPr id="70" name="Rectangle 69"/>
            <p:cNvSpPr/>
            <p:nvPr/>
          </p:nvSpPr>
          <p:spPr>
            <a:xfrm>
              <a:off x="0" y="1295400"/>
              <a:ext cx="9144000" cy="5562600"/>
            </a:xfrm>
            <a:prstGeom prst="rect">
              <a:avLst/>
            </a:prstGeom>
            <a:solidFill>
              <a:srgbClr val="FFFFFF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Content Placeholder 2"/>
            <p:cNvSpPr txBox="1">
              <a:spLocks/>
            </p:cNvSpPr>
            <p:nvPr/>
          </p:nvSpPr>
          <p:spPr>
            <a:xfrm>
              <a:off x="1524000" y="3733800"/>
              <a:ext cx="5867400" cy="609600"/>
            </a:xfrm>
            <a:prstGeom prst="rect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vert="horz" lIns="91440" tIns="45720" rIns="91440" bIns="45720" rtlCol="0">
              <a:noAutofit/>
            </a:bodyPr>
            <a:lstStyle/>
            <a:p>
              <a:pPr marL="463550" indent="-463550" algn="ctr"/>
              <a:r>
                <a:rPr lang="en-US" sz="3200" dirty="0" smtClean="0"/>
                <a:t>Balance visibility and overhead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7.40741E-7 L 0.08524 7.40741E-7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6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0.10833 -0.06667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" y="-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64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0.01111 L 2.77556E-17 -0.21111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25 0 L 0.35608 0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0 L 0.09775 0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6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3.33333E-6 -0.21111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11111E-6 L -3.33333E-6 0.17222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63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75 0 L 0.35608 0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500"/>
                            </p:stCondLst>
                            <p:childTnLst>
                              <p:par>
                                <p:cTn id="6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uiExpand="1" build="p"/>
      <p:bldP spid="77" grpId="0" animBg="1"/>
      <p:bldP spid="77" grpId="1" animBg="1"/>
      <p:bldP spid="78" grpId="0" animBg="1"/>
      <p:bldP spid="78" grpId="1" animBg="1"/>
      <p:bldP spid="80" grpId="0" animBg="1"/>
      <p:bldP spid="80" grpId="1" animBg="1"/>
      <p:bldP spid="80" grpId="2" animBg="1"/>
      <p:bldP spid="80" grpId="3" animBg="1"/>
      <p:bldP spid="81" grpId="0" animBg="1"/>
      <p:bldP spid="81" grpId="1" animBg="1"/>
      <p:bldP spid="81" grpId="2" animBg="1"/>
      <p:bldP spid="81" grpId="3" animBg="1"/>
      <p:bldP spid="91" grpId="0" animBg="1"/>
      <p:bldP spid="91" grpId="1" animBg="1"/>
      <p:bldP spid="91" grpId="2" animBg="1"/>
      <p:bldP spid="94" grpId="0" animBg="1"/>
      <p:bldP spid="94" grpId="1" animBg="1"/>
      <p:bldP spid="94" grpId="2" animBg="1"/>
      <p:bldP spid="97" grpId="0" animBg="1"/>
      <p:bldP spid="98" grpId="0" animBg="1"/>
      <p:bldP spid="99" grpId="0" animBg="1"/>
      <p:bldP spid="100" grpId="0" animBg="1"/>
      <p:bldP spid="10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4678363"/>
          </a:xfrm>
        </p:spPr>
        <p:txBody>
          <a:bodyPr/>
          <a:lstStyle/>
          <a:p>
            <a:r>
              <a:rPr lang="en-US" dirty="0" smtClean="0"/>
              <a:t>Need fine-grained, centralized control over middlebox state to support rich scenarios</a:t>
            </a:r>
          </a:p>
          <a:p>
            <a:r>
              <a:rPr lang="en-US" dirty="0" smtClean="0"/>
              <a:t>Challenges: state diversity, unknown semantics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609600" y="5029200"/>
            <a:ext cx="5105400" cy="838200"/>
            <a:chOff x="-1752600" y="1447800"/>
            <a:chExt cx="5105400" cy="838200"/>
          </a:xfrm>
        </p:grpSpPr>
        <p:sp>
          <p:nvSpPr>
            <p:cNvPr id="6" name="TextBox 5"/>
            <p:cNvSpPr txBox="1"/>
            <p:nvPr/>
          </p:nvSpPr>
          <p:spPr>
            <a:xfrm>
              <a:off x="-1752600" y="1524000"/>
              <a:ext cx="5105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1" dirty="0" smtClean="0">
                  <a:solidFill>
                    <a:srgbClr val="C00000"/>
                  </a:solidFill>
                </a:rPr>
                <a:t>get/add/remove </a:t>
              </a:r>
              <a:r>
                <a:rPr lang="en-US" sz="3200" b="1" dirty="0" smtClean="0"/>
                <a:t>(      ,          )</a:t>
              </a:r>
              <a:endParaRPr lang="en-US" sz="3200" b="1" dirty="0"/>
            </a:p>
          </p:txBody>
        </p:sp>
        <p:pic>
          <p:nvPicPr>
            <p:cNvPr id="7" name="Picture 6" descr="firewall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1447800"/>
              <a:ext cx="838200" cy="838200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1447800" y="1676400"/>
              <a:ext cx="343364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…</a:t>
              </a:r>
              <a:endParaRPr lang="en-US" dirty="0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38200" y="3429000"/>
            <a:ext cx="7315200" cy="1143000"/>
            <a:chOff x="609600" y="3810000"/>
            <a:chExt cx="7315200" cy="1143000"/>
          </a:xfrm>
        </p:grpSpPr>
        <p:sp>
          <p:nvSpPr>
            <p:cNvPr id="20" name="Rectangle 19"/>
            <p:cNvSpPr/>
            <p:nvPr/>
          </p:nvSpPr>
          <p:spPr>
            <a:xfrm>
              <a:off x="3048000" y="3810000"/>
              <a:ext cx="2438400" cy="11430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Action</a:t>
              </a:r>
            </a:p>
            <a:p>
              <a:pPr algn="ctr"/>
              <a:r>
                <a:rPr lang="en-US" sz="2400" dirty="0" smtClean="0"/>
                <a:t>Offset1 </a:t>
              </a:r>
              <a:r>
                <a:rPr lang="en-US" sz="2400" b="1" dirty="0" smtClean="0"/>
                <a:t>→</a:t>
              </a:r>
              <a:r>
                <a:rPr lang="en-US" sz="2400" dirty="0" smtClean="0"/>
                <a:t> Const1</a:t>
              </a:r>
            </a:p>
            <a:p>
              <a:pPr algn="ctr"/>
              <a:r>
                <a:rPr lang="en-US" sz="2400" dirty="0" smtClean="0"/>
                <a:t>…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9600" y="3810000"/>
              <a:ext cx="2438400" cy="11430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Key</a:t>
              </a:r>
            </a:p>
            <a:p>
              <a:pPr algn="ctr"/>
              <a:r>
                <a:rPr lang="en-US" sz="2400" dirty="0" smtClean="0"/>
                <a:t>Field1 </a:t>
              </a:r>
              <a:r>
                <a:rPr lang="en-US" sz="2400" b="1" dirty="0" smtClean="0"/>
                <a:t>=</a:t>
              </a:r>
              <a:r>
                <a:rPr lang="en-US" sz="2400" dirty="0" smtClean="0"/>
                <a:t> Value1</a:t>
              </a:r>
            </a:p>
            <a:p>
              <a:pPr algn="ctr"/>
              <a:r>
                <a:rPr lang="en-US" sz="2400" dirty="0" smtClean="0"/>
                <a:t>…</a:t>
              </a: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5486400" y="3810000"/>
              <a:ext cx="2438400" cy="114300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Supporting</a:t>
              </a:r>
            </a:p>
            <a:p>
              <a:pPr algn="ctr"/>
              <a:endParaRPr lang="en-US" sz="2400" b="1" dirty="0" smtClean="0">
                <a:solidFill>
                  <a:srgbClr val="C00000"/>
                </a:solidFill>
              </a:endParaRPr>
            </a:p>
            <a:p>
              <a:pPr algn="ctr"/>
              <a:endParaRPr lang="en-US" sz="2400" b="1" dirty="0" smtClean="0">
                <a:solidFill>
                  <a:srgbClr val="C00000"/>
                </a:solidFill>
              </a:endParaRPr>
            </a:p>
          </p:txBody>
        </p:sp>
        <p:sp>
          <p:nvSpPr>
            <p:cNvPr id="25" name="Cloud 24"/>
            <p:cNvSpPr/>
            <p:nvPr/>
          </p:nvSpPr>
          <p:spPr>
            <a:xfrm>
              <a:off x="5638800" y="4267200"/>
              <a:ext cx="2133600" cy="60960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Binary Blob</a:t>
              </a:r>
              <a:endParaRPr lang="en-US" sz="20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791200" y="5029200"/>
            <a:ext cx="2133600" cy="914400"/>
            <a:chOff x="5715000" y="5638800"/>
            <a:chExt cx="2133600" cy="914400"/>
          </a:xfrm>
        </p:grpSpPr>
        <p:grpSp>
          <p:nvGrpSpPr>
            <p:cNvPr id="14" name="Group 13"/>
            <p:cNvGrpSpPr/>
            <p:nvPr/>
          </p:nvGrpSpPr>
          <p:grpSpPr>
            <a:xfrm>
              <a:off x="6400800" y="5638800"/>
              <a:ext cx="711199" cy="914400"/>
              <a:chOff x="1828800" y="2667000"/>
              <a:chExt cx="533400" cy="685801"/>
            </a:xfrm>
          </p:grpSpPr>
          <p:pic>
            <p:nvPicPr>
              <p:cNvPr id="15" name="Picture 38" descr="C:\Users\agember\AppData\Local\Microsoft\Windows\Temporary Internet Files\Content.IE5\02TZN55D\MC900434742[1]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duotone>
                  <a:prstClr val="black"/>
                  <a:schemeClr val="accent6">
                    <a:tint val="45000"/>
                    <a:satMod val="400000"/>
                  </a:schemeClr>
                </a:duotone>
              </a:blip>
              <a:srcRect/>
              <a:stretch>
                <a:fillRect/>
              </a:stretch>
            </p:blipFill>
            <p:spPr bwMode="auto">
              <a:xfrm>
                <a:off x="1828800" y="2819400"/>
                <a:ext cx="533400" cy="533401"/>
              </a:xfrm>
              <a:prstGeom prst="rect">
                <a:avLst/>
              </a:prstGeom>
              <a:noFill/>
            </p:spPr>
          </p:pic>
          <p:sp>
            <p:nvSpPr>
              <p:cNvPr id="16" name="Down Arrow 15"/>
              <p:cNvSpPr/>
              <p:nvPr/>
            </p:nvSpPr>
            <p:spPr>
              <a:xfrm flipV="1">
                <a:off x="1981200" y="2667000"/>
                <a:ext cx="243840" cy="304800"/>
              </a:xfrm>
              <a:prstGeom prst="downArrow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Oval 16"/>
            <p:cNvSpPr/>
            <p:nvPr/>
          </p:nvSpPr>
          <p:spPr>
            <a:xfrm>
              <a:off x="7010400" y="5791200"/>
              <a:ext cx="838200" cy="60960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Diamond 17"/>
            <p:cNvSpPr/>
            <p:nvPr/>
          </p:nvSpPr>
          <p:spPr>
            <a:xfrm>
              <a:off x="5715000" y="5791200"/>
              <a:ext cx="914400" cy="647700"/>
            </a:xfrm>
            <a:prstGeom prst="diamond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Open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163"/>
          </a:xfrm>
        </p:spPr>
        <p:txBody>
          <a:bodyPr>
            <a:normAutofit/>
          </a:bodyPr>
          <a:lstStyle/>
          <a:p>
            <a:r>
              <a:rPr lang="en-US" dirty="0" smtClean="0"/>
              <a:t>Encoding supporting state/other action</a:t>
            </a:r>
            <a:r>
              <a:rPr lang="en-US" i="1" dirty="0" smtClean="0"/>
              <a:t> </a:t>
            </a:r>
            <a:r>
              <a:rPr lang="en-US" dirty="0" smtClean="0"/>
              <a:t>state?</a:t>
            </a:r>
          </a:p>
          <a:p>
            <a:r>
              <a:rPr lang="en-US" dirty="0" smtClean="0"/>
              <a:t>Preventing invalid state manipulations?</a:t>
            </a:r>
          </a:p>
          <a:p>
            <a:r>
              <a:rPr lang="en-US" dirty="0" smtClean="0"/>
              <a:t>Exposing events with sufficient detail?</a:t>
            </a:r>
          </a:p>
          <a:p>
            <a:r>
              <a:rPr lang="en-US" dirty="0" smtClean="0"/>
              <a:t>Maintaining operation during state changes? </a:t>
            </a:r>
          </a:p>
          <a:p>
            <a:r>
              <a:rPr lang="en-US" dirty="0" smtClean="0"/>
              <a:t>Designing a variety of control logics?</a:t>
            </a:r>
          </a:p>
          <a:p>
            <a:r>
              <a:rPr lang="en-US" dirty="0" smtClean="0"/>
              <a:t>Providing middlebox fault tolerance?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057400" y="5334000"/>
            <a:ext cx="4572000" cy="762000"/>
            <a:chOff x="1828800" y="5410200"/>
            <a:chExt cx="4572000" cy="762000"/>
          </a:xfrm>
        </p:grpSpPr>
        <p:grpSp>
          <p:nvGrpSpPr>
            <p:cNvPr id="6" name="Group 12"/>
            <p:cNvGrpSpPr/>
            <p:nvPr/>
          </p:nvGrpSpPr>
          <p:grpSpPr>
            <a:xfrm>
              <a:off x="3124200" y="5410200"/>
              <a:ext cx="762000" cy="762000"/>
              <a:chOff x="5791200" y="3276600"/>
              <a:chExt cx="685800" cy="685800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7" name="Picture 16" descr="magnifying_glass.pn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7" name="Group 15"/>
            <p:cNvGrpSpPr/>
            <p:nvPr/>
          </p:nvGrpSpPr>
          <p:grpSpPr>
            <a:xfrm>
              <a:off x="1828800" y="5410200"/>
              <a:ext cx="762000" cy="762000"/>
              <a:chOff x="4114800" y="1981200"/>
              <a:chExt cx="685800" cy="685800"/>
            </a:xfrm>
          </p:grpSpPr>
          <p:sp>
            <p:nvSpPr>
              <p:cNvPr id="14" name="Rounded Rectangle 13"/>
              <p:cNvSpPr/>
              <p:nvPr/>
            </p:nvSpPr>
            <p:spPr>
              <a:xfrm>
                <a:off x="4114800" y="1981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5" name="Picture 7" descr="C:\Users\agember\AppData\Local\Microsoft\Windows\Temporary Internet Files\Content.IE5\QZT0K7D8\MC900434719[1].pn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14800" y="1981200"/>
                <a:ext cx="685800" cy="685800"/>
              </a:xfrm>
              <a:prstGeom prst="rect">
                <a:avLst/>
              </a:prstGeom>
              <a:noFill/>
            </p:spPr>
          </p:pic>
        </p:grpSp>
        <p:grpSp>
          <p:nvGrpSpPr>
            <p:cNvPr id="8" name="Group 9"/>
            <p:cNvGrpSpPr/>
            <p:nvPr/>
          </p:nvGrpSpPr>
          <p:grpSpPr>
            <a:xfrm>
              <a:off x="5638800" y="5410200"/>
              <a:ext cx="762000" cy="762000"/>
              <a:chOff x="7848600" y="1600200"/>
              <a:chExt cx="685800" cy="685800"/>
            </a:xfrm>
          </p:grpSpPr>
          <p:sp>
            <p:nvSpPr>
              <p:cNvPr id="12" name="Rounded Rectangle 11"/>
              <p:cNvSpPr/>
              <p:nvPr/>
            </p:nvSpPr>
            <p:spPr>
              <a:xfrm>
                <a:off x="7848600" y="16002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Picture 12" descr="server_sync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848600" y="1600200"/>
                <a:ext cx="685800" cy="685800"/>
              </a:xfrm>
              <a:prstGeom prst="rect">
                <a:avLst/>
              </a:prstGeom>
            </p:spPr>
          </p:pic>
        </p:grpSp>
        <p:grpSp>
          <p:nvGrpSpPr>
            <p:cNvPr id="9" name="Group 15"/>
            <p:cNvGrpSpPr/>
            <p:nvPr/>
          </p:nvGrpSpPr>
          <p:grpSpPr>
            <a:xfrm>
              <a:off x="4419600" y="5410200"/>
              <a:ext cx="762000" cy="762000"/>
              <a:chOff x="6248400" y="1905000"/>
              <a:chExt cx="685800" cy="685800"/>
            </a:xfrm>
          </p:grpSpPr>
          <p:sp>
            <p:nvSpPr>
              <p:cNvPr id="10" name="Rounded Rectangle 9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1" name="Picture 10" descr="firewall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r>
              <a:rPr lang="en-US" dirty="0" smtClean="0"/>
              <a:t>Simple Middlebox </a:t>
            </a:r>
            <a:r>
              <a:rPr lang="en-US" dirty="0" err="1" smtClean="0"/>
              <a:t>COntrol</a:t>
            </a:r>
            <a:r>
              <a:rPr lang="en-US" dirty="0" smtClean="0"/>
              <a:t> protocol </a:t>
            </a:r>
            <a:r>
              <a:rPr lang="en-US" sz="2400" dirty="0" smtClean="0"/>
              <a:t>[</a:t>
            </a:r>
            <a:r>
              <a:rPr lang="en-US" sz="2400" i="1" dirty="0" smtClean="0"/>
              <a:t>RFC  4540</a:t>
            </a:r>
            <a:r>
              <a:rPr lang="en-US" sz="2400" dirty="0" smtClean="0"/>
              <a:t>]</a:t>
            </a:r>
          </a:p>
          <a:p>
            <a:r>
              <a:rPr lang="en-US" dirty="0" smtClean="0"/>
              <a:t>Modeling middleboxes </a:t>
            </a:r>
            <a:r>
              <a:rPr lang="en-US" sz="2400" dirty="0" smtClean="0"/>
              <a:t>[</a:t>
            </a:r>
            <a:r>
              <a:rPr lang="en-US" sz="2400" i="1" dirty="0" smtClean="0"/>
              <a:t>IEEE Network 2008</a:t>
            </a:r>
            <a:r>
              <a:rPr lang="en-US" sz="2400" dirty="0" smtClean="0"/>
              <a:t>]</a:t>
            </a:r>
          </a:p>
          <a:p>
            <a:r>
              <a:rPr lang="en-US" dirty="0" err="1" smtClean="0"/>
              <a:t>Stratos</a:t>
            </a:r>
            <a:r>
              <a:rPr lang="en-US" dirty="0" smtClean="0"/>
              <a:t> – middleboxes in clouds </a:t>
            </a:r>
            <a:r>
              <a:rPr lang="en-US" sz="2400" dirty="0" smtClean="0"/>
              <a:t>[</a:t>
            </a:r>
            <a:r>
              <a:rPr lang="en-US" sz="2400" i="1" dirty="0" smtClean="0"/>
              <a:t>UW-Madison TR</a:t>
            </a:r>
            <a:r>
              <a:rPr lang="en-US" sz="2400" dirty="0" smtClean="0"/>
              <a:t>]</a:t>
            </a:r>
          </a:p>
          <a:p>
            <a:r>
              <a:rPr lang="en-US" dirty="0" smtClean="0"/>
              <a:t>ETTM – middleboxes in hypervisors </a:t>
            </a:r>
            <a:r>
              <a:rPr lang="en-US" sz="2400" dirty="0" smtClean="0"/>
              <a:t>[</a:t>
            </a:r>
            <a:r>
              <a:rPr lang="en-US" sz="2400" i="1" dirty="0" smtClean="0"/>
              <a:t>NSDI 2011</a:t>
            </a:r>
            <a:r>
              <a:rPr lang="en-US" sz="2400" dirty="0" smtClean="0"/>
              <a:t>]</a:t>
            </a:r>
          </a:p>
          <a:p>
            <a:r>
              <a:rPr lang="en-US" dirty="0" err="1" smtClean="0"/>
              <a:t>COnsolidated</a:t>
            </a:r>
            <a:r>
              <a:rPr lang="en-US" dirty="0" smtClean="0"/>
              <a:t> </a:t>
            </a:r>
            <a:r>
              <a:rPr lang="en-US" dirty="0" err="1" smtClean="0"/>
              <a:t>MiddleBoxes</a:t>
            </a:r>
            <a:r>
              <a:rPr lang="en-US" dirty="0" smtClean="0"/>
              <a:t> </a:t>
            </a:r>
            <a:r>
              <a:rPr lang="en-US" sz="2400" dirty="0" smtClean="0"/>
              <a:t>[</a:t>
            </a:r>
            <a:r>
              <a:rPr lang="en-US" sz="2400" i="1" dirty="0" smtClean="0"/>
              <a:t>NSDI 2012</a:t>
            </a:r>
            <a:r>
              <a:rPr lang="en-US" sz="2400" dirty="0" smtClean="0"/>
              <a:t>]</a:t>
            </a:r>
          </a:p>
          <a:p>
            <a:r>
              <a:rPr lang="en-US" dirty="0" smtClean="0"/>
              <a:t>Efficiently migrating virtual middleboxes </a:t>
            </a:r>
            <a:r>
              <a:rPr lang="en-US" sz="2400" dirty="0" smtClean="0"/>
              <a:t>[</a:t>
            </a:r>
            <a:r>
              <a:rPr lang="en-US" sz="2400" i="1" dirty="0" smtClean="0"/>
              <a:t>SIGCOMM 2012 Poster</a:t>
            </a:r>
            <a:r>
              <a:rPr lang="en-US" sz="2400" dirty="0" smtClean="0"/>
              <a:t>]</a:t>
            </a:r>
          </a:p>
          <a:p>
            <a:r>
              <a:rPr lang="en-US" dirty="0" err="1" smtClean="0"/>
              <a:t>LIve</a:t>
            </a:r>
            <a:r>
              <a:rPr lang="en-US" dirty="0" smtClean="0"/>
              <a:t> Migration of Entire network </a:t>
            </a:r>
            <a:r>
              <a:rPr lang="en-US" sz="2400" dirty="0" smtClean="0"/>
              <a:t>[</a:t>
            </a:r>
            <a:r>
              <a:rPr lang="en-US" sz="2400" i="1" dirty="0" err="1" smtClean="0"/>
              <a:t>HotNets</a:t>
            </a:r>
            <a:r>
              <a:rPr lang="en-US" sz="2400" i="1" dirty="0" smtClean="0"/>
              <a:t> 2012</a:t>
            </a:r>
            <a:r>
              <a:rPr lang="en-US" sz="2400" dirty="0" smtClean="0"/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Add or remove middlebox VMs based on load</a:t>
            </a:r>
          </a:p>
          <a:p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Clone VM (logic, policy, and internal state)</a:t>
            </a:r>
          </a:p>
          <a:p>
            <a:r>
              <a:rPr lang="en-US" dirty="0" smtClean="0"/>
              <a:t>Move some long-lived flows to balance load</a:t>
            </a:r>
          </a:p>
          <a:p>
            <a:pPr lvl="1"/>
            <a:r>
              <a:rPr lang="en-US" dirty="0" smtClean="0"/>
              <a:t>Unsuitable for scaling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057400"/>
            <a:ext cx="7772400" cy="14478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87"/>
          <p:cNvGrpSpPr/>
          <p:nvPr/>
        </p:nvGrpSpPr>
        <p:grpSpPr>
          <a:xfrm>
            <a:off x="5715000" y="2057400"/>
            <a:ext cx="381000" cy="1447800"/>
            <a:chOff x="5715000" y="2133600"/>
            <a:chExt cx="381000" cy="1447800"/>
          </a:xfrm>
        </p:grpSpPr>
        <p:sp>
          <p:nvSpPr>
            <p:cNvPr id="86" name="Oval 85"/>
            <p:cNvSpPr/>
            <p:nvPr/>
          </p:nvSpPr>
          <p:spPr>
            <a:xfrm>
              <a:off x="5715000" y="3276600"/>
              <a:ext cx="228600" cy="3048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/>
            <p:cNvSpPr/>
            <p:nvPr/>
          </p:nvSpPr>
          <p:spPr>
            <a:xfrm>
              <a:off x="5867400" y="2133600"/>
              <a:ext cx="228600" cy="304800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0" name="Oval 79"/>
          <p:cNvSpPr/>
          <p:nvPr/>
        </p:nvSpPr>
        <p:spPr>
          <a:xfrm>
            <a:off x="5638800" y="2209800"/>
            <a:ext cx="685800" cy="6858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Middlebox Scaling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1000" y="5486400"/>
            <a:ext cx="8382000" cy="685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Fine-grained control</a:t>
            </a:r>
          </a:p>
        </p:txBody>
      </p:sp>
      <p:grpSp>
        <p:nvGrpSpPr>
          <p:cNvPr id="7" name="Group 12"/>
          <p:cNvGrpSpPr/>
          <p:nvPr/>
        </p:nvGrpSpPr>
        <p:grpSpPr>
          <a:xfrm>
            <a:off x="2057400" y="2819400"/>
            <a:ext cx="381000" cy="381000"/>
            <a:chOff x="5791200" y="3276600"/>
            <a:chExt cx="685800" cy="685800"/>
          </a:xfrm>
        </p:grpSpPr>
        <p:sp>
          <p:nvSpPr>
            <p:cNvPr id="25" name="Rounded Rectangle 24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5" descr="magnifying_glass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15"/>
          <p:cNvGrpSpPr/>
          <p:nvPr/>
        </p:nvGrpSpPr>
        <p:grpSpPr>
          <a:xfrm>
            <a:off x="5791200" y="2819400"/>
            <a:ext cx="381000" cy="381000"/>
            <a:chOff x="6248400" y="1905000"/>
            <a:chExt cx="685800" cy="685800"/>
          </a:xfrm>
        </p:grpSpPr>
        <p:sp>
          <p:nvSpPr>
            <p:cNvPr id="17" name="Rounded Rectangle 16"/>
            <p:cNvSpPr/>
            <p:nvPr/>
          </p:nvSpPr>
          <p:spPr>
            <a:xfrm>
              <a:off x="6248400" y="19050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17" descr="firewall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8380" y="1951220"/>
              <a:ext cx="609600" cy="609600"/>
            </a:xfrm>
            <a:prstGeom prst="rect">
              <a:avLst/>
            </a:prstGeom>
          </p:spPr>
        </p:pic>
      </p:grpSp>
      <p:grpSp>
        <p:nvGrpSpPr>
          <p:cNvPr id="9" name="Group 240"/>
          <p:cNvGrpSpPr/>
          <p:nvPr/>
        </p:nvGrpSpPr>
        <p:grpSpPr>
          <a:xfrm>
            <a:off x="7543800" y="2514600"/>
            <a:ext cx="381000" cy="381000"/>
            <a:chOff x="5867400" y="5029200"/>
            <a:chExt cx="381000" cy="381000"/>
          </a:xfrm>
        </p:grpSpPr>
        <p:pic>
          <p:nvPicPr>
            <p:cNvPr id="43" name="Picture 42" descr="money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67400" y="5029200"/>
              <a:ext cx="381000" cy="381000"/>
            </a:xfrm>
            <a:prstGeom prst="rect">
              <a:avLst/>
            </a:prstGeom>
          </p:spPr>
        </p:pic>
        <p:sp>
          <p:nvSpPr>
            <p:cNvPr id="42" name="Rounded Rectangle 41"/>
            <p:cNvSpPr/>
            <p:nvPr/>
          </p:nvSpPr>
          <p:spPr>
            <a:xfrm>
              <a:off x="58674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252"/>
          <p:cNvGrpSpPr/>
          <p:nvPr/>
        </p:nvGrpSpPr>
        <p:grpSpPr>
          <a:xfrm>
            <a:off x="3971925" y="2819400"/>
            <a:ext cx="371475" cy="371475"/>
            <a:chOff x="4419600" y="5029200"/>
            <a:chExt cx="371475" cy="371475"/>
          </a:xfrm>
        </p:grpSpPr>
        <p:pic>
          <p:nvPicPr>
            <p:cNvPr id="41" name="Picture 40" descr="glob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40" name="Rounded Rectangle 39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252"/>
          <p:cNvGrpSpPr/>
          <p:nvPr/>
        </p:nvGrpSpPr>
        <p:grpSpPr>
          <a:xfrm>
            <a:off x="3971925" y="2371725"/>
            <a:ext cx="371475" cy="371475"/>
            <a:chOff x="4419600" y="5029200"/>
            <a:chExt cx="371475" cy="371475"/>
          </a:xfrm>
        </p:grpSpPr>
        <p:pic>
          <p:nvPicPr>
            <p:cNvPr id="57" name="Picture 56" descr="glob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56" name="Rounded Rectangle 55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8" name="Straight Connector 57"/>
          <p:cNvCxnSpPr>
            <a:stCxn id="26" idx="1"/>
            <a:endCxn id="5" idx="1"/>
          </p:cNvCxnSpPr>
          <p:nvPr/>
        </p:nvCxnSpPr>
        <p:spPr>
          <a:xfrm flipH="1" flipV="1">
            <a:off x="685800" y="2781300"/>
            <a:ext cx="1371600" cy="21272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2" name="Group 118"/>
          <p:cNvGrpSpPr/>
          <p:nvPr/>
        </p:nvGrpSpPr>
        <p:grpSpPr>
          <a:xfrm>
            <a:off x="685800" y="2362200"/>
            <a:ext cx="3286125" cy="560120"/>
            <a:chOff x="685800" y="2438400"/>
            <a:chExt cx="3286125" cy="560120"/>
          </a:xfrm>
        </p:grpSpPr>
        <p:grpSp>
          <p:nvGrpSpPr>
            <p:cNvPr id="13" name="Group 12"/>
            <p:cNvGrpSpPr/>
            <p:nvPr/>
          </p:nvGrpSpPr>
          <p:grpSpPr>
            <a:xfrm>
              <a:off x="2057400" y="2438400"/>
              <a:ext cx="381000" cy="381000"/>
              <a:chOff x="5791200" y="3276600"/>
              <a:chExt cx="685800" cy="685800"/>
            </a:xfrm>
          </p:grpSpPr>
          <p:sp>
            <p:nvSpPr>
              <p:cNvPr id="53" name="Rounded Rectangle 52"/>
              <p:cNvSpPr/>
              <p:nvPr/>
            </p:nvSpPr>
            <p:spPr>
              <a:xfrm>
                <a:off x="5791200" y="32766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54" name="Picture 53" descr="magnifying_glass.png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5791200" y="3276600"/>
                <a:ext cx="628650" cy="628650"/>
              </a:xfrm>
              <a:prstGeom prst="rect">
                <a:avLst/>
              </a:prstGeo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</p:pic>
        </p:grpSp>
        <p:cxnSp>
          <p:nvCxnSpPr>
            <p:cNvPr id="61" name="Straight Connector 60"/>
            <p:cNvCxnSpPr>
              <a:stCxn id="54" idx="1"/>
              <a:endCxn id="5" idx="1"/>
            </p:cNvCxnSpPr>
            <p:nvPr/>
          </p:nvCxnSpPr>
          <p:spPr>
            <a:xfrm flipH="1">
              <a:off x="685800" y="2613025"/>
              <a:ext cx="1371600" cy="16827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>
              <a:stCxn id="54" idx="3"/>
              <a:endCxn id="57" idx="1"/>
            </p:cNvCxnSpPr>
            <p:nvPr/>
          </p:nvCxnSpPr>
          <p:spPr>
            <a:xfrm flipV="1">
              <a:off x="2406650" y="2550845"/>
              <a:ext cx="1565275" cy="6218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>
              <a:stCxn id="54" idx="3"/>
              <a:endCxn id="41" idx="1"/>
            </p:cNvCxnSpPr>
            <p:nvPr/>
          </p:nvCxnSpPr>
          <p:spPr>
            <a:xfrm>
              <a:off x="2406650" y="2613025"/>
              <a:ext cx="1565275" cy="38549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0" name="Straight Connector 69"/>
          <p:cNvCxnSpPr>
            <a:stCxn id="57" idx="1"/>
            <a:endCxn id="26" idx="3"/>
          </p:cNvCxnSpPr>
          <p:nvPr/>
        </p:nvCxnSpPr>
        <p:spPr>
          <a:xfrm flipH="1">
            <a:off x="2406650" y="2550845"/>
            <a:ext cx="1565275" cy="4431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26" idx="3"/>
            <a:endCxn id="41" idx="1"/>
          </p:cNvCxnSpPr>
          <p:nvPr/>
        </p:nvCxnSpPr>
        <p:spPr>
          <a:xfrm>
            <a:off x="2406650" y="2994025"/>
            <a:ext cx="1565275" cy="449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8" idx="1"/>
            <a:endCxn id="57" idx="3"/>
          </p:cNvCxnSpPr>
          <p:nvPr/>
        </p:nvCxnSpPr>
        <p:spPr>
          <a:xfrm flipH="1" flipV="1">
            <a:off x="4330164" y="2550845"/>
            <a:ext cx="1477692" cy="463567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18" idx="1"/>
            <a:endCxn id="41" idx="3"/>
          </p:cNvCxnSpPr>
          <p:nvPr/>
        </p:nvCxnSpPr>
        <p:spPr>
          <a:xfrm flipH="1" flipV="1">
            <a:off x="4330164" y="2998520"/>
            <a:ext cx="1477692" cy="1589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43" idx="1"/>
            <a:endCxn id="18" idx="3"/>
          </p:cNvCxnSpPr>
          <p:nvPr/>
        </p:nvCxnSpPr>
        <p:spPr>
          <a:xfrm flipH="1">
            <a:off x="6146523" y="2705100"/>
            <a:ext cx="1397277" cy="3093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4" name="Group 131"/>
          <p:cNvGrpSpPr/>
          <p:nvPr/>
        </p:nvGrpSpPr>
        <p:grpSpPr>
          <a:xfrm>
            <a:off x="4330164" y="2362200"/>
            <a:ext cx="3213636" cy="560120"/>
            <a:chOff x="4330164" y="2438400"/>
            <a:chExt cx="3213636" cy="560120"/>
          </a:xfrm>
        </p:grpSpPr>
        <p:grpSp>
          <p:nvGrpSpPr>
            <p:cNvPr id="15" name="Group 15"/>
            <p:cNvGrpSpPr/>
            <p:nvPr/>
          </p:nvGrpSpPr>
          <p:grpSpPr>
            <a:xfrm>
              <a:off x="5791200" y="2438400"/>
              <a:ext cx="381000" cy="381000"/>
              <a:chOff x="6248400" y="1905000"/>
              <a:chExt cx="685800" cy="685800"/>
            </a:xfrm>
          </p:grpSpPr>
          <p:sp>
            <p:nvSpPr>
              <p:cNvPr id="21" name="Rounded Rectangle 20"/>
              <p:cNvSpPr/>
              <p:nvPr/>
            </p:nvSpPr>
            <p:spPr>
              <a:xfrm>
                <a:off x="6248400" y="1905000"/>
                <a:ext cx="685800" cy="685800"/>
              </a:xfrm>
              <a:prstGeom prst="round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" name="Picture 21" descr="firewall.PNG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278380" y="1951220"/>
                <a:ext cx="609600" cy="609600"/>
              </a:xfrm>
              <a:prstGeom prst="rect">
                <a:avLst/>
              </a:prstGeom>
            </p:spPr>
          </p:pic>
        </p:grpSp>
        <p:cxnSp>
          <p:nvCxnSpPr>
            <p:cNvPr id="78" name="Straight Connector 77"/>
            <p:cNvCxnSpPr>
              <a:stCxn id="22" idx="1"/>
              <a:endCxn id="57" idx="3"/>
            </p:cNvCxnSpPr>
            <p:nvPr/>
          </p:nvCxnSpPr>
          <p:spPr>
            <a:xfrm flipH="1" flipV="1">
              <a:off x="4330164" y="2550845"/>
              <a:ext cx="1477692" cy="8256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/>
            <p:cNvCxnSpPr>
              <a:stCxn id="22" idx="1"/>
              <a:endCxn id="41" idx="3"/>
            </p:cNvCxnSpPr>
            <p:nvPr/>
          </p:nvCxnSpPr>
          <p:spPr>
            <a:xfrm flipH="1">
              <a:off x="4330164" y="2633412"/>
              <a:ext cx="1477692" cy="36510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/>
            <p:cNvCxnSpPr>
              <a:stCxn id="43" idx="1"/>
              <a:endCxn id="22" idx="3"/>
            </p:cNvCxnSpPr>
            <p:nvPr/>
          </p:nvCxnSpPr>
          <p:spPr>
            <a:xfrm flipH="1" flipV="1">
              <a:off x="6146523" y="2633412"/>
              <a:ext cx="1397277" cy="71688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8" name="Rectangle 97"/>
          <p:cNvSpPr/>
          <p:nvPr/>
        </p:nvSpPr>
        <p:spPr>
          <a:xfrm>
            <a:off x="2057400" y="32766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/>
          <p:cNvSpPr/>
          <p:nvPr/>
        </p:nvSpPr>
        <p:spPr>
          <a:xfrm>
            <a:off x="2209800" y="3276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Rectangle 108"/>
          <p:cNvSpPr/>
          <p:nvPr/>
        </p:nvSpPr>
        <p:spPr>
          <a:xfrm>
            <a:off x="5791200" y="3276600"/>
            <a:ext cx="76200" cy="152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5943600" y="3276600"/>
            <a:ext cx="76200" cy="1524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/>
          <p:cNvSpPr/>
          <p:nvPr/>
        </p:nvSpPr>
        <p:spPr>
          <a:xfrm>
            <a:off x="5943600" y="2133600"/>
            <a:ext cx="76200" cy="1524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Rectangle 112"/>
          <p:cNvSpPr/>
          <p:nvPr/>
        </p:nvSpPr>
        <p:spPr>
          <a:xfrm>
            <a:off x="7543800" y="2286000"/>
            <a:ext cx="76200" cy="152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Rectangle 113"/>
          <p:cNvSpPr/>
          <p:nvPr/>
        </p:nvSpPr>
        <p:spPr>
          <a:xfrm>
            <a:off x="7696200" y="2286000"/>
            <a:ext cx="76200" cy="1524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Rectangle 114"/>
          <p:cNvSpPr/>
          <p:nvPr/>
        </p:nvSpPr>
        <p:spPr>
          <a:xfrm>
            <a:off x="2438400" y="2133600"/>
            <a:ext cx="76200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/>
          <p:cNvSpPr/>
          <p:nvPr/>
        </p:nvSpPr>
        <p:spPr>
          <a:xfrm>
            <a:off x="685800" y="26670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4114800" y="2438400"/>
            <a:ext cx="76200" cy="152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/>
          <p:cNvSpPr/>
          <p:nvPr/>
        </p:nvSpPr>
        <p:spPr>
          <a:xfrm>
            <a:off x="685800" y="26670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/>
          <p:nvPr/>
        </p:nvSpPr>
        <p:spPr>
          <a:xfrm>
            <a:off x="4114800" y="2895600"/>
            <a:ext cx="76200" cy="1524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Rectangle 126"/>
          <p:cNvSpPr/>
          <p:nvPr/>
        </p:nvSpPr>
        <p:spPr>
          <a:xfrm>
            <a:off x="3962400" y="21336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ectangle 127"/>
          <p:cNvSpPr/>
          <p:nvPr/>
        </p:nvSpPr>
        <p:spPr>
          <a:xfrm>
            <a:off x="3962400" y="3276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ectangle 128"/>
          <p:cNvSpPr/>
          <p:nvPr/>
        </p:nvSpPr>
        <p:spPr>
          <a:xfrm>
            <a:off x="4114800" y="2133600"/>
            <a:ext cx="76200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685800" y="2667000"/>
            <a:ext cx="76200" cy="152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ectangle 130"/>
          <p:cNvSpPr/>
          <p:nvPr/>
        </p:nvSpPr>
        <p:spPr>
          <a:xfrm>
            <a:off x="4114800" y="2438400"/>
            <a:ext cx="76200" cy="152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 132"/>
          <p:cNvSpPr/>
          <p:nvPr/>
        </p:nvSpPr>
        <p:spPr>
          <a:xfrm>
            <a:off x="5791200" y="2133600"/>
            <a:ext cx="76200" cy="152400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/>
          <p:cNvSpPr/>
          <p:nvPr/>
        </p:nvSpPr>
        <p:spPr>
          <a:xfrm>
            <a:off x="2057400" y="21336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/>
          <p:cNvSpPr/>
          <p:nvPr/>
        </p:nvSpPr>
        <p:spPr>
          <a:xfrm>
            <a:off x="2209800" y="2133600"/>
            <a:ext cx="76200" cy="152400"/>
          </a:xfrm>
          <a:prstGeom prst="rect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/>
          <p:cNvSpPr/>
          <p:nvPr/>
        </p:nvSpPr>
        <p:spPr>
          <a:xfrm>
            <a:off x="685800" y="2667000"/>
            <a:ext cx="76200" cy="1524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/>
          <p:cNvSpPr/>
          <p:nvPr/>
        </p:nvSpPr>
        <p:spPr>
          <a:xfrm>
            <a:off x="2590800" y="2133600"/>
            <a:ext cx="76200" cy="15240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4114800" y="3276600"/>
            <a:ext cx="76200" cy="15240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Rectangle 141"/>
          <p:cNvSpPr/>
          <p:nvPr/>
        </p:nvSpPr>
        <p:spPr>
          <a:xfrm>
            <a:off x="685800" y="2667000"/>
            <a:ext cx="76200" cy="152400"/>
          </a:xfrm>
          <a:prstGeom prst="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/>
          <p:cNvSpPr/>
          <p:nvPr/>
        </p:nvSpPr>
        <p:spPr>
          <a:xfrm>
            <a:off x="4114800" y="2895600"/>
            <a:ext cx="76200" cy="152400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7"/>
          <p:cNvGrpSpPr/>
          <p:nvPr/>
        </p:nvGrpSpPr>
        <p:grpSpPr>
          <a:xfrm>
            <a:off x="1981200" y="2133600"/>
            <a:ext cx="381000" cy="152400"/>
            <a:chOff x="7467600" y="2362200"/>
            <a:chExt cx="381000" cy="152400"/>
          </a:xfrm>
        </p:grpSpPr>
        <p:cxnSp>
          <p:nvCxnSpPr>
            <p:cNvPr id="159" name="Straight Connector 158"/>
            <p:cNvCxnSpPr/>
            <p:nvPr/>
          </p:nvCxnSpPr>
          <p:spPr>
            <a:xfrm flipH="1">
              <a:off x="7467600" y="2362200"/>
              <a:ext cx="3810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Connector 159"/>
            <p:cNvCxnSpPr/>
            <p:nvPr/>
          </p:nvCxnSpPr>
          <p:spPr>
            <a:xfrm>
              <a:off x="7467600" y="2362200"/>
              <a:ext cx="3810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69"/>
          <p:cNvGrpSpPr/>
          <p:nvPr/>
        </p:nvGrpSpPr>
        <p:grpSpPr>
          <a:xfrm>
            <a:off x="5943600" y="3276600"/>
            <a:ext cx="76200" cy="152400"/>
            <a:chOff x="6477000" y="4038600"/>
            <a:chExt cx="76200" cy="152400"/>
          </a:xfrm>
        </p:grpSpPr>
        <p:cxnSp>
          <p:nvCxnSpPr>
            <p:cNvPr id="162" name="Straight Connector 161"/>
            <p:cNvCxnSpPr/>
            <p:nvPr/>
          </p:nvCxnSpPr>
          <p:spPr>
            <a:xfrm flipH="1">
              <a:off x="6477000" y="4038600"/>
              <a:ext cx="762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>
              <a:off x="6477000" y="4038600"/>
              <a:ext cx="762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70"/>
          <p:cNvGrpSpPr/>
          <p:nvPr/>
        </p:nvGrpSpPr>
        <p:grpSpPr>
          <a:xfrm>
            <a:off x="5791200" y="2133600"/>
            <a:ext cx="76200" cy="152400"/>
            <a:chOff x="6477000" y="4038600"/>
            <a:chExt cx="76200" cy="152400"/>
          </a:xfrm>
        </p:grpSpPr>
        <p:cxnSp>
          <p:nvCxnSpPr>
            <p:cNvPr id="172" name="Straight Connector 171"/>
            <p:cNvCxnSpPr/>
            <p:nvPr/>
          </p:nvCxnSpPr>
          <p:spPr>
            <a:xfrm flipH="1">
              <a:off x="6477000" y="4038600"/>
              <a:ext cx="762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>
            <a:xfrm>
              <a:off x="6477000" y="4038600"/>
              <a:ext cx="76200" cy="152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77" name="Straight Connector 76"/>
          <p:cNvCxnSpPr/>
          <p:nvPr/>
        </p:nvCxnSpPr>
        <p:spPr>
          <a:xfrm>
            <a:off x="5486400" y="3962400"/>
            <a:ext cx="2209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9" name="Slide Number Placeholder 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667 0.03889 L 0.37605 -0.03055 " pathEditMode="relative" ptsTypes="AAA">
                                      <p:cBhvr>
                                        <p:cTn id="9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11111E-6 L 0.20104 0.07778 L 0.3927 0.025 " pathEditMode="relative" ptsTypes="AAA">
                                      <p:cBhvr>
                                        <p:cTn id="22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000"/>
                            </p:stCondLst>
                            <p:childTnLst>
                              <p:par>
                                <p:cTn id="2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354 0.04028 L 0.375 0.0375 " pathEditMode="relative" ptsTypes="AAA">
                                      <p:cBhvr>
                                        <p:cTn id="35" dur="2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6000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00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.00416 L 0.19896 0.01112 L 0.39166 -0.04027 " pathEditMode="relative" ptsTypes="AAA">
                                      <p:cBhvr>
                                        <p:cTn id="48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8000"/>
                            </p:stCondLst>
                            <p:childTnLst>
                              <p:par>
                                <p:cTn id="5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979 0.04167 L 0.37187 -0.03194 " pathEditMode="relative" ptsTypes="AAA">
                                      <p:cBhvr>
                                        <p:cTn id="78" dur="2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000"/>
                            </p:stCondLst>
                            <p:childTnLst>
                              <p:par>
                                <p:cTn id="83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66667E-6 -1.11111E-6 L 0.16666 -0.03611 L 0.36979 -0.03055 " pathEditMode="relative" ptsTypes="AAA">
                                      <p:cBhvr>
                                        <p:cTn id="87" dur="2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000"/>
                            </p:stCondLst>
                            <p:childTnLst>
                              <p:par>
                                <p:cTn id="99" presetID="0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9792 0.07778 L 0.39271 0.025 " pathEditMode="relative" ptsTypes="AAA">
                                      <p:cBhvr>
                                        <p:cTn id="100" dur="20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000"/>
                            </p:stCondLst>
                            <p:childTnLst>
                              <p:par>
                                <p:cTn id="10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6875 -0.03333 L 0.37709 0.04306 " pathEditMode="relative" ptsTypes="AAA">
                                      <p:cBhvr>
                                        <p:cTn id="126" dur="20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0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 -0.06667 L 0.39063 -0.03889 " pathEditMode="relative" ptsTypes="AAA">
                                      <p:cBhvr>
                                        <p:cTn id="139" dur="20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4000"/>
                            </p:stCondLst>
                            <p:childTnLst>
                              <p:par>
                                <p:cTn id="14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0" grpId="0" animBg="1"/>
      <p:bldP spid="4" grpId="0" animBg="1"/>
      <p:bldP spid="98" grpId="0" animBg="1"/>
      <p:bldP spid="99" grpId="0" animBg="1"/>
      <p:bldP spid="109" grpId="0" animBg="1"/>
      <p:bldP spid="110" grpId="0" animBg="1"/>
      <p:bldP spid="112" grpId="0" animBg="1"/>
      <p:bldP spid="113" grpId="0" animBg="1"/>
      <p:bldP spid="114" grpId="0" animBg="1"/>
      <p:bldP spid="115" grpId="0" animBg="1"/>
      <p:bldP spid="120" grpId="0" animBg="1"/>
      <p:bldP spid="120" grpId="1" animBg="1"/>
      <p:bldP spid="120" grpId="2" animBg="1"/>
      <p:bldP spid="122" grpId="0" animBg="1"/>
      <p:bldP spid="122" grpId="1" animBg="1"/>
      <p:bldP spid="122" grpId="2" animBg="1"/>
      <p:bldP spid="124" grpId="0" animBg="1"/>
      <p:bldP spid="124" grpId="1" animBg="1"/>
      <p:bldP spid="124" grpId="2" animBg="1"/>
      <p:bldP spid="125" grpId="0" animBg="1"/>
      <p:bldP spid="125" grpId="1" animBg="1"/>
      <p:bldP spid="125" grpId="2" animBg="1"/>
      <p:bldP spid="127" grpId="0" animBg="1"/>
      <p:bldP spid="128" grpId="0" animBg="1"/>
      <p:bldP spid="129" grpId="0" animBg="1"/>
      <p:bldP spid="130" grpId="0" animBg="1"/>
      <p:bldP spid="130" grpId="1" animBg="1"/>
      <p:bldP spid="130" grpId="2" animBg="1"/>
      <p:bldP spid="131" grpId="0" animBg="1"/>
      <p:bldP spid="131" grpId="1" animBg="1"/>
      <p:bldP spid="131" grpId="2" animBg="1"/>
      <p:bldP spid="133" grpId="0" animBg="1"/>
      <p:bldP spid="134" grpId="0" animBg="1"/>
      <p:bldP spid="135" grpId="0" animBg="1"/>
      <p:bldP spid="136" grpId="0" animBg="1"/>
      <p:bldP spid="136" grpId="1" animBg="1"/>
      <p:bldP spid="136" grpId="2" animBg="1"/>
      <p:bldP spid="137" grpId="0" animBg="1"/>
      <p:bldP spid="140" grpId="0" animBg="1"/>
      <p:bldP spid="142" grpId="0" animBg="1"/>
      <p:bldP spid="142" grpId="1" animBg="1"/>
      <p:bldP spid="142" grpId="2" animBg="1"/>
      <p:bldP spid="143" grpId="0" animBg="1"/>
      <p:bldP spid="143" grpId="1" animBg="1"/>
      <p:bldP spid="143" grpId="2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3) Virtual Server Provisioning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Add VMs with security or performance needs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Modify and/or add to MB policy</a:t>
            </a:r>
          </a:p>
          <a:p>
            <a:pPr lvl="1"/>
            <a:r>
              <a:rPr lang="en-US" dirty="0" smtClean="0"/>
              <a:t>Middlebox-specific configuration interfaces</a:t>
            </a:r>
          </a:p>
          <a:p>
            <a:pPr lvl="1"/>
            <a:r>
              <a:rPr lang="en-US" dirty="0" smtClean="0"/>
              <a:t>Distributed, manual process =&gt; high complexity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81000" y="5486400"/>
            <a:ext cx="8382000" cy="68580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marL="0" lvl="1" algn="ctr">
              <a:spcBef>
                <a:spcPct val="20000"/>
              </a:spcBef>
            </a:pPr>
            <a:r>
              <a:rPr lang="en-US" sz="3200" dirty="0" smtClean="0"/>
              <a:t>Programmatic and centralized control </a:t>
            </a:r>
          </a:p>
        </p:txBody>
      </p:sp>
      <p:sp>
        <p:nvSpPr>
          <p:cNvPr id="5" name="Rectangle 4"/>
          <p:cNvSpPr/>
          <p:nvPr/>
        </p:nvSpPr>
        <p:spPr>
          <a:xfrm>
            <a:off x="2438400" y="2209800"/>
            <a:ext cx="4648200" cy="144780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06"/>
          <p:cNvGrpSpPr/>
          <p:nvPr/>
        </p:nvGrpSpPr>
        <p:grpSpPr>
          <a:xfrm>
            <a:off x="5410200" y="2819400"/>
            <a:ext cx="533400" cy="533400"/>
            <a:chOff x="4419600" y="5029200"/>
            <a:chExt cx="533400" cy="533400"/>
          </a:xfrm>
        </p:grpSpPr>
        <p:pic>
          <p:nvPicPr>
            <p:cNvPr id="30" name="Picture 29" descr="desktop2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4419600" y="5029200"/>
              <a:ext cx="533400" cy="533400"/>
            </a:xfrm>
            <a:prstGeom prst="rect">
              <a:avLst/>
            </a:prstGeom>
          </p:spPr>
        </p:pic>
        <p:pic>
          <p:nvPicPr>
            <p:cNvPr id="31" name="Picture 30" descr="server_sync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95800" y="5105400"/>
              <a:ext cx="381000" cy="381000"/>
            </a:xfrm>
            <a:prstGeom prst="rect">
              <a:avLst/>
            </a:prstGeom>
          </p:spPr>
        </p:pic>
      </p:grpSp>
      <p:grpSp>
        <p:nvGrpSpPr>
          <p:cNvPr id="35" name="Group 12"/>
          <p:cNvGrpSpPr/>
          <p:nvPr/>
        </p:nvGrpSpPr>
        <p:grpSpPr>
          <a:xfrm>
            <a:off x="3962400" y="2819400"/>
            <a:ext cx="381000" cy="381000"/>
            <a:chOff x="5791200" y="3276600"/>
            <a:chExt cx="685800" cy="685800"/>
          </a:xfrm>
        </p:grpSpPr>
        <p:sp>
          <p:nvSpPr>
            <p:cNvPr id="36" name="Rounded Rectangle 35"/>
            <p:cNvSpPr/>
            <p:nvPr/>
          </p:nvSpPr>
          <p:spPr>
            <a:xfrm>
              <a:off x="5791200" y="3276600"/>
              <a:ext cx="685800" cy="685800"/>
            </a:xfrm>
            <a:prstGeom prst="round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7" name="Picture 36" descr="magnifying_glass.pn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1200" y="3276600"/>
              <a:ext cx="628650" cy="628650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4" name="Group 255"/>
          <p:cNvGrpSpPr/>
          <p:nvPr/>
        </p:nvGrpSpPr>
        <p:grpSpPr>
          <a:xfrm>
            <a:off x="6410325" y="3124200"/>
            <a:ext cx="371475" cy="371475"/>
            <a:chOff x="4419600" y="5029200"/>
            <a:chExt cx="371475" cy="371475"/>
          </a:xfrm>
        </p:grpSpPr>
        <p:pic>
          <p:nvPicPr>
            <p:cNvPr id="46" name="Picture 45" descr="glob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45" name="Rounded Rectangle 44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258"/>
          <p:cNvGrpSpPr/>
          <p:nvPr/>
        </p:nvGrpSpPr>
        <p:grpSpPr>
          <a:xfrm>
            <a:off x="6410325" y="2667000"/>
            <a:ext cx="371475" cy="371475"/>
            <a:chOff x="4419600" y="5029200"/>
            <a:chExt cx="371475" cy="371475"/>
          </a:xfrm>
        </p:grpSpPr>
        <p:pic>
          <p:nvPicPr>
            <p:cNvPr id="49" name="Picture 48" descr="globe.png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9600" y="5029200"/>
              <a:ext cx="358239" cy="358240"/>
            </a:xfrm>
            <a:prstGeom prst="rect">
              <a:avLst/>
            </a:prstGeom>
          </p:spPr>
        </p:pic>
        <p:sp>
          <p:nvSpPr>
            <p:cNvPr id="48" name="Rounded Rectangle 47"/>
            <p:cNvSpPr/>
            <p:nvPr/>
          </p:nvSpPr>
          <p:spPr>
            <a:xfrm>
              <a:off x="4419600" y="5029200"/>
              <a:ext cx="371475" cy="371475"/>
            </a:xfrm>
            <a:prstGeom prst="roundRect">
              <a:avLst/>
            </a:prstGeom>
          </p:spPr>
          <p:style>
            <a:lnRef idx="0">
              <a:schemeClr val="accent4"/>
            </a:lnRef>
            <a:fillRef idx="3">
              <a:schemeClr val="accent4"/>
            </a:fillRef>
            <a:effectRef idx="3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1" name="Group 196"/>
          <p:cNvGrpSpPr/>
          <p:nvPr/>
        </p:nvGrpSpPr>
        <p:grpSpPr>
          <a:xfrm>
            <a:off x="2895600" y="2743200"/>
            <a:ext cx="533400" cy="533400"/>
            <a:chOff x="1600200" y="1600200"/>
            <a:chExt cx="533400" cy="533400"/>
          </a:xfrm>
        </p:grpSpPr>
        <p:pic>
          <p:nvPicPr>
            <p:cNvPr id="61" name="Picture 60" descr="desktop2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5400000">
              <a:off x="1600200" y="1600200"/>
              <a:ext cx="533400" cy="533400"/>
            </a:xfrm>
            <a:prstGeom prst="rect">
              <a:avLst/>
            </a:prstGeom>
          </p:spPr>
        </p:pic>
        <p:pic>
          <p:nvPicPr>
            <p:cNvPr id="62" name="Picture 61" descr="firewall.PNG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28850" y="1676400"/>
              <a:ext cx="338667" cy="338667"/>
            </a:xfrm>
            <a:prstGeom prst="rect">
              <a:avLst/>
            </a:prstGeom>
          </p:spPr>
        </p:pic>
      </p:grpSp>
      <p:cxnSp>
        <p:nvCxnSpPr>
          <p:cNvPr id="63" name="Straight Connector 62"/>
          <p:cNvCxnSpPr>
            <a:stCxn id="61" idx="2"/>
            <a:endCxn id="5" idx="1"/>
          </p:cNvCxnSpPr>
          <p:nvPr/>
        </p:nvCxnSpPr>
        <p:spPr>
          <a:xfrm flipH="1" flipV="1">
            <a:off x="2438400" y="2933700"/>
            <a:ext cx="457200" cy="762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1" idx="0"/>
            <a:endCxn id="37" idx="1"/>
          </p:cNvCxnSpPr>
          <p:nvPr/>
        </p:nvCxnSpPr>
        <p:spPr>
          <a:xfrm flipV="1">
            <a:off x="3429000" y="2994025"/>
            <a:ext cx="533400" cy="158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37" idx="3"/>
            <a:endCxn id="30" idx="2"/>
          </p:cNvCxnSpPr>
          <p:nvPr/>
        </p:nvCxnSpPr>
        <p:spPr>
          <a:xfrm>
            <a:off x="4311650" y="2994025"/>
            <a:ext cx="1098550" cy="92075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30" idx="0"/>
            <a:endCxn id="49" idx="1"/>
          </p:cNvCxnSpPr>
          <p:nvPr/>
        </p:nvCxnSpPr>
        <p:spPr>
          <a:xfrm flipV="1">
            <a:off x="5943600" y="2846120"/>
            <a:ext cx="466725" cy="2399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30" idx="0"/>
            <a:endCxn id="46" idx="1"/>
          </p:cNvCxnSpPr>
          <p:nvPr/>
        </p:nvCxnSpPr>
        <p:spPr>
          <a:xfrm>
            <a:off x="5943600" y="3086100"/>
            <a:ext cx="466725" cy="21722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86" name="Group 85"/>
          <p:cNvGrpSpPr/>
          <p:nvPr/>
        </p:nvGrpSpPr>
        <p:grpSpPr>
          <a:xfrm>
            <a:off x="4311650" y="2362200"/>
            <a:ext cx="1022350" cy="631825"/>
            <a:chOff x="4311650" y="2362200"/>
            <a:chExt cx="1022350" cy="631825"/>
          </a:xfrm>
        </p:grpSpPr>
        <p:grpSp>
          <p:nvGrpSpPr>
            <p:cNvPr id="41" name="Group 233"/>
            <p:cNvGrpSpPr/>
            <p:nvPr/>
          </p:nvGrpSpPr>
          <p:grpSpPr>
            <a:xfrm>
              <a:off x="4953000" y="2362200"/>
              <a:ext cx="381000" cy="381000"/>
              <a:chOff x="5867400" y="5029200"/>
              <a:chExt cx="381000" cy="381000"/>
            </a:xfrm>
          </p:grpSpPr>
          <p:pic>
            <p:nvPicPr>
              <p:cNvPr id="43" name="Picture 42" descr="money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5867400" y="5029200"/>
                <a:ext cx="381000" cy="381000"/>
              </a:xfrm>
              <a:prstGeom prst="rect">
                <a:avLst/>
              </a:prstGeom>
            </p:spPr>
          </p:pic>
          <p:sp>
            <p:nvSpPr>
              <p:cNvPr id="42" name="Rounded Rectangle 41"/>
              <p:cNvSpPr/>
              <p:nvPr/>
            </p:nvSpPr>
            <p:spPr>
              <a:xfrm>
                <a:off x="5867400" y="5029200"/>
                <a:ext cx="371475" cy="371475"/>
              </a:xfrm>
              <a:prstGeom prst="roundRect">
                <a:avLst/>
              </a:prstGeom>
            </p:spPr>
            <p:style>
              <a:lnRef idx="0">
                <a:schemeClr val="accent4"/>
              </a:lnRef>
              <a:fillRef idx="3">
                <a:schemeClr val="accent4"/>
              </a:fillRef>
              <a:effectRef idx="3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80" name="Straight Connector 79"/>
            <p:cNvCxnSpPr>
              <a:stCxn id="37" idx="3"/>
              <a:endCxn id="43" idx="1"/>
            </p:cNvCxnSpPr>
            <p:nvPr/>
          </p:nvCxnSpPr>
          <p:spPr>
            <a:xfrm flipV="1">
              <a:off x="4311650" y="2552700"/>
              <a:ext cx="641350" cy="441325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Oval 94"/>
          <p:cNvSpPr/>
          <p:nvPr/>
        </p:nvSpPr>
        <p:spPr>
          <a:xfrm>
            <a:off x="3276600" y="3276600"/>
            <a:ext cx="228600" cy="304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2971800" y="3276600"/>
            <a:ext cx="2286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/>
          <p:cNvSpPr/>
          <p:nvPr/>
        </p:nvSpPr>
        <p:spPr>
          <a:xfrm>
            <a:off x="4038600" y="3276600"/>
            <a:ext cx="2286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Isosceles Triangle 106"/>
          <p:cNvSpPr/>
          <p:nvPr/>
        </p:nvSpPr>
        <p:spPr>
          <a:xfrm>
            <a:off x="4038600" y="3276600"/>
            <a:ext cx="228600" cy="304800"/>
          </a:xfrm>
          <a:prstGeom prst="triangl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Slide Number Placeholder 4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C5A87-65DC-41FD-9E53-7EAC48455B9A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3219</TotalTime>
  <Words>1047</Words>
  <Application>Microsoft Office PowerPoint</Application>
  <PresentationFormat>On-screen Show (4:3)</PresentationFormat>
  <Paragraphs>308</Paragraphs>
  <Slides>21</Slides>
  <Notes>15</Notes>
  <HiddenSlides>2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Toward Software-Defined Middlebox Networking</vt:lpstr>
      <vt:lpstr>Why Middleboxes?</vt:lpstr>
      <vt:lpstr>Middlebox Deployment Models</vt:lpstr>
      <vt:lpstr>Live Data Center Migration</vt:lpstr>
      <vt:lpstr>Middlebox Scaling</vt:lpstr>
      <vt:lpstr>Our Contributions</vt:lpstr>
      <vt:lpstr>Software-Defined Middlebox Networking</vt:lpstr>
      <vt:lpstr>Key Issues</vt:lpstr>
      <vt:lpstr>Middlebox State</vt:lpstr>
      <vt:lpstr>Classification of State</vt:lpstr>
      <vt:lpstr>How to Represent State?</vt:lpstr>
      <vt:lpstr>State Representation</vt:lpstr>
      <vt:lpstr>How to Manipulate State?</vt:lpstr>
      <vt:lpstr>State Manipulation</vt:lpstr>
      <vt:lpstr>Operations Interface</vt:lpstr>
      <vt:lpstr>Events Interface</vt:lpstr>
      <vt:lpstr>Conclusion</vt:lpstr>
      <vt:lpstr>Open Questions</vt:lpstr>
      <vt:lpstr>Related Work</vt:lpstr>
      <vt:lpstr>Middlebox Scaling</vt:lpstr>
      <vt:lpstr>3) Virtual Server Provisioning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Aaron Gember</dc:creator>
  <cp:lastModifiedBy>Aaron Gember</cp:lastModifiedBy>
  <cp:revision>1365</cp:revision>
  <dcterms:created xsi:type="dcterms:W3CDTF">2012-10-09T15:57:50Z</dcterms:created>
  <dcterms:modified xsi:type="dcterms:W3CDTF">2012-10-29T14:52:44Z</dcterms:modified>
</cp:coreProperties>
</file>