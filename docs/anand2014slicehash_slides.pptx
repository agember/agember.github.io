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7" r:id="rId2"/>
    <p:sldId id="265" r:id="rId3"/>
    <p:sldId id="269" r:id="rId4"/>
    <p:sldId id="270" r:id="rId5"/>
    <p:sldId id="312" r:id="rId6"/>
    <p:sldId id="313" r:id="rId7"/>
    <p:sldId id="274" r:id="rId8"/>
    <p:sldId id="317" r:id="rId9"/>
    <p:sldId id="318" r:id="rId10"/>
    <p:sldId id="295" r:id="rId11"/>
    <p:sldId id="316" r:id="rId12"/>
    <p:sldId id="297" r:id="rId13"/>
    <p:sldId id="299" r:id="rId14"/>
    <p:sldId id="301" r:id="rId15"/>
    <p:sldId id="304" r:id="rId16"/>
    <p:sldId id="302" r:id="rId17"/>
    <p:sldId id="307" r:id="rId18"/>
    <p:sldId id="319" r:id="rId19"/>
    <p:sldId id="284" r:id="rId20"/>
    <p:sldId id="321" r:id="rId21"/>
    <p:sldId id="289" r:id="rId22"/>
    <p:sldId id="310" r:id="rId23"/>
    <p:sldId id="311" r:id="rId24"/>
    <p:sldId id="291" r:id="rId25"/>
    <p:sldId id="286" r:id="rId26"/>
    <p:sldId id="287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FF"/>
    <a:srgbClr val="FF6969"/>
    <a:srgbClr val="FF7D7D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842" autoAdjust="0"/>
  </p:normalViewPr>
  <p:slideViewPr>
    <p:cSldViewPr>
      <p:cViewPr varScale="1">
        <p:scale>
          <a:sx n="58" d="100"/>
          <a:sy n="58" d="100"/>
        </p:scale>
        <p:origin x="-163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slicehash\trunk\ancs14\figs\large_reads_crucial_bar.data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slicehash\presentations\concurrent_writes_crucial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slicehash\presentations\mixedoverhead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slicehash\presentations\mixedperf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slicehash\presentations\flexibility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slicehash\presentations\flexibility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slicehash\presentations\generalityperf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slicehash\presentations\generalityoverhead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gember\Documents\research\slicehash\presentations\generalityoverhea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0.24687729658792781"/>
          <c:y val="7.5471404890178465E-2"/>
          <c:w val="0.72256714785651566"/>
          <c:h val="0.60862170189252662"/>
        </c:manualLayout>
      </c:layout>
      <c:barChart>
        <c:barDir val="col"/>
        <c:grouping val="clustered"/>
        <c:ser>
          <c:idx val="1"/>
          <c:order val="0"/>
          <c:tx>
            <c:strRef>
              <c:f>large_reads_crucial_bar!$B$1</c:f>
              <c:strCache>
                <c:ptCount val="1"/>
                <c:pt idx="0">
                  <c:v>MB/second</c:v>
                </c:pt>
              </c:strCache>
            </c:strRef>
          </c:tx>
          <c:spPr>
            <a:solidFill>
              <a:schemeClr val="accent5"/>
            </a:solidFill>
          </c:spPr>
          <c:cat>
            <c:numRef>
              <c:f>large_reads_crucial_bar!$A$2:$A$9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numCache>
            </c:numRef>
          </c:cat>
          <c:val>
            <c:numRef>
              <c:f>large_reads_crucial_bar!$B$2:$B$9</c:f>
              <c:numCache>
                <c:formatCode>General</c:formatCode>
                <c:ptCount val="8"/>
                <c:pt idx="0">
                  <c:v>67</c:v>
                </c:pt>
                <c:pt idx="1">
                  <c:v>132</c:v>
                </c:pt>
                <c:pt idx="2">
                  <c:v>182</c:v>
                </c:pt>
                <c:pt idx="3">
                  <c:v>216</c:v>
                </c:pt>
                <c:pt idx="4">
                  <c:v>239</c:v>
                </c:pt>
                <c:pt idx="5">
                  <c:v>255</c:v>
                </c:pt>
                <c:pt idx="6">
                  <c:v>264</c:v>
                </c:pt>
                <c:pt idx="7">
                  <c:v>269</c:v>
                </c:pt>
              </c:numCache>
            </c:numRef>
          </c:val>
        </c:ser>
        <c:axId val="89723264"/>
        <c:axId val="89725184"/>
      </c:barChart>
      <c:catAx>
        <c:axId val="8972326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2400"/>
                </a:pPr>
                <a:r>
                  <a:rPr lang="en-US" sz="2400" dirty="0"/>
                  <a:t>Read size (KB)</a:t>
                </a:r>
              </a:p>
            </c:rich>
          </c:tx>
          <c:layout>
            <c:manualLayout>
              <c:xMode val="edge"/>
              <c:yMode val="edge"/>
              <c:x val="0.45006364829396328"/>
              <c:y val="0.81835509048211075"/>
            </c:manualLayout>
          </c:layout>
        </c:title>
        <c:numFmt formatCode="General" sourceLinked="1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89725184"/>
        <c:crosses val="autoZero"/>
        <c:auto val="1"/>
        <c:lblAlgn val="ctr"/>
        <c:lblOffset val="0"/>
      </c:catAx>
      <c:valAx>
        <c:axId val="89725184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2400"/>
                </a:pPr>
                <a:r>
                  <a:rPr lang="en-US" sz="2400"/>
                  <a:t>MB/second read</a:t>
                </a:r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89723264"/>
        <c:crosses val="autoZero"/>
        <c:crossBetween val="between"/>
      </c:valAx>
    </c:plotArea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/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128KB Writes</c:v>
                </c:pt>
              </c:strCache>
            </c:strRef>
          </c:tx>
          <c:spPr>
            <a:ln w="57150"/>
          </c:spPr>
          <c:marker>
            <c:symbol val="diamond"/>
            <c:size val="14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22</c:v>
                </c:pt>
                <c:pt idx="11">
                  <c:v>24</c:v>
                </c:pt>
                <c:pt idx="12">
                  <c:v>26</c:v>
                </c:pt>
                <c:pt idx="13">
                  <c:v>28</c:v>
                </c:pt>
                <c:pt idx="14">
                  <c:v>30</c:v>
                </c:pt>
                <c:pt idx="15">
                  <c:v>32</c:v>
                </c:pt>
              </c:numCache>
            </c:num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175.99114987500016</c:v>
                </c:pt>
                <c:pt idx="1">
                  <c:v>177.01458737499999</c:v>
                </c:pt>
                <c:pt idx="2">
                  <c:v>177.50219725000008</c:v>
                </c:pt>
                <c:pt idx="3">
                  <c:v>177.35816950000009</c:v>
                </c:pt>
                <c:pt idx="4">
                  <c:v>175.62904362499998</c:v>
                </c:pt>
                <c:pt idx="5">
                  <c:v>174.922622625</c:v>
                </c:pt>
                <c:pt idx="6">
                  <c:v>175.74868774999999</c:v>
                </c:pt>
                <c:pt idx="7">
                  <c:v>175.1710205</c:v>
                </c:pt>
                <c:pt idx="8">
                  <c:v>174.4373473750002</c:v>
                </c:pt>
                <c:pt idx="9">
                  <c:v>175.33802800000009</c:v>
                </c:pt>
                <c:pt idx="10">
                  <c:v>175.745346125</c:v>
                </c:pt>
                <c:pt idx="11">
                  <c:v>175.57939149999999</c:v>
                </c:pt>
                <c:pt idx="12">
                  <c:v>175.1047821249999</c:v>
                </c:pt>
                <c:pt idx="13">
                  <c:v>175.15086362499991</c:v>
                </c:pt>
                <c:pt idx="14">
                  <c:v>175.86093137500009</c:v>
                </c:pt>
                <c:pt idx="15">
                  <c:v>175.34182737500009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256KB Writes</c:v>
                </c:pt>
              </c:strCache>
            </c:strRef>
          </c:tx>
          <c:spPr>
            <a:ln w="57150"/>
          </c:spPr>
          <c:marker>
            <c:symbol val="diamond"/>
            <c:size val="14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22</c:v>
                </c:pt>
                <c:pt idx="11">
                  <c:v>24</c:v>
                </c:pt>
                <c:pt idx="12">
                  <c:v>26</c:v>
                </c:pt>
                <c:pt idx="13">
                  <c:v>28</c:v>
                </c:pt>
                <c:pt idx="14">
                  <c:v>30</c:v>
                </c:pt>
                <c:pt idx="15">
                  <c:v>32</c:v>
                </c:pt>
              </c:numCache>
            </c:num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166.60612499999999</c:v>
                </c:pt>
                <c:pt idx="1">
                  <c:v>167.41529850000001</c:v>
                </c:pt>
                <c:pt idx="2">
                  <c:v>166.4039765</c:v>
                </c:pt>
                <c:pt idx="3">
                  <c:v>165.67268374999998</c:v>
                </c:pt>
                <c:pt idx="4">
                  <c:v>167.20384224999998</c:v>
                </c:pt>
                <c:pt idx="5">
                  <c:v>171.46440125000001</c:v>
                </c:pt>
                <c:pt idx="6">
                  <c:v>174.47566224999991</c:v>
                </c:pt>
                <c:pt idx="7">
                  <c:v>173.65263375000001</c:v>
                </c:pt>
                <c:pt idx="8">
                  <c:v>174.34930424999999</c:v>
                </c:pt>
                <c:pt idx="9">
                  <c:v>174.85693350000008</c:v>
                </c:pt>
                <c:pt idx="10">
                  <c:v>175.34605399999998</c:v>
                </c:pt>
                <c:pt idx="11">
                  <c:v>175.91922</c:v>
                </c:pt>
                <c:pt idx="12">
                  <c:v>175.81237800000008</c:v>
                </c:pt>
                <c:pt idx="13">
                  <c:v>175.8671265000001</c:v>
                </c:pt>
                <c:pt idx="14">
                  <c:v>176.00152600000001</c:v>
                </c:pt>
                <c:pt idx="15">
                  <c:v>176.00297549999999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512KB Writes</c:v>
                </c:pt>
              </c:strCache>
            </c:strRef>
          </c:tx>
          <c:spPr>
            <a:ln w="57150"/>
          </c:spPr>
          <c:marker>
            <c:symbol val="diamond"/>
            <c:size val="14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22</c:v>
                </c:pt>
                <c:pt idx="11">
                  <c:v>24</c:v>
                </c:pt>
                <c:pt idx="12">
                  <c:v>26</c:v>
                </c:pt>
                <c:pt idx="13">
                  <c:v>28</c:v>
                </c:pt>
                <c:pt idx="14">
                  <c:v>30</c:v>
                </c:pt>
                <c:pt idx="15">
                  <c:v>32</c:v>
                </c:pt>
              </c:numCache>
            </c:num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131.87586999999999</c:v>
                </c:pt>
                <c:pt idx="1">
                  <c:v>140.410721</c:v>
                </c:pt>
                <c:pt idx="2">
                  <c:v>135.93566899999999</c:v>
                </c:pt>
                <c:pt idx="3">
                  <c:v>138.0820160000001</c:v>
                </c:pt>
                <c:pt idx="4">
                  <c:v>136.03138750000008</c:v>
                </c:pt>
                <c:pt idx="5">
                  <c:v>142.76135249999999</c:v>
                </c:pt>
                <c:pt idx="6">
                  <c:v>138.2497254999999</c:v>
                </c:pt>
                <c:pt idx="7">
                  <c:v>138.83958449999992</c:v>
                </c:pt>
                <c:pt idx="8">
                  <c:v>144.54817199999999</c:v>
                </c:pt>
                <c:pt idx="9">
                  <c:v>150.11759949999998</c:v>
                </c:pt>
                <c:pt idx="10">
                  <c:v>154.33773800000009</c:v>
                </c:pt>
                <c:pt idx="11">
                  <c:v>158.84890750000008</c:v>
                </c:pt>
                <c:pt idx="12">
                  <c:v>165.87725850000001</c:v>
                </c:pt>
                <c:pt idx="13">
                  <c:v>165.08415199999999</c:v>
                </c:pt>
                <c:pt idx="14">
                  <c:v>171.21493549999991</c:v>
                </c:pt>
                <c:pt idx="15">
                  <c:v>174.17900099999991</c:v>
                </c:pt>
              </c:numCache>
            </c:numRef>
          </c:val>
        </c:ser>
        <c:marker val="1"/>
        <c:axId val="89769472"/>
        <c:axId val="89771392"/>
      </c:lineChart>
      <c:catAx>
        <c:axId val="8976947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2400"/>
                </a:pPr>
                <a:r>
                  <a:rPr lang="en-US" sz="2400"/>
                  <a:t># threads</a:t>
                </a:r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89771392"/>
        <c:crosses val="autoZero"/>
        <c:auto val="1"/>
        <c:lblAlgn val="ctr"/>
        <c:lblOffset val="100"/>
        <c:tickLblSkip val="2"/>
        <c:tickMarkSkip val="2"/>
      </c:catAx>
      <c:valAx>
        <c:axId val="89771392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2400"/>
                </a:pPr>
                <a:r>
                  <a:rPr lang="en-US" sz="2400"/>
                  <a:t>MB/second</a:t>
                </a:r>
                <a:r>
                  <a:rPr lang="en-US" sz="2400" baseline="0"/>
                  <a:t> written</a:t>
                </a:r>
                <a:endParaRPr lang="en-US" sz="2400"/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89769472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2400"/>
          </a:pPr>
          <a:endParaRPr lang="en-US"/>
        </a:p>
      </c:txPr>
    </c:legend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0.19417670217693375"/>
          <c:y val="4.8824934383202102E-2"/>
          <c:w val="0.58183032268025259"/>
          <c:h val="0.57232703412073493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Memory</c:v>
                </c:pt>
              </c:strCache>
            </c:strRef>
          </c:tx>
          <c:spPr>
            <a:solidFill>
              <a:srgbClr val="9BBB59"/>
            </a:solidFill>
          </c:spPr>
          <c:cat>
            <c:strRef>
              <c:f>Sheet1!$A$2:$A$4</c:f>
              <c:strCache>
                <c:ptCount val="3"/>
                <c:pt idx="0">
                  <c:v>SliceHash</c:v>
                </c:pt>
                <c:pt idx="1">
                  <c:v>BufferHash</c:v>
                </c:pt>
                <c:pt idx="2">
                  <c:v>SILT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0.60000000000000064</c:v>
                </c:pt>
                <c:pt idx="1">
                  <c:v>4</c:v>
                </c:pt>
                <c:pt idx="2">
                  <c:v>0.39000000000000068</c:v>
                </c:pt>
              </c:numCache>
            </c:numRef>
          </c:val>
        </c:ser>
        <c:ser>
          <c:idx val="2"/>
          <c:order val="1"/>
          <c:tx>
            <c:strRef>
              <c:f>Sheet1!$D$1</c:f>
              <c:strCache>
                <c:ptCount val="1"/>
              </c:strCache>
            </c:strRef>
          </c:tx>
          <c:val>
            <c:numRef>
              <c:f>Sheet1!$D$2:$D$4</c:f>
              <c:numCache>
                <c:formatCode>General</c:formatCode>
                <c:ptCount val="3"/>
              </c:numCache>
            </c:numRef>
          </c:val>
        </c:ser>
        <c:gapWidth val="50"/>
        <c:overlap val="-10"/>
        <c:axId val="100153984"/>
        <c:axId val="100172160"/>
      </c:barChart>
      <c:barChart>
        <c:barDir val="col"/>
        <c:grouping val="clustered"/>
        <c:ser>
          <c:idx val="3"/>
          <c:order val="2"/>
          <c:tx>
            <c:strRef>
              <c:f>Sheet1!$E$1</c:f>
              <c:strCache>
                <c:ptCount val="1"/>
              </c:strCache>
            </c:strRef>
          </c:tx>
          <c:val>
            <c:numRef>
              <c:f>Sheet1!$E$2:$E$4</c:f>
              <c:numCache>
                <c:formatCode>General</c:formatCode>
                <c:ptCount val="3"/>
              </c:numCache>
            </c:numRef>
          </c:val>
        </c:ser>
        <c:ser>
          <c:idx val="1"/>
          <c:order val="3"/>
          <c:tx>
            <c:strRef>
              <c:f>Sheet1!$C$1</c:f>
              <c:strCache>
                <c:ptCount val="1"/>
                <c:pt idx="0">
                  <c:v>CPU Utilization</c:v>
                </c:pt>
              </c:strCache>
            </c:strRef>
          </c:tx>
          <c:spPr>
            <a:solidFill>
              <a:schemeClr val="accent4"/>
            </a:solidFill>
          </c:spPr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24</c:v>
                </c:pt>
                <c:pt idx="2">
                  <c:v>67</c:v>
                </c:pt>
              </c:numCache>
            </c:numRef>
          </c:val>
        </c:ser>
        <c:gapWidth val="50"/>
        <c:overlap val="-10"/>
        <c:axId val="100176256"/>
        <c:axId val="100174080"/>
      </c:barChart>
      <c:catAx>
        <c:axId val="100153984"/>
        <c:scaling>
          <c:orientation val="minMax"/>
        </c:scaling>
        <c:axPos val="b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100172160"/>
        <c:crosses val="autoZero"/>
        <c:auto val="1"/>
        <c:lblAlgn val="ctr"/>
        <c:lblOffset val="0"/>
      </c:catAx>
      <c:valAx>
        <c:axId val="100172160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2400">
                    <a:solidFill>
                      <a:schemeClr val="accent3"/>
                    </a:solidFill>
                  </a:defRPr>
                </a:pPr>
                <a:r>
                  <a:rPr lang="en-US" sz="2400">
                    <a:solidFill>
                      <a:schemeClr val="accent3"/>
                    </a:solidFill>
                  </a:rPr>
                  <a:t>Memory (bytes/entry)</a:t>
                </a:r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2400">
                <a:solidFill>
                  <a:sysClr val="windowText" lastClr="000000"/>
                </a:solidFill>
              </a:defRPr>
            </a:pPr>
            <a:endParaRPr lang="en-US"/>
          </a:p>
        </c:txPr>
        <c:crossAx val="100153984"/>
        <c:crosses val="autoZero"/>
        <c:crossBetween val="between"/>
      </c:valAx>
      <c:valAx>
        <c:axId val="100174080"/>
        <c:scaling>
          <c:orientation val="minMax"/>
        </c:scaling>
        <c:axPos val="r"/>
        <c:title>
          <c:tx>
            <c:rich>
              <a:bodyPr rot="-5400000" vert="horz"/>
              <a:lstStyle/>
              <a:p>
                <a:pPr>
                  <a:defRPr sz="2400">
                    <a:solidFill>
                      <a:schemeClr val="accent4"/>
                    </a:solidFill>
                  </a:defRPr>
                </a:pPr>
                <a:r>
                  <a:rPr lang="en-US" sz="2400">
                    <a:solidFill>
                      <a:schemeClr val="accent4"/>
                    </a:solidFill>
                  </a:rPr>
                  <a:t>CPU</a:t>
                </a:r>
                <a:r>
                  <a:rPr lang="en-US" sz="2400" baseline="0">
                    <a:solidFill>
                      <a:schemeClr val="accent4"/>
                    </a:solidFill>
                  </a:rPr>
                  <a:t> utilization (%)</a:t>
                </a:r>
                <a:endParaRPr lang="en-US" sz="2400">
                  <a:solidFill>
                    <a:schemeClr val="accent4"/>
                  </a:solidFill>
                </a:endParaRPr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2400">
                <a:solidFill>
                  <a:sysClr val="windowText" lastClr="000000"/>
                </a:solidFill>
              </a:defRPr>
            </a:pPr>
            <a:endParaRPr lang="en-US"/>
          </a:p>
        </c:txPr>
        <c:crossAx val="100176256"/>
        <c:crosses val="max"/>
        <c:crossBetween val="between"/>
      </c:valAx>
      <c:catAx>
        <c:axId val="100176256"/>
        <c:scaling>
          <c:orientation val="minMax"/>
        </c:scaling>
        <c:delete val="1"/>
        <c:axPos val="b"/>
        <c:tickLblPos val="none"/>
        <c:crossAx val="100174080"/>
        <c:crosses val="autoZero"/>
        <c:auto val="1"/>
        <c:lblAlgn val="ctr"/>
        <c:lblOffset val="100"/>
      </c:catAx>
    </c:plotArea>
    <c:plotVisOnly val="1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/>
      <c:barChart>
        <c:barDir val="col"/>
        <c:grouping val="clustered"/>
        <c:ser>
          <c:idx val="0"/>
          <c:order val="0"/>
          <c:cat>
            <c:strRef>
              <c:f>mixedperf!$A$1:$A$3</c:f>
              <c:strCache>
                <c:ptCount val="3"/>
                <c:pt idx="0">
                  <c:v>SliceHash</c:v>
                </c:pt>
                <c:pt idx="1">
                  <c:v>BufferHash</c:v>
                </c:pt>
                <c:pt idx="2">
                  <c:v>SILT</c:v>
                </c:pt>
              </c:strCache>
            </c:strRef>
          </c:cat>
          <c:val>
            <c:numRef>
              <c:f>mixedperf!$B$1:$B$3</c:f>
              <c:numCache>
                <c:formatCode>General</c:formatCode>
                <c:ptCount val="3"/>
                <c:pt idx="0">
                  <c:v>105</c:v>
                </c:pt>
                <c:pt idx="1">
                  <c:v>121</c:v>
                </c:pt>
                <c:pt idx="2">
                  <c:v>92</c:v>
                </c:pt>
              </c:numCache>
            </c:numRef>
          </c:val>
        </c:ser>
        <c:gapWidth val="50"/>
        <c:axId val="100187136"/>
        <c:axId val="100193024"/>
      </c:barChart>
      <c:catAx>
        <c:axId val="100187136"/>
        <c:scaling>
          <c:orientation val="minMax"/>
        </c:scaling>
        <c:axPos val="b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100193024"/>
        <c:crosses val="autoZero"/>
        <c:auto val="1"/>
        <c:lblAlgn val="ctr"/>
        <c:lblOffset val="0"/>
      </c:catAx>
      <c:valAx>
        <c:axId val="100193024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2400">
                    <a:solidFill>
                      <a:schemeClr val="accent1"/>
                    </a:solidFill>
                  </a:defRPr>
                </a:pPr>
                <a:r>
                  <a:rPr lang="en-US" sz="2400">
                    <a:solidFill>
                      <a:schemeClr val="accent1"/>
                    </a:solidFill>
                  </a:rPr>
                  <a:t>Throughput (K ops/sec)</a:t>
                </a:r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100187136"/>
        <c:crosses val="autoZero"/>
        <c:crossBetween val="between"/>
      </c:valAx>
    </c:plotArea>
    <c:plotVisOnly val="1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Sheet1!$A$2:$A$7</c:f>
              <c:strCache>
                <c:ptCount val="6"/>
                <c:pt idx="0">
                  <c:v>SH 64 Inc.</c:v>
                </c:pt>
                <c:pt idx="1">
                  <c:v>SH 48 Inc.</c:v>
                </c:pt>
                <c:pt idx="2">
                  <c:v>SH 32 Inc.</c:v>
                </c:pt>
                <c:pt idx="3">
                  <c:v>SH 16 Inc.</c:v>
                </c:pt>
                <c:pt idx="4">
                  <c:v>BufferHash</c:v>
                </c:pt>
                <c:pt idx="5">
                  <c:v>SILT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70</c:v>
                </c:pt>
                <c:pt idx="1">
                  <c:v>79</c:v>
                </c:pt>
                <c:pt idx="2">
                  <c:v>93</c:v>
                </c:pt>
                <c:pt idx="3">
                  <c:v>110</c:v>
                </c:pt>
                <c:pt idx="4">
                  <c:v>121</c:v>
                </c:pt>
                <c:pt idx="5">
                  <c:v>92</c:v>
                </c:pt>
              </c:numCache>
            </c:numRef>
          </c:val>
        </c:ser>
        <c:gapWidth val="50"/>
        <c:axId val="100455552"/>
        <c:axId val="100457088"/>
      </c:barChart>
      <c:catAx>
        <c:axId val="100455552"/>
        <c:scaling>
          <c:orientation val="minMax"/>
        </c:scaling>
        <c:axPos val="b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100457088"/>
        <c:crosses val="autoZero"/>
        <c:auto val="1"/>
        <c:lblAlgn val="ctr"/>
        <c:lblOffset val="0"/>
      </c:catAx>
      <c:valAx>
        <c:axId val="100457088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2400">
                    <a:solidFill>
                      <a:schemeClr val="accent1"/>
                    </a:solidFill>
                  </a:defRPr>
                </a:pPr>
                <a:r>
                  <a:rPr lang="en-US" sz="2400">
                    <a:solidFill>
                      <a:schemeClr val="accent1"/>
                    </a:solidFill>
                  </a:rPr>
                  <a:t>Throughput (K ops/sec)</a:t>
                </a:r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2400">
                <a:solidFill>
                  <a:sysClr val="windowText" lastClr="000000"/>
                </a:solidFill>
              </a:defRPr>
            </a:pPr>
            <a:endParaRPr lang="en-US"/>
          </a:p>
        </c:txPr>
        <c:crossAx val="100455552"/>
        <c:crosses val="autoZero"/>
        <c:crossBetween val="between"/>
      </c:valAx>
    </c:plotArea>
    <c:plotVisOnly val="1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0.28619422572178477"/>
          <c:y val="5.6458276767128272E-2"/>
          <c:w val="0.68150034109172331"/>
          <c:h val="0.56526721875282826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Memory</c:v>
                </c:pt>
              </c:strCache>
            </c:strRef>
          </c:tx>
          <c:spPr>
            <a:solidFill>
              <a:srgbClr val="9BBB59"/>
            </a:solidFill>
          </c:spPr>
          <c:cat>
            <c:strRef>
              <c:f>Sheet1!$A$2:$A$7</c:f>
              <c:strCache>
                <c:ptCount val="6"/>
                <c:pt idx="0">
                  <c:v>SH 64 Inc.</c:v>
                </c:pt>
                <c:pt idx="1">
                  <c:v>SH 48 Inc.</c:v>
                </c:pt>
                <c:pt idx="2">
                  <c:v>SH 32 Inc.</c:v>
                </c:pt>
                <c:pt idx="3">
                  <c:v>SH 16 Inc.</c:v>
                </c:pt>
                <c:pt idx="4">
                  <c:v>BufferHash</c:v>
                </c:pt>
                <c:pt idx="5">
                  <c:v>SILT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0.27</c:v>
                </c:pt>
                <c:pt idx="1">
                  <c:v>0.38000000000000067</c:v>
                </c:pt>
                <c:pt idx="2">
                  <c:v>0.60000000000000064</c:v>
                </c:pt>
                <c:pt idx="3">
                  <c:v>1.1000000000000001</c:v>
                </c:pt>
                <c:pt idx="4">
                  <c:v>4</c:v>
                </c:pt>
                <c:pt idx="5">
                  <c:v>0.21000000000000021</c:v>
                </c:pt>
              </c:numCache>
            </c:numRef>
          </c:val>
        </c:ser>
        <c:gapWidth val="50"/>
        <c:axId val="100497280"/>
        <c:axId val="100498816"/>
      </c:barChart>
      <c:catAx>
        <c:axId val="100497280"/>
        <c:scaling>
          <c:orientation val="minMax"/>
        </c:scaling>
        <c:axPos val="b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100498816"/>
        <c:crosses val="autoZero"/>
        <c:auto val="1"/>
        <c:lblAlgn val="ctr"/>
        <c:lblOffset val="0"/>
      </c:catAx>
      <c:valAx>
        <c:axId val="100498816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2400">
                    <a:solidFill>
                      <a:schemeClr val="accent3"/>
                    </a:solidFill>
                  </a:defRPr>
                </a:pPr>
                <a:r>
                  <a:rPr lang="en-US" sz="2400">
                    <a:solidFill>
                      <a:schemeClr val="accent3"/>
                    </a:solidFill>
                  </a:rPr>
                  <a:t>Memory (bytes/entry)</a:t>
                </a:r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2400">
                <a:solidFill>
                  <a:sysClr val="windowText" lastClr="000000"/>
                </a:solidFill>
              </a:defRPr>
            </a:pPr>
            <a:endParaRPr lang="en-US"/>
          </a:p>
        </c:txPr>
        <c:crossAx val="100497280"/>
        <c:crosses val="autoZero"/>
        <c:crossBetween val="between"/>
      </c:valAx>
    </c:plotArea>
    <c:plotVisOnly val="1"/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6985772611756881"/>
          <c:y val="6.4523744876717998E-2"/>
          <c:w val="0.71244948548098164"/>
          <c:h val="0.56773150103956993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Lookup-only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Count val="3"/>
                <c:pt idx="0">
                  <c:v>SliceHash</c:v>
                </c:pt>
                <c:pt idx="1">
                  <c:v>BufferHash</c:v>
                </c:pt>
                <c:pt idx="2">
                  <c:v>SILT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</c:v>
                </c:pt>
                <c:pt idx="1">
                  <c:v>56</c:v>
                </c:pt>
                <c:pt idx="2">
                  <c:v>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Mixed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Sheet1!$A$2:$A$4</c:f>
              <c:strCache>
                <c:ptCount val="3"/>
                <c:pt idx="0">
                  <c:v>SliceHash</c:v>
                </c:pt>
                <c:pt idx="1">
                  <c:v>BufferHash</c:v>
                </c:pt>
                <c:pt idx="2">
                  <c:v>SILT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105</c:v>
                </c:pt>
                <c:pt idx="1">
                  <c:v>121</c:v>
                </c:pt>
                <c:pt idx="2">
                  <c:v>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Insert-only</c:v>
                </c:pt>
              </c:strCache>
            </c:strRef>
          </c:tx>
          <c:spPr>
            <a:solidFill>
              <a:srgbClr val="FFFF00"/>
            </a:solidFill>
          </c:spPr>
          <c:cat>
            <c:strRef>
              <c:f>Sheet1!$A$2:$A$4</c:f>
              <c:strCache>
                <c:ptCount val="3"/>
                <c:pt idx="0">
                  <c:v>SliceHash</c:v>
                </c:pt>
                <c:pt idx="1">
                  <c:v>BufferHash</c:v>
                </c:pt>
                <c:pt idx="2">
                  <c:v>SILT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125</c:v>
                </c:pt>
                <c:pt idx="1">
                  <c:v>1100</c:v>
                </c:pt>
                <c:pt idx="2">
                  <c:v>254</c:v>
                </c:pt>
              </c:numCache>
            </c:numRef>
          </c:val>
        </c:ser>
        <c:gapWidth val="50"/>
        <c:overlap val="-10"/>
        <c:axId val="100045952"/>
        <c:axId val="100047488"/>
      </c:barChart>
      <c:catAx>
        <c:axId val="100045952"/>
        <c:scaling>
          <c:orientation val="minMax"/>
        </c:scaling>
        <c:axPos val="b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100047488"/>
        <c:crosses val="autoZero"/>
        <c:auto val="1"/>
        <c:lblAlgn val="ctr"/>
        <c:lblOffset val="100"/>
      </c:catAx>
      <c:valAx>
        <c:axId val="100047488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2400">
                    <a:solidFill>
                      <a:schemeClr val="accent1"/>
                    </a:solidFill>
                  </a:defRPr>
                </a:pPr>
                <a:r>
                  <a:rPr lang="en-US" sz="2400">
                    <a:solidFill>
                      <a:schemeClr val="accent1"/>
                    </a:solidFill>
                  </a:rPr>
                  <a:t>Throughput (K ops/sec)</a:t>
                </a:r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10004595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25632168138073735"/>
          <c:y val="6.9187773295524099E-2"/>
          <c:w val="0.40852455943007132"/>
          <c:h val="0.26510091513446404"/>
        </c:manualLayout>
      </c:layout>
      <c:spPr>
        <a:noFill/>
        <a:ln>
          <a:noFill/>
        </a:ln>
      </c:spPr>
      <c:txPr>
        <a:bodyPr/>
        <a:lstStyle/>
        <a:p>
          <a:pPr>
            <a:defRPr sz="2400"/>
          </a:pPr>
          <a:endParaRPr lang="en-US"/>
        </a:p>
      </c:txPr>
    </c:legend>
    <c:plotVisOnly val="1"/>
  </c:chart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Lookup-only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Sheet1!$A$2:$A$4</c:f>
              <c:strCache>
                <c:ptCount val="3"/>
                <c:pt idx="0">
                  <c:v>SH</c:v>
                </c:pt>
                <c:pt idx="1">
                  <c:v>BH</c:v>
                </c:pt>
                <c:pt idx="2">
                  <c:v>SILT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0.60000000000000064</c:v>
                </c:pt>
                <c:pt idx="1">
                  <c:v>4</c:v>
                </c:pt>
                <c:pt idx="2">
                  <c:v>0.21000000000000021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Mixed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Sheet1!$A$2:$A$4</c:f>
              <c:strCache>
                <c:ptCount val="3"/>
                <c:pt idx="0">
                  <c:v>SH</c:v>
                </c:pt>
                <c:pt idx="1">
                  <c:v>BH</c:v>
                </c:pt>
                <c:pt idx="2">
                  <c:v>SILT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0.60000000000000064</c:v>
                </c:pt>
                <c:pt idx="1">
                  <c:v>4</c:v>
                </c:pt>
                <c:pt idx="2">
                  <c:v>0.39000000000000068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Insert-only</c:v>
                </c:pt>
              </c:strCache>
            </c:strRef>
          </c:tx>
          <c:spPr>
            <a:solidFill>
              <a:srgbClr val="FFFF00"/>
            </a:solidFill>
          </c:spPr>
          <c:cat>
            <c:strRef>
              <c:f>Sheet1!$A$2:$A$4</c:f>
              <c:strCache>
                <c:ptCount val="3"/>
                <c:pt idx="0">
                  <c:v>SH</c:v>
                </c:pt>
                <c:pt idx="1">
                  <c:v>BH</c:v>
                </c:pt>
                <c:pt idx="2">
                  <c:v>SILT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0.60000000000000064</c:v>
                </c:pt>
                <c:pt idx="1">
                  <c:v>4</c:v>
                </c:pt>
                <c:pt idx="2">
                  <c:v>0.83500000000000063</c:v>
                </c:pt>
              </c:numCache>
            </c:numRef>
          </c:val>
        </c:ser>
        <c:gapWidth val="50"/>
        <c:overlap val="-10"/>
        <c:axId val="100069376"/>
        <c:axId val="100070912"/>
      </c:barChart>
      <c:catAx>
        <c:axId val="100069376"/>
        <c:scaling>
          <c:orientation val="minMax"/>
        </c:scaling>
        <c:axPos val="b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100070912"/>
        <c:crosses val="autoZero"/>
        <c:auto val="1"/>
        <c:lblAlgn val="ctr"/>
        <c:lblOffset val="100"/>
      </c:catAx>
      <c:valAx>
        <c:axId val="100070912"/>
        <c:scaling>
          <c:orientation val="minMax"/>
          <c:max val="4"/>
        </c:scaling>
        <c:axPos val="l"/>
        <c:majorGridlines/>
        <c:numFmt formatCode="General" sourceLinked="1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100069376"/>
        <c:crosses val="autoZero"/>
        <c:crossBetween val="between"/>
      </c:valAx>
    </c:plotArea>
    <c:plotVisOnly val="1"/>
  </c:chart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0.20496298544030664"/>
          <c:y val="9.8114758127144222E-2"/>
          <c:w val="0.79503701455969522"/>
          <c:h val="0.64706243180276557"/>
        </c:manualLayout>
      </c:layout>
      <c:barChart>
        <c:barDir val="col"/>
        <c:grouping val="clustered"/>
        <c:ser>
          <c:idx val="0"/>
          <c:order val="0"/>
          <c:tx>
            <c:strRef>
              <c:f>Sheet1!$B$6</c:f>
              <c:strCache>
                <c:ptCount val="1"/>
                <c:pt idx="0">
                  <c:v>Lookup-only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Sheet1!$A$7:$A$9</c:f>
              <c:strCache>
                <c:ptCount val="3"/>
                <c:pt idx="0">
                  <c:v>SH</c:v>
                </c:pt>
                <c:pt idx="1">
                  <c:v>BH</c:v>
                </c:pt>
                <c:pt idx="2">
                  <c:v>SILT</c:v>
                </c:pt>
              </c:strCache>
            </c:strRef>
          </c:cat>
          <c:val>
            <c:numRef>
              <c:f>Sheet1!$B$7:$B$9</c:f>
              <c:numCache>
                <c:formatCode>General</c:formatCode>
                <c:ptCount val="3"/>
                <c:pt idx="0">
                  <c:v>16</c:v>
                </c:pt>
                <c:pt idx="1">
                  <c:v>18</c:v>
                </c:pt>
                <c:pt idx="2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Sheet1!$C$6</c:f>
              <c:strCache>
                <c:ptCount val="1"/>
                <c:pt idx="0">
                  <c:v>Mixed</c:v>
                </c:pt>
              </c:strCache>
            </c:strRef>
          </c:tx>
          <c:spPr>
            <a:solidFill>
              <a:schemeClr val="accent6"/>
            </a:solidFill>
          </c:spPr>
          <c:cat>
            <c:strRef>
              <c:f>Sheet1!$A$7:$A$9</c:f>
              <c:strCache>
                <c:ptCount val="3"/>
                <c:pt idx="0">
                  <c:v>SH</c:v>
                </c:pt>
                <c:pt idx="1">
                  <c:v>BH</c:v>
                </c:pt>
                <c:pt idx="2">
                  <c:v>SILT</c:v>
                </c:pt>
              </c:strCache>
            </c:strRef>
          </c:cat>
          <c:val>
            <c:numRef>
              <c:f>Sheet1!$C$7:$C$9</c:f>
              <c:numCache>
                <c:formatCode>General</c:formatCode>
                <c:ptCount val="3"/>
                <c:pt idx="0">
                  <c:v>12</c:v>
                </c:pt>
                <c:pt idx="1">
                  <c:v>24</c:v>
                </c:pt>
                <c:pt idx="2">
                  <c:v>67</c:v>
                </c:pt>
              </c:numCache>
            </c:numRef>
          </c:val>
        </c:ser>
        <c:ser>
          <c:idx val="2"/>
          <c:order val="2"/>
          <c:tx>
            <c:strRef>
              <c:f>Sheet1!$D$6</c:f>
              <c:strCache>
                <c:ptCount val="1"/>
                <c:pt idx="0">
                  <c:v>Insert-only</c:v>
                </c:pt>
              </c:strCache>
            </c:strRef>
          </c:tx>
          <c:spPr>
            <a:solidFill>
              <a:srgbClr val="FFFF00"/>
            </a:solidFill>
          </c:spPr>
          <c:cat>
            <c:strRef>
              <c:f>Sheet1!$A$7:$A$9</c:f>
              <c:strCache>
                <c:ptCount val="3"/>
                <c:pt idx="0">
                  <c:v>SH</c:v>
                </c:pt>
                <c:pt idx="1">
                  <c:v>BH</c:v>
                </c:pt>
                <c:pt idx="2">
                  <c:v>SILT</c:v>
                </c:pt>
              </c:strCache>
            </c:strRef>
          </c:cat>
          <c:val>
            <c:numRef>
              <c:f>Sheet1!$D$7:$D$9</c:f>
              <c:numCache>
                <c:formatCode>General</c:formatCode>
                <c:ptCount val="3"/>
                <c:pt idx="0">
                  <c:v>8</c:v>
                </c:pt>
                <c:pt idx="1">
                  <c:v>92</c:v>
                </c:pt>
                <c:pt idx="2">
                  <c:v>72</c:v>
                </c:pt>
              </c:numCache>
            </c:numRef>
          </c:val>
        </c:ser>
        <c:gapWidth val="50"/>
        <c:overlap val="-10"/>
        <c:axId val="100689792"/>
        <c:axId val="100691328"/>
      </c:barChart>
      <c:catAx>
        <c:axId val="100689792"/>
        <c:scaling>
          <c:orientation val="minMax"/>
        </c:scaling>
        <c:axPos val="b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100691328"/>
        <c:crosses val="autoZero"/>
        <c:auto val="1"/>
        <c:lblAlgn val="ctr"/>
        <c:lblOffset val="100"/>
      </c:catAx>
      <c:valAx>
        <c:axId val="100691328"/>
        <c:scaling>
          <c:orientation val="minMax"/>
        </c:scaling>
        <c:axPos val="l"/>
        <c:majorGridlines/>
        <c:numFmt formatCode="General" sourceLinked="1"/>
        <c:tickLblPos val="nextTo"/>
        <c:txPr>
          <a:bodyPr/>
          <a:lstStyle/>
          <a:p>
            <a:pPr>
              <a:defRPr sz="2400"/>
            </a:pPr>
            <a:endParaRPr lang="en-US"/>
          </a:p>
        </c:txPr>
        <c:crossAx val="100689792"/>
        <c:crosses val="autoZero"/>
        <c:crossBetween val="between"/>
        <c:majorUnit val="25"/>
      </c:valAx>
    </c:plotArea>
    <c:plotVisOnly val="1"/>
  </c:chart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854DB3-B036-4086-AD21-33A2EF989256}" type="datetimeFigureOut">
              <a:rPr lang="en-US" smtClean="0"/>
              <a:pPr/>
              <a:t>10/21/2014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AA8E5-587D-4B49-9DD4-016074986E7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AA8E5-587D-4B49-9DD4-016074986E76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AA8E5-587D-4B49-9DD4-016074986E76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AA8E5-587D-4B49-9DD4-016074986E76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AA8E5-587D-4B49-9DD4-016074986E76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AA8E5-587D-4B49-9DD4-016074986E76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AA8E5-587D-4B49-9DD4-016074986E76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AA8E5-587D-4B49-9DD4-016074986E76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EF5FA-8F08-413D-BB85-AC5B15DED70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10/21/2014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32133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rgbClr val="C000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8CEEF-273E-4EF2-92A6-9104EF0C595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10/21/2014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680504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2B088-5FDD-4464-BF9B-1357DE82D86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10/21/2014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28536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7413C-04D0-41BF-A966-F664D58E911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10/21/2014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74768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D9CE4-CFB6-4E6B-A2AD-2B5145BE352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10/21/2014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46356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AFDDD-198B-461F-93AD-6DDE50068EE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10/21/2014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76672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B4A26-A0E6-4000-BFFD-C1551396748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10/21/2014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86337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F4613-8772-482B-87E7-7FD2433FFEF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10/21/2014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41905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A97D9-00FA-40F7-BFD3-8B88577123D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10/21/2014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11331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5E669-276B-4335-8D2C-CD93F06384C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10/21/2014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11483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72ED0-D759-4572-8E7D-0DB7F9093A6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10/21/2014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065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6CDEE-6590-4365-BAED-6CE02CC8F67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10/21/2014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96179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wmf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chart" Target="../charts/chart4.xml"/><Relationship Id="rId7" Type="http://schemas.openxmlformats.org/officeDocument/2006/relationships/image" Target="../media/image24.wmf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657600"/>
            <a:ext cx="8763000" cy="12954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Ashok </a:t>
            </a:r>
            <a:r>
              <a:rPr lang="en-US" dirty="0" err="1" smtClean="0">
                <a:solidFill>
                  <a:schemeClr val="tx1"/>
                </a:solidFill>
              </a:rPr>
              <a:t>Anand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b="1" u="sng" dirty="0" smtClean="0">
                <a:solidFill>
                  <a:schemeClr val="tx1"/>
                </a:solidFill>
              </a:rPr>
              <a:t>Aaron </a:t>
            </a:r>
            <a:r>
              <a:rPr lang="en-US" b="1" u="sng" dirty="0" err="1" smtClean="0">
                <a:solidFill>
                  <a:schemeClr val="tx1"/>
                </a:solidFill>
              </a:rPr>
              <a:t>Gember</a:t>
            </a:r>
            <a:r>
              <a:rPr lang="en-US" b="1" u="sng" dirty="0" smtClean="0">
                <a:solidFill>
                  <a:schemeClr val="tx1"/>
                </a:solidFill>
              </a:rPr>
              <a:t>-Jacobson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Collin </a:t>
            </a:r>
            <a:r>
              <a:rPr lang="en-US" dirty="0" err="1" smtClean="0">
                <a:solidFill>
                  <a:schemeClr val="tx1"/>
                </a:solidFill>
              </a:rPr>
              <a:t>Engstrom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dirty="0" err="1" smtClean="0">
                <a:solidFill>
                  <a:schemeClr val="tx1"/>
                </a:solidFill>
              </a:rPr>
              <a:t>Aditya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Akella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schemeClr val="tx1"/>
                </a:solidFill>
              </a:rPr>
              <a:pPr/>
              <a:t>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-304800" y="1295400"/>
            <a:ext cx="9677400" cy="1828800"/>
          </a:xfrm>
          <a:prstGeom prst="rect">
            <a:avLst/>
          </a:prstGeom>
          <a:gradFill flip="none" rotWithShape="1">
            <a:gsLst>
              <a:gs pos="0">
                <a:sysClr val="window" lastClr="FFFFFF">
                  <a:lumMod val="8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5400000" scaled="0"/>
            <a:tileRect/>
          </a:gradFill>
          <a:ln w="254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>
            <a:innerShdw blurRad="114300">
              <a:prstClr val="black"/>
            </a:innerShdw>
          </a:effectLst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sysClr val="window" lastClr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47800"/>
            <a:ext cx="8229600" cy="1524000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C00000"/>
                </a:solidFill>
              </a:rPr>
              <a:t>Design Patterns for Tunable and Efficient SSD-based Indexes</a:t>
            </a:r>
            <a:endParaRPr lang="en-US" sz="4800" b="1" dirty="0">
              <a:solidFill>
                <a:srgbClr val="C00000"/>
              </a:solidFill>
            </a:endParaRPr>
          </a:p>
        </p:txBody>
      </p:sp>
      <p:pic>
        <p:nvPicPr>
          <p:cNvPr id="9" name="Picture 8" descr="instartlogic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5340236"/>
            <a:ext cx="3170195" cy="751905"/>
          </a:xfrm>
          <a:prstGeom prst="rect">
            <a:avLst/>
          </a:prstGeom>
        </p:spPr>
      </p:pic>
      <p:pic>
        <p:nvPicPr>
          <p:cNvPr id="11" name="Picture 10" descr="uwlogo_web_sm_fl_wht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638800" y="5181600"/>
            <a:ext cx="2971800" cy="10007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 descr="cell_towe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78524" y="4045803"/>
            <a:ext cx="1066800" cy="1422400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 rot="1191095">
            <a:off x="6375290" y="4062100"/>
            <a:ext cx="519343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 rot="20408905" flipH="1">
            <a:off x="6962614" y="4058727"/>
            <a:ext cx="519343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loud 30"/>
          <p:cNvSpPr/>
          <p:nvPr/>
        </p:nvSpPr>
        <p:spPr>
          <a:xfrm>
            <a:off x="3202316" y="1981200"/>
            <a:ext cx="2133600" cy="1143000"/>
          </a:xfrm>
          <a:prstGeom prst="clou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 flipH="1" flipV="1">
            <a:off x="2668916" y="2362200"/>
            <a:ext cx="228600" cy="457200"/>
          </a:xfrm>
          <a:prstGeom prst="line">
            <a:avLst/>
          </a:prstGeom>
          <a:ln w="1524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 flipV="1">
            <a:off x="5564516" y="2209800"/>
            <a:ext cx="228600" cy="381000"/>
          </a:xfrm>
          <a:prstGeom prst="line">
            <a:avLst/>
          </a:prstGeom>
          <a:ln w="1524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Large hash-based indexes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8916" y="2275582"/>
            <a:ext cx="224343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WAN optimizers</a:t>
            </a:r>
            <a:br>
              <a:rPr lang="en-US" sz="2400" b="1" dirty="0" smtClean="0"/>
            </a:br>
            <a:r>
              <a:rPr lang="en-US" sz="2000" i="1" dirty="0" smtClean="0"/>
              <a:t>[</a:t>
            </a:r>
            <a:r>
              <a:rPr lang="en-US" sz="2000" i="1" dirty="0" err="1" smtClean="0"/>
              <a:t>Anand</a:t>
            </a:r>
            <a:r>
              <a:rPr lang="en-US" sz="2000" i="1" dirty="0" smtClean="0"/>
              <a:t> et al. </a:t>
            </a:r>
            <a:br>
              <a:rPr lang="en-US" sz="2000" i="1" dirty="0" smtClean="0"/>
            </a:br>
            <a:r>
              <a:rPr lang="en-US" sz="2000" i="1" dirty="0" smtClean="0"/>
              <a:t>SIGCOMM ’08]</a:t>
            </a:r>
            <a:endParaRPr lang="en-US" sz="2000" i="1" dirty="0"/>
          </a:p>
        </p:txBody>
      </p:sp>
      <p:sp>
        <p:nvSpPr>
          <p:cNvPr id="15" name="TextBox 14"/>
          <p:cNvSpPr txBox="1"/>
          <p:nvPr/>
        </p:nvSpPr>
        <p:spPr>
          <a:xfrm>
            <a:off x="2590800" y="4876800"/>
            <a:ext cx="266553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De-duplication</a:t>
            </a:r>
            <a:br>
              <a:rPr lang="en-US" sz="2400" b="1" dirty="0" smtClean="0"/>
            </a:br>
            <a:r>
              <a:rPr lang="en-US" sz="2400" b="1" dirty="0" smtClean="0"/>
              <a:t>systems</a:t>
            </a:r>
            <a:br>
              <a:rPr lang="en-US" sz="2400" b="1" dirty="0" smtClean="0"/>
            </a:br>
            <a:r>
              <a:rPr lang="en-US" sz="2000" i="1" dirty="0" smtClean="0"/>
              <a:t>[Quinlan et al. FAST ‘02]</a:t>
            </a:r>
            <a:endParaRPr lang="en-US" sz="2000" b="1" dirty="0"/>
          </a:p>
        </p:txBody>
      </p:sp>
      <p:pic>
        <p:nvPicPr>
          <p:cNvPr id="17" name="Picture 16" descr="funnel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8200" y="4038600"/>
            <a:ext cx="1524000" cy="1524000"/>
          </a:xfrm>
          <a:prstGeom prst="rect">
            <a:avLst/>
          </a:prstGeom>
        </p:spPr>
      </p:pic>
      <p:cxnSp>
        <p:nvCxnSpPr>
          <p:cNvPr id="33" name="Straight Connector 32"/>
          <p:cNvCxnSpPr/>
          <p:nvPr/>
        </p:nvCxnSpPr>
        <p:spPr>
          <a:xfrm flipV="1">
            <a:off x="3659516" y="2133600"/>
            <a:ext cx="1143000" cy="609600"/>
          </a:xfrm>
          <a:prstGeom prst="line">
            <a:avLst/>
          </a:prstGeom>
          <a:ln w="381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3" name="Picture 12" descr="steelhead_applianc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440316" y="2667000"/>
            <a:ext cx="1739502" cy="457200"/>
          </a:xfrm>
          <a:prstGeom prst="rect">
            <a:avLst/>
          </a:prstGeom>
        </p:spPr>
      </p:pic>
      <p:pic>
        <p:nvPicPr>
          <p:cNvPr id="20" name="Picture 19" descr="steelhead_applianc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flipH="1">
            <a:off x="4573916" y="1905000"/>
            <a:ext cx="1739502" cy="457200"/>
          </a:xfrm>
          <a:prstGeom prst="rect">
            <a:avLst/>
          </a:prstGeom>
        </p:spPr>
      </p:pic>
      <p:pic>
        <p:nvPicPr>
          <p:cNvPr id="42" name="Picture 41" descr="server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564516" y="2514600"/>
            <a:ext cx="685686" cy="685686"/>
          </a:xfrm>
          <a:prstGeom prst="rect">
            <a:avLst/>
          </a:prstGeom>
        </p:spPr>
      </p:pic>
      <p:pic>
        <p:nvPicPr>
          <p:cNvPr id="44" name="Picture 43" descr="server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364116" y="1828800"/>
            <a:ext cx="685686" cy="685686"/>
          </a:xfrm>
          <a:prstGeom prst="rect">
            <a:avLst/>
          </a:prstGeom>
        </p:spPr>
      </p:pic>
      <p:sp>
        <p:nvSpPr>
          <p:cNvPr id="56" name="Cube 55"/>
          <p:cNvSpPr/>
          <p:nvPr/>
        </p:nvSpPr>
        <p:spPr>
          <a:xfrm rot="629993">
            <a:off x="794184" y="3765984"/>
            <a:ext cx="388958" cy="388958"/>
          </a:xfrm>
          <a:prstGeom prst="cub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ube 56"/>
          <p:cNvSpPr/>
          <p:nvPr/>
        </p:nvSpPr>
        <p:spPr>
          <a:xfrm rot="1023669">
            <a:off x="1592522" y="3934701"/>
            <a:ext cx="388959" cy="388959"/>
          </a:xfrm>
          <a:prstGeom prst="cub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ube 57"/>
          <p:cNvSpPr/>
          <p:nvPr/>
        </p:nvSpPr>
        <p:spPr>
          <a:xfrm>
            <a:off x="1143000" y="3962400"/>
            <a:ext cx="388958" cy="388958"/>
          </a:xfrm>
          <a:prstGeom prst="cub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Cube 58"/>
          <p:cNvSpPr/>
          <p:nvPr/>
        </p:nvSpPr>
        <p:spPr>
          <a:xfrm rot="20361147">
            <a:off x="1231357" y="3585350"/>
            <a:ext cx="388958" cy="388958"/>
          </a:xfrm>
          <a:prstGeom prst="cub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ube 59"/>
          <p:cNvSpPr/>
          <p:nvPr/>
        </p:nvSpPr>
        <p:spPr>
          <a:xfrm rot="20894587">
            <a:off x="2016747" y="3845547"/>
            <a:ext cx="388958" cy="388958"/>
          </a:xfrm>
          <a:prstGeom prst="cub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ube 60"/>
          <p:cNvSpPr/>
          <p:nvPr/>
        </p:nvSpPr>
        <p:spPr>
          <a:xfrm>
            <a:off x="1676400" y="3581400"/>
            <a:ext cx="388958" cy="388958"/>
          </a:xfrm>
          <a:prstGeom prst="cub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 descr="funnel.png"/>
          <p:cNvPicPr>
            <a:picLocks noChangeAspect="1"/>
          </p:cNvPicPr>
          <p:nvPr/>
        </p:nvPicPr>
        <p:blipFill>
          <a:blip r:embed="rId4" cstate="print"/>
          <a:srcRect t="15000"/>
          <a:stretch>
            <a:fillRect/>
          </a:stretch>
        </p:blipFill>
        <p:spPr>
          <a:xfrm>
            <a:off x="838200" y="4267200"/>
            <a:ext cx="1524000" cy="1295400"/>
          </a:xfrm>
          <a:prstGeom prst="rect">
            <a:avLst/>
          </a:prstGeom>
        </p:spPr>
      </p:pic>
      <p:sp>
        <p:nvSpPr>
          <p:cNvPr id="64" name="Cube 63"/>
          <p:cNvSpPr/>
          <p:nvPr/>
        </p:nvSpPr>
        <p:spPr>
          <a:xfrm>
            <a:off x="838200" y="5486400"/>
            <a:ext cx="381000" cy="381000"/>
          </a:xfrm>
          <a:prstGeom prst="cube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ube 64"/>
          <p:cNvSpPr/>
          <p:nvPr/>
        </p:nvSpPr>
        <p:spPr>
          <a:xfrm>
            <a:off x="1409431" y="5486400"/>
            <a:ext cx="381000" cy="381000"/>
          </a:xfrm>
          <a:prstGeom prst="cub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Cube 65"/>
          <p:cNvSpPr/>
          <p:nvPr/>
        </p:nvSpPr>
        <p:spPr>
          <a:xfrm>
            <a:off x="1981200" y="5486400"/>
            <a:ext cx="381000" cy="381000"/>
          </a:xfrm>
          <a:prstGeom prst="cub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7101110" y="4807803"/>
            <a:ext cx="157312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 smtClean="0"/>
              <a:t>Video</a:t>
            </a:r>
            <a:br>
              <a:rPr lang="en-US" sz="2400" b="1" dirty="0" smtClean="0"/>
            </a:br>
            <a:r>
              <a:rPr lang="en-US" sz="2400" b="1" dirty="0" smtClean="0"/>
              <a:t>Proxy</a:t>
            </a:r>
            <a:br>
              <a:rPr lang="en-US" sz="2400" b="1" dirty="0" smtClean="0"/>
            </a:br>
            <a:r>
              <a:rPr lang="en-US" sz="2000" i="1" dirty="0" smtClean="0"/>
              <a:t>[</a:t>
            </a:r>
            <a:r>
              <a:rPr lang="en-US" sz="2000" i="1" dirty="0" err="1" smtClean="0"/>
              <a:t>Anand</a:t>
            </a:r>
            <a:r>
              <a:rPr lang="en-US" sz="2000" i="1" dirty="0" smtClean="0"/>
              <a:t> et al. </a:t>
            </a:r>
            <a:br>
              <a:rPr lang="en-US" sz="2000" i="1" dirty="0" smtClean="0"/>
            </a:br>
            <a:r>
              <a:rPr lang="en-US" sz="2000" i="1" dirty="0" err="1" smtClean="0"/>
              <a:t>HotNets</a:t>
            </a:r>
            <a:r>
              <a:rPr lang="en-US" sz="2000" i="1" dirty="0" smtClean="0"/>
              <a:t> ’12]</a:t>
            </a:r>
            <a:endParaRPr lang="en-US" sz="2000" i="1" dirty="0"/>
          </a:p>
        </p:txBody>
      </p:sp>
      <p:pic>
        <p:nvPicPr>
          <p:cNvPr id="76" name="Picture 75" descr="smartphone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876800" y="4267200"/>
            <a:ext cx="1524000" cy="1524000"/>
          </a:xfrm>
          <a:prstGeom prst="rect">
            <a:avLst/>
          </a:prstGeom>
        </p:spPr>
      </p:pic>
      <p:pic>
        <p:nvPicPr>
          <p:cNvPr id="75" name="Picture 74" descr="youtube_logo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59782" y="4673139"/>
            <a:ext cx="571571" cy="635079"/>
          </a:xfrm>
          <a:prstGeom prst="rect">
            <a:avLst/>
          </a:prstGeom>
        </p:spPr>
      </p:pic>
      <p:cxnSp>
        <p:nvCxnSpPr>
          <p:cNvPr id="80" name="Straight Connector 79"/>
          <p:cNvCxnSpPr/>
          <p:nvPr/>
        </p:nvCxnSpPr>
        <p:spPr>
          <a:xfrm flipV="1">
            <a:off x="7140524" y="4426803"/>
            <a:ext cx="838200" cy="762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8" name="Picture 77" descr="server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750124" y="4045803"/>
            <a:ext cx="685686" cy="685686"/>
          </a:xfrm>
          <a:prstGeom prst="rect">
            <a:avLst/>
          </a:prstGeom>
        </p:spPr>
      </p:pic>
      <p:pic>
        <p:nvPicPr>
          <p:cNvPr id="84" name="Picture 83" descr="video-x-generic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597724" y="4274403"/>
            <a:ext cx="487671" cy="487671"/>
          </a:xfrm>
          <a:prstGeom prst="rect">
            <a:avLst/>
          </a:prstGeom>
        </p:spPr>
      </p:pic>
      <p:grpSp>
        <p:nvGrpSpPr>
          <p:cNvPr id="110" name="Group 109"/>
          <p:cNvGrpSpPr/>
          <p:nvPr/>
        </p:nvGrpSpPr>
        <p:grpSpPr>
          <a:xfrm>
            <a:off x="4876800" y="1524000"/>
            <a:ext cx="1123500" cy="561750"/>
            <a:chOff x="9091708" y="1295400"/>
            <a:chExt cx="1828800" cy="914400"/>
          </a:xfrm>
        </p:grpSpPr>
        <p:sp>
          <p:nvSpPr>
            <p:cNvPr id="81" name="Rectangle 80"/>
            <p:cNvSpPr/>
            <p:nvPr/>
          </p:nvSpPr>
          <p:spPr>
            <a:xfrm>
              <a:off x="9091708" y="1295400"/>
              <a:ext cx="533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9625108" y="1295400"/>
              <a:ext cx="1295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9091708" y="1524000"/>
              <a:ext cx="5334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9625108" y="1524000"/>
              <a:ext cx="12954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091708" y="1752600"/>
              <a:ext cx="533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9625108" y="1752600"/>
              <a:ext cx="1295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091708" y="1981200"/>
              <a:ext cx="5334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9625108" y="1981200"/>
              <a:ext cx="12954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2743200" y="2971800"/>
            <a:ext cx="1123500" cy="561750"/>
            <a:chOff x="9091708" y="1295400"/>
            <a:chExt cx="1828800" cy="914400"/>
          </a:xfrm>
        </p:grpSpPr>
        <p:sp>
          <p:nvSpPr>
            <p:cNvPr id="112" name="Rectangle 111"/>
            <p:cNvSpPr/>
            <p:nvPr/>
          </p:nvSpPr>
          <p:spPr>
            <a:xfrm>
              <a:off x="9091708" y="1295400"/>
              <a:ext cx="533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9625108" y="1295400"/>
              <a:ext cx="1295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9091708" y="1524000"/>
              <a:ext cx="5334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9625108" y="1524000"/>
              <a:ext cx="12954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9091708" y="1752600"/>
              <a:ext cx="533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9625108" y="1752600"/>
              <a:ext cx="1295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9091708" y="1981200"/>
              <a:ext cx="5334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9625108" y="1981200"/>
              <a:ext cx="12954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0" name="Group 139"/>
          <p:cNvGrpSpPr/>
          <p:nvPr/>
        </p:nvGrpSpPr>
        <p:grpSpPr>
          <a:xfrm>
            <a:off x="304800" y="4648200"/>
            <a:ext cx="2590800" cy="228600"/>
            <a:chOff x="838200" y="6096000"/>
            <a:chExt cx="3962400" cy="381000"/>
          </a:xfrm>
        </p:grpSpPr>
        <p:sp>
          <p:nvSpPr>
            <p:cNvPr id="123" name="Rectangle 122"/>
            <p:cNvSpPr/>
            <p:nvPr/>
          </p:nvSpPr>
          <p:spPr>
            <a:xfrm>
              <a:off x="8382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1430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14478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17526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20574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23622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26670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29718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32766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35814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38862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41910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44958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3" name="Group 115"/>
          <p:cNvGrpSpPr/>
          <p:nvPr/>
        </p:nvGrpSpPr>
        <p:grpSpPr>
          <a:xfrm>
            <a:off x="8077200" y="3657600"/>
            <a:ext cx="805525" cy="652910"/>
            <a:chOff x="9906000" y="4572000"/>
            <a:chExt cx="1219200" cy="914400"/>
          </a:xfrm>
        </p:grpSpPr>
        <p:sp>
          <p:nvSpPr>
            <p:cNvPr id="144" name="Rectangle 143"/>
            <p:cNvSpPr/>
            <p:nvPr/>
          </p:nvSpPr>
          <p:spPr>
            <a:xfrm>
              <a:off x="9906000" y="4572000"/>
              <a:ext cx="304800" cy="2286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10210800" y="4572000"/>
              <a:ext cx="304800" cy="3048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9906000" y="4800600"/>
              <a:ext cx="304800" cy="2286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10210800" y="4800600"/>
              <a:ext cx="304800" cy="2286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9906000" y="5029200"/>
              <a:ext cx="3048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10210800" y="5029200"/>
              <a:ext cx="304800" cy="2286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9906000" y="5257800"/>
              <a:ext cx="3048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10210800" y="5257800"/>
              <a:ext cx="3048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10515600" y="4572000"/>
              <a:ext cx="304800" cy="2286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10820400" y="4572000"/>
              <a:ext cx="304800" cy="3048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10515600" y="4800600"/>
              <a:ext cx="304800" cy="2286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10820400" y="4800600"/>
              <a:ext cx="3048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10515600" y="5029200"/>
              <a:ext cx="3048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10820400" y="5029200"/>
              <a:ext cx="3048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10515600" y="5257800"/>
              <a:ext cx="3048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10820400" y="52578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304800" y="1295400"/>
            <a:ext cx="228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≈20K lookups and inserts per second</a:t>
            </a:r>
          </a:p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(1Gbps link)</a:t>
            </a:r>
            <a:endParaRPr lang="en-US" sz="2800" i="1" dirty="0">
              <a:solidFill>
                <a:srgbClr val="C00000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477000" y="1295400"/>
            <a:ext cx="198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≥ 32GB hash table</a:t>
            </a:r>
            <a:endParaRPr lang="en-US" sz="2800" i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0"/>
                            </p:stCondLst>
                            <p:childTnLst>
                              <p:par>
                                <p:cTn id="9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  <p:bldP spid="31" grpId="0" animBg="1"/>
      <p:bldP spid="11" grpId="0"/>
      <p:bldP spid="15" grpId="0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4" grpId="0" animBg="1"/>
      <p:bldP spid="65" grpId="0" animBg="1"/>
      <p:bldP spid="66" grpId="0" animBg="1"/>
      <p:bldP spid="73" grpId="0"/>
      <p:bldP spid="91" grpId="0"/>
      <p:bldP spid="9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 of large hash-based indexes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91" name="Group 90"/>
          <p:cNvGrpSpPr/>
          <p:nvPr/>
        </p:nvGrpSpPr>
        <p:grpSpPr>
          <a:xfrm>
            <a:off x="2364116" y="1828800"/>
            <a:ext cx="5636884" cy="1371486"/>
            <a:chOff x="2364116" y="1828800"/>
            <a:chExt cx="5636884" cy="1371486"/>
          </a:xfrm>
        </p:grpSpPr>
        <p:sp>
          <p:nvSpPr>
            <p:cNvPr id="31" name="Cloud 30"/>
            <p:cNvSpPr/>
            <p:nvPr/>
          </p:nvSpPr>
          <p:spPr>
            <a:xfrm>
              <a:off x="3202316" y="1981200"/>
              <a:ext cx="2133600" cy="1143000"/>
            </a:xfrm>
            <a:prstGeom prst="cloud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/>
            <p:cNvCxnSpPr/>
            <p:nvPr/>
          </p:nvCxnSpPr>
          <p:spPr>
            <a:xfrm flipH="1" flipV="1">
              <a:off x="2668916" y="2362200"/>
              <a:ext cx="228600" cy="457200"/>
            </a:xfrm>
            <a:prstGeom prst="line">
              <a:avLst/>
            </a:prstGeom>
            <a:ln w="1524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 flipV="1">
              <a:off x="5564516" y="2209800"/>
              <a:ext cx="228600" cy="381000"/>
            </a:xfrm>
            <a:prstGeom prst="line">
              <a:avLst/>
            </a:prstGeom>
            <a:ln w="1524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6478916" y="2057400"/>
              <a:ext cx="152208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WAN</a:t>
              </a:r>
              <a:br>
                <a:rPr lang="en-US" sz="2400" b="1" dirty="0" smtClean="0"/>
              </a:br>
              <a:r>
                <a:rPr lang="en-US" sz="2400" b="1" dirty="0" smtClean="0"/>
                <a:t>optimizers</a:t>
              </a:r>
              <a:endParaRPr lang="en-US" sz="2400" b="1" dirty="0"/>
            </a:p>
          </p:txBody>
        </p:sp>
        <p:cxnSp>
          <p:nvCxnSpPr>
            <p:cNvPr id="33" name="Straight Connector 32"/>
            <p:cNvCxnSpPr/>
            <p:nvPr/>
          </p:nvCxnSpPr>
          <p:spPr>
            <a:xfrm flipV="1">
              <a:off x="3659516" y="2133600"/>
              <a:ext cx="1143000" cy="609600"/>
            </a:xfrm>
            <a:prstGeom prst="line">
              <a:avLst/>
            </a:prstGeom>
            <a:ln w="381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pic>
          <p:nvPicPr>
            <p:cNvPr id="13" name="Picture 12" descr="steelhead_applianc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0316" y="2667000"/>
              <a:ext cx="1739502" cy="457200"/>
            </a:xfrm>
            <a:prstGeom prst="rect">
              <a:avLst/>
            </a:prstGeom>
          </p:spPr>
        </p:pic>
        <p:pic>
          <p:nvPicPr>
            <p:cNvPr id="20" name="Picture 19" descr="steelhead_appliance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flipH="1">
              <a:off x="4573916" y="1905000"/>
              <a:ext cx="1739502" cy="457200"/>
            </a:xfrm>
            <a:prstGeom prst="rect">
              <a:avLst/>
            </a:prstGeom>
          </p:spPr>
        </p:pic>
        <p:pic>
          <p:nvPicPr>
            <p:cNvPr id="42" name="Picture 41" descr="server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4516" y="2514600"/>
              <a:ext cx="685686" cy="685686"/>
            </a:xfrm>
            <a:prstGeom prst="rect">
              <a:avLst/>
            </a:prstGeom>
          </p:spPr>
        </p:pic>
        <p:pic>
          <p:nvPicPr>
            <p:cNvPr id="44" name="Picture 43" descr="server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4116" y="1828800"/>
              <a:ext cx="685686" cy="685686"/>
            </a:xfrm>
            <a:prstGeom prst="rect">
              <a:avLst/>
            </a:prstGeom>
          </p:spPr>
        </p:pic>
      </p:grpSp>
      <p:grpSp>
        <p:nvGrpSpPr>
          <p:cNvPr id="92" name="Group 91"/>
          <p:cNvGrpSpPr/>
          <p:nvPr/>
        </p:nvGrpSpPr>
        <p:grpSpPr>
          <a:xfrm>
            <a:off x="794184" y="3581400"/>
            <a:ext cx="3860130" cy="2286000"/>
            <a:chOff x="794184" y="3581400"/>
            <a:chExt cx="3860130" cy="2286000"/>
          </a:xfrm>
        </p:grpSpPr>
        <p:sp>
          <p:nvSpPr>
            <p:cNvPr id="15" name="TextBox 14"/>
            <p:cNvSpPr txBox="1"/>
            <p:nvPr/>
          </p:nvSpPr>
          <p:spPr>
            <a:xfrm>
              <a:off x="2590800" y="4876800"/>
              <a:ext cx="206351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De-duplication</a:t>
              </a:r>
              <a:br>
                <a:rPr lang="en-US" sz="2400" b="1" dirty="0" smtClean="0"/>
              </a:br>
              <a:r>
                <a:rPr lang="en-US" sz="2400" b="1" dirty="0" smtClean="0"/>
                <a:t>systems</a:t>
              </a:r>
              <a:endParaRPr lang="en-US" sz="2400" b="1" dirty="0"/>
            </a:p>
          </p:txBody>
        </p:sp>
        <p:pic>
          <p:nvPicPr>
            <p:cNvPr id="17" name="Picture 16" descr="funnel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200" y="4038600"/>
              <a:ext cx="1524000" cy="1524000"/>
            </a:xfrm>
            <a:prstGeom prst="rect">
              <a:avLst/>
            </a:prstGeom>
          </p:spPr>
        </p:pic>
        <p:sp>
          <p:nvSpPr>
            <p:cNvPr id="56" name="Cube 55"/>
            <p:cNvSpPr/>
            <p:nvPr/>
          </p:nvSpPr>
          <p:spPr>
            <a:xfrm rot="629993">
              <a:off x="794184" y="3765984"/>
              <a:ext cx="388958" cy="388958"/>
            </a:xfrm>
            <a:prstGeom prst="cube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Cube 56"/>
            <p:cNvSpPr/>
            <p:nvPr/>
          </p:nvSpPr>
          <p:spPr>
            <a:xfrm rot="1023669">
              <a:off x="1592522" y="3934701"/>
              <a:ext cx="388959" cy="388959"/>
            </a:xfrm>
            <a:prstGeom prst="cube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Cube 57"/>
            <p:cNvSpPr/>
            <p:nvPr/>
          </p:nvSpPr>
          <p:spPr>
            <a:xfrm>
              <a:off x="1143000" y="3962400"/>
              <a:ext cx="388958" cy="388958"/>
            </a:xfrm>
            <a:prstGeom prst="cub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Cube 58"/>
            <p:cNvSpPr/>
            <p:nvPr/>
          </p:nvSpPr>
          <p:spPr>
            <a:xfrm rot="20361147">
              <a:off x="1231357" y="3585350"/>
              <a:ext cx="388958" cy="388958"/>
            </a:xfrm>
            <a:prstGeom prst="cube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Cube 59"/>
            <p:cNvSpPr/>
            <p:nvPr/>
          </p:nvSpPr>
          <p:spPr>
            <a:xfrm rot="20894587">
              <a:off x="2016747" y="3845547"/>
              <a:ext cx="388958" cy="388958"/>
            </a:xfrm>
            <a:prstGeom prst="cube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Cube 60"/>
            <p:cNvSpPr/>
            <p:nvPr/>
          </p:nvSpPr>
          <p:spPr>
            <a:xfrm>
              <a:off x="1676400" y="3581400"/>
              <a:ext cx="388958" cy="388958"/>
            </a:xfrm>
            <a:prstGeom prst="cube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" name="Picture 62" descr="funnel.png"/>
            <p:cNvPicPr>
              <a:picLocks noChangeAspect="1"/>
            </p:cNvPicPr>
            <p:nvPr/>
          </p:nvPicPr>
          <p:blipFill>
            <a:blip r:embed="rId4" cstate="print"/>
            <a:srcRect t="15000"/>
            <a:stretch>
              <a:fillRect/>
            </a:stretch>
          </p:blipFill>
          <p:spPr>
            <a:xfrm>
              <a:off x="838200" y="4267200"/>
              <a:ext cx="1524000" cy="1295400"/>
            </a:xfrm>
            <a:prstGeom prst="rect">
              <a:avLst/>
            </a:prstGeom>
          </p:spPr>
        </p:pic>
        <p:sp>
          <p:nvSpPr>
            <p:cNvPr id="64" name="Cube 63"/>
            <p:cNvSpPr/>
            <p:nvPr/>
          </p:nvSpPr>
          <p:spPr>
            <a:xfrm>
              <a:off x="838200" y="5486400"/>
              <a:ext cx="381000" cy="381000"/>
            </a:xfrm>
            <a:prstGeom prst="cube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Cube 64"/>
            <p:cNvSpPr/>
            <p:nvPr/>
          </p:nvSpPr>
          <p:spPr>
            <a:xfrm>
              <a:off x="1409431" y="5486400"/>
              <a:ext cx="381000" cy="381000"/>
            </a:xfrm>
            <a:prstGeom prst="cube">
              <a:avLst/>
            </a:prstGeom>
            <a:ln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Cube 65"/>
            <p:cNvSpPr/>
            <p:nvPr/>
          </p:nvSpPr>
          <p:spPr>
            <a:xfrm>
              <a:off x="1981200" y="5486400"/>
              <a:ext cx="381000" cy="381000"/>
            </a:xfrm>
            <a:prstGeom prst="cube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4876800" y="4045803"/>
            <a:ext cx="3649383" cy="1745397"/>
            <a:chOff x="4876800" y="4045803"/>
            <a:chExt cx="3649383" cy="1745397"/>
          </a:xfrm>
        </p:grpSpPr>
        <p:pic>
          <p:nvPicPr>
            <p:cNvPr id="86" name="Picture 85" descr="cell_tower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78524" y="4045803"/>
              <a:ext cx="1066800" cy="1422400"/>
            </a:xfrm>
            <a:prstGeom prst="rect">
              <a:avLst/>
            </a:prstGeom>
          </p:spPr>
        </p:pic>
        <p:sp>
          <p:nvSpPr>
            <p:cNvPr id="73" name="TextBox 72"/>
            <p:cNvSpPr txBox="1"/>
            <p:nvPr/>
          </p:nvSpPr>
          <p:spPr>
            <a:xfrm>
              <a:off x="7597724" y="4807803"/>
              <a:ext cx="92845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Video</a:t>
              </a:r>
              <a:br>
                <a:rPr lang="en-US" sz="2400" b="1" dirty="0" smtClean="0"/>
              </a:br>
              <a:r>
                <a:rPr lang="en-US" sz="2400" b="1" dirty="0" smtClean="0"/>
                <a:t>Proxy</a:t>
              </a:r>
              <a:endParaRPr lang="en-US" sz="2400" b="1" dirty="0"/>
            </a:p>
          </p:txBody>
        </p:sp>
        <p:pic>
          <p:nvPicPr>
            <p:cNvPr id="76" name="Picture 75" descr="smartphone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76800" y="4267200"/>
              <a:ext cx="1524000" cy="1524000"/>
            </a:xfrm>
            <a:prstGeom prst="rect">
              <a:avLst/>
            </a:prstGeom>
          </p:spPr>
        </p:pic>
        <p:pic>
          <p:nvPicPr>
            <p:cNvPr id="75" name="Picture 74" descr="youtube_logo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59782" y="4673139"/>
              <a:ext cx="571571" cy="635079"/>
            </a:xfrm>
            <a:prstGeom prst="rect">
              <a:avLst/>
            </a:prstGeom>
          </p:spPr>
        </p:pic>
        <p:cxnSp>
          <p:nvCxnSpPr>
            <p:cNvPr id="80" name="Straight Connector 79"/>
            <p:cNvCxnSpPr/>
            <p:nvPr/>
          </p:nvCxnSpPr>
          <p:spPr>
            <a:xfrm flipV="1">
              <a:off x="7140524" y="4426803"/>
              <a:ext cx="838200" cy="7620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78" name="Picture 77" descr="server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0124" y="4045803"/>
              <a:ext cx="685686" cy="685686"/>
            </a:xfrm>
            <a:prstGeom prst="rect">
              <a:avLst/>
            </a:prstGeom>
          </p:spPr>
        </p:pic>
        <p:pic>
          <p:nvPicPr>
            <p:cNvPr id="84" name="Picture 83" descr="video-x-generic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97724" y="4274403"/>
              <a:ext cx="487671" cy="487671"/>
            </a:xfrm>
            <a:prstGeom prst="rect">
              <a:avLst/>
            </a:prstGeom>
          </p:spPr>
        </p:pic>
      </p:grpSp>
      <p:grpSp>
        <p:nvGrpSpPr>
          <p:cNvPr id="3" name="Group 109"/>
          <p:cNvGrpSpPr/>
          <p:nvPr/>
        </p:nvGrpSpPr>
        <p:grpSpPr>
          <a:xfrm>
            <a:off x="4876800" y="1524000"/>
            <a:ext cx="1123500" cy="561750"/>
            <a:chOff x="9091708" y="1295400"/>
            <a:chExt cx="1828800" cy="914400"/>
          </a:xfrm>
        </p:grpSpPr>
        <p:sp>
          <p:nvSpPr>
            <p:cNvPr id="81" name="Rectangle 80"/>
            <p:cNvSpPr/>
            <p:nvPr/>
          </p:nvSpPr>
          <p:spPr>
            <a:xfrm>
              <a:off x="9091708" y="1295400"/>
              <a:ext cx="533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9625108" y="1295400"/>
              <a:ext cx="1295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9091708" y="1524000"/>
              <a:ext cx="5334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9625108" y="1524000"/>
              <a:ext cx="12954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091708" y="1752600"/>
              <a:ext cx="533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9625108" y="1752600"/>
              <a:ext cx="1295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091708" y="1981200"/>
              <a:ext cx="5334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9625108" y="1981200"/>
              <a:ext cx="12954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110"/>
          <p:cNvGrpSpPr/>
          <p:nvPr/>
        </p:nvGrpSpPr>
        <p:grpSpPr>
          <a:xfrm>
            <a:off x="2743200" y="2971800"/>
            <a:ext cx="1123500" cy="561750"/>
            <a:chOff x="9091708" y="1295400"/>
            <a:chExt cx="1828800" cy="914400"/>
          </a:xfrm>
        </p:grpSpPr>
        <p:sp>
          <p:nvSpPr>
            <p:cNvPr id="112" name="Rectangle 111"/>
            <p:cNvSpPr/>
            <p:nvPr/>
          </p:nvSpPr>
          <p:spPr>
            <a:xfrm>
              <a:off x="9091708" y="1295400"/>
              <a:ext cx="533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9625108" y="1295400"/>
              <a:ext cx="1295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9091708" y="1524000"/>
              <a:ext cx="5334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9625108" y="1524000"/>
              <a:ext cx="12954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9091708" y="1752600"/>
              <a:ext cx="533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9625108" y="1752600"/>
              <a:ext cx="1295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9091708" y="1981200"/>
              <a:ext cx="5334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9625108" y="1981200"/>
              <a:ext cx="12954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139"/>
          <p:cNvGrpSpPr/>
          <p:nvPr/>
        </p:nvGrpSpPr>
        <p:grpSpPr>
          <a:xfrm>
            <a:off x="304800" y="4648200"/>
            <a:ext cx="2590800" cy="228600"/>
            <a:chOff x="838200" y="6096000"/>
            <a:chExt cx="3962400" cy="381000"/>
          </a:xfrm>
        </p:grpSpPr>
        <p:sp>
          <p:nvSpPr>
            <p:cNvPr id="123" name="Rectangle 122"/>
            <p:cNvSpPr/>
            <p:nvPr/>
          </p:nvSpPr>
          <p:spPr>
            <a:xfrm>
              <a:off x="8382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1430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14478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17526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20574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23622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26670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29718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32766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35814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38862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41910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44958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115"/>
          <p:cNvGrpSpPr/>
          <p:nvPr/>
        </p:nvGrpSpPr>
        <p:grpSpPr>
          <a:xfrm>
            <a:off x="8077200" y="3657600"/>
            <a:ext cx="805525" cy="652910"/>
            <a:chOff x="9906000" y="4572000"/>
            <a:chExt cx="1219200" cy="914400"/>
          </a:xfrm>
        </p:grpSpPr>
        <p:sp>
          <p:nvSpPr>
            <p:cNvPr id="144" name="Rectangle 143"/>
            <p:cNvSpPr/>
            <p:nvPr/>
          </p:nvSpPr>
          <p:spPr>
            <a:xfrm>
              <a:off x="9906000" y="4572000"/>
              <a:ext cx="304800" cy="2286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10210800" y="4572000"/>
              <a:ext cx="304800" cy="3048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9906000" y="4800600"/>
              <a:ext cx="304800" cy="2286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10210800" y="4800600"/>
              <a:ext cx="304800" cy="2286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9906000" y="5029200"/>
              <a:ext cx="3048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10210800" y="5029200"/>
              <a:ext cx="304800" cy="2286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9906000" y="5257800"/>
              <a:ext cx="3048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10210800" y="5257800"/>
              <a:ext cx="3048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10515600" y="4572000"/>
              <a:ext cx="304800" cy="2286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10820400" y="4572000"/>
              <a:ext cx="304800" cy="3048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10515600" y="4800600"/>
              <a:ext cx="304800" cy="2286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10820400" y="4800600"/>
              <a:ext cx="3048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10515600" y="5029200"/>
              <a:ext cx="3048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10820400" y="5029200"/>
              <a:ext cx="3048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10515600" y="5257800"/>
              <a:ext cx="3048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10820400" y="52578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Title 1"/>
          <p:cNvSpPr txBox="1">
            <a:spLocks/>
          </p:cNvSpPr>
          <p:nvPr/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Where to store the indexes?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64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6185E-6 L 0.03333 -0.43838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21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4.39306E-6 L -0.05226 -0.3137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157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Top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109"/>
          <p:cNvGrpSpPr/>
          <p:nvPr/>
        </p:nvGrpSpPr>
        <p:grpSpPr>
          <a:xfrm>
            <a:off x="4876800" y="1524000"/>
            <a:ext cx="1123500" cy="561750"/>
            <a:chOff x="9091708" y="1295400"/>
            <a:chExt cx="1828800" cy="914400"/>
          </a:xfrm>
        </p:grpSpPr>
        <p:sp>
          <p:nvSpPr>
            <p:cNvPr id="81" name="Rectangle 80"/>
            <p:cNvSpPr/>
            <p:nvPr/>
          </p:nvSpPr>
          <p:spPr>
            <a:xfrm>
              <a:off x="9091708" y="1295400"/>
              <a:ext cx="533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9625108" y="1295400"/>
              <a:ext cx="1295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9091708" y="1524000"/>
              <a:ext cx="5334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9625108" y="1524000"/>
              <a:ext cx="12954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091708" y="1752600"/>
              <a:ext cx="533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9625108" y="1752600"/>
              <a:ext cx="1295400" cy="2286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9091708" y="1981200"/>
              <a:ext cx="5334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9625108" y="1981200"/>
              <a:ext cx="12954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139"/>
          <p:cNvGrpSpPr/>
          <p:nvPr/>
        </p:nvGrpSpPr>
        <p:grpSpPr>
          <a:xfrm>
            <a:off x="609600" y="1646420"/>
            <a:ext cx="2590800" cy="228600"/>
            <a:chOff x="838200" y="6096000"/>
            <a:chExt cx="3962400" cy="381000"/>
          </a:xfrm>
        </p:grpSpPr>
        <p:sp>
          <p:nvSpPr>
            <p:cNvPr id="123" name="Rectangle 122"/>
            <p:cNvSpPr/>
            <p:nvPr/>
          </p:nvSpPr>
          <p:spPr>
            <a:xfrm>
              <a:off x="8382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1430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14478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17526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20574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23622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26670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29718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32766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35814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38862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41910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44958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115"/>
          <p:cNvGrpSpPr/>
          <p:nvPr/>
        </p:nvGrpSpPr>
        <p:grpSpPr>
          <a:xfrm>
            <a:off x="7605010" y="1509010"/>
            <a:ext cx="805525" cy="652910"/>
            <a:chOff x="9906000" y="4572000"/>
            <a:chExt cx="1219200" cy="914400"/>
          </a:xfrm>
        </p:grpSpPr>
        <p:sp>
          <p:nvSpPr>
            <p:cNvPr id="144" name="Rectangle 143"/>
            <p:cNvSpPr/>
            <p:nvPr/>
          </p:nvSpPr>
          <p:spPr>
            <a:xfrm>
              <a:off x="9906000" y="4572000"/>
              <a:ext cx="304800" cy="2286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10210800" y="4572000"/>
              <a:ext cx="304800" cy="3048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9906000" y="4800600"/>
              <a:ext cx="304800" cy="2286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10210800" y="4800600"/>
              <a:ext cx="304800" cy="2286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9906000" y="5029200"/>
              <a:ext cx="3048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10210800" y="5029200"/>
              <a:ext cx="304800" cy="2286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9906000" y="5257800"/>
              <a:ext cx="3048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10210800" y="5257800"/>
              <a:ext cx="3048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10515600" y="4572000"/>
              <a:ext cx="304800" cy="2286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10820400" y="4572000"/>
              <a:ext cx="304800" cy="3048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10515600" y="4800600"/>
              <a:ext cx="304800" cy="2286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10820400" y="4800600"/>
              <a:ext cx="3048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10515600" y="5029200"/>
              <a:ext cx="304800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10820400" y="5029200"/>
              <a:ext cx="3048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10515600" y="5257800"/>
              <a:ext cx="304800" cy="2286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10820400" y="5257800"/>
              <a:ext cx="304800" cy="2286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Title 1"/>
          <p:cNvSpPr txBox="1">
            <a:spLocks/>
          </p:cNvSpPr>
          <p:nvPr/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Where to store the indexes?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88" name="Group 87"/>
          <p:cNvGrpSpPr/>
          <p:nvPr/>
        </p:nvGrpSpPr>
        <p:grpSpPr>
          <a:xfrm>
            <a:off x="1075015" y="2971800"/>
            <a:ext cx="1515785" cy="914399"/>
            <a:chOff x="3962400" y="1752600"/>
            <a:chExt cx="1820585" cy="914399"/>
          </a:xfrm>
        </p:grpSpPr>
        <p:pic>
          <p:nvPicPr>
            <p:cNvPr id="91" name="Picture 90" descr="memory-ram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400" y="1752600"/>
              <a:ext cx="1591985" cy="457199"/>
            </a:xfrm>
            <a:prstGeom prst="rect">
              <a:avLst/>
            </a:prstGeom>
          </p:spPr>
        </p:pic>
        <p:pic>
          <p:nvPicPr>
            <p:cNvPr id="92" name="Picture 91" descr="memory-ram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8600" y="1981200"/>
              <a:ext cx="1591985" cy="457199"/>
            </a:xfrm>
            <a:prstGeom prst="rect">
              <a:avLst/>
            </a:prstGeom>
          </p:spPr>
        </p:pic>
        <p:pic>
          <p:nvPicPr>
            <p:cNvPr id="93" name="Picture 92" descr="memory-ram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0" y="2209800"/>
              <a:ext cx="1591985" cy="457199"/>
            </a:xfrm>
            <a:prstGeom prst="rect">
              <a:avLst/>
            </a:prstGeom>
          </p:spPr>
        </p:pic>
      </p:grpSp>
      <p:grpSp>
        <p:nvGrpSpPr>
          <p:cNvPr id="95" name="Group 94"/>
          <p:cNvGrpSpPr/>
          <p:nvPr/>
        </p:nvGrpSpPr>
        <p:grpSpPr>
          <a:xfrm>
            <a:off x="1134785" y="4648200"/>
            <a:ext cx="1447800" cy="1447800"/>
            <a:chOff x="6705600" y="1371600"/>
            <a:chExt cx="1447800" cy="1447800"/>
          </a:xfrm>
        </p:grpSpPr>
        <p:pic>
          <p:nvPicPr>
            <p:cNvPr id="96" name="Picture 95" descr="drive-harddisk-5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5600" y="1371600"/>
              <a:ext cx="1447800" cy="1447800"/>
            </a:xfrm>
            <a:prstGeom prst="rect">
              <a:avLst/>
            </a:prstGeom>
          </p:spPr>
        </p:pic>
        <p:sp>
          <p:nvSpPr>
            <p:cNvPr id="97" name="TextBox 96"/>
            <p:cNvSpPr txBox="1"/>
            <p:nvPr/>
          </p:nvSpPr>
          <p:spPr>
            <a:xfrm>
              <a:off x="7012371" y="1600200"/>
              <a:ext cx="9124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 smtClean="0"/>
                <a:t>SSD</a:t>
              </a:r>
              <a:endParaRPr lang="en-US" sz="3600" b="1" dirty="0"/>
            </a:p>
          </p:txBody>
        </p:sp>
      </p:grpSp>
      <p:pic>
        <p:nvPicPr>
          <p:cNvPr id="223" name="Picture 9" descr="C:\Users\agember\AppData\Local\Microsoft\Windows\Temporary Internet Files\Content.IE5\C0D333QZ\MC900433920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31906" y="4953000"/>
            <a:ext cx="914400" cy="914400"/>
          </a:xfrm>
          <a:prstGeom prst="rect">
            <a:avLst/>
          </a:prstGeom>
          <a:noFill/>
        </p:spPr>
      </p:pic>
      <p:grpSp>
        <p:nvGrpSpPr>
          <p:cNvPr id="224" name="Group 223"/>
          <p:cNvGrpSpPr/>
          <p:nvPr/>
        </p:nvGrpSpPr>
        <p:grpSpPr>
          <a:xfrm>
            <a:off x="4800600" y="2590800"/>
            <a:ext cx="1295400" cy="1600200"/>
            <a:chOff x="3657600" y="4967990"/>
            <a:chExt cx="1570220" cy="1890010"/>
          </a:xfrm>
        </p:grpSpPr>
        <p:pic>
          <p:nvPicPr>
            <p:cNvPr id="225" name="Picture 8" descr="C:\Users\agember\AppData\Local\Microsoft\Windows\Temporary Internet Files\Content.IE5\O2Q741H5\MC900431631[1]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657600" y="5334000"/>
              <a:ext cx="1524000" cy="1524000"/>
            </a:xfrm>
            <a:prstGeom prst="rect">
              <a:avLst/>
            </a:prstGeom>
            <a:noFill/>
          </p:spPr>
        </p:pic>
        <p:pic>
          <p:nvPicPr>
            <p:cNvPr id="226" name="Picture 8" descr="C:\Users\agember\AppData\Local\Microsoft\Windows\Temporary Internet Files\Content.IE5\O2Q741H5\MC900431631[1]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703820" y="4967990"/>
              <a:ext cx="1524000" cy="1524000"/>
            </a:xfrm>
            <a:prstGeom prst="rect">
              <a:avLst/>
            </a:prstGeom>
            <a:noFill/>
          </p:spPr>
        </p:pic>
      </p:grpSp>
      <p:pic>
        <p:nvPicPr>
          <p:cNvPr id="227" name="Picture 21" descr="C:\Users\agember\AppData\Local\Microsoft\Windows\Temporary Internet Files\Content.IE5\YJY5KOGY\MC900290930[1]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75650" y="4953000"/>
            <a:ext cx="609600" cy="916000"/>
          </a:xfrm>
          <a:prstGeom prst="rect">
            <a:avLst/>
          </a:prstGeom>
          <a:noFill/>
        </p:spPr>
      </p:pic>
      <p:grpSp>
        <p:nvGrpSpPr>
          <p:cNvPr id="252" name="Group 251"/>
          <p:cNvGrpSpPr/>
          <p:nvPr/>
        </p:nvGrpSpPr>
        <p:grpSpPr>
          <a:xfrm>
            <a:off x="4785143" y="4267200"/>
            <a:ext cx="1539457" cy="990600"/>
            <a:chOff x="7223543" y="3962400"/>
            <a:chExt cx="1539457" cy="990600"/>
          </a:xfrm>
        </p:grpSpPr>
        <p:pic>
          <p:nvPicPr>
            <p:cNvPr id="229" name="Picture 228" descr="check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01000" y="4191000"/>
              <a:ext cx="762000" cy="762000"/>
            </a:xfrm>
            <a:prstGeom prst="rect">
              <a:avLst/>
            </a:prstGeom>
          </p:spPr>
        </p:pic>
        <p:sp>
          <p:nvSpPr>
            <p:cNvPr id="231" name="TextBox 230"/>
            <p:cNvSpPr txBox="1"/>
            <p:nvPr/>
          </p:nvSpPr>
          <p:spPr>
            <a:xfrm>
              <a:off x="7223543" y="3962400"/>
              <a:ext cx="130997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3200" b="1" dirty="0" smtClean="0">
                  <a:solidFill>
                    <a:srgbClr val="00B050"/>
                  </a:solidFill>
                </a:rPr>
                <a:t>8x less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53" name="Group 252"/>
          <p:cNvGrpSpPr/>
          <p:nvPr/>
        </p:nvGrpSpPr>
        <p:grpSpPr>
          <a:xfrm>
            <a:off x="6524087" y="4267200"/>
            <a:ext cx="1698153" cy="990600"/>
            <a:chOff x="7141047" y="5181600"/>
            <a:chExt cx="1698153" cy="990600"/>
          </a:xfrm>
        </p:grpSpPr>
        <p:pic>
          <p:nvPicPr>
            <p:cNvPr id="230" name="Picture 229" descr="check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77200" y="5410200"/>
              <a:ext cx="762000" cy="762000"/>
            </a:xfrm>
            <a:prstGeom prst="rect">
              <a:avLst/>
            </a:prstGeom>
          </p:spPr>
        </p:pic>
        <p:sp>
          <p:nvSpPr>
            <p:cNvPr id="232" name="TextBox 231"/>
            <p:cNvSpPr txBox="1"/>
            <p:nvPr/>
          </p:nvSpPr>
          <p:spPr>
            <a:xfrm>
              <a:off x="7141047" y="5181600"/>
              <a:ext cx="15183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3200" b="1" dirty="0" smtClean="0">
                  <a:solidFill>
                    <a:srgbClr val="00B050"/>
                  </a:solidFill>
                </a:rPr>
                <a:t>25x less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33" name="Group 232"/>
          <p:cNvGrpSpPr/>
          <p:nvPr/>
        </p:nvGrpSpPr>
        <p:grpSpPr>
          <a:xfrm>
            <a:off x="6783668" y="2895600"/>
            <a:ext cx="1598332" cy="1066801"/>
            <a:chOff x="3124201" y="5181600"/>
            <a:chExt cx="2054997" cy="1371600"/>
          </a:xfrm>
        </p:grpSpPr>
        <p:pic>
          <p:nvPicPr>
            <p:cNvPr id="234" name="Picture 21" descr="C:\Users\agember\AppData\Local\Microsoft\Windows\Temporary Internet Files\Content.IE5\YJY5KOGY\MC900290930[1].wm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382897" y="5181600"/>
              <a:ext cx="470805" cy="707443"/>
            </a:xfrm>
            <a:prstGeom prst="rect">
              <a:avLst/>
            </a:prstGeom>
            <a:noFill/>
          </p:spPr>
        </p:pic>
        <p:pic>
          <p:nvPicPr>
            <p:cNvPr id="235" name="Picture 21" descr="C:\Users\agember\AppData\Local\Microsoft\Windows\Temporary Internet Files\Content.IE5\YJY5KOGY\MC900290930[1].wm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952028" y="5181600"/>
              <a:ext cx="470805" cy="707443"/>
            </a:xfrm>
            <a:prstGeom prst="rect">
              <a:avLst/>
            </a:prstGeom>
            <a:noFill/>
          </p:spPr>
        </p:pic>
        <p:pic>
          <p:nvPicPr>
            <p:cNvPr id="236" name="Picture 21" descr="C:\Users\agember\AppData\Local\Microsoft\Windows\Temporary Internet Files\Content.IE5\YJY5KOGY\MC900290930[1].wm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641593" y="5388557"/>
              <a:ext cx="470805" cy="707443"/>
            </a:xfrm>
            <a:prstGeom prst="rect">
              <a:avLst/>
            </a:prstGeom>
            <a:noFill/>
          </p:spPr>
        </p:pic>
        <p:pic>
          <p:nvPicPr>
            <p:cNvPr id="237" name="Picture 21" descr="C:\Users\agember\AppData\Local\Microsoft\Windows\Temporary Internet Files\Content.IE5\YJY5KOGY\MC900290930[1].wm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124201" y="5388557"/>
              <a:ext cx="470805" cy="707443"/>
            </a:xfrm>
            <a:prstGeom prst="rect">
              <a:avLst/>
            </a:prstGeom>
            <a:noFill/>
          </p:spPr>
        </p:pic>
        <p:pic>
          <p:nvPicPr>
            <p:cNvPr id="238" name="Picture 21" descr="C:\Users\agember\AppData\Local\Microsoft\Windows\Temporary Internet Files\Content.IE5\YJY5KOGY\MC900290930[1].wm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382897" y="5638798"/>
              <a:ext cx="470805" cy="707443"/>
            </a:xfrm>
            <a:prstGeom prst="rect">
              <a:avLst/>
            </a:prstGeom>
            <a:noFill/>
          </p:spPr>
        </p:pic>
        <p:pic>
          <p:nvPicPr>
            <p:cNvPr id="239" name="Picture 21" descr="C:\Users\agember\AppData\Local\Microsoft\Windows\Temporary Internet Files\Content.IE5\YJY5KOGY\MC900290930[1].wm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124201" y="5845757"/>
              <a:ext cx="470805" cy="707443"/>
            </a:xfrm>
            <a:prstGeom prst="rect">
              <a:avLst/>
            </a:prstGeom>
            <a:noFill/>
          </p:spPr>
        </p:pic>
        <p:pic>
          <p:nvPicPr>
            <p:cNvPr id="240" name="Picture 21" descr="C:\Users\agember\AppData\Local\Microsoft\Windows\Temporary Internet Files\Content.IE5\YJY5KOGY\MC900290930[1].wm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49697" y="5181601"/>
              <a:ext cx="470805" cy="707443"/>
            </a:xfrm>
            <a:prstGeom prst="rect">
              <a:avLst/>
            </a:prstGeom>
            <a:noFill/>
          </p:spPr>
        </p:pic>
        <p:pic>
          <p:nvPicPr>
            <p:cNvPr id="243" name="Picture 21" descr="C:\Users\agember\AppData\Local\Microsoft\Windows\Temporary Internet Files\Content.IE5\YJY5KOGY\MC900290930[1].wm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708393" y="5388558"/>
              <a:ext cx="470805" cy="707443"/>
            </a:xfrm>
            <a:prstGeom prst="rect">
              <a:avLst/>
            </a:prstGeom>
            <a:noFill/>
          </p:spPr>
        </p:pic>
        <p:pic>
          <p:nvPicPr>
            <p:cNvPr id="244" name="Picture 21" descr="C:\Users\agember\AppData\Local\Microsoft\Windows\Temporary Internet Files\Content.IE5\YJY5KOGY\MC900290930[1].wm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191001" y="5388555"/>
              <a:ext cx="470805" cy="707443"/>
            </a:xfrm>
            <a:prstGeom prst="rect">
              <a:avLst/>
            </a:prstGeom>
            <a:noFill/>
          </p:spPr>
        </p:pic>
        <p:pic>
          <p:nvPicPr>
            <p:cNvPr id="245" name="Picture 21" descr="C:\Users\agember\AppData\Local\Microsoft\Windows\Temporary Internet Files\Content.IE5\YJY5KOGY\MC900290930[1].wm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449697" y="5638796"/>
              <a:ext cx="470805" cy="707443"/>
            </a:xfrm>
            <a:prstGeom prst="rect">
              <a:avLst/>
            </a:prstGeom>
            <a:noFill/>
          </p:spPr>
        </p:pic>
        <p:pic>
          <p:nvPicPr>
            <p:cNvPr id="248" name="Picture 21" descr="C:\Users\agember\AppData\Local\Microsoft\Windows\Temporary Internet Files\Content.IE5\YJY5KOGY\MC900290930[1].wm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708392" y="5845754"/>
              <a:ext cx="470805" cy="707443"/>
            </a:xfrm>
            <a:prstGeom prst="rect">
              <a:avLst/>
            </a:prstGeom>
            <a:noFill/>
          </p:spPr>
        </p:pic>
        <p:pic>
          <p:nvPicPr>
            <p:cNvPr id="249" name="Picture 21" descr="C:\Users\agember\AppData\Local\Microsoft\Windows\Temporary Internet Files\Content.IE5\YJY5KOGY\MC900290930[1].wm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952027" y="5638795"/>
              <a:ext cx="470805" cy="707443"/>
            </a:xfrm>
            <a:prstGeom prst="rect">
              <a:avLst/>
            </a:prstGeom>
            <a:noFill/>
          </p:spPr>
        </p:pic>
        <p:pic>
          <p:nvPicPr>
            <p:cNvPr id="250" name="Picture 21" descr="C:\Users\agember\AppData\Local\Microsoft\Windows\Temporary Internet Files\Content.IE5\YJY5KOGY\MC900290930[1].wm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641590" y="5845755"/>
              <a:ext cx="470805" cy="707443"/>
            </a:xfrm>
            <a:prstGeom prst="rect">
              <a:avLst/>
            </a:prstGeom>
            <a:noFill/>
          </p:spPr>
        </p:pic>
        <p:pic>
          <p:nvPicPr>
            <p:cNvPr id="251" name="Picture 21" descr="C:\Users\agember\AppData\Local\Microsoft\Windows\Temporary Internet Files\Content.IE5\YJY5KOGY\MC900290930[1].wm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191000" y="5845756"/>
              <a:ext cx="470805" cy="707443"/>
            </a:xfrm>
            <a:prstGeom prst="rect">
              <a:avLst/>
            </a:prstGeom>
            <a:noFill/>
          </p:spPr>
        </p:pic>
      </p:grpSp>
      <p:pic>
        <p:nvPicPr>
          <p:cNvPr id="1028" name="Picture 4" descr="C:\Users\agember\AppData\Local\Microsoft\Windows\Temporary Internet Files\Content.IE5\O2Q741H5\MC900383572[1].wm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124200" y="2819250"/>
            <a:ext cx="1000658" cy="1002638"/>
          </a:xfrm>
          <a:prstGeom prst="rect">
            <a:avLst/>
          </a:prstGeom>
          <a:noFill/>
        </p:spPr>
      </p:pic>
      <p:pic>
        <p:nvPicPr>
          <p:cNvPr id="255" name="Picture 254" descr="check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886200" y="2438400"/>
            <a:ext cx="762000" cy="762000"/>
          </a:xfrm>
          <a:prstGeom prst="rect">
            <a:avLst/>
          </a:prstGeom>
        </p:spPr>
      </p:pic>
      <p:grpSp>
        <p:nvGrpSpPr>
          <p:cNvPr id="1033" name="Group 9"/>
          <p:cNvGrpSpPr>
            <a:grpSpLocks noChangeAspect="1"/>
          </p:cNvGrpSpPr>
          <p:nvPr/>
        </p:nvGrpSpPr>
        <p:grpSpPr bwMode="auto">
          <a:xfrm>
            <a:off x="3276600" y="4800600"/>
            <a:ext cx="1031875" cy="984250"/>
            <a:chOff x="2208" y="816"/>
            <a:chExt cx="650" cy="620"/>
          </a:xfrm>
        </p:grpSpPr>
        <p:sp>
          <p:nvSpPr>
            <p:cNvPr id="1032" name="AutoShape 8"/>
            <p:cNvSpPr>
              <a:spLocks noChangeAspect="1" noChangeArrowheads="1" noTextEdit="1"/>
            </p:cNvSpPr>
            <p:nvPr/>
          </p:nvSpPr>
          <p:spPr bwMode="auto">
            <a:xfrm>
              <a:off x="2208" y="816"/>
              <a:ext cx="650" cy="6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4" name="Freeform 10"/>
            <p:cNvSpPr>
              <a:spLocks/>
            </p:cNvSpPr>
            <p:nvPr/>
          </p:nvSpPr>
          <p:spPr bwMode="auto">
            <a:xfrm>
              <a:off x="2643" y="894"/>
              <a:ext cx="34" cy="23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58" y="0"/>
                </a:cxn>
                <a:cxn ang="0">
                  <a:pos x="68" y="23"/>
                </a:cxn>
                <a:cxn ang="0">
                  <a:pos x="10" y="46"/>
                </a:cxn>
                <a:cxn ang="0">
                  <a:pos x="0" y="23"/>
                </a:cxn>
              </a:cxnLst>
              <a:rect l="0" t="0" r="r" b="b"/>
              <a:pathLst>
                <a:path w="68" h="46">
                  <a:moveTo>
                    <a:pt x="0" y="23"/>
                  </a:moveTo>
                  <a:lnTo>
                    <a:pt x="58" y="0"/>
                  </a:lnTo>
                  <a:lnTo>
                    <a:pt x="68" y="23"/>
                  </a:lnTo>
                  <a:lnTo>
                    <a:pt x="10" y="46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FFD82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5" name="Freeform 11"/>
            <p:cNvSpPr>
              <a:spLocks/>
            </p:cNvSpPr>
            <p:nvPr/>
          </p:nvSpPr>
          <p:spPr bwMode="auto">
            <a:xfrm>
              <a:off x="2643" y="940"/>
              <a:ext cx="33" cy="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5" y="10"/>
                </a:cxn>
                <a:cxn ang="0">
                  <a:pos x="61" y="34"/>
                </a:cxn>
                <a:cxn ang="0">
                  <a:pos x="0" y="25"/>
                </a:cxn>
                <a:cxn ang="0">
                  <a:pos x="3" y="0"/>
                </a:cxn>
              </a:cxnLst>
              <a:rect l="0" t="0" r="r" b="b"/>
              <a:pathLst>
                <a:path w="65" h="34">
                  <a:moveTo>
                    <a:pt x="3" y="0"/>
                  </a:moveTo>
                  <a:lnTo>
                    <a:pt x="65" y="10"/>
                  </a:lnTo>
                  <a:lnTo>
                    <a:pt x="61" y="34"/>
                  </a:lnTo>
                  <a:lnTo>
                    <a:pt x="0" y="25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FD82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6" name="Freeform 12"/>
            <p:cNvSpPr>
              <a:spLocks/>
            </p:cNvSpPr>
            <p:nvPr/>
          </p:nvSpPr>
          <p:spPr bwMode="auto">
            <a:xfrm>
              <a:off x="2630" y="975"/>
              <a:ext cx="33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66" y="32"/>
                </a:cxn>
                <a:cxn ang="0">
                  <a:pos x="54" y="53"/>
                </a:cxn>
                <a:cxn ang="0">
                  <a:pos x="0" y="20"/>
                </a:cxn>
                <a:cxn ang="0">
                  <a:pos x="14" y="0"/>
                </a:cxn>
              </a:cxnLst>
              <a:rect l="0" t="0" r="r" b="b"/>
              <a:pathLst>
                <a:path w="66" h="53">
                  <a:moveTo>
                    <a:pt x="14" y="0"/>
                  </a:moveTo>
                  <a:lnTo>
                    <a:pt x="66" y="32"/>
                  </a:lnTo>
                  <a:lnTo>
                    <a:pt x="54" y="53"/>
                  </a:lnTo>
                  <a:lnTo>
                    <a:pt x="0" y="2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D82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7" name="Freeform 13"/>
            <p:cNvSpPr>
              <a:spLocks/>
            </p:cNvSpPr>
            <p:nvPr/>
          </p:nvSpPr>
          <p:spPr bwMode="auto">
            <a:xfrm>
              <a:off x="2415" y="988"/>
              <a:ext cx="439" cy="447"/>
            </a:xfrm>
            <a:custGeom>
              <a:avLst/>
              <a:gdLst/>
              <a:ahLst/>
              <a:cxnLst>
                <a:cxn ang="0">
                  <a:pos x="852" y="156"/>
                </a:cxn>
                <a:cxn ang="0">
                  <a:pos x="822" y="148"/>
                </a:cxn>
                <a:cxn ang="0">
                  <a:pos x="791" y="157"/>
                </a:cxn>
                <a:cxn ang="0">
                  <a:pos x="772" y="180"/>
                </a:cxn>
                <a:cxn ang="0">
                  <a:pos x="418" y="202"/>
                </a:cxn>
                <a:cxn ang="0">
                  <a:pos x="413" y="186"/>
                </a:cxn>
                <a:cxn ang="0">
                  <a:pos x="717" y="88"/>
                </a:cxn>
                <a:cxn ang="0">
                  <a:pos x="743" y="107"/>
                </a:cxn>
                <a:cxn ang="0">
                  <a:pos x="774" y="110"/>
                </a:cxn>
                <a:cxn ang="0">
                  <a:pos x="809" y="84"/>
                </a:cxn>
                <a:cxn ang="0">
                  <a:pos x="808" y="23"/>
                </a:cxn>
                <a:cxn ang="0">
                  <a:pos x="782" y="3"/>
                </a:cxn>
                <a:cxn ang="0">
                  <a:pos x="751" y="2"/>
                </a:cxn>
                <a:cxn ang="0">
                  <a:pos x="721" y="19"/>
                </a:cxn>
                <a:cxn ang="0">
                  <a:pos x="708" y="52"/>
                </a:cxn>
                <a:cxn ang="0">
                  <a:pos x="355" y="105"/>
                </a:cxn>
                <a:cxn ang="0">
                  <a:pos x="295" y="76"/>
                </a:cxn>
                <a:cxn ang="0">
                  <a:pos x="225" y="76"/>
                </a:cxn>
                <a:cxn ang="0">
                  <a:pos x="143" y="122"/>
                </a:cxn>
                <a:cxn ang="0">
                  <a:pos x="101" y="205"/>
                </a:cxn>
                <a:cxn ang="0">
                  <a:pos x="101" y="270"/>
                </a:cxn>
                <a:cxn ang="0">
                  <a:pos x="283" y="702"/>
                </a:cxn>
                <a:cxn ang="0">
                  <a:pos x="263" y="815"/>
                </a:cxn>
                <a:cxn ang="0">
                  <a:pos x="248" y="821"/>
                </a:cxn>
                <a:cxn ang="0">
                  <a:pos x="224" y="824"/>
                </a:cxn>
                <a:cxn ang="0">
                  <a:pos x="186" y="819"/>
                </a:cxn>
                <a:cxn ang="0">
                  <a:pos x="135" y="798"/>
                </a:cxn>
                <a:cxn ang="0">
                  <a:pos x="67" y="762"/>
                </a:cxn>
                <a:cxn ang="0">
                  <a:pos x="12" y="766"/>
                </a:cxn>
                <a:cxn ang="0">
                  <a:pos x="52" y="893"/>
                </a:cxn>
                <a:cxn ang="0">
                  <a:pos x="72" y="892"/>
                </a:cxn>
                <a:cxn ang="0">
                  <a:pos x="79" y="871"/>
                </a:cxn>
                <a:cxn ang="0">
                  <a:pos x="100" y="823"/>
                </a:cxn>
                <a:cxn ang="0">
                  <a:pos x="152" y="846"/>
                </a:cxn>
                <a:cxn ang="0">
                  <a:pos x="198" y="859"/>
                </a:cxn>
                <a:cxn ang="0">
                  <a:pos x="237" y="862"/>
                </a:cxn>
                <a:cxn ang="0">
                  <a:pos x="270" y="854"/>
                </a:cxn>
                <a:cxn ang="0">
                  <a:pos x="304" y="825"/>
                </a:cxn>
                <a:cxn ang="0">
                  <a:pos x="325" y="752"/>
                </a:cxn>
                <a:cxn ang="0">
                  <a:pos x="318" y="674"/>
                </a:cxn>
                <a:cxn ang="0">
                  <a:pos x="713" y="860"/>
                </a:cxn>
                <a:cxn ang="0">
                  <a:pos x="777" y="732"/>
                </a:cxn>
                <a:cxn ang="0">
                  <a:pos x="771" y="713"/>
                </a:cxn>
                <a:cxn ang="0">
                  <a:pos x="751" y="710"/>
                </a:cxn>
                <a:cxn ang="0">
                  <a:pos x="714" y="813"/>
                </a:cxn>
                <a:cxn ang="0">
                  <a:pos x="433" y="275"/>
                </a:cxn>
                <a:cxn ang="0">
                  <a:pos x="775" y="230"/>
                </a:cxn>
                <a:cxn ang="0">
                  <a:pos x="785" y="243"/>
                </a:cxn>
                <a:cxn ang="0">
                  <a:pos x="813" y="257"/>
                </a:cxn>
                <a:cxn ang="0">
                  <a:pos x="845" y="253"/>
                </a:cxn>
                <a:cxn ang="0">
                  <a:pos x="878" y="213"/>
                </a:cxn>
              </a:cxnLst>
              <a:rect l="0" t="0" r="r" b="b"/>
              <a:pathLst>
                <a:path w="878" h="894">
                  <a:moveTo>
                    <a:pt x="868" y="171"/>
                  </a:moveTo>
                  <a:lnTo>
                    <a:pt x="862" y="163"/>
                  </a:lnTo>
                  <a:lnTo>
                    <a:pt x="852" y="156"/>
                  </a:lnTo>
                  <a:lnTo>
                    <a:pt x="843" y="151"/>
                  </a:lnTo>
                  <a:lnTo>
                    <a:pt x="832" y="148"/>
                  </a:lnTo>
                  <a:lnTo>
                    <a:pt x="822" y="148"/>
                  </a:lnTo>
                  <a:lnTo>
                    <a:pt x="812" y="149"/>
                  </a:lnTo>
                  <a:lnTo>
                    <a:pt x="801" y="152"/>
                  </a:lnTo>
                  <a:lnTo>
                    <a:pt x="791" y="157"/>
                  </a:lnTo>
                  <a:lnTo>
                    <a:pt x="783" y="164"/>
                  </a:lnTo>
                  <a:lnTo>
                    <a:pt x="777" y="171"/>
                  </a:lnTo>
                  <a:lnTo>
                    <a:pt x="772" y="180"/>
                  </a:lnTo>
                  <a:lnTo>
                    <a:pt x="770" y="190"/>
                  </a:lnTo>
                  <a:lnTo>
                    <a:pt x="427" y="238"/>
                  </a:lnTo>
                  <a:lnTo>
                    <a:pt x="418" y="202"/>
                  </a:lnTo>
                  <a:lnTo>
                    <a:pt x="418" y="202"/>
                  </a:lnTo>
                  <a:lnTo>
                    <a:pt x="416" y="194"/>
                  </a:lnTo>
                  <a:lnTo>
                    <a:pt x="413" y="186"/>
                  </a:lnTo>
                  <a:lnTo>
                    <a:pt x="410" y="178"/>
                  </a:lnTo>
                  <a:lnTo>
                    <a:pt x="408" y="169"/>
                  </a:lnTo>
                  <a:lnTo>
                    <a:pt x="717" y="88"/>
                  </a:lnTo>
                  <a:lnTo>
                    <a:pt x="724" y="96"/>
                  </a:lnTo>
                  <a:lnTo>
                    <a:pt x="733" y="103"/>
                  </a:lnTo>
                  <a:lnTo>
                    <a:pt x="743" y="107"/>
                  </a:lnTo>
                  <a:lnTo>
                    <a:pt x="752" y="110"/>
                  </a:lnTo>
                  <a:lnTo>
                    <a:pt x="763" y="111"/>
                  </a:lnTo>
                  <a:lnTo>
                    <a:pt x="774" y="110"/>
                  </a:lnTo>
                  <a:lnTo>
                    <a:pt x="785" y="106"/>
                  </a:lnTo>
                  <a:lnTo>
                    <a:pt x="794" y="101"/>
                  </a:lnTo>
                  <a:lnTo>
                    <a:pt x="809" y="84"/>
                  </a:lnTo>
                  <a:lnTo>
                    <a:pt x="817" y="65"/>
                  </a:lnTo>
                  <a:lnTo>
                    <a:pt x="817" y="44"/>
                  </a:lnTo>
                  <a:lnTo>
                    <a:pt x="808" y="23"/>
                  </a:lnTo>
                  <a:lnTo>
                    <a:pt x="801" y="15"/>
                  </a:lnTo>
                  <a:lnTo>
                    <a:pt x="791" y="9"/>
                  </a:lnTo>
                  <a:lnTo>
                    <a:pt x="782" y="3"/>
                  </a:lnTo>
                  <a:lnTo>
                    <a:pt x="772" y="0"/>
                  </a:lnTo>
                  <a:lnTo>
                    <a:pt x="762" y="0"/>
                  </a:lnTo>
                  <a:lnTo>
                    <a:pt x="751" y="2"/>
                  </a:lnTo>
                  <a:lnTo>
                    <a:pt x="740" y="5"/>
                  </a:lnTo>
                  <a:lnTo>
                    <a:pt x="731" y="10"/>
                  </a:lnTo>
                  <a:lnTo>
                    <a:pt x="721" y="19"/>
                  </a:lnTo>
                  <a:lnTo>
                    <a:pt x="714" y="29"/>
                  </a:lnTo>
                  <a:lnTo>
                    <a:pt x="710" y="40"/>
                  </a:lnTo>
                  <a:lnTo>
                    <a:pt x="708" y="52"/>
                  </a:lnTo>
                  <a:lnTo>
                    <a:pt x="387" y="137"/>
                  </a:lnTo>
                  <a:lnTo>
                    <a:pt x="372" y="119"/>
                  </a:lnTo>
                  <a:lnTo>
                    <a:pt x="355" y="105"/>
                  </a:lnTo>
                  <a:lnTo>
                    <a:pt x="337" y="92"/>
                  </a:lnTo>
                  <a:lnTo>
                    <a:pt x="317" y="83"/>
                  </a:lnTo>
                  <a:lnTo>
                    <a:pt x="295" y="76"/>
                  </a:lnTo>
                  <a:lnTo>
                    <a:pt x="272" y="73"/>
                  </a:lnTo>
                  <a:lnTo>
                    <a:pt x="250" y="73"/>
                  </a:lnTo>
                  <a:lnTo>
                    <a:pt x="225" y="76"/>
                  </a:lnTo>
                  <a:lnTo>
                    <a:pt x="194" y="86"/>
                  </a:lnTo>
                  <a:lnTo>
                    <a:pt x="167" y="102"/>
                  </a:lnTo>
                  <a:lnTo>
                    <a:pt x="143" y="122"/>
                  </a:lnTo>
                  <a:lnTo>
                    <a:pt x="124" y="147"/>
                  </a:lnTo>
                  <a:lnTo>
                    <a:pt x="110" y="175"/>
                  </a:lnTo>
                  <a:lnTo>
                    <a:pt x="101" y="205"/>
                  </a:lnTo>
                  <a:lnTo>
                    <a:pt x="98" y="237"/>
                  </a:lnTo>
                  <a:lnTo>
                    <a:pt x="102" y="270"/>
                  </a:lnTo>
                  <a:lnTo>
                    <a:pt x="101" y="270"/>
                  </a:lnTo>
                  <a:lnTo>
                    <a:pt x="183" y="681"/>
                  </a:lnTo>
                  <a:lnTo>
                    <a:pt x="277" y="660"/>
                  </a:lnTo>
                  <a:lnTo>
                    <a:pt x="283" y="702"/>
                  </a:lnTo>
                  <a:lnTo>
                    <a:pt x="286" y="746"/>
                  </a:lnTo>
                  <a:lnTo>
                    <a:pt x="281" y="786"/>
                  </a:lnTo>
                  <a:lnTo>
                    <a:pt x="263" y="815"/>
                  </a:lnTo>
                  <a:lnTo>
                    <a:pt x="259" y="817"/>
                  </a:lnTo>
                  <a:lnTo>
                    <a:pt x="254" y="820"/>
                  </a:lnTo>
                  <a:lnTo>
                    <a:pt x="248" y="821"/>
                  </a:lnTo>
                  <a:lnTo>
                    <a:pt x="241" y="824"/>
                  </a:lnTo>
                  <a:lnTo>
                    <a:pt x="233" y="824"/>
                  </a:lnTo>
                  <a:lnTo>
                    <a:pt x="224" y="824"/>
                  </a:lnTo>
                  <a:lnTo>
                    <a:pt x="213" y="824"/>
                  </a:lnTo>
                  <a:lnTo>
                    <a:pt x="201" y="821"/>
                  </a:lnTo>
                  <a:lnTo>
                    <a:pt x="186" y="819"/>
                  </a:lnTo>
                  <a:lnTo>
                    <a:pt x="171" y="813"/>
                  </a:lnTo>
                  <a:lnTo>
                    <a:pt x="154" y="808"/>
                  </a:lnTo>
                  <a:lnTo>
                    <a:pt x="135" y="798"/>
                  </a:lnTo>
                  <a:lnTo>
                    <a:pt x="114" y="789"/>
                  </a:lnTo>
                  <a:lnTo>
                    <a:pt x="91" y="777"/>
                  </a:lnTo>
                  <a:lnTo>
                    <a:pt x="67" y="762"/>
                  </a:lnTo>
                  <a:lnTo>
                    <a:pt x="40" y="746"/>
                  </a:lnTo>
                  <a:lnTo>
                    <a:pt x="0" y="720"/>
                  </a:lnTo>
                  <a:lnTo>
                    <a:pt x="12" y="766"/>
                  </a:lnTo>
                  <a:lnTo>
                    <a:pt x="43" y="882"/>
                  </a:lnTo>
                  <a:lnTo>
                    <a:pt x="47" y="889"/>
                  </a:lnTo>
                  <a:lnTo>
                    <a:pt x="52" y="893"/>
                  </a:lnTo>
                  <a:lnTo>
                    <a:pt x="59" y="894"/>
                  </a:lnTo>
                  <a:lnTo>
                    <a:pt x="66" y="894"/>
                  </a:lnTo>
                  <a:lnTo>
                    <a:pt x="72" y="892"/>
                  </a:lnTo>
                  <a:lnTo>
                    <a:pt x="77" y="886"/>
                  </a:lnTo>
                  <a:lnTo>
                    <a:pt x="79" y="879"/>
                  </a:lnTo>
                  <a:lnTo>
                    <a:pt x="79" y="871"/>
                  </a:lnTo>
                  <a:lnTo>
                    <a:pt x="60" y="801"/>
                  </a:lnTo>
                  <a:lnTo>
                    <a:pt x="81" y="812"/>
                  </a:lnTo>
                  <a:lnTo>
                    <a:pt x="100" y="823"/>
                  </a:lnTo>
                  <a:lnTo>
                    <a:pt x="117" y="832"/>
                  </a:lnTo>
                  <a:lnTo>
                    <a:pt x="135" y="839"/>
                  </a:lnTo>
                  <a:lnTo>
                    <a:pt x="152" y="846"/>
                  </a:lnTo>
                  <a:lnTo>
                    <a:pt x="168" y="851"/>
                  </a:lnTo>
                  <a:lnTo>
                    <a:pt x="183" y="856"/>
                  </a:lnTo>
                  <a:lnTo>
                    <a:pt x="198" y="859"/>
                  </a:lnTo>
                  <a:lnTo>
                    <a:pt x="212" y="860"/>
                  </a:lnTo>
                  <a:lnTo>
                    <a:pt x="224" y="862"/>
                  </a:lnTo>
                  <a:lnTo>
                    <a:pt x="237" y="862"/>
                  </a:lnTo>
                  <a:lnTo>
                    <a:pt x="248" y="860"/>
                  </a:lnTo>
                  <a:lnTo>
                    <a:pt x="259" y="858"/>
                  </a:lnTo>
                  <a:lnTo>
                    <a:pt x="270" y="854"/>
                  </a:lnTo>
                  <a:lnTo>
                    <a:pt x="279" y="848"/>
                  </a:lnTo>
                  <a:lnTo>
                    <a:pt x="287" y="843"/>
                  </a:lnTo>
                  <a:lnTo>
                    <a:pt x="304" y="825"/>
                  </a:lnTo>
                  <a:lnTo>
                    <a:pt x="314" y="804"/>
                  </a:lnTo>
                  <a:lnTo>
                    <a:pt x="321" y="779"/>
                  </a:lnTo>
                  <a:lnTo>
                    <a:pt x="325" y="752"/>
                  </a:lnTo>
                  <a:lnTo>
                    <a:pt x="324" y="725"/>
                  </a:lnTo>
                  <a:lnTo>
                    <a:pt x="322" y="700"/>
                  </a:lnTo>
                  <a:lnTo>
                    <a:pt x="318" y="674"/>
                  </a:lnTo>
                  <a:lnTo>
                    <a:pt x="313" y="652"/>
                  </a:lnTo>
                  <a:lnTo>
                    <a:pt x="425" y="628"/>
                  </a:lnTo>
                  <a:lnTo>
                    <a:pt x="713" y="860"/>
                  </a:lnTo>
                  <a:lnTo>
                    <a:pt x="735" y="878"/>
                  </a:lnTo>
                  <a:lnTo>
                    <a:pt x="743" y="851"/>
                  </a:lnTo>
                  <a:lnTo>
                    <a:pt x="777" y="732"/>
                  </a:lnTo>
                  <a:lnTo>
                    <a:pt x="777" y="725"/>
                  </a:lnTo>
                  <a:lnTo>
                    <a:pt x="775" y="719"/>
                  </a:lnTo>
                  <a:lnTo>
                    <a:pt x="771" y="713"/>
                  </a:lnTo>
                  <a:lnTo>
                    <a:pt x="764" y="709"/>
                  </a:lnTo>
                  <a:lnTo>
                    <a:pt x="758" y="709"/>
                  </a:lnTo>
                  <a:lnTo>
                    <a:pt x="751" y="710"/>
                  </a:lnTo>
                  <a:lnTo>
                    <a:pt x="745" y="714"/>
                  </a:lnTo>
                  <a:lnTo>
                    <a:pt x="741" y="721"/>
                  </a:lnTo>
                  <a:lnTo>
                    <a:pt x="714" y="813"/>
                  </a:lnTo>
                  <a:lnTo>
                    <a:pt x="472" y="618"/>
                  </a:lnTo>
                  <a:lnTo>
                    <a:pt x="502" y="612"/>
                  </a:lnTo>
                  <a:lnTo>
                    <a:pt x="433" y="275"/>
                  </a:lnTo>
                  <a:lnTo>
                    <a:pt x="772" y="226"/>
                  </a:lnTo>
                  <a:lnTo>
                    <a:pt x="774" y="228"/>
                  </a:lnTo>
                  <a:lnTo>
                    <a:pt x="775" y="230"/>
                  </a:lnTo>
                  <a:lnTo>
                    <a:pt x="777" y="232"/>
                  </a:lnTo>
                  <a:lnTo>
                    <a:pt x="778" y="234"/>
                  </a:lnTo>
                  <a:lnTo>
                    <a:pt x="785" y="243"/>
                  </a:lnTo>
                  <a:lnTo>
                    <a:pt x="794" y="249"/>
                  </a:lnTo>
                  <a:lnTo>
                    <a:pt x="804" y="255"/>
                  </a:lnTo>
                  <a:lnTo>
                    <a:pt x="813" y="257"/>
                  </a:lnTo>
                  <a:lnTo>
                    <a:pt x="824" y="259"/>
                  </a:lnTo>
                  <a:lnTo>
                    <a:pt x="835" y="257"/>
                  </a:lnTo>
                  <a:lnTo>
                    <a:pt x="845" y="253"/>
                  </a:lnTo>
                  <a:lnTo>
                    <a:pt x="855" y="248"/>
                  </a:lnTo>
                  <a:lnTo>
                    <a:pt x="870" y="232"/>
                  </a:lnTo>
                  <a:lnTo>
                    <a:pt x="878" y="213"/>
                  </a:lnTo>
                  <a:lnTo>
                    <a:pt x="877" y="191"/>
                  </a:lnTo>
                  <a:lnTo>
                    <a:pt x="868" y="17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1" name="Freeform 17"/>
            <p:cNvSpPr>
              <a:spLocks/>
            </p:cNvSpPr>
            <p:nvPr/>
          </p:nvSpPr>
          <p:spPr bwMode="auto">
            <a:xfrm>
              <a:off x="2553" y="857"/>
              <a:ext cx="17" cy="21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0" y="42"/>
                </a:cxn>
                <a:cxn ang="0">
                  <a:pos x="3" y="41"/>
                </a:cxn>
                <a:cxn ang="0">
                  <a:pos x="7" y="41"/>
                </a:cxn>
                <a:cxn ang="0">
                  <a:pos x="10" y="42"/>
                </a:cxn>
                <a:cxn ang="0">
                  <a:pos x="12" y="43"/>
                </a:cxn>
                <a:cxn ang="0">
                  <a:pos x="35" y="15"/>
                </a:cxn>
                <a:cxn ang="0">
                  <a:pos x="30" y="11"/>
                </a:cxn>
                <a:cxn ang="0">
                  <a:pos x="26" y="7"/>
                </a:cxn>
                <a:cxn ang="0">
                  <a:pos x="20" y="4"/>
                </a:cxn>
                <a:cxn ang="0">
                  <a:pos x="15" y="0"/>
                </a:cxn>
                <a:cxn ang="0">
                  <a:pos x="0" y="42"/>
                </a:cxn>
                <a:cxn ang="0">
                  <a:pos x="0" y="42"/>
                </a:cxn>
              </a:cxnLst>
              <a:rect l="0" t="0" r="r" b="b"/>
              <a:pathLst>
                <a:path w="35" h="43">
                  <a:moveTo>
                    <a:pt x="0" y="42"/>
                  </a:moveTo>
                  <a:lnTo>
                    <a:pt x="0" y="42"/>
                  </a:lnTo>
                  <a:lnTo>
                    <a:pt x="3" y="41"/>
                  </a:lnTo>
                  <a:lnTo>
                    <a:pt x="7" y="41"/>
                  </a:lnTo>
                  <a:lnTo>
                    <a:pt x="10" y="42"/>
                  </a:lnTo>
                  <a:lnTo>
                    <a:pt x="12" y="43"/>
                  </a:lnTo>
                  <a:lnTo>
                    <a:pt x="35" y="15"/>
                  </a:lnTo>
                  <a:lnTo>
                    <a:pt x="30" y="11"/>
                  </a:lnTo>
                  <a:lnTo>
                    <a:pt x="26" y="7"/>
                  </a:lnTo>
                  <a:lnTo>
                    <a:pt x="20" y="4"/>
                  </a:lnTo>
                  <a:lnTo>
                    <a:pt x="15" y="0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auto">
            <a:xfrm>
              <a:off x="2438" y="846"/>
              <a:ext cx="173" cy="155"/>
            </a:xfrm>
            <a:custGeom>
              <a:avLst/>
              <a:gdLst/>
              <a:ahLst/>
              <a:cxnLst>
                <a:cxn ang="0">
                  <a:pos x="321" y="46"/>
                </a:cxn>
                <a:cxn ang="0">
                  <a:pos x="282" y="56"/>
                </a:cxn>
                <a:cxn ang="0">
                  <a:pos x="270" y="44"/>
                </a:cxn>
                <a:cxn ang="0">
                  <a:pos x="240" y="65"/>
                </a:cxn>
                <a:cxn ang="0">
                  <a:pos x="243" y="68"/>
                </a:cxn>
                <a:cxn ang="0">
                  <a:pos x="246" y="71"/>
                </a:cxn>
                <a:cxn ang="0">
                  <a:pos x="246" y="80"/>
                </a:cxn>
                <a:cxn ang="0">
                  <a:pos x="239" y="87"/>
                </a:cxn>
                <a:cxn ang="0">
                  <a:pos x="188" y="110"/>
                </a:cxn>
                <a:cxn ang="0">
                  <a:pos x="178" y="107"/>
                </a:cxn>
                <a:cxn ang="0">
                  <a:pos x="174" y="98"/>
                </a:cxn>
                <a:cxn ang="0">
                  <a:pos x="178" y="90"/>
                </a:cxn>
                <a:cxn ang="0">
                  <a:pos x="182" y="86"/>
                </a:cxn>
                <a:cxn ang="0">
                  <a:pos x="243" y="22"/>
                </a:cxn>
                <a:cxn ang="0">
                  <a:pos x="212" y="9"/>
                </a:cxn>
                <a:cxn ang="0">
                  <a:pos x="178" y="0"/>
                </a:cxn>
                <a:cxn ang="0">
                  <a:pos x="142" y="2"/>
                </a:cxn>
                <a:cxn ang="0">
                  <a:pos x="107" y="10"/>
                </a:cxn>
                <a:cxn ang="0">
                  <a:pos x="53" y="42"/>
                </a:cxn>
                <a:cxn ang="0">
                  <a:pos x="16" y="91"/>
                </a:cxn>
                <a:cxn ang="0">
                  <a:pos x="0" y="148"/>
                </a:cxn>
                <a:cxn ang="0">
                  <a:pos x="8" y="209"/>
                </a:cxn>
                <a:cxn ang="0">
                  <a:pos x="39" y="261"/>
                </a:cxn>
                <a:cxn ang="0">
                  <a:pos x="88" y="295"/>
                </a:cxn>
                <a:cxn ang="0">
                  <a:pos x="147" y="310"/>
                </a:cxn>
                <a:cxn ang="0">
                  <a:pos x="209" y="301"/>
                </a:cxn>
                <a:cxn ang="0">
                  <a:pos x="239" y="287"/>
                </a:cxn>
                <a:cxn ang="0">
                  <a:pos x="266" y="267"/>
                </a:cxn>
                <a:cxn ang="0">
                  <a:pos x="286" y="244"/>
                </a:cxn>
                <a:cxn ang="0">
                  <a:pos x="303" y="217"/>
                </a:cxn>
                <a:cxn ang="0">
                  <a:pos x="290" y="222"/>
                </a:cxn>
                <a:cxn ang="0">
                  <a:pos x="278" y="226"/>
                </a:cxn>
                <a:cxn ang="0">
                  <a:pos x="266" y="228"/>
                </a:cxn>
                <a:cxn ang="0">
                  <a:pos x="254" y="229"/>
                </a:cxn>
                <a:cxn ang="0">
                  <a:pos x="215" y="222"/>
                </a:cxn>
                <a:cxn ang="0">
                  <a:pos x="184" y="205"/>
                </a:cxn>
                <a:cxn ang="0">
                  <a:pos x="163" y="187"/>
                </a:cxn>
                <a:cxn ang="0">
                  <a:pos x="155" y="179"/>
                </a:cxn>
                <a:cxn ang="0">
                  <a:pos x="153" y="170"/>
                </a:cxn>
                <a:cxn ang="0">
                  <a:pos x="157" y="161"/>
                </a:cxn>
                <a:cxn ang="0">
                  <a:pos x="166" y="159"/>
                </a:cxn>
                <a:cxn ang="0">
                  <a:pos x="174" y="164"/>
                </a:cxn>
                <a:cxn ang="0">
                  <a:pos x="175" y="165"/>
                </a:cxn>
                <a:cxn ang="0">
                  <a:pos x="188" y="176"/>
                </a:cxn>
                <a:cxn ang="0">
                  <a:pos x="208" y="193"/>
                </a:cxn>
                <a:cxn ang="0">
                  <a:pos x="238" y="203"/>
                </a:cxn>
                <a:cxn ang="0">
                  <a:pos x="262" y="205"/>
                </a:cxn>
                <a:cxn ang="0">
                  <a:pos x="277" y="201"/>
                </a:cxn>
                <a:cxn ang="0">
                  <a:pos x="292" y="195"/>
                </a:cxn>
                <a:cxn ang="0">
                  <a:pos x="307" y="186"/>
                </a:cxn>
                <a:cxn ang="0">
                  <a:pos x="317" y="163"/>
                </a:cxn>
                <a:cxn ang="0">
                  <a:pos x="315" y="128"/>
                </a:cxn>
                <a:cxn ang="0">
                  <a:pos x="344" y="95"/>
                </a:cxn>
              </a:cxnLst>
              <a:rect l="0" t="0" r="r" b="b"/>
              <a:pathLst>
                <a:path w="344" h="310">
                  <a:moveTo>
                    <a:pt x="344" y="95"/>
                  </a:moveTo>
                  <a:lnTo>
                    <a:pt x="321" y="46"/>
                  </a:lnTo>
                  <a:lnTo>
                    <a:pt x="288" y="63"/>
                  </a:lnTo>
                  <a:lnTo>
                    <a:pt x="282" y="56"/>
                  </a:lnTo>
                  <a:lnTo>
                    <a:pt x="277" y="49"/>
                  </a:lnTo>
                  <a:lnTo>
                    <a:pt x="270" y="44"/>
                  </a:lnTo>
                  <a:lnTo>
                    <a:pt x="263" y="37"/>
                  </a:lnTo>
                  <a:lnTo>
                    <a:pt x="240" y="65"/>
                  </a:lnTo>
                  <a:lnTo>
                    <a:pt x="242" y="67"/>
                  </a:lnTo>
                  <a:lnTo>
                    <a:pt x="243" y="68"/>
                  </a:lnTo>
                  <a:lnTo>
                    <a:pt x="244" y="69"/>
                  </a:lnTo>
                  <a:lnTo>
                    <a:pt x="246" y="71"/>
                  </a:lnTo>
                  <a:lnTo>
                    <a:pt x="247" y="75"/>
                  </a:lnTo>
                  <a:lnTo>
                    <a:pt x="246" y="80"/>
                  </a:lnTo>
                  <a:lnTo>
                    <a:pt x="243" y="84"/>
                  </a:lnTo>
                  <a:lnTo>
                    <a:pt x="239" y="87"/>
                  </a:lnTo>
                  <a:lnTo>
                    <a:pt x="192" y="109"/>
                  </a:lnTo>
                  <a:lnTo>
                    <a:pt x="188" y="110"/>
                  </a:lnTo>
                  <a:lnTo>
                    <a:pt x="182" y="109"/>
                  </a:lnTo>
                  <a:lnTo>
                    <a:pt x="178" y="107"/>
                  </a:lnTo>
                  <a:lnTo>
                    <a:pt x="175" y="103"/>
                  </a:lnTo>
                  <a:lnTo>
                    <a:pt x="174" y="98"/>
                  </a:lnTo>
                  <a:lnTo>
                    <a:pt x="175" y="94"/>
                  </a:lnTo>
                  <a:lnTo>
                    <a:pt x="178" y="90"/>
                  </a:lnTo>
                  <a:lnTo>
                    <a:pt x="182" y="86"/>
                  </a:lnTo>
                  <a:lnTo>
                    <a:pt x="182" y="86"/>
                  </a:lnTo>
                  <a:lnTo>
                    <a:pt x="228" y="64"/>
                  </a:lnTo>
                  <a:lnTo>
                    <a:pt x="243" y="22"/>
                  </a:lnTo>
                  <a:lnTo>
                    <a:pt x="228" y="14"/>
                  </a:lnTo>
                  <a:lnTo>
                    <a:pt x="212" y="9"/>
                  </a:lnTo>
                  <a:lnTo>
                    <a:pt x="196" y="3"/>
                  </a:lnTo>
                  <a:lnTo>
                    <a:pt x="178" y="0"/>
                  </a:lnTo>
                  <a:lnTo>
                    <a:pt x="161" y="0"/>
                  </a:lnTo>
                  <a:lnTo>
                    <a:pt x="142" y="2"/>
                  </a:lnTo>
                  <a:lnTo>
                    <a:pt x="124" y="5"/>
                  </a:lnTo>
                  <a:lnTo>
                    <a:pt x="107" y="10"/>
                  </a:lnTo>
                  <a:lnTo>
                    <a:pt x="77" y="23"/>
                  </a:lnTo>
                  <a:lnTo>
                    <a:pt x="53" y="42"/>
                  </a:lnTo>
                  <a:lnTo>
                    <a:pt x="32" y="65"/>
                  </a:lnTo>
                  <a:lnTo>
                    <a:pt x="16" y="91"/>
                  </a:lnTo>
                  <a:lnTo>
                    <a:pt x="5" y="118"/>
                  </a:lnTo>
                  <a:lnTo>
                    <a:pt x="0" y="148"/>
                  </a:lnTo>
                  <a:lnTo>
                    <a:pt x="1" y="179"/>
                  </a:lnTo>
                  <a:lnTo>
                    <a:pt x="8" y="209"/>
                  </a:lnTo>
                  <a:lnTo>
                    <a:pt x="21" y="237"/>
                  </a:lnTo>
                  <a:lnTo>
                    <a:pt x="39" y="261"/>
                  </a:lnTo>
                  <a:lnTo>
                    <a:pt x="62" y="280"/>
                  </a:lnTo>
                  <a:lnTo>
                    <a:pt x="88" y="295"/>
                  </a:lnTo>
                  <a:lnTo>
                    <a:pt x="116" y="306"/>
                  </a:lnTo>
                  <a:lnTo>
                    <a:pt x="147" y="310"/>
                  </a:lnTo>
                  <a:lnTo>
                    <a:pt x="178" y="309"/>
                  </a:lnTo>
                  <a:lnTo>
                    <a:pt x="209" y="301"/>
                  </a:lnTo>
                  <a:lnTo>
                    <a:pt x="225" y="294"/>
                  </a:lnTo>
                  <a:lnTo>
                    <a:pt x="239" y="287"/>
                  </a:lnTo>
                  <a:lnTo>
                    <a:pt x="253" y="278"/>
                  </a:lnTo>
                  <a:lnTo>
                    <a:pt x="266" y="267"/>
                  </a:lnTo>
                  <a:lnTo>
                    <a:pt x="277" y="256"/>
                  </a:lnTo>
                  <a:lnTo>
                    <a:pt x="286" y="244"/>
                  </a:lnTo>
                  <a:lnTo>
                    <a:pt x="296" y="230"/>
                  </a:lnTo>
                  <a:lnTo>
                    <a:pt x="303" y="217"/>
                  </a:lnTo>
                  <a:lnTo>
                    <a:pt x="297" y="220"/>
                  </a:lnTo>
                  <a:lnTo>
                    <a:pt x="290" y="222"/>
                  </a:lnTo>
                  <a:lnTo>
                    <a:pt x="285" y="224"/>
                  </a:lnTo>
                  <a:lnTo>
                    <a:pt x="278" y="226"/>
                  </a:lnTo>
                  <a:lnTo>
                    <a:pt x="273" y="228"/>
                  </a:lnTo>
                  <a:lnTo>
                    <a:pt x="266" y="228"/>
                  </a:lnTo>
                  <a:lnTo>
                    <a:pt x="261" y="229"/>
                  </a:lnTo>
                  <a:lnTo>
                    <a:pt x="254" y="229"/>
                  </a:lnTo>
                  <a:lnTo>
                    <a:pt x="234" y="228"/>
                  </a:lnTo>
                  <a:lnTo>
                    <a:pt x="215" y="222"/>
                  </a:lnTo>
                  <a:lnTo>
                    <a:pt x="197" y="214"/>
                  </a:lnTo>
                  <a:lnTo>
                    <a:pt x="184" y="205"/>
                  </a:lnTo>
                  <a:lnTo>
                    <a:pt x="171" y="195"/>
                  </a:lnTo>
                  <a:lnTo>
                    <a:pt x="163" y="187"/>
                  </a:lnTo>
                  <a:lnTo>
                    <a:pt x="158" y="182"/>
                  </a:lnTo>
                  <a:lnTo>
                    <a:pt x="155" y="179"/>
                  </a:lnTo>
                  <a:lnTo>
                    <a:pt x="153" y="175"/>
                  </a:lnTo>
                  <a:lnTo>
                    <a:pt x="153" y="170"/>
                  </a:lnTo>
                  <a:lnTo>
                    <a:pt x="154" y="165"/>
                  </a:lnTo>
                  <a:lnTo>
                    <a:pt x="157" y="161"/>
                  </a:lnTo>
                  <a:lnTo>
                    <a:pt x="161" y="159"/>
                  </a:lnTo>
                  <a:lnTo>
                    <a:pt x="166" y="159"/>
                  </a:lnTo>
                  <a:lnTo>
                    <a:pt x="170" y="161"/>
                  </a:lnTo>
                  <a:lnTo>
                    <a:pt x="174" y="164"/>
                  </a:lnTo>
                  <a:lnTo>
                    <a:pt x="174" y="164"/>
                  </a:lnTo>
                  <a:lnTo>
                    <a:pt x="175" y="165"/>
                  </a:lnTo>
                  <a:lnTo>
                    <a:pt x="180" y="171"/>
                  </a:lnTo>
                  <a:lnTo>
                    <a:pt x="188" y="176"/>
                  </a:lnTo>
                  <a:lnTo>
                    <a:pt x="197" y="184"/>
                  </a:lnTo>
                  <a:lnTo>
                    <a:pt x="208" y="193"/>
                  </a:lnTo>
                  <a:lnTo>
                    <a:pt x="221" y="198"/>
                  </a:lnTo>
                  <a:lnTo>
                    <a:pt x="238" y="203"/>
                  </a:lnTo>
                  <a:lnTo>
                    <a:pt x="254" y="205"/>
                  </a:lnTo>
                  <a:lnTo>
                    <a:pt x="262" y="205"/>
                  </a:lnTo>
                  <a:lnTo>
                    <a:pt x="269" y="203"/>
                  </a:lnTo>
                  <a:lnTo>
                    <a:pt x="277" y="201"/>
                  </a:lnTo>
                  <a:lnTo>
                    <a:pt x="285" y="198"/>
                  </a:lnTo>
                  <a:lnTo>
                    <a:pt x="292" y="195"/>
                  </a:lnTo>
                  <a:lnTo>
                    <a:pt x="300" y="191"/>
                  </a:lnTo>
                  <a:lnTo>
                    <a:pt x="307" y="186"/>
                  </a:lnTo>
                  <a:lnTo>
                    <a:pt x="315" y="180"/>
                  </a:lnTo>
                  <a:lnTo>
                    <a:pt x="317" y="163"/>
                  </a:lnTo>
                  <a:lnTo>
                    <a:pt x="317" y="145"/>
                  </a:lnTo>
                  <a:lnTo>
                    <a:pt x="315" y="128"/>
                  </a:lnTo>
                  <a:lnTo>
                    <a:pt x="311" y="110"/>
                  </a:lnTo>
                  <a:lnTo>
                    <a:pt x="344" y="9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87" name="Picture 86" descr="check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057400" y="4419600"/>
            <a:ext cx="762000" cy="76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decel="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the problem?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dirty="0" smtClean="0"/>
              <a:t>Need domain/workload-specific </a:t>
            </a:r>
            <a:br>
              <a:rPr lang="en-US" dirty="0" smtClean="0"/>
            </a:br>
            <a:r>
              <a:rPr lang="en-US" dirty="0" smtClean="0"/>
              <a:t>optimizations for SSD-based index </a:t>
            </a:r>
            <a:br>
              <a:rPr lang="en-US" dirty="0" smtClean="0"/>
            </a:br>
            <a:r>
              <a:rPr lang="en-US" dirty="0" smtClean="0"/>
              <a:t>with↑ performance and ↓overhead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Existing designs have…</a:t>
            </a:r>
          </a:p>
          <a:p>
            <a:pPr lvl="1">
              <a:spcBef>
                <a:spcPts val="1200"/>
              </a:spcBef>
            </a:pPr>
            <a:r>
              <a:rPr lang="en-US" b="1" dirty="0" smtClean="0">
                <a:solidFill>
                  <a:srgbClr val="C00000"/>
                </a:solidFill>
              </a:rPr>
              <a:t>Poor flexibility </a:t>
            </a:r>
            <a:r>
              <a:rPr lang="en-US" dirty="0" smtClean="0"/>
              <a:t>– target a specific point </a:t>
            </a:r>
            <a:br>
              <a:rPr lang="en-US" dirty="0" smtClean="0"/>
            </a:br>
            <a:r>
              <a:rPr lang="en-US" dirty="0" smtClean="0"/>
              <a:t>in the cost-performance spectrum</a:t>
            </a:r>
          </a:p>
          <a:p>
            <a:pPr lvl="1">
              <a:spcBef>
                <a:spcPts val="1200"/>
              </a:spcBef>
            </a:pPr>
            <a:r>
              <a:rPr lang="en-US" b="1" dirty="0" smtClean="0">
                <a:solidFill>
                  <a:srgbClr val="C00000"/>
                </a:solidFill>
              </a:rPr>
              <a:t>Poor generality </a:t>
            </a:r>
            <a:r>
              <a:rPr lang="en-US" dirty="0" smtClean="0"/>
              <a:t>– only apply to </a:t>
            </a:r>
            <a:br>
              <a:rPr lang="en-US" dirty="0" smtClean="0"/>
            </a:br>
            <a:r>
              <a:rPr lang="en-US" dirty="0" smtClean="0"/>
              <a:t>specific workloads or data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 rot="900000">
            <a:off x="6721243" y="1707031"/>
            <a:ext cx="2133600" cy="990600"/>
          </a:xfrm>
          <a:prstGeom prst="roundRect">
            <a:avLst>
              <a:gd name="adj" fmla="val 12954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indent="6350" algn="ctr">
              <a:spcBef>
                <a:spcPts val="1800"/>
              </a:spcBef>
            </a:pPr>
            <a:r>
              <a:rPr lang="en-US" sz="2800" b="1" dirty="0" smtClean="0"/>
              <a:t>False assumption!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contributions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patterns that ensure:</a:t>
            </a:r>
          </a:p>
          <a:p>
            <a:pPr lvl="1"/>
            <a:r>
              <a:rPr lang="en-US" dirty="0" smtClean="0"/>
              <a:t>High performance</a:t>
            </a:r>
          </a:p>
          <a:p>
            <a:pPr lvl="1"/>
            <a:r>
              <a:rPr lang="en-US" dirty="0" smtClean="0"/>
              <a:t>Flexibility</a:t>
            </a:r>
          </a:p>
          <a:p>
            <a:pPr lvl="1"/>
            <a:r>
              <a:rPr lang="en-US" dirty="0" smtClean="0"/>
              <a:t>Generality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Indexes based on these principles:</a:t>
            </a:r>
          </a:p>
          <a:p>
            <a:pPr lvl="1"/>
            <a:r>
              <a:rPr lang="en-US" dirty="0" err="1" smtClean="0"/>
              <a:t>SliceHash</a:t>
            </a:r>
            <a:endParaRPr lang="en-US" dirty="0" smtClean="0"/>
          </a:p>
          <a:p>
            <a:pPr lvl="1"/>
            <a:r>
              <a:rPr lang="en-US" dirty="0" err="1" smtClean="0"/>
              <a:t>SliceBloom</a:t>
            </a:r>
            <a:endParaRPr lang="en-US" dirty="0" smtClean="0"/>
          </a:p>
          <a:p>
            <a:pPr lvl="1"/>
            <a:r>
              <a:rPr lang="en-US" dirty="0" err="1" smtClean="0"/>
              <a:t>SliceLSH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" name="Group 110"/>
          <p:cNvGrpSpPr/>
          <p:nvPr/>
        </p:nvGrpSpPr>
        <p:grpSpPr>
          <a:xfrm>
            <a:off x="2895600" y="4343400"/>
            <a:ext cx="990600" cy="457200"/>
            <a:chOff x="9091708" y="1295404"/>
            <a:chExt cx="1828805" cy="914400"/>
          </a:xfrm>
        </p:grpSpPr>
        <p:sp>
          <p:nvSpPr>
            <p:cNvPr id="6" name="Rectangle 5"/>
            <p:cNvSpPr/>
            <p:nvPr/>
          </p:nvSpPr>
          <p:spPr>
            <a:xfrm>
              <a:off x="9091708" y="1295404"/>
              <a:ext cx="533401" cy="2286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9625112" y="1295404"/>
              <a:ext cx="1295401" cy="2286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9091711" y="1524005"/>
              <a:ext cx="533401" cy="22860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9625111" y="1524006"/>
              <a:ext cx="1295402" cy="22860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9091708" y="1752603"/>
              <a:ext cx="533401" cy="2286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625109" y="1752605"/>
              <a:ext cx="1295401" cy="22860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091710" y="1981203"/>
              <a:ext cx="533401" cy="228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625109" y="1981201"/>
              <a:ext cx="1295401" cy="2286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9"/>
          <p:cNvGrpSpPr/>
          <p:nvPr/>
        </p:nvGrpSpPr>
        <p:grpSpPr>
          <a:xfrm>
            <a:off x="3124200" y="5029200"/>
            <a:ext cx="1905000" cy="228600"/>
            <a:chOff x="838206" y="6096000"/>
            <a:chExt cx="3962394" cy="381000"/>
          </a:xfrm>
        </p:grpSpPr>
        <p:sp>
          <p:nvSpPr>
            <p:cNvPr id="15" name="Rectangle 14"/>
            <p:cNvSpPr/>
            <p:nvPr/>
          </p:nvSpPr>
          <p:spPr>
            <a:xfrm>
              <a:off x="838206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43006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447808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752608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057408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36221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66701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971809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276608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58141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886207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191006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4958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115"/>
          <p:cNvGrpSpPr/>
          <p:nvPr/>
        </p:nvGrpSpPr>
        <p:grpSpPr>
          <a:xfrm>
            <a:off x="2743200" y="5410200"/>
            <a:ext cx="609600" cy="533400"/>
            <a:chOff x="9906006" y="4572005"/>
            <a:chExt cx="1219206" cy="914404"/>
          </a:xfrm>
        </p:grpSpPr>
        <p:sp>
          <p:nvSpPr>
            <p:cNvPr id="29" name="Rectangle 28"/>
            <p:cNvSpPr/>
            <p:nvPr/>
          </p:nvSpPr>
          <p:spPr>
            <a:xfrm>
              <a:off x="9906011" y="4572006"/>
              <a:ext cx="304800" cy="2286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210811" y="4572005"/>
              <a:ext cx="304800" cy="30480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9906011" y="4800606"/>
              <a:ext cx="304800" cy="22860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210811" y="4800606"/>
              <a:ext cx="304800" cy="2286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906006" y="5029206"/>
              <a:ext cx="304800" cy="22860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210806" y="5029206"/>
              <a:ext cx="304800" cy="22860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906011" y="5257807"/>
              <a:ext cx="304800" cy="22860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210809" y="5257807"/>
              <a:ext cx="304800" cy="22860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515611" y="4572008"/>
              <a:ext cx="304800" cy="22860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0820412" y="4572009"/>
              <a:ext cx="304800" cy="30480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10515603" y="4800610"/>
              <a:ext cx="304800" cy="22860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0820403" y="4800607"/>
              <a:ext cx="304800" cy="22860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10515605" y="5029207"/>
              <a:ext cx="304800" cy="22860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820406" y="5029207"/>
              <a:ext cx="304800" cy="22860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0515614" y="5257808"/>
              <a:ext cx="304800" cy="228601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0820400" y="5257801"/>
              <a:ext cx="304800" cy="22860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20"/>
          <p:cNvGrpSpPr/>
          <p:nvPr/>
        </p:nvGrpSpPr>
        <p:grpSpPr>
          <a:xfrm>
            <a:off x="4038600" y="1981200"/>
            <a:ext cx="1054768" cy="780802"/>
            <a:chOff x="2743200" y="2800350"/>
            <a:chExt cx="1466850" cy="1085850"/>
          </a:xfrm>
        </p:grpSpPr>
        <p:pic>
          <p:nvPicPr>
            <p:cNvPr id="46" name="Picture 45" descr="trend_graph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4200" y="2800350"/>
              <a:ext cx="1085850" cy="1085850"/>
            </a:xfrm>
            <a:prstGeom prst="rect">
              <a:avLst/>
            </a:prstGeom>
          </p:spPr>
        </p:pic>
        <p:sp>
          <p:nvSpPr>
            <p:cNvPr id="47" name="Down Arrow 46"/>
            <p:cNvSpPr/>
            <p:nvPr/>
          </p:nvSpPr>
          <p:spPr>
            <a:xfrm rot="10800000">
              <a:off x="2743200" y="3048000"/>
              <a:ext cx="304800" cy="533400"/>
            </a:xfrm>
            <a:prstGeom prst="down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Down Arrow 51"/>
          <p:cNvSpPr/>
          <p:nvPr/>
        </p:nvSpPr>
        <p:spPr>
          <a:xfrm>
            <a:off x="5498432" y="2000250"/>
            <a:ext cx="304800" cy="304800"/>
          </a:xfrm>
          <a:prstGeom prst="downArrow">
            <a:avLst>
              <a:gd name="adj1" fmla="val 50000"/>
              <a:gd name="adj2" fmla="val 100000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914400" y="4876800"/>
            <a:ext cx="4267200" cy="1143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3" name="Group 72"/>
          <p:cNvGrpSpPr/>
          <p:nvPr/>
        </p:nvGrpSpPr>
        <p:grpSpPr>
          <a:xfrm>
            <a:off x="4381866" y="2857866"/>
            <a:ext cx="3850617" cy="799734"/>
            <a:chOff x="4381866" y="2857866"/>
            <a:chExt cx="3850617" cy="799734"/>
          </a:xfrm>
        </p:grpSpPr>
        <p:sp>
          <p:nvSpPr>
            <p:cNvPr id="60" name="Right Arrow 59"/>
            <p:cNvSpPr/>
            <p:nvPr/>
          </p:nvSpPr>
          <p:spPr>
            <a:xfrm rot="6300000">
              <a:off x="7740049" y="3003904"/>
              <a:ext cx="505892" cy="478976"/>
            </a:xfrm>
            <a:prstGeom prst="rightArrow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6" name="Picture 65" descr="magnifying_glass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1866" y="2857866"/>
              <a:ext cx="799734" cy="799734"/>
            </a:xfrm>
            <a:prstGeom prst="rect">
              <a:avLst/>
            </a:prstGeom>
          </p:spPr>
        </p:pic>
        <p:sp>
          <p:nvSpPr>
            <p:cNvPr id="70" name="Rectangle 69"/>
            <p:cNvSpPr/>
            <p:nvPr/>
          </p:nvSpPr>
          <p:spPr>
            <a:xfrm>
              <a:off x="5105401" y="3122984"/>
              <a:ext cx="2468880" cy="152400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chemeClr val="bg1"/>
                </a:gs>
              </a:gsLst>
              <a:lin ang="0" scaled="0"/>
            </a:gra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4" name="Down Arrow 73"/>
          <p:cNvSpPr/>
          <p:nvPr/>
        </p:nvSpPr>
        <p:spPr>
          <a:xfrm>
            <a:off x="5486400" y="2819400"/>
            <a:ext cx="304800" cy="304800"/>
          </a:xfrm>
          <a:prstGeom prst="downArrow">
            <a:avLst>
              <a:gd name="adj1" fmla="val 50000"/>
              <a:gd name="adj2" fmla="val 100000"/>
            </a:avLst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9" name="Group 78"/>
          <p:cNvGrpSpPr/>
          <p:nvPr/>
        </p:nvGrpSpPr>
        <p:grpSpPr>
          <a:xfrm>
            <a:off x="5117432" y="2057400"/>
            <a:ext cx="3757328" cy="609600"/>
            <a:chOff x="5117432" y="2057400"/>
            <a:chExt cx="3757328" cy="609600"/>
          </a:xfrm>
        </p:grpSpPr>
        <p:sp>
          <p:nvSpPr>
            <p:cNvPr id="50" name="Down Arrow 49"/>
            <p:cNvSpPr/>
            <p:nvPr/>
          </p:nvSpPr>
          <p:spPr>
            <a:xfrm rot="10800000" flipV="1">
              <a:off x="8610600" y="2128520"/>
              <a:ext cx="264160" cy="462280"/>
            </a:xfrm>
            <a:prstGeom prst="downArrow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117432" y="2305050"/>
              <a:ext cx="2468880" cy="152400"/>
            </a:xfrm>
            <a:prstGeom prst="rect">
              <a:avLst/>
            </a:prstGeom>
            <a:gradFill>
              <a:gsLst>
                <a:gs pos="0">
                  <a:srgbClr val="C00000"/>
                </a:gs>
                <a:gs pos="100000">
                  <a:schemeClr val="bg1"/>
                </a:gs>
              </a:gsLst>
              <a:lin ang="0" scaled="0"/>
            </a:gra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7" name="Group 76"/>
            <p:cNvGrpSpPr/>
            <p:nvPr/>
          </p:nvGrpSpPr>
          <p:grpSpPr>
            <a:xfrm>
              <a:off x="7739746" y="2057400"/>
              <a:ext cx="803124" cy="609600"/>
              <a:chOff x="6716486" y="1219200"/>
              <a:chExt cx="903514" cy="685800"/>
            </a:xfrm>
          </p:grpSpPr>
          <p:pic>
            <p:nvPicPr>
              <p:cNvPr id="75" name="Picture 74" descr="memory-ram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5400000">
                <a:off x="6520543" y="1415143"/>
                <a:ext cx="685800" cy="293914"/>
              </a:xfrm>
              <a:prstGeom prst="rect">
                <a:avLst/>
              </a:prstGeom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</p:pic>
          <p:pic>
            <p:nvPicPr>
              <p:cNvPr id="76" name="Picture 75" descr="chip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010400" y="1295400"/>
                <a:ext cx="609600" cy="6096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63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09827E-6 L 0.2 1.09827E-6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63" presetClass="pat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 1.09827E-6 L 0.00833 1.09827E-6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63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33333E-6 L 0.175 -3.33333E-6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2" grpId="0" animBg="1"/>
      <p:bldP spid="52" grpId="1" animBg="1"/>
      <p:bldP spid="52" grpId="2" animBg="1"/>
      <p:bldP spid="54" grpId="0" animBg="1"/>
      <p:bldP spid="74" grpId="0" animBg="1"/>
      <p:bldP spid="7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 smtClean="0"/>
              <a:t>Problem statement</a:t>
            </a:r>
          </a:p>
          <a:p>
            <a:r>
              <a:rPr lang="en-US" dirty="0" smtClean="0"/>
              <a:t>Limitations of state-of-the-art</a:t>
            </a:r>
          </a:p>
          <a:p>
            <a:r>
              <a:rPr lang="en-US" dirty="0" smtClean="0"/>
              <a:t>SSD architecture</a:t>
            </a:r>
          </a:p>
          <a:p>
            <a:r>
              <a:rPr lang="en-US" dirty="0" smtClean="0"/>
              <a:t>Parallelism-friendly design patterns</a:t>
            </a:r>
          </a:p>
          <a:p>
            <a:pPr lvl="1"/>
            <a:r>
              <a:rPr lang="en-US" dirty="0" err="1" smtClean="0"/>
              <a:t>SliceHash</a:t>
            </a:r>
            <a:r>
              <a:rPr lang="en-US" dirty="0" smtClean="0"/>
              <a:t>  (streaming hash table)</a:t>
            </a:r>
          </a:p>
          <a:p>
            <a:r>
              <a:rPr lang="en-US" dirty="0" smtClean="0"/>
              <a:t>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BufferHash</a:t>
            </a:r>
            <a:r>
              <a:rPr lang="en-US" dirty="0" smtClean="0"/>
              <a:t> </a:t>
            </a:r>
            <a:r>
              <a:rPr lang="en-US" sz="2000" i="1" dirty="0" smtClean="0"/>
              <a:t>[</a:t>
            </a:r>
            <a:r>
              <a:rPr lang="en-US" sz="2000" i="1" dirty="0" err="1" smtClean="0"/>
              <a:t>Anand</a:t>
            </a:r>
            <a:r>
              <a:rPr lang="en-US" sz="2000" i="1" dirty="0" smtClean="0"/>
              <a:t> et al. NSDI ’10]</a:t>
            </a:r>
            <a:endParaRPr lang="en-US" dirty="0" smtClean="0"/>
          </a:p>
          <a:p>
            <a:pPr lvl="1"/>
            <a:r>
              <a:rPr lang="en-US" dirty="0" smtClean="0"/>
              <a:t>Designed for high throughput</a:t>
            </a:r>
          </a:p>
          <a:p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State-of-the-art SSD-based index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 descr="memory-ram.png"/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5400000">
            <a:off x="1638300" y="3005435"/>
            <a:ext cx="1828800" cy="1295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 rot="5400000">
            <a:off x="4762500" y="1405235"/>
            <a:ext cx="1524000" cy="4191000"/>
          </a:xfrm>
          <a:prstGeom prst="roundRect">
            <a:avLst>
              <a:gd name="adj" fmla="val 863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25"/>
          <p:cNvGrpSpPr/>
          <p:nvPr/>
        </p:nvGrpSpPr>
        <p:grpSpPr>
          <a:xfrm>
            <a:off x="2057400" y="2891135"/>
            <a:ext cx="914400" cy="1219200"/>
            <a:chOff x="-2667000" y="1828800"/>
            <a:chExt cx="914400" cy="1219200"/>
          </a:xfrm>
        </p:grpSpPr>
        <p:sp>
          <p:nvSpPr>
            <p:cNvPr id="27" name="Rectangle 26"/>
            <p:cNvSpPr/>
            <p:nvPr/>
          </p:nvSpPr>
          <p:spPr>
            <a:xfrm>
              <a:off x="-2667000" y="18288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-2667000" y="21336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-2667000" y="24384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2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-2667000" y="27432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-2438400" y="1828800"/>
              <a:ext cx="6858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-2438400" y="2133600"/>
              <a:ext cx="6858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-2438400" y="2438400"/>
              <a:ext cx="6858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2438400" y="2743200"/>
              <a:ext cx="6858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61"/>
          <p:cNvGrpSpPr/>
          <p:nvPr/>
        </p:nvGrpSpPr>
        <p:grpSpPr>
          <a:xfrm>
            <a:off x="4572000" y="2891135"/>
            <a:ext cx="914400" cy="1219200"/>
            <a:chOff x="-1219200" y="3657600"/>
            <a:chExt cx="914400" cy="1219200"/>
          </a:xfrm>
        </p:grpSpPr>
        <p:sp>
          <p:nvSpPr>
            <p:cNvPr id="51" name="Rectangle 50"/>
            <p:cNvSpPr/>
            <p:nvPr/>
          </p:nvSpPr>
          <p:spPr>
            <a:xfrm>
              <a:off x="-1219200" y="36576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-1219200" y="39624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-1219200" y="42672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2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-1219200" y="45720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-990600" y="3657600"/>
              <a:ext cx="6858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-990600" y="3962400"/>
              <a:ext cx="685800" cy="304800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-990600" y="4267200"/>
              <a:ext cx="685800" cy="304800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-990600" y="4572000"/>
              <a:ext cx="685800" cy="304800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62"/>
          <p:cNvGrpSpPr/>
          <p:nvPr/>
        </p:nvGrpSpPr>
        <p:grpSpPr>
          <a:xfrm>
            <a:off x="5562600" y="2891135"/>
            <a:ext cx="914400" cy="1219200"/>
            <a:chOff x="-1219200" y="3657600"/>
            <a:chExt cx="914400" cy="1219200"/>
          </a:xfrm>
        </p:grpSpPr>
        <p:sp>
          <p:nvSpPr>
            <p:cNvPr id="64" name="Rectangle 63"/>
            <p:cNvSpPr/>
            <p:nvPr/>
          </p:nvSpPr>
          <p:spPr>
            <a:xfrm>
              <a:off x="-1219200" y="36576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-1219200" y="39624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-1219200" y="42672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2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-1219200" y="45720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-990600" y="3657600"/>
              <a:ext cx="685800" cy="304800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-990600" y="3962400"/>
              <a:ext cx="685800" cy="304800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-990600" y="4267200"/>
              <a:ext cx="685800" cy="304800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-990600" y="4572000"/>
              <a:ext cx="6858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71"/>
          <p:cNvGrpSpPr/>
          <p:nvPr/>
        </p:nvGrpSpPr>
        <p:grpSpPr>
          <a:xfrm>
            <a:off x="6553200" y="2891135"/>
            <a:ext cx="914400" cy="1219200"/>
            <a:chOff x="-1219200" y="3657600"/>
            <a:chExt cx="914400" cy="1219200"/>
          </a:xfrm>
        </p:grpSpPr>
        <p:sp>
          <p:nvSpPr>
            <p:cNvPr id="73" name="Rectangle 72"/>
            <p:cNvSpPr/>
            <p:nvPr/>
          </p:nvSpPr>
          <p:spPr>
            <a:xfrm>
              <a:off x="-1219200" y="36576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-1219200" y="39624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-1219200" y="42672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2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-1219200" y="45720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-990600" y="3657600"/>
              <a:ext cx="685800" cy="304800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-990600" y="3962400"/>
              <a:ext cx="685800" cy="304800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-990600" y="4267200"/>
              <a:ext cx="6858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-990600" y="4572000"/>
              <a:ext cx="685800" cy="304800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10" name="Rectangle 109"/>
          <p:cNvSpPr/>
          <p:nvPr/>
        </p:nvSpPr>
        <p:spPr>
          <a:xfrm>
            <a:off x="4572000" y="28911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4572000" y="35007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5562600" y="28911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5562600" y="35007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6553200" y="28911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6553200" y="35007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27"/>
          <p:cNvGrpSpPr/>
          <p:nvPr/>
        </p:nvGrpSpPr>
        <p:grpSpPr>
          <a:xfrm>
            <a:off x="76200" y="2891135"/>
            <a:ext cx="1905000" cy="1219200"/>
            <a:chOff x="228600" y="2133600"/>
            <a:chExt cx="1905000" cy="1219200"/>
          </a:xfrm>
        </p:grpSpPr>
        <p:sp>
          <p:nvSpPr>
            <p:cNvPr id="126" name="TextBox 125"/>
            <p:cNvSpPr txBox="1"/>
            <p:nvPr/>
          </p:nvSpPr>
          <p:spPr>
            <a:xfrm>
              <a:off x="228600" y="2369403"/>
              <a:ext cx="1577586" cy="830997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pPr algn="r"/>
              <a:r>
                <a:rPr lang="en-US" sz="2400" i="1" dirty="0" smtClean="0"/>
                <a:t>In-memory</a:t>
              </a:r>
              <a:br>
                <a:rPr lang="en-US" sz="2400" i="1" dirty="0" smtClean="0"/>
              </a:br>
              <a:r>
                <a:rPr lang="en-US" sz="2400" i="1" dirty="0" smtClean="0"/>
                <a:t>incarnation</a:t>
              </a:r>
              <a:endParaRPr lang="en-US" sz="2400" i="1" dirty="0"/>
            </a:p>
          </p:txBody>
        </p:sp>
        <p:sp>
          <p:nvSpPr>
            <p:cNvPr id="127" name="Left Brace 126"/>
            <p:cNvSpPr/>
            <p:nvPr/>
          </p:nvSpPr>
          <p:spPr>
            <a:xfrm>
              <a:off x="1828800" y="2133600"/>
              <a:ext cx="304800" cy="1219200"/>
            </a:xfrm>
            <a:prstGeom prst="leftBrace">
              <a:avLst>
                <a:gd name="adj1" fmla="val 3458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31"/>
          <p:cNvGrpSpPr/>
          <p:nvPr/>
        </p:nvGrpSpPr>
        <p:grpSpPr>
          <a:xfrm>
            <a:off x="6248400" y="4186535"/>
            <a:ext cx="1577586" cy="690265"/>
            <a:chOff x="6629400" y="3429000"/>
            <a:chExt cx="1577586" cy="690265"/>
          </a:xfrm>
        </p:grpSpPr>
        <p:sp>
          <p:nvSpPr>
            <p:cNvPr id="130" name="TextBox 129"/>
            <p:cNvSpPr txBox="1"/>
            <p:nvPr/>
          </p:nvSpPr>
          <p:spPr>
            <a:xfrm>
              <a:off x="6629400" y="3657600"/>
              <a:ext cx="1577586" cy="461665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pPr algn="ctr"/>
              <a:r>
                <a:rPr lang="en-US" sz="2400" i="1" dirty="0" smtClean="0"/>
                <a:t>incarnation</a:t>
              </a:r>
              <a:endParaRPr lang="en-US" sz="2400" i="1" dirty="0"/>
            </a:p>
          </p:txBody>
        </p:sp>
        <p:sp>
          <p:nvSpPr>
            <p:cNvPr id="131" name="Left Brace 130"/>
            <p:cNvSpPr/>
            <p:nvPr/>
          </p:nvSpPr>
          <p:spPr>
            <a:xfrm rot="16200000">
              <a:off x="7239000" y="3124200"/>
              <a:ext cx="304800" cy="914400"/>
            </a:xfrm>
            <a:prstGeom prst="leftBrace">
              <a:avLst>
                <a:gd name="adj1" fmla="val 3458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/>
          <p:cNvSpPr/>
          <p:nvPr/>
        </p:nvSpPr>
        <p:spPr>
          <a:xfrm>
            <a:off x="2286000" y="2891135"/>
            <a:ext cx="6858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A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A</a:t>
            </a:r>
            <a:endParaRPr lang="en-US" sz="2000" b="1" baseline="-25000" dirty="0">
              <a:solidFill>
                <a:schemeClr val="bg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286000" y="3805535"/>
            <a:ext cx="6858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B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B</a:t>
            </a:r>
            <a:endParaRPr lang="en-US" sz="2000" b="1" baseline="-25000" dirty="0">
              <a:solidFill>
                <a:schemeClr val="bg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286000" y="3500735"/>
            <a:ext cx="6858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C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C</a:t>
            </a:r>
          </a:p>
        </p:txBody>
      </p:sp>
      <p:grpSp>
        <p:nvGrpSpPr>
          <p:cNvPr id="13" name="Group 115"/>
          <p:cNvGrpSpPr/>
          <p:nvPr/>
        </p:nvGrpSpPr>
        <p:grpSpPr>
          <a:xfrm>
            <a:off x="2057400" y="2891135"/>
            <a:ext cx="914400" cy="1219200"/>
            <a:chOff x="-1752600" y="3886200"/>
            <a:chExt cx="914400" cy="1219200"/>
          </a:xfrm>
        </p:grpSpPr>
        <p:sp>
          <p:nvSpPr>
            <p:cNvPr id="117" name="Rectangle 116"/>
            <p:cNvSpPr/>
            <p:nvPr/>
          </p:nvSpPr>
          <p:spPr>
            <a:xfrm>
              <a:off x="-1752600" y="38862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-1752600" y="41910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-1752600" y="44958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2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-1752600" y="48006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-1524000" y="4191000"/>
              <a:ext cx="6858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-1524000" y="3886200"/>
              <a:ext cx="6858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9144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A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A</a:t>
              </a:r>
              <a:endParaRPr lang="en-US" sz="20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-1524000" y="4800600"/>
              <a:ext cx="6858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9144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B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B</a:t>
              </a:r>
              <a:endParaRPr lang="en-US" sz="20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-1524000" y="4495800"/>
              <a:ext cx="6858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9144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C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C</a:t>
              </a:r>
            </a:p>
          </p:txBody>
        </p:sp>
      </p:grpSp>
      <p:sp>
        <p:nvSpPr>
          <p:cNvPr id="108" name="Rectangle 107"/>
          <p:cNvSpPr/>
          <p:nvPr/>
        </p:nvSpPr>
        <p:spPr>
          <a:xfrm>
            <a:off x="3581400" y="28911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3581400" y="35007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4" name="Picture 133" descr="magnifying_glass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620000" y="2967335"/>
            <a:ext cx="1295400" cy="1295400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8077200" y="3129915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K</a:t>
            </a:r>
            <a:endParaRPr lang="en-US" sz="2800" b="1" dirty="0"/>
          </a:p>
        </p:txBody>
      </p:sp>
      <p:sp>
        <p:nvSpPr>
          <p:cNvPr id="136" name="TextBox 135"/>
          <p:cNvSpPr txBox="1"/>
          <p:nvPr/>
        </p:nvSpPr>
        <p:spPr>
          <a:xfrm>
            <a:off x="7783129" y="3129915"/>
            <a:ext cx="827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#(   )</a:t>
            </a:r>
            <a:endParaRPr lang="en-US" sz="2800" b="1" dirty="0"/>
          </a:p>
        </p:txBody>
      </p:sp>
      <p:sp>
        <p:nvSpPr>
          <p:cNvPr id="137" name="TextBox 136"/>
          <p:cNvSpPr txBox="1"/>
          <p:nvPr/>
        </p:nvSpPr>
        <p:spPr>
          <a:xfrm>
            <a:off x="8001000" y="311973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2</a:t>
            </a:r>
            <a:endParaRPr lang="en-US" sz="2800" b="1" dirty="0"/>
          </a:p>
        </p:txBody>
      </p:sp>
      <p:grpSp>
        <p:nvGrpSpPr>
          <p:cNvPr id="14" name="Group 139"/>
          <p:cNvGrpSpPr/>
          <p:nvPr/>
        </p:nvGrpSpPr>
        <p:grpSpPr>
          <a:xfrm>
            <a:off x="1981200" y="4262735"/>
            <a:ext cx="1143000" cy="228600"/>
            <a:chOff x="838200" y="6096000"/>
            <a:chExt cx="3962400" cy="381000"/>
          </a:xfrm>
        </p:grpSpPr>
        <p:sp>
          <p:nvSpPr>
            <p:cNvPr id="139" name="Rectangle 138"/>
            <p:cNvSpPr/>
            <p:nvPr/>
          </p:nvSpPr>
          <p:spPr>
            <a:xfrm>
              <a:off x="8382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11430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14478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17526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20574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23622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26670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29718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32766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35814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38862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4191000" y="6096000"/>
              <a:ext cx="304800" cy="381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4495800" y="6096000"/>
              <a:ext cx="304800" cy="381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57"/>
          <p:cNvGrpSpPr/>
          <p:nvPr/>
        </p:nvGrpSpPr>
        <p:grpSpPr>
          <a:xfrm>
            <a:off x="86265" y="4110335"/>
            <a:ext cx="1870494" cy="461665"/>
            <a:chOff x="86265" y="3352800"/>
            <a:chExt cx="1870494" cy="461665"/>
          </a:xfrm>
        </p:grpSpPr>
        <p:sp>
          <p:nvSpPr>
            <p:cNvPr id="152" name="TextBox 151"/>
            <p:cNvSpPr txBox="1"/>
            <p:nvPr/>
          </p:nvSpPr>
          <p:spPr>
            <a:xfrm>
              <a:off x="86265" y="3352800"/>
              <a:ext cx="1577586" cy="461665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pPr algn="r"/>
              <a:r>
                <a:rPr lang="en-US" sz="2400" i="1" dirty="0" smtClean="0"/>
                <a:t>Bloom filter</a:t>
              </a:r>
              <a:endParaRPr lang="en-US" sz="2400" i="1" dirty="0"/>
            </a:p>
          </p:txBody>
        </p:sp>
        <p:cxnSp>
          <p:nvCxnSpPr>
            <p:cNvPr id="156" name="Straight Arrow Connector 155"/>
            <p:cNvCxnSpPr/>
            <p:nvPr/>
          </p:nvCxnSpPr>
          <p:spPr>
            <a:xfrm>
              <a:off x="1651959" y="3605841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61"/>
          <p:cNvGrpSpPr/>
          <p:nvPr/>
        </p:nvGrpSpPr>
        <p:grpSpPr>
          <a:xfrm>
            <a:off x="7620000" y="2967335"/>
            <a:ext cx="1295400" cy="1295400"/>
            <a:chOff x="9829800" y="2743200"/>
            <a:chExt cx="1295400" cy="1295400"/>
          </a:xfrm>
        </p:grpSpPr>
        <p:pic>
          <p:nvPicPr>
            <p:cNvPr id="160" name="Picture 159" descr="magnifying_glass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9800" y="2743200"/>
              <a:ext cx="1295400" cy="1295400"/>
            </a:xfrm>
            <a:prstGeom prst="rect">
              <a:avLst/>
            </a:prstGeom>
          </p:spPr>
        </p:pic>
        <p:sp>
          <p:nvSpPr>
            <p:cNvPr id="161" name="TextBox 160"/>
            <p:cNvSpPr txBox="1"/>
            <p:nvPr/>
          </p:nvSpPr>
          <p:spPr>
            <a:xfrm>
              <a:off x="10210800" y="289560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2</a:t>
              </a:r>
              <a:endParaRPr lang="en-US" sz="2800" b="1" dirty="0"/>
            </a:p>
          </p:txBody>
        </p:sp>
      </p:grpSp>
      <p:sp>
        <p:nvSpPr>
          <p:cNvPr id="165" name="TextBox 164"/>
          <p:cNvSpPr txBox="1"/>
          <p:nvPr/>
        </p:nvSpPr>
        <p:spPr>
          <a:xfrm>
            <a:off x="1524000" y="4876800"/>
            <a:ext cx="183922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4 bytes per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K/V pair!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4419600" y="4876800"/>
            <a:ext cx="2819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16 page reads in worst case!</a:t>
            </a:r>
          </a:p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(average: ≈1)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42775E-6 L 0.16666 2.42775E-6 " pathEditMode="relative" rAng="0" ptsTypes="AA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5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9711E-6 L -0.4625 0.07214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1" y="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1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2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2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500"/>
                            </p:stCondLst>
                            <p:childTnLst>
                              <p:par>
                                <p:cTn id="12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625 0.07214 L -0.3375 0.07214 " pathEditMode="relative" rAng="0" ptsTypes="AA">
                                      <p:cBhvr>
                                        <p:cTn id="1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500"/>
                            </p:stCondLst>
                            <p:childTnLst>
                              <p:par>
                                <p:cTn id="12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2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000"/>
                            </p:stCondLst>
                            <p:childTnLst>
                              <p:par>
                                <p:cTn id="13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375 0.07214 L -0.2375 0.07214 " pathEditMode="relative" rAng="0" ptsTypes="AA">
                                      <p:cBhvr>
                                        <p:cTn id="1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34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135" grpId="0"/>
      <p:bldP spid="135" grpId="1"/>
      <p:bldP spid="136" grpId="0"/>
      <p:bldP spid="136" grpId="1"/>
      <p:bldP spid="137" grpId="0"/>
      <p:bldP spid="137" grpId="1"/>
      <p:bldP spid="165" grpId="0"/>
      <p:bldP spid="1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SILT </a:t>
            </a:r>
            <a:r>
              <a:rPr lang="en-US" i="1" dirty="0" smtClean="0"/>
              <a:t>[Lim et al. SOSP ‘11]</a:t>
            </a:r>
          </a:p>
          <a:p>
            <a:pPr lvl="1"/>
            <a:r>
              <a:rPr lang="en-US" dirty="0" smtClean="0"/>
              <a:t>Designed for low memory + high throughput</a:t>
            </a:r>
          </a:p>
          <a:p>
            <a:endParaRPr lang="en-US" dirty="0" smtClean="0"/>
          </a:p>
        </p:txBody>
      </p:sp>
      <p:sp>
        <p:nvSpPr>
          <p:cNvPr id="168" name="Rounded Rectangle 167"/>
          <p:cNvSpPr/>
          <p:nvPr/>
        </p:nvSpPr>
        <p:spPr>
          <a:xfrm rot="5400000">
            <a:off x="4762500" y="1405235"/>
            <a:ext cx="1524000" cy="4191000"/>
          </a:xfrm>
          <a:prstGeom prst="roundRect">
            <a:avLst>
              <a:gd name="adj" fmla="val 863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115"/>
          <p:cNvGrpSpPr/>
          <p:nvPr/>
        </p:nvGrpSpPr>
        <p:grpSpPr>
          <a:xfrm>
            <a:off x="4572000" y="2891135"/>
            <a:ext cx="914400" cy="1219200"/>
            <a:chOff x="-1752600" y="3886200"/>
            <a:chExt cx="914400" cy="1219200"/>
          </a:xfrm>
        </p:grpSpPr>
        <p:sp>
          <p:nvSpPr>
            <p:cNvPr id="185" name="Rectangle 184"/>
            <p:cNvSpPr/>
            <p:nvPr/>
          </p:nvSpPr>
          <p:spPr>
            <a:xfrm>
              <a:off x="-1752600" y="38862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-1752600" y="41910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-1752600" y="44958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2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-1752600" y="48006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-1524000" y="4191000"/>
              <a:ext cx="6858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-1524000" y="3886200"/>
              <a:ext cx="6858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9144" rIns="45720" rtlCol="0" anchor="ctr"/>
            <a:lstStyle/>
            <a:p>
              <a:pPr algn="ctr"/>
              <a:endParaRPr lang="en-US" sz="20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-1524000" y="4800600"/>
              <a:ext cx="6858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9144" rIns="45720" rtlCol="0" anchor="ctr"/>
            <a:lstStyle/>
            <a:p>
              <a:pPr algn="ctr"/>
              <a:endParaRPr lang="en-US" sz="20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-1524000" y="4495800"/>
              <a:ext cx="6858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9144" rIns="45720" rtlCol="0" anchor="ctr"/>
            <a:lstStyle/>
            <a:p>
              <a:pPr algn="ctr"/>
              <a:endParaRPr lang="en-US" sz="2000" b="1" baseline="-25000" dirty="0" smtClean="0">
                <a:solidFill>
                  <a:schemeClr val="bg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State-of-the-art SSD-based index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67" name="Picture 166" descr="memory-ram.png"/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5400000">
            <a:off x="1638300" y="3005435"/>
            <a:ext cx="1828800" cy="1295400"/>
          </a:xfrm>
          <a:prstGeom prst="rect">
            <a:avLst/>
          </a:prstGeom>
        </p:spPr>
      </p:pic>
      <p:grpSp>
        <p:nvGrpSpPr>
          <p:cNvPr id="14" name="Group 170"/>
          <p:cNvGrpSpPr/>
          <p:nvPr/>
        </p:nvGrpSpPr>
        <p:grpSpPr>
          <a:xfrm>
            <a:off x="3276600" y="4182070"/>
            <a:ext cx="1577586" cy="690265"/>
            <a:chOff x="6629400" y="3429000"/>
            <a:chExt cx="1577586" cy="690265"/>
          </a:xfrm>
        </p:grpSpPr>
        <p:sp>
          <p:nvSpPr>
            <p:cNvPr id="172" name="TextBox 171"/>
            <p:cNvSpPr txBox="1"/>
            <p:nvPr/>
          </p:nvSpPr>
          <p:spPr>
            <a:xfrm>
              <a:off x="6629400" y="3657600"/>
              <a:ext cx="1577586" cy="461665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pPr algn="ctr"/>
              <a:r>
                <a:rPr lang="en-US" sz="2400" i="1" dirty="0" smtClean="0"/>
                <a:t>Log</a:t>
              </a:r>
              <a:endParaRPr lang="en-US" sz="2400" i="1" dirty="0"/>
            </a:p>
          </p:txBody>
        </p:sp>
        <p:sp>
          <p:nvSpPr>
            <p:cNvPr id="173" name="Left Brace 172"/>
            <p:cNvSpPr/>
            <p:nvPr/>
          </p:nvSpPr>
          <p:spPr>
            <a:xfrm rot="16200000">
              <a:off x="7239000" y="3124200"/>
              <a:ext cx="304800" cy="914400"/>
            </a:xfrm>
            <a:prstGeom prst="leftBrace">
              <a:avLst>
                <a:gd name="adj1" fmla="val 3458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73"/>
          <p:cNvGrpSpPr/>
          <p:nvPr/>
        </p:nvGrpSpPr>
        <p:grpSpPr>
          <a:xfrm>
            <a:off x="4267200" y="4186535"/>
            <a:ext cx="1577586" cy="690265"/>
            <a:chOff x="6629400" y="3429000"/>
            <a:chExt cx="1577586" cy="690265"/>
          </a:xfrm>
        </p:grpSpPr>
        <p:sp>
          <p:nvSpPr>
            <p:cNvPr id="175" name="TextBox 174"/>
            <p:cNvSpPr txBox="1"/>
            <p:nvPr/>
          </p:nvSpPr>
          <p:spPr>
            <a:xfrm>
              <a:off x="6629400" y="3657600"/>
              <a:ext cx="1577586" cy="461665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pPr algn="ctr"/>
              <a:r>
                <a:rPr lang="en-US" sz="2400" i="1" dirty="0" smtClean="0"/>
                <a:t>Hash</a:t>
              </a:r>
              <a:endParaRPr lang="en-US" sz="2400" i="1" dirty="0"/>
            </a:p>
          </p:txBody>
        </p:sp>
        <p:sp>
          <p:nvSpPr>
            <p:cNvPr id="176" name="Left Brace 175"/>
            <p:cNvSpPr/>
            <p:nvPr/>
          </p:nvSpPr>
          <p:spPr>
            <a:xfrm rot="16200000">
              <a:off x="7239000" y="3124200"/>
              <a:ext cx="304800" cy="914400"/>
            </a:xfrm>
            <a:prstGeom prst="leftBrace">
              <a:avLst>
                <a:gd name="adj1" fmla="val 3458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91"/>
          <p:cNvGrpSpPr/>
          <p:nvPr/>
        </p:nvGrpSpPr>
        <p:grpSpPr>
          <a:xfrm>
            <a:off x="2667000" y="2814935"/>
            <a:ext cx="228600" cy="1219200"/>
            <a:chOff x="-2667000" y="1828800"/>
            <a:chExt cx="228600" cy="1219200"/>
          </a:xfrm>
        </p:grpSpPr>
        <p:sp>
          <p:nvSpPr>
            <p:cNvPr id="193" name="Rectangle 192"/>
            <p:cNvSpPr/>
            <p:nvPr/>
          </p:nvSpPr>
          <p:spPr>
            <a:xfrm>
              <a:off x="-2667000" y="18288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-2667000" y="21336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-2667000" y="24384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2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-2667000" y="2743200"/>
              <a:ext cx="228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201" name="Rectangle 200"/>
          <p:cNvSpPr/>
          <p:nvPr/>
        </p:nvSpPr>
        <p:spPr>
          <a:xfrm>
            <a:off x="3692106" y="2891135"/>
            <a:ext cx="6858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A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A</a:t>
            </a:r>
            <a:endParaRPr lang="en-US" sz="2000" b="1" baseline="-25000" dirty="0">
              <a:solidFill>
                <a:schemeClr val="bg1"/>
              </a:solidFill>
            </a:endParaRPr>
          </a:p>
        </p:txBody>
      </p:sp>
      <p:sp>
        <p:nvSpPr>
          <p:cNvPr id="202" name="Rectangle 201"/>
          <p:cNvSpPr/>
          <p:nvPr/>
        </p:nvSpPr>
        <p:spPr>
          <a:xfrm>
            <a:off x="3692106" y="3195935"/>
            <a:ext cx="6858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B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B</a:t>
            </a:r>
            <a:endParaRPr lang="en-US" sz="2000" b="1" baseline="-25000" dirty="0">
              <a:solidFill>
                <a:schemeClr val="bg1"/>
              </a:solidFill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3692106" y="3500735"/>
            <a:ext cx="6858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" rIns="45720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C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C</a:t>
            </a:r>
          </a:p>
        </p:txBody>
      </p:sp>
      <p:grpSp>
        <p:nvGrpSpPr>
          <p:cNvPr id="17" name="Group 203"/>
          <p:cNvGrpSpPr/>
          <p:nvPr/>
        </p:nvGrpSpPr>
        <p:grpSpPr>
          <a:xfrm>
            <a:off x="5562600" y="4186535"/>
            <a:ext cx="1905000" cy="690265"/>
            <a:chOff x="6400800" y="3429000"/>
            <a:chExt cx="1905000" cy="690265"/>
          </a:xfrm>
        </p:grpSpPr>
        <p:sp>
          <p:nvSpPr>
            <p:cNvPr id="205" name="TextBox 204"/>
            <p:cNvSpPr txBox="1"/>
            <p:nvPr/>
          </p:nvSpPr>
          <p:spPr>
            <a:xfrm>
              <a:off x="6629400" y="3657600"/>
              <a:ext cx="1577586" cy="461665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pPr algn="ctr"/>
              <a:r>
                <a:rPr lang="en-US" sz="2400" i="1" dirty="0" smtClean="0"/>
                <a:t>Sorted</a:t>
              </a:r>
              <a:endParaRPr lang="en-US" sz="2400" i="1" dirty="0"/>
            </a:p>
          </p:txBody>
        </p:sp>
        <p:sp>
          <p:nvSpPr>
            <p:cNvPr id="206" name="Left Brace 205"/>
            <p:cNvSpPr/>
            <p:nvPr/>
          </p:nvSpPr>
          <p:spPr>
            <a:xfrm rot="16200000">
              <a:off x="7200900" y="2628900"/>
              <a:ext cx="304800" cy="1905000"/>
            </a:xfrm>
            <a:prstGeom prst="leftBrace">
              <a:avLst>
                <a:gd name="adj1" fmla="val 3458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9" name="Rectangle 168"/>
          <p:cNvSpPr/>
          <p:nvPr/>
        </p:nvSpPr>
        <p:spPr>
          <a:xfrm>
            <a:off x="3581400" y="28911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/>
          <p:cNvSpPr/>
          <p:nvPr/>
        </p:nvSpPr>
        <p:spPr>
          <a:xfrm>
            <a:off x="3581400" y="35007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8" name="Straight Arrow Connector 207"/>
          <p:cNvCxnSpPr>
            <a:stCxn id="193" idx="3"/>
            <a:endCxn id="201" idx="1"/>
          </p:cNvCxnSpPr>
          <p:nvPr/>
        </p:nvCxnSpPr>
        <p:spPr>
          <a:xfrm>
            <a:off x="2895600" y="2967335"/>
            <a:ext cx="796506" cy="762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1" name="Straight Arrow Connector 210"/>
          <p:cNvCxnSpPr>
            <a:stCxn id="196" idx="3"/>
            <a:endCxn id="202" idx="1"/>
          </p:cNvCxnSpPr>
          <p:nvPr/>
        </p:nvCxnSpPr>
        <p:spPr>
          <a:xfrm flipV="1">
            <a:off x="2895600" y="3348335"/>
            <a:ext cx="796506" cy="5334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4" name="Straight Arrow Connector 213"/>
          <p:cNvCxnSpPr>
            <a:stCxn id="195" idx="3"/>
            <a:endCxn id="203" idx="1"/>
          </p:cNvCxnSpPr>
          <p:nvPr/>
        </p:nvCxnSpPr>
        <p:spPr>
          <a:xfrm>
            <a:off x="2895600" y="3576935"/>
            <a:ext cx="796506" cy="7620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8" name="Group 127"/>
          <p:cNvGrpSpPr/>
          <p:nvPr/>
        </p:nvGrpSpPr>
        <p:grpSpPr>
          <a:xfrm>
            <a:off x="1447800" y="2814935"/>
            <a:ext cx="1143000" cy="1219200"/>
            <a:chOff x="990600" y="2133600"/>
            <a:chExt cx="1143000" cy="1219200"/>
          </a:xfrm>
        </p:grpSpPr>
        <p:sp>
          <p:nvSpPr>
            <p:cNvPr id="129" name="TextBox 128"/>
            <p:cNvSpPr txBox="1"/>
            <p:nvPr/>
          </p:nvSpPr>
          <p:spPr>
            <a:xfrm>
              <a:off x="990600" y="2369403"/>
              <a:ext cx="815586" cy="830997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pPr algn="r"/>
              <a:r>
                <a:rPr lang="en-US" sz="2400" i="1" dirty="0" smtClean="0"/>
                <a:t>Hash </a:t>
              </a:r>
              <a:br>
                <a:rPr lang="en-US" sz="2400" i="1" dirty="0" smtClean="0"/>
              </a:br>
              <a:r>
                <a:rPr lang="en-US" sz="2400" i="1" dirty="0" smtClean="0"/>
                <a:t>table</a:t>
              </a:r>
              <a:endParaRPr lang="en-US" sz="2400" i="1" dirty="0"/>
            </a:p>
          </p:txBody>
        </p:sp>
        <p:sp>
          <p:nvSpPr>
            <p:cNvPr id="132" name="Left Brace 131"/>
            <p:cNvSpPr/>
            <p:nvPr/>
          </p:nvSpPr>
          <p:spPr>
            <a:xfrm>
              <a:off x="1828800" y="2133600"/>
              <a:ext cx="304800" cy="1219200"/>
            </a:xfrm>
            <a:prstGeom prst="leftBrace">
              <a:avLst>
                <a:gd name="adj1" fmla="val 3458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7" name="Rectangle 176"/>
          <p:cNvSpPr/>
          <p:nvPr/>
        </p:nvSpPr>
        <p:spPr>
          <a:xfrm>
            <a:off x="4572000" y="28911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/>
          <p:cNvSpPr/>
          <p:nvPr/>
        </p:nvSpPr>
        <p:spPr>
          <a:xfrm>
            <a:off x="4572000" y="35007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220"/>
          <p:cNvGrpSpPr/>
          <p:nvPr/>
        </p:nvGrpSpPr>
        <p:grpSpPr>
          <a:xfrm>
            <a:off x="2895600" y="3039070"/>
            <a:ext cx="1905000" cy="990600"/>
            <a:chOff x="2895600" y="4719935"/>
            <a:chExt cx="1905000" cy="990600"/>
          </a:xfrm>
        </p:grpSpPr>
        <p:cxnSp>
          <p:nvCxnSpPr>
            <p:cNvPr id="210" name="Straight Arrow Connector 209"/>
            <p:cNvCxnSpPr>
              <a:stCxn id="193" idx="3"/>
              <a:endCxn id="190" idx="1"/>
            </p:cNvCxnSpPr>
            <p:nvPr/>
          </p:nvCxnSpPr>
          <p:spPr>
            <a:xfrm>
              <a:off x="2895600" y="4719935"/>
              <a:ext cx="1905000" cy="762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2" name="Straight Arrow Connector 211"/>
            <p:cNvCxnSpPr>
              <a:stCxn id="195" idx="3"/>
              <a:endCxn id="192" idx="1"/>
            </p:cNvCxnSpPr>
            <p:nvPr/>
          </p:nvCxnSpPr>
          <p:spPr>
            <a:xfrm>
              <a:off x="2895600" y="5329535"/>
              <a:ext cx="1905000" cy="762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3" name="Straight Arrow Connector 212"/>
            <p:cNvCxnSpPr>
              <a:stCxn id="196" idx="3"/>
              <a:endCxn id="191" idx="1"/>
            </p:cNvCxnSpPr>
            <p:nvPr/>
          </p:nvCxnSpPr>
          <p:spPr>
            <a:xfrm>
              <a:off x="2895600" y="5634335"/>
              <a:ext cx="1905000" cy="762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0" name="Rectangle 229"/>
          <p:cNvSpPr/>
          <p:nvPr/>
        </p:nvSpPr>
        <p:spPr>
          <a:xfrm>
            <a:off x="5638800" y="3500735"/>
            <a:ext cx="685800" cy="304800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K,V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5638800" y="3805535"/>
            <a:ext cx="685800" cy="304800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K,V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33" name="Rectangle 232"/>
          <p:cNvSpPr/>
          <p:nvPr/>
        </p:nvSpPr>
        <p:spPr>
          <a:xfrm>
            <a:off x="5638800" y="2891135"/>
            <a:ext cx="685800" cy="304800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K,V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34" name="Rectangle 233"/>
          <p:cNvSpPr/>
          <p:nvPr/>
        </p:nvSpPr>
        <p:spPr>
          <a:xfrm>
            <a:off x="6705600" y="2891135"/>
            <a:ext cx="685800" cy="30480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K,V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35" name="Rectangle 234"/>
          <p:cNvSpPr/>
          <p:nvPr/>
        </p:nvSpPr>
        <p:spPr>
          <a:xfrm>
            <a:off x="5638800" y="3195935"/>
            <a:ext cx="685800" cy="304800"/>
          </a:xfrm>
          <a:prstGeom prst="rect">
            <a:avLst/>
          </a:prstGeom>
          <a:solidFill>
            <a:schemeClr val="accent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K,V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5562600" y="28911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/>
          <p:cNvSpPr/>
          <p:nvPr/>
        </p:nvSpPr>
        <p:spPr>
          <a:xfrm>
            <a:off x="5562600" y="35007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/>
          <p:cNvSpPr/>
          <p:nvPr/>
        </p:nvSpPr>
        <p:spPr>
          <a:xfrm>
            <a:off x="6553200" y="28911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/>
          <p:cNvSpPr/>
          <p:nvPr/>
        </p:nvSpPr>
        <p:spPr>
          <a:xfrm>
            <a:off x="6553200" y="3500735"/>
            <a:ext cx="914400" cy="609600"/>
          </a:xfrm>
          <a:prstGeom prst="rect">
            <a:avLst/>
          </a:prstGeom>
          <a:noFill/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Rectangle 263"/>
          <p:cNvSpPr/>
          <p:nvPr/>
        </p:nvSpPr>
        <p:spPr>
          <a:xfrm>
            <a:off x="1981200" y="4186535"/>
            <a:ext cx="1143000" cy="2286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264"/>
          <p:cNvGrpSpPr/>
          <p:nvPr/>
        </p:nvGrpSpPr>
        <p:grpSpPr>
          <a:xfrm>
            <a:off x="762000" y="4034135"/>
            <a:ext cx="1184694" cy="461665"/>
            <a:chOff x="772065" y="3352800"/>
            <a:chExt cx="1184694" cy="461665"/>
          </a:xfrm>
        </p:grpSpPr>
        <p:sp>
          <p:nvSpPr>
            <p:cNvPr id="266" name="TextBox 265"/>
            <p:cNvSpPr txBox="1"/>
            <p:nvPr/>
          </p:nvSpPr>
          <p:spPr>
            <a:xfrm>
              <a:off x="772065" y="3352800"/>
              <a:ext cx="891786" cy="461665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pPr algn="r"/>
              <a:r>
                <a:rPr lang="en-US" sz="2400" i="1" dirty="0" smtClean="0"/>
                <a:t>Index</a:t>
              </a:r>
              <a:endParaRPr lang="en-US" sz="2400" i="1" dirty="0"/>
            </a:p>
          </p:txBody>
        </p:sp>
        <p:cxnSp>
          <p:nvCxnSpPr>
            <p:cNvPr id="267" name="Straight Arrow Connector 266"/>
            <p:cNvCxnSpPr/>
            <p:nvPr/>
          </p:nvCxnSpPr>
          <p:spPr>
            <a:xfrm>
              <a:off x="1651959" y="3605841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8" name="TextBox 267"/>
          <p:cNvSpPr txBox="1"/>
          <p:nvPr/>
        </p:nvSpPr>
        <p:spPr>
          <a:xfrm>
            <a:off x="914400" y="4953000"/>
            <a:ext cx="19992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≈0.7 bytes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per K/V pair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270" name="TextBox 269"/>
          <p:cNvSpPr txBox="1"/>
          <p:nvPr/>
        </p:nvSpPr>
        <p:spPr>
          <a:xfrm>
            <a:off x="3352800" y="4953000"/>
            <a:ext cx="2590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33 page reads in worst case!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(average: 1)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6477000" y="4953000"/>
            <a:ext cx="19732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High CPU 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usage!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21" name="Group 272"/>
          <p:cNvGrpSpPr/>
          <p:nvPr/>
        </p:nvGrpSpPr>
        <p:grpSpPr>
          <a:xfrm>
            <a:off x="0" y="1295400"/>
            <a:ext cx="9144000" cy="5029200"/>
            <a:chOff x="-76200" y="1447800"/>
            <a:chExt cx="9144000" cy="5029200"/>
          </a:xfrm>
        </p:grpSpPr>
        <p:sp>
          <p:nvSpPr>
            <p:cNvPr id="274" name="Rectangle 273"/>
            <p:cNvSpPr/>
            <p:nvPr/>
          </p:nvSpPr>
          <p:spPr>
            <a:xfrm>
              <a:off x="-76200" y="1447800"/>
              <a:ext cx="9144000" cy="5029200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Rounded Rectangle 274"/>
            <p:cNvSpPr/>
            <p:nvPr/>
          </p:nvSpPr>
          <p:spPr>
            <a:xfrm>
              <a:off x="762000" y="2438400"/>
              <a:ext cx="7620000" cy="1524000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228600" rtlCol="0" anchor="ctr"/>
            <a:lstStyle/>
            <a:p>
              <a:pPr algn="ctr"/>
              <a:r>
                <a:rPr lang="en-US" sz="3200" b="1" dirty="0" smtClean="0"/>
                <a:t>Target specific workloads and objectives </a:t>
              </a:r>
              <a:br>
                <a:rPr lang="en-US" sz="3200" b="1" dirty="0" smtClean="0"/>
              </a:br>
              <a:r>
                <a:rPr lang="en-US" sz="3200" b="1" dirty="0" smtClean="0"/>
                <a:t>→ poor flexibility and generality</a:t>
              </a:r>
            </a:p>
          </p:txBody>
        </p:sp>
      </p:grpSp>
      <p:sp>
        <p:nvSpPr>
          <p:cNvPr id="137" name="Rounded Rectangle 136"/>
          <p:cNvSpPr/>
          <p:nvPr/>
        </p:nvSpPr>
        <p:spPr>
          <a:xfrm>
            <a:off x="838200" y="4495800"/>
            <a:ext cx="7620000" cy="7620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lang="en-US" sz="3200" b="1" dirty="0" smtClean="0"/>
              <a:t>Do not leverage internal parallelism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3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48555E-6 L 0.12344 -2.48555E-6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63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45087E-6 L 0.12344 0.08878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" y="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63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38728E-6 L 0.12344 -0.04439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" y="-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2.48555E-6 L 1.11022E-16 0.0444 " pathEditMode="relative" rAng="0" ptsTypes="AA">
                                      <p:cBhvr>
                                        <p:cTn id="88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48555E-6 L 3.33333E-6 0.13318 " pathEditMode="relative" rAng="0" ptsTypes="AA">
                                      <p:cBhvr>
                                        <p:cTn id="90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7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56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-1.6763E-6 L 0.11667 -0.13318 " pathEditMode="relative" rAng="0" ptsTypes="AA">
                                      <p:cBhvr>
                                        <p:cTn id="92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" y="-67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5087E-6 L 3.33333E-6 0.04439 " pathEditMode="relative" rAng="0" ptsTypes="AA">
                                      <p:cBhvr>
                                        <p:cTn id="94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38728E-6 L 3.33333E-6 0.04439 " pathEditMode="relative" rAng="0" ptsTypes="AA">
                                      <p:cBhvr>
                                        <p:cTn id="96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63" presetClass="pat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917 -2.48555E-6 L 0.21441 -2.48555E-6 " pathEditMode="relative" rAng="0" ptsTypes="AA">
                                      <p:cBhvr>
                                        <p:cTn id="100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" y="0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63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726 -0.04439 L 0.32917 -0.04439 " pathEditMode="relative" rAng="0" ptsTypes="AA">
                                      <p:cBhvr>
                                        <p:cTn id="102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" y="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56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917 0.08878 L 0.33108 0.04439 " pathEditMode="relative" rAng="0" ptsTypes="AA">
                                      <p:cBhvr>
                                        <p:cTn id="104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" y="-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" grpId="0" animBg="1"/>
      <p:bldP spid="201" grpId="1" animBg="1"/>
      <p:bldP spid="201" grpId="2" animBg="1"/>
      <p:bldP spid="202" grpId="0" animBg="1"/>
      <p:bldP spid="202" grpId="1" animBg="1"/>
      <p:bldP spid="202" grpId="2" animBg="1"/>
      <p:bldP spid="203" grpId="0" animBg="1"/>
      <p:bldP spid="203" grpId="1" animBg="1"/>
      <p:bldP spid="203" grpId="2" animBg="1"/>
      <p:bldP spid="230" grpId="0" animBg="1"/>
      <p:bldP spid="230" grpId="1" animBg="1"/>
      <p:bldP spid="232" grpId="0" animBg="1"/>
      <p:bldP spid="232" grpId="1" animBg="1"/>
      <p:bldP spid="233" grpId="0" animBg="1"/>
      <p:bldP spid="233" grpId="1" animBg="1"/>
      <p:bldP spid="234" grpId="0" animBg="1"/>
      <p:bldP spid="234" grpId="1" animBg="1"/>
      <p:bldP spid="235" grpId="0" animBg="1"/>
      <p:bldP spid="235" grpId="1" animBg="1"/>
      <p:bldP spid="264" grpId="0" animBg="1"/>
      <p:bldP spid="268" grpId="0"/>
      <p:bldP spid="270" grpId="0"/>
      <p:bldP spid="272" grpId="0"/>
      <p:bldP spid="13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68"/>
          <p:cNvGrpSpPr/>
          <p:nvPr/>
        </p:nvGrpSpPr>
        <p:grpSpPr>
          <a:xfrm>
            <a:off x="2057400" y="1143000"/>
            <a:ext cx="5257800" cy="3657600"/>
            <a:chOff x="3276600" y="838200"/>
            <a:chExt cx="5257800" cy="4419599"/>
          </a:xfrm>
        </p:grpSpPr>
        <p:sp>
          <p:nvSpPr>
            <p:cNvPr id="29" name="Rectangle 28"/>
            <p:cNvSpPr/>
            <p:nvPr/>
          </p:nvSpPr>
          <p:spPr>
            <a:xfrm>
              <a:off x="3276600" y="838200"/>
              <a:ext cx="5257800" cy="3962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45" tIns="41473" rIns="82945" bIns="41473" rtlCol="0" anchor="ctr"/>
            <a:lstStyle/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96" name="Straight Arrow Connector 95"/>
            <p:cNvCxnSpPr/>
            <p:nvPr/>
          </p:nvCxnSpPr>
          <p:spPr>
            <a:xfrm flipV="1">
              <a:off x="5410200" y="4613274"/>
              <a:ext cx="0" cy="644525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Rectangle 98"/>
            <p:cNvSpPr/>
            <p:nvPr/>
          </p:nvSpPr>
          <p:spPr>
            <a:xfrm>
              <a:off x="6781800" y="838200"/>
              <a:ext cx="1676400" cy="10041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 smtClean="0"/>
                <a:t>Flash </a:t>
              </a:r>
              <a:r>
                <a:rPr lang="en-US" sz="2400" dirty="0" err="1" smtClean="0"/>
                <a:t>mem</a:t>
              </a:r>
              <a:r>
                <a:rPr lang="en-US" sz="2400" dirty="0" smtClean="0"/>
                <a:t/>
              </a:r>
              <a:br>
                <a:rPr lang="en-US" sz="2400" dirty="0" smtClean="0"/>
              </a:br>
              <a:r>
                <a:rPr lang="en-US" sz="2400" b="1" dirty="0" smtClean="0"/>
                <a:t>package</a:t>
              </a:r>
              <a:r>
                <a:rPr lang="en-US" sz="2400" dirty="0" smtClean="0"/>
                <a:t> 1</a:t>
              </a:r>
              <a:endParaRPr lang="en-US" sz="2400" dirty="0"/>
            </a:p>
          </p:txBody>
        </p:sp>
      </p:grpSp>
      <p:grpSp>
        <p:nvGrpSpPr>
          <p:cNvPr id="5" name="Group 169"/>
          <p:cNvGrpSpPr/>
          <p:nvPr/>
        </p:nvGrpSpPr>
        <p:grpSpPr>
          <a:xfrm>
            <a:off x="2133600" y="1219200"/>
            <a:ext cx="5105400" cy="3048000"/>
            <a:chOff x="3352800" y="1600200"/>
            <a:chExt cx="5105400" cy="3048000"/>
          </a:xfrm>
        </p:grpSpPr>
        <p:cxnSp>
          <p:nvCxnSpPr>
            <p:cNvPr id="41" name="Straight Arrow Connector 40"/>
            <p:cNvCxnSpPr/>
            <p:nvPr/>
          </p:nvCxnSpPr>
          <p:spPr>
            <a:xfrm>
              <a:off x="5181600" y="4648200"/>
              <a:ext cx="2590800" cy="0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/>
            <p:cNvCxnSpPr/>
            <p:nvPr/>
          </p:nvCxnSpPr>
          <p:spPr>
            <a:xfrm flipV="1">
              <a:off x="7772400" y="4495801"/>
              <a:ext cx="0" cy="15239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Rectangle 112"/>
            <p:cNvSpPr/>
            <p:nvPr/>
          </p:nvSpPr>
          <p:spPr>
            <a:xfrm>
              <a:off x="3352800" y="1600200"/>
              <a:ext cx="3352800" cy="2895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45" tIns="0" rIns="82945" bIns="41473" rtlCol="0" anchor="b" anchorCtr="0"/>
            <a:lstStyle/>
            <a:p>
              <a:r>
                <a:rPr lang="en-US" sz="2400" b="1" dirty="0" smtClean="0">
                  <a:solidFill>
                    <a:schemeClr val="tx1"/>
                  </a:solidFill>
                </a:rPr>
                <a:t>Die</a:t>
              </a:r>
              <a:r>
                <a:rPr lang="en-US" sz="2400" dirty="0" smtClean="0">
                  <a:solidFill>
                    <a:schemeClr val="tx1"/>
                  </a:solidFill>
                </a:rPr>
                <a:t> 1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7162800" y="3124200"/>
              <a:ext cx="1295400" cy="1371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45" tIns="0" rIns="82945" bIns="41473" rtlCol="0" anchor="b" anchorCtr="0"/>
            <a:lstStyle/>
            <a:p>
              <a:r>
                <a:rPr lang="en-US" sz="2400" b="1" dirty="0" smtClean="0">
                  <a:solidFill>
                    <a:schemeClr val="tx1"/>
                  </a:solidFill>
                </a:rPr>
                <a:t>Die</a:t>
              </a:r>
              <a:r>
                <a:rPr lang="en-US" sz="2400" dirty="0" smtClean="0">
                  <a:solidFill>
                    <a:schemeClr val="tx1"/>
                  </a:solidFill>
                </a:rPr>
                <a:t> n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6" name="Straight Arrow Connector 105"/>
            <p:cNvCxnSpPr/>
            <p:nvPr/>
          </p:nvCxnSpPr>
          <p:spPr>
            <a:xfrm flipV="1">
              <a:off x="5181600" y="4343400"/>
              <a:ext cx="0" cy="30480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165"/>
          <p:cNvGrpSpPr/>
          <p:nvPr/>
        </p:nvGrpSpPr>
        <p:grpSpPr>
          <a:xfrm>
            <a:off x="4495800" y="5486400"/>
            <a:ext cx="1447800" cy="1143000"/>
            <a:chOff x="4495800" y="5486400"/>
            <a:chExt cx="1447800" cy="1143000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5257800" y="5486400"/>
              <a:ext cx="0" cy="295545"/>
            </a:xfrm>
            <a:prstGeom prst="straightConnector1">
              <a:avLst/>
            </a:prstGeom>
            <a:ln>
              <a:headEnd type="none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4495800" y="5791200"/>
              <a:ext cx="1447800" cy="838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Flash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mem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 smtClean="0">
                  <a:solidFill>
                    <a:schemeClr val="tx1"/>
                  </a:solidFill>
                </a:rPr>
                <a:t>pkg</a:t>
              </a:r>
              <a:r>
                <a:rPr lang="en-US" sz="2400" dirty="0" smtClean="0">
                  <a:solidFill>
                    <a:schemeClr val="tx1"/>
                  </a:solidFill>
                </a:rPr>
                <a:t> 126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66"/>
          <p:cNvGrpSpPr/>
          <p:nvPr/>
        </p:nvGrpSpPr>
        <p:grpSpPr>
          <a:xfrm>
            <a:off x="7467600" y="5486400"/>
            <a:ext cx="1447800" cy="1143000"/>
            <a:chOff x="7467600" y="5486400"/>
            <a:chExt cx="1447800" cy="1143000"/>
          </a:xfrm>
        </p:grpSpPr>
        <p:sp>
          <p:nvSpPr>
            <p:cNvPr id="89" name="Rectangle 88"/>
            <p:cNvSpPr/>
            <p:nvPr/>
          </p:nvSpPr>
          <p:spPr>
            <a:xfrm>
              <a:off x="7467600" y="5791200"/>
              <a:ext cx="1447800" cy="838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Flash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mem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 smtClean="0">
                  <a:solidFill>
                    <a:schemeClr val="tx1"/>
                  </a:solidFill>
                </a:rPr>
                <a:t>pkg</a:t>
              </a:r>
              <a:r>
                <a:rPr lang="en-US" sz="2400" dirty="0" smtClean="0">
                  <a:solidFill>
                    <a:schemeClr val="tx1"/>
                  </a:solidFill>
                </a:rPr>
                <a:t> 128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94" name="Straight Arrow Connector 93"/>
            <p:cNvCxnSpPr/>
            <p:nvPr/>
          </p:nvCxnSpPr>
          <p:spPr>
            <a:xfrm>
              <a:off x="8229600" y="5486400"/>
              <a:ext cx="0" cy="295545"/>
            </a:xfrm>
            <a:prstGeom prst="straightConnector1">
              <a:avLst/>
            </a:prstGeom>
            <a:ln>
              <a:headEnd type="none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67"/>
          <p:cNvGrpSpPr/>
          <p:nvPr/>
        </p:nvGrpSpPr>
        <p:grpSpPr>
          <a:xfrm>
            <a:off x="7772400" y="3124200"/>
            <a:ext cx="1143000" cy="1676400"/>
            <a:chOff x="7543800" y="3581400"/>
            <a:chExt cx="1143000" cy="1676400"/>
          </a:xfrm>
        </p:grpSpPr>
        <p:cxnSp>
          <p:nvCxnSpPr>
            <p:cNvPr id="95" name="Straight Arrow Connector 94"/>
            <p:cNvCxnSpPr/>
            <p:nvPr/>
          </p:nvCxnSpPr>
          <p:spPr>
            <a:xfrm flipV="1">
              <a:off x="8229600" y="4800601"/>
              <a:ext cx="0" cy="457199"/>
            </a:xfrm>
            <a:prstGeom prst="straightConnector1">
              <a:avLst/>
            </a:prstGeom>
            <a:ln>
              <a:headEnd type="none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7" name="Rectangle 96"/>
            <p:cNvSpPr/>
            <p:nvPr/>
          </p:nvSpPr>
          <p:spPr>
            <a:xfrm>
              <a:off x="7543800" y="3581400"/>
              <a:ext cx="1143000" cy="1219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Flash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mem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 smtClean="0">
                  <a:solidFill>
                    <a:schemeClr val="tx1"/>
                  </a:solidFill>
                </a:rPr>
                <a:t>pkg</a:t>
              </a:r>
              <a:r>
                <a:rPr lang="en-US" sz="2400" b="1" dirty="0" smtClean="0">
                  <a:solidFill>
                    <a:schemeClr val="tx1"/>
                  </a:solidFill>
                </a:rPr>
                <a:t> </a:t>
              </a:r>
              <a:r>
                <a:rPr lang="en-US" sz="2400" dirty="0" smtClean="0">
                  <a:solidFill>
                    <a:schemeClr val="tx1"/>
                  </a:solidFill>
                </a:rPr>
                <a:t>4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77"/>
          <p:cNvGrpSpPr/>
          <p:nvPr/>
        </p:nvGrpSpPr>
        <p:grpSpPr>
          <a:xfrm>
            <a:off x="6019800" y="2819400"/>
            <a:ext cx="1143000" cy="838199"/>
            <a:chOff x="6629400" y="3581401"/>
            <a:chExt cx="1143000" cy="838199"/>
          </a:xfrm>
        </p:grpSpPr>
        <p:sp>
          <p:nvSpPr>
            <p:cNvPr id="116" name="Rounded Rectangle 115"/>
            <p:cNvSpPr/>
            <p:nvPr/>
          </p:nvSpPr>
          <p:spPr>
            <a:xfrm>
              <a:off x="6629400" y="3581401"/>
              <a:ext cx="1143000" cy="3809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45" tIns="41473" rIns="82945" bIns="41473"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Plane</a:t>
              </a:r>
              <a:r>
                <a:rPr lang="en-US" sz="2400" dirty="0" smtClean="0">
                  <a:solidFill>
                    <a:schemeClr val="tx1"/>
                  </a:solidFill>
                </a:rPr>
                <a:t> 1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6629400" y="4038601"/>
              <a:ext cx="1143000" cy="38099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45" tIns="41473" rIns="82945" bIns="41473"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Plane</a:t>
              </a:r>
              <a:r>
                <a:rPr lang="en-US" sz="2400" dirty="0" smtClean="0">
                  <a:solidFill>
                    <a:schemeClr val="tx1"/>
                  </a:solidFill>
                </a:rPr>
                <a:t> 2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76"/>
          <p:cNvGrpSpPr/>
          <p:nvPr/>
        </p:nvGrpSpPr>
        <p:grpSpPr>
          <a:xfrm>
            <a:off x="2209800" y="1295400"/>
            <a:ext cx="3200400" cy="2667000"/>
            <a:chOff x="3505200" y="1752600"/>
            <a:chExt cx="3200400" cy="2667000"/>
          </a:xfrm>
        </p:grpSpPr>
        <p:sp>
          <p:nvSpPr>
            <p:cNvPr id="114" name="Rounded Rectangle 113"/>
            <p:cNvSpPr/>
            <p:nvPr/>
          </p:nvSpPr>
          <p:spPr>
            <a:xfrm>
              <a:off x="3505200" y="1752601"/>
              <a:ext cx="2743200" cy="2362200"/>
            </a:xfrm>
            <a:prstGeom prst="roundRect">
              <a:avLst>
                <a:gd name="adj" fmla="val 6265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rIns="45720" bIns="41473" rtlCol="0" anchor="t" anchorCtr="0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Plane</a:t>
              </a:r>
              <a:r>
                <a:rPr lang="en-US" sz="2400" dirty="0" smtClean="0">
                  <a:solidFill>
                    <a:schemeClr val="tx1"/>
                  </a:solidFill>
                </a:rPr>
                <a:t> 1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sp>
          <p:nvSpPr>
            <p:cNvPr id="118" name="Rounded Rectangle 117"/>
            <p:cNvSpPr/>
            <p:nvPr/>
          </p:nvSpPr>
          <p:spPr>
            <a:xfrm rot="16200000">
              <a:off x="5334001" y="2743201"/>
              <a:ext cx="2362200" cy="38099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2945" tIns="41473" rIns="82945" bIns="41473"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Plane</a:t>
              </a:r>
              <a:r>
                <a:rPr lang="en-US" sz="2400" dirty="0" smtClean="0">
                  <a:solidFill>
                    <a:schemeClr val="tx1"/>
                  </a:solidFill>
                </a:rPr>
                <a:t> 2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48" name="Straight Arrow Connector 147"/>
            <p:cNvCxnSpPr/>
            <p:nvPr/>
          </p:nvCxnSpPr>
          <p:spPr>
            <a:xfrm>
              <a:off x="6400800" y="4114800"/>
              <a:ext cx="0" cy="304800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Arrow Connector 148"/>
            <p:cNvCxnSpPr/>
            <p:nvPr/>
          </p:nvCxnSpPr>
          <p:spPr>
            <a:xfrm>
              <a:off x="4876800" y="4419600"/>
              <a:ext cx="1524000" cy="0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Arrow Connector 172"/>
            <p:cNvCxnSpPr>
              <a:stCxn id="114" idx="2"/>
            </p:cNvCxnSpPr>
            <p:nvPr/>
          </p:nvCxnSpPr>
          <p:spPr>
            <a:xfrm>
              <a:off x="4876800" y="4114801"/>
              <a:ext cx="0" cy="304799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75"/>
          <p:cNvGrpSpPr/>
          <p:nvPr/>
        </p:nvGrpSpPr>
        <p:grpSpPr>
          <a:xfrm>
            <a:off x="2286000" y="1752600"/>
            <a:ext cx="2514600" cy="1905001"/>
            <a:chOff x="3581400" y="2209800"/>
            <a:chExt cx="2514600" cy="1905001"/>
          </a:xfrm>
        </p:grpSpPr>
        <p:cxnSp>
          <p:nvCxnSpPr>
            <p:cNvPr id="119" name="Straight Arrow Connector 118"/>
            <p:cNvCxnSpPr>
              <a:endCxn id="114" idx="2"/>
            </p:cNvCxnSpPr>
            <p:nvPr/>
          </p:nvCxnSpPr>
          <p:spPr>
            <a:xfrm>
              <a:off x="4876800" y="3581400"/>
              <a:ext cx="0" cy="533401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6" name="Rectangle 125"/>
            <p:cNvSpPr/>
            <p:nvPr/>
          </p:nvSpPr>
          <p:spPr>
            <a:xfrm>
              <a:off x="4038600" y="3733800"/>
              <a:ext cx="16764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9144" rIns="45720" bIns="41473" rtlCol="0" anchor="ctr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Data register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3581400" y="2209800"/>
              <a:ext cx="1143000" cy="12192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t" anchorCtr="0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Block</a:t>
              </a:r>
              <a:r>
                <a:rPr lang="en-US" sz="2400" dirty="0" smtClean="0">
                  <a:solidFill>
                    <a:schemeClr val="tx1"/>
                  </a:solidFill>
                </a:rPr>
                <a:t> 1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3657600" y="2666999"/>
              <a:ext cx="990600" cy="30480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Page</a:t>
              </a:r>
              <a:r>
                <a:rPr lang="en-US" sz="2400" dirty="0" smtClean="0">
                  <a:solidFill>
                    <a:schemeClr val="tx1"/>
                  </a:solidFill>
                </a:rPr>
                <a:t> 1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3657600" y="3047998"/>
              <a:ext cx="990600" cy="30480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Page</a:t>
              </a:r>
              <a:r>
                <a:rPr lang="en-US" sz="2400" dirty="0" smtClean="0">
                  <a:solidFill>
                    <a:schemeClr val="tx1"/>
                  </a:solidFill>
                </a:rPr>
                <a:t> 2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4953000" y="2209800"/>
              <a:ext cx="1143000" cy="12192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t" anchorCtr="0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Block</a:t>
              </a:r>
              <a:r>
                <a:rPr lang="en-US" sz="2400" dirty="0" smtClean="0">
                  <a:solidFill>
                    <a:schemeClr val="tx1"/>
                  </a:solidFill>
                </a:rPr>
                <a:t> 2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5029200" y="2666999"/>
              <a:ext cx="990600" cy="30480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Page</a:t>
              </a:r>
              <a:r>
                <a:rPr lang="en-US" sz="2400" dirty="0" smtClean="0">
                  <a:solidFill>
                    <a:schemeClr val="tx1"/>
                  </a:solidFill>
                </a:rPr>
                <a:t> 1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5029200" y="3047998"/>
              <a:ext cx="990600" cy="30480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Page</a:t>
              </a:r>
              <a:r>
                <a:rPr lang="en-US" sz="2400" dirty="0" smtClean="0">
                  <a:solidFill>
                    <a:schemeClr val="tx1"/>
                  </a:solidFill>
                </a:rPr>
                <a:t> 2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38" name="Straight Arrow Connector 137"/>
            <p:cNvCxnSpPr/>
            <p:nvPr/>
          </p:nvCxnSpPr>
          <p:spPr>
            <a:xfrm>
              <a:off x="4038600" y="3429000"/>
              <a:ext cx="0" cy="152400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/>
            <p:nvPr/>
          </p:nvCxnSpPr>
          <p:spPr>
            <a:xfrm>
              <a:off x="5562600" y="3429000"/>
              <a:ext cx="0" cy="152400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/>
            <p:nvPr/>
          </p:nvCxnSpPr>
          <p:spPr>
            <a:xfrm>
              <a:off x="4038600" y="3581400"/>
              <a:ext cx="1524000" cy="0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0" name="Group 109"/>
          <p:cNvGrpSpPr/>
          <p:nvPr/>
        </p:nvGrpSpPr>
        <p:grpSpPr>
          <a:xfrm>
            <a:off x="152400" y="3048000"/>
            <a:ext cx="1752600" cy="2667000"/>
            <a:chOff x="609600" y="3124200"/>
            <a:chExt cx="1752600" cy="2667000"/>
          </a:xfrm>
        </p:grpSpPr>
        <p:sp>
          <p:nvSpPr>
            <p:cNvPr id="10" name="Rounded Rectangle 9"/>
            <p:cNvSpPr/>
            <p:nvPr/>
          </p:nvSpPr>
          <p:spPr>
            <a:xfrm>
              <a:off x="609600" y="4648200"/>
              <a:ext cx="1752600" cy="1143000"/>
            </a:xfrm>
            <a:prstGeom prst="roundRect">
              <a:avLst>
                <a:gd name="adj" fmla="val 11280"/>
              </a:avLst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82945" tIns="41473" rIns="82945" bIns="41473" rtlCol="0" anchor="ctr"/>
            <a:lstStyle/>
            <a:p>
              <a:pPr algn="ctr"/>
              <a:r>
                <a:rPr lang="en-US" sz="2400" i="1" dirty="0" smtClean="0">
                  <a:solidFill>
                    <a:schemeClr val="tx1"/>
                  </a:solidFill>
                </a:rPr>
                <a:t>SSD </a:t>
              </a:r>
              <a:br>
                <a:rPr lang="en-US" sz="2400" i="1" dirty="0" smtClean="0">
                  <a:solidFill>
                    <a:schemeClr val="tx1"/>
                  </a:solidFill>
                </a:rPr>
              </a:br>
              <a:r>
                <a:rPr lang="en-US" sz="2400" i="1" dirty="0" smtClean="0">
                  <a:solidFill>
                    <a:schemeClr val="tx1"/>
                  </a:solidFill>
                </a:rPr>
                <a:t>controller</a:t>
              </a:r>
              <a:endParaRPr lang="en-US" sz="2400" i="1" dirty="0">
                <a:solidFill>
                  <a:schemeClr val="tx1"/>
                </a:solidFill>
              </a:endParaRPr>
            </a:p>
          </p:txBody>
        </p:sp>
        <p:cxnSp>
          <p:nvCxnSpPr>
            <p:cNvPr id="74" name="Straight Arrow Connector 73"/>
            <p:cNvCxnSpPr/>
            <p:nvPr/>
          </p:nvCxnSpPr>
          <p:spPr>
            <a:xfrm flipV="1">
              <a:off x="1905000" y="4191000"/>
              <a:ext cx="0" cy="45720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>
              <a:endCxn id="65" idx="3"/>
            </p:cNvCxnSpPr>
            <p:nvPr/>
          </p:nvCxnSpPr>
          <p:spPr>
            <a:xfrm flipV="1">
              <a:off x="989012" y="4191005"/>
              <a:ext cx="793" cy="457195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65" name="Picture 64" descr="memory-ram.png"/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456403" y="3428208"/>
              <a:ext cx="1066805" cy="458789"/>
            </a:xfrm>
            <a:prstGeom prst="rect">
              <a:avLst/>
            </a:prstGeom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p:spPr>
        </p:pic>
        <p:pic>
          <p:nvPicPr>
            <p:cNvPr id="72" name="Picture 71" descr="chip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7800" y="3352914"/>
              <a:ext cx="914286" cy="914286"/>
            </a:xfrm>
            <a:prstGeom prst="rect">
              <a:avLst/>
            </a:prstGeom>
          </p:spPr>
        </p:pic>
      </p:grpSp>
      <p:grpSp>
        <p:nvGrpSpPr>
          <p:cNvPr id="79" name="Group 78"/>
          <p:cNvGrpSpPr/>
          <p:nvPr/>
        </p:nvGrpSpPr>
        <p:grpSpPr>
          <a:xfrm>
            <a:off x="1905000" y="4343400"/>
            <a:ext cx="7010400" cy="1596088"/>
            <a:chOff x="1905000" y="4343400"/>
            <a:chExt cx="7010400" cy="1596088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1905000" y="4800600"/>
              <a:ext cx="7010400" cy="0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1905000" y="5486400"/>
              <a:ext cx="7010400" cy="0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5867400" y="4343400"/>
              <a:ext cx="1600200" cy="453088"/>
            </a:xfrm>
            <a:prstGeom prst="rect">
              <a:avLst/>
            </a:prstGeom>
            <a:noFill/>
          </p:spPr>
          <p:txBody>
            <a:bodyPr wrap="square" lIns="45720" tIns="41473" rIns="45720" bIns="41473" rtlCol="0">
              <a:spAutoFit/>
            </a:bodyPr>
            <a:lstStyle/>
            <a:p>
              <a:pPr algn="ctr"/>
              <a:r>
                <a:rPr lang="en-US" sz="2400" b="1" dirty="0" smtClean="0"/>
                <a:t>Channel</a:t>
              </a:r>
              <a:r>
                <a:rPr lang="en-US" sz="2400" dirty="0" smtClean="0"/>
                <a:t> 1</a:t>
              </a:r>
              <a:endParaRPr lang="en-US" sz="2400" dirty="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5943600" y="5486400"/>
              <a:ext cx="1524000" cy="453088"/>
            </a:xfrm>
            <a:prstGeom prst="rect">
              <a:avLst/>
            </a:prstGeom>
            <a:noFill/>
          </p:spPr>
          <p:txBody>
            <a:bodyPr wrap="square" lIns="45720" tIns="41473" rIns="45720" bIns="41473" rtlCol="0">
              <a:spAutoFit/>
            </a:bodyPr>
            <a:lstStyle/>
            <a:p>
              <a:pPr algn="ctr"/>
              <a:r>
                <a:rPr lang="en-US" sz="2400" b="1" dirty="0" smtClean="0"/>
                <a:t>Channel</a:t>
              </a:r>
              <a:r>
                <a:rPr lang="en-US" sz="2400" dirty="0" smtClean="0"/>
                <a:t> 32</a:t>
              </a:r>
              <a:endParaRPr lang="en-US" sz="2400" dirty="0"/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>
              <a:off x="1905000" y="5029200"/>
              <a:ext cx="7010400" cy="0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 rot="5400000">
              <a:off x="6605218" y="4987362"/>
              <a:ext cx="4395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…</a:t>
              </a:r>
              <a:endParaRPr lang="en-US" sz="2800" b="1" dirty="0"/>
            </a:p>
          </p:txBody>
        </p:sp>
      </p:grpSp>
      <p:sp>
        <p:nvSpPr>
          <p:cNvPr id="157" name="TextBox 156"/>
          <p:cNvSpPr txBox="1"/>
          <p:nvPr/>
        </p:nvSpPr>
        <p:spPr>
          <a:xfrm>
            <a:off x="7332856" y="3844362"/>
            <a:ext cx="439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…</a:t>
            </a:r>
            <a:endParaRPr lang="en-US" sz="2800" b="1" dirty="0"/>
          </a:p>
        </p:txBody>
      </p:sp>
      <p:grpSp>
        <p:nvGrpSpPr>
          <p:cNvPr id="159" name="Group 165"/>
          <p:cNvGrpSpPr/>
          <p:nvPr/>
        </p:nvGrpSpPr>
        <p:grpSpPr>
          <a:xfrm>
            <a:off x="2819400" y="5486400"/>
            <a:ext cx="1447800" cy="1143000"/>
            <a:chOff x="4495800" y="5486400"/>
            <a:chExt cx="1447800" cy="1143000"/>
          </a:xfrm>
        </p:grpSpPr>
        <p:cxnSp>
          <p:nvCxnSpPr>
            <p:cNvPr id="160" name="Straight Arrow Connector 159"/>
            <p:cNvCxnSpPr/>
            <p:nvPr/>
          </p:nvCxnSpPr>
          <p:spPr>
            <a:xfrm>
              <a:off x="5257800" y="5486400"/>
              <a:ext cx="0" cy="295545"/>
            </a:xfrm>
            <a:prstGeom prst="straightConnector1">
              <a:avLst/>
            </a:prstGeom>
            <a:ln>
              <a:headEnd type="none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1" name="Rectangle 160"/>
            <p:cNvSpPr/>
            <p:nvPr/>
          </p:nvSpPr>
          <p:spPr>
            <a:xfrm>
              <a:off x="4495800" y="5791200"/>
              <a:ext cx="1447800" cy="838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Flash </a:t>
              </a:r>
              <a:r>
                <a:rPr lang="en-US" sz="2400" dirty="0" err="1" smtClean="0">
                  <a:solidFill>
                    <a:schemeClr val="tx1"/>
                  </a:solidFill>
                </a:rPr>
                <a:t>mem</a:t>
              </a:r>
              <a:r>
                <a:rPr lang="en-US" sz="2400" dirty="0" smtClean="0">
                  <a:solidFill>
                    <a:schemeClr val="tx1"/>
                  </a:solidFill>
                </a:rPr>
                <a:t> </a:t>
              </a:r>
              <a:r>
                <a:rPr lang="en-US" sz="2400" b="1" dirty="0" err="1" smtClean="0">
                  <a:solidFill>
                    <a:schemeClr val="tx1"/>
                  </a:solidFill>
                </a:rPr>
                <a:t>pkg</a:t>
              </a:r>
              <a:r>
                <a:rPr lang="en-US" sz="2400" dirty="0" smtClean="0">
                  <a:solidFill>
                    <a:schemeClr val="tx1"/>
                  </a:solidFill>
                </a:rPr>
                <a:t> 125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62" name="TextBox 161"/>
          <p:cNvSpPr txBox="1"/>
          <p:nvPr/>
        </p:nvSpPr>
        <p:spPr>
          <a:xfrm>
            <a:off x="6477000" y="5943600"/>
            <a:ext cx="439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…</a:t>
            </a:r>
            <a:endParaRPr lang="en-US" sz="2800" b="1" dirty="0"/>
          </a:p>
        </p:txBody>
      </p:sp>
      <p:sp>
        <p:nvSpPr>
          <p:cNvPr id="17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dirty="0" smtClean="0"/>
              <a:t>SSD Architecture</a:t>
            </a:r>
            <a:endParaRPr lang="en-US" dirty="0"/>
          </a:p>
        </p:txBody>
      </p:sp>
      <p:sp>
        <p:nvSpPr>
          <p:cNvPr id="186" name="TextBox 185"/>
          <p:cNvSpPr txBox="1"/>
          <p:nvPr/>
        </p:nvSpPr>
        <p:spPr>
          <a:xfrm>
            <a:off x="5504056" y="3581400"/>
            <a:ext cx="439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…</a:t>
            </a:r>
            <a:endParaRPr lang="en-US" sz="2800" b="1" dirty="0"/>
          </a:p>
        </p:txBody>
      </p:sp>
      <p:grpSp>
        <p:nvGrpSpPr>
          <p:cNvPr id="70" name="Group 69"/>
          <p:cNvGrpSpPr/>
          <p:nvPr/>
        </p:nvGrpSpPr>
        <p:grpSpPr>
          <a:xfrm>
            <a:off x="0" y="838200"/>
            <a:ext cx="9144000" cy="6019800"/>
            <a:chOff x="0" y="838200"/>
            <a:chExt cx="9144000" cy="6019800"/>
          </a:xfrm>
        </p:grpSpPr>
        <p:sp>
          <p:nvSpPr>
            <p:cNvPr id="68" name="Rectangle 67"/>
            <p:cNvSpPr/>
            <p:nvPr/>
          </p:nvSpPr>
          <p:spPr>
            <a:xfrm>
              <a:off x="0" y="838200"/>
              <a:ext cx="9144000" cy="6019800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1752600" y="3276600"/>
              <a:ext cx="5791200" cy="1219200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228600" rtlCol="0" anchor="ctr"/>
            <a:lstStyle/>
            <a:p>
              <a:pPr algn="ctr"/>
              <a:r>
                <a:rPr lang="en-US" sz="3200" b="1" dirty="0" smtClean="0"/>
                <a:t>How does the SSD architecture inform our design patterns?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  <p:bldP spid="162" grpId="0"/>
      <p:bldP spid="18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5257800" y="1669660"/>
            <a:ext cx="1600200" cy="29023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45" tIns="41473" rIns="82945" bIns="41473" rtlCol="0" anchor="t" anchorCtr="0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Flash memory</a:t>
            </a:r>
            <a:br>
              <a:rPr lang="en-US" sz="2400" dirty="0" smtClean="0">
                <a:solidFill>
                  <a:schemeClr val="tx1"/>
                </a:solidFill>
              </a:rPr>
            </a:br>
            <a:r>
              <a:rPr lang="en-US" sz="2400" b="1" dirty="0" smtClean="0">
                <a:solidFill>
                  <a:schemeClr val="tx1"/>
                </a:solidFill>
              </a:rPr>
              <a:t>package</a:t>
            </a:r>
            <a:r>
              <a:rPr lang="en-US" sz="2400" dirty="0" smtClean="0">
                <a:solidFill>
                  <a:schemeClr val="tx1"/>
                </a:solidFill>
              </a:rPr>
              <a:t> 1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Four design principles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4191000" cy="5029200"/>
          </a:xfrm>
        </p:spPr>
        <p:txBody>
          <a:bodyPr>
            <a:normAutofit/>
          </a:bodyPr>
          <a:lstStyle/>
          <a:p>
            <a:pPr marL="571500" indent="-571500">
              <a:spcBef>
                <a:spcPts val="600"/>
              </a:spcBef>
              <a:buFont typeface="+mj-lt"/>
              <a:buAutoNum type="romanUcPeriod"/>
            </a:pPr>
            <a:r>
              <a:rPr lang="en-US" dirty="0" smtClean="0"/>
              <a:t>Store related entries on the same page</a:t>
            </a:r>
          </a:p>
          <a:p>
            <a:pPr marL="571500" indent="-571500">
              <a:spcBef>
                <a:spcPts val="600"/>
              </a:spcBef>
              <a:buFont typeface="+mj-lt"/>
              <a:buAutoNum type="romanUcPeriod"/>
            </a:pPr>
            <a:r>
              <a:rPr lang="en-US" dirty="0" smtClean="0"/>
              <a:t>Write to the SSD at block granularity</a:t>
            </a:r>
          </a:p>
          <a:p>
            <a:pPr marL="571500" indent="-571500">
              <a:spcBef>
                <a:spcPts val="600"/>
              </a:spcBef>
              <a:buFont typeface="+mj-lt"/>
              <a:buAutoNum type="romanUcPeriod"/>
            </a:pPr>
            <a:r>
              <a:rPr lang="en-US" dirty="0" smtClean="0"/>
              <a:t>Issue large reads and large writes</a:t>
            </a:r>
          </a:p>
          <a:p>
            <a:pPr marL="571500" indent="-571500">
              <a:spcBef>
                <a:spcPts val="600"/>
              </a:spcBef>
              <a:buFont typeface="+mj-lt"/>
              <a:buAutoNum type="romanUcPeriod"/>
            </a:pPr>
            <a:r>
              <a:rPr lang="en-US" dirty="0" smtClean="0"/>
              <a:t>Spread small reads across channels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257800" y="1676400"/>
            <a:ext cx="1600200" cy="290234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945" tIns="41473" rIns="82945" bIns="41473" rtlCol="0" anchor="t" anchorCtr="0"/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Flash memory</a:t>
            </a:r>
            <a:br>
              <a:rPr lang="en-US" sz="2400" dirty="0" smtClean="0">
                <a:solidFill>
                  <a:schemeClr val="bg1"/>
                </a:solidFill>
              </a:rPr>
            </a:br>
            <a:r>
              <a:rPr lang="en-US" sz="2400" b="1" dirty="0" smtClean="0">
                <a:solidFill>
                  <a:schemeClr val="bg1"/>
                </a:solidFill>
              </a:rPr>
              <a:t>package</a:t>
            </a:r>
            <a:r>
              <a:rPr lang="en-US" sz="2400" dirty="0" smtClean="0">
                <a:solidFill>
                  <a:schemeClr val="bg1"/>
                </a:solidFill>
              </a:rPr>
              <a:t> 1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6019800" y="4572000"/>
            <a:ext cx="0" cy="53751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8229600" y="4495800"/>
            <a:ext cx="0" cy="613713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467600" y="3280712"/>
            <a:ext cx="144780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1473" rIns="45720" bIns="41473" rtlCol="0" anchor="ctr"/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Flash memory </a:t>
            </a:r>
            <a:r>
              <a:rPr lang="en-US" sz="2400" b="1" dirty="0" smtClean="0">
                <a:solidFill>
                  <a:schemeClr val="tx1"/>
                </a:solidFill>
              </a:rPr>
              <a:t>package </a:t>
            </a:r>
            <a:r>
              <a:rPr lang="en-US" sz="2400" dirty="0" smtClean="0">
                <a:solidFill>
                  <a:schemeClr val="tx1"/>
                </a:solidFill>
              </a:rPr>
              <a:t>4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0" y="3124200"/>
            <a:ext cx="1143000" cy="1219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1473" rIns="45720" bIns="41473" rtlCol="0" anchor="t" anchorCtr="0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Block</a:t>
            </a:r>
            <a:r>
              <a:rPr lang="en-US" sz="2400" dirty="0" smtClean="0">
                <a:solidFill>
                  <a:schemeClr val="tx1"/>
                </a:solidFill>
              </a:rPr>
              <a:t> 2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23" name="Group 78"/>
          <p:cNvGrpSpPr/>
          <p:nvPr/>
        </p:nvGrpSpPr>
        <p:grpSpPr>
          <a:xfrm>
            <a:off x="5257800" y="4652312"/>
            <a:ext cx="3657600" cy="1596088"/>
            <a:chOff x="5257800" y="4343400"/>
            <a:chExt cx="3657600" cy="1596088"/>
          </a:xfrm>
        </p:grpSpPr>
        <p:cxnSp>
          <p:nvCxnSpPr>
            <p:cNvPr id="24" name="Straight Arrow Connector 23"/>
            <p:cNvCxnSpPr/>
            <p:nvPr/>
          </p:nvCxnSpPr>
          <p:spPr>
            <a:xfrm>
              <a:off x="5257800" y="4800600"/>
              <a:ext cx="3657600" cy="0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arrow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5257800" y="5486400"/>
              <a:ext cx="3657600" cy="0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arrow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6400800" y="4343400"/>
              <a:ext cx="1600200" cy="453088"/>
            </a:xfrm>
            <a:prstGeom prst="rect">
              <a:avLst/>
            </a:prstGeom>
            <a:noFill/>
          </p:spPr>
          <p:txBody>
            <a:bodyPr wrap="square" lIns="45720" tIns="41473" rIns="45720" bIns="41473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rgbClr val="C00000"/>
                  </a:solidFill>
                </a:rPr>
                <a:t>Channel</a:t>
              </a:r>
              <a:r>
                <a:rPr lang="en-US" sz="2400" dirty="0" smtClean="0">
                  <a:solidFill>
                    <a:srgbClr val="C00000"/>
                  </a:solidFill>
                </a:rPr>
                <a:t> 1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477000" y="5486400"/>
              <a:ext cx="1524000" cy="453088"/>
            </a:xfrm>
            <a:prstGeom prst="rect">
              <a:avLst/>
            </a:prstGeom>
            <a:noFill/>
          </p:spPr>
          <p:txBody>
            <a:bodyPr wrap="square" lIns="45720" tIns="41473" rIns="45720" bIns="41473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rgbClr val="C00000"/>
                  </a:solidFill>
                </a:rPr>
                <a:t>Channel</a:t>
              </a:r>
              <a:r>
                <a:rPr lang="en-US" sz="2400" dirty="0" smtClean="0">
                  <a:solidFill>
                    <a:srgbClr val="C00000"/>
                  </a:solidFill>
                </a:rPr>
                <a:t> 32</a:t>
              </a:r>
              <a:endParaRPr lang="en-US" sz="2400" dirty="0">
                <a:solidFill>
                  <a:srgbClr val="C00000"/>
                </a:solidFill>
              </a:endParaRP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5257800" y="5029200"/>
              <a:ext cx="3657600" cy="0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arrow"/>
              <a:tailEnd type="non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 rot="5400000">
              <a:off x="7062417" y="4987362"/>
              <a:ext cx="4395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…</a:t>
              </a:r>
              <a:endParaRPr lang="en-US" sz="2800" b="1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951856" y="4000874"/>
            <a:ext cx="4395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…</a:t>
            </a:r>
            <a:endParaRPr lang="en-US" sz="2800" b="1" dirty="0"/>
          </a:p>
        </p:txBody>
      </p:sp>
      <p:sp>
        <p:nvSpPr>
          <p:cNvPr id="31" name="Rectangle 30"/>
          <p:cNvSpPr/>
          <p:nvPr/>
        </p:nvSpPr>
        <p:spPr>
          <a:xfrm>
            <a:off x="5486400" y="3124200"/>
            <a:ext cx="1143000" cy="1219200"/>
          </a:xfrm>
          <a:prstGeom prst="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1473" rIns="45720" bIns="41473" rtlCol="0" anchor="t" anchorCtr="0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Block</a:t>
            </a:r>
            <a:r>
              <a:rPr lang="en-US" sz="2400" dirty="0" smtClean="0">
                <a:solidFill>
                  <a:schemeClr val="bg1"/>
                </a:solidFill>
              </a:rPr>
              <a:t> 1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32" name="Picture 2" descr="C:\Users\agember\AppData\Local\Microsoft\Windows\Temporary Internet Files\Content.IE5\O2Q741H5\MC900432580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2743200"/>
            <a:ext cx="1143000" cy="1143000"/>
          </a:xfrm>
          <a:prstGeom prst="rect">
            <a:avLst/>
          </a:prstGeom>
          <a:noFill/>
        </p:spPr>
      </p:pic>
      <p:grpSp>
        <p:nvGrpSpPr>
          <p:cNvPr id="33" name="Group 32"/>
          <p:cNvGrpSpPr/>
          <p:nvPr/>
        </p:nvGrpSpPr>
        <p:grpSpPr>
          <a:xfrm>
            <a:off x="5562600" y="3581399"/>
            <a:ext cx="990600" cy="685801"/>
            <a:chOff x="3733800" y="2209799"/>
            <a:chExt cx="990600" cy="68580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4" name="Rectangle 33"/>
            <p:cNvSpPr/>
            <p:nvPr/>
          </p:nvSpPr>
          <p:spPr>
            <a:xfrm>
              <a:off x="3733800" y="2209799"/>
              <a:ext cx="990600" cy="30480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Page</a:t>
              </a:r>
              <a:r>
                <a:rPr lang="en-US" sz="2400" dirty="0" smtClean="0">
                  <a:solidFill>
                    <a:schemeClr val="tx1"/>
                  </a:solidFill>
                </a:rPr>
                <a:t> 1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733800" y="2590798"/>
              <a:ext cx="990600" cy="30480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Page</a:t>
              </a:r>
              <a:r>
                <a:rPr lang="en-US" sz="2400" dirty="0" smtClean="0">
                  <a:solidFill>
                    <a:schemeClr val="tx1"/>
                  </a:solidFill>
                </a:rPr>
                <a:t> 2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36" name="Rectangle 35"/>
          <p:cNvSpPr/>
          <p:nvPr/>
        </p:nvSpPr>
        <p:spPr>
          <a:xfrm>
            <a:off x="5562600" y="3581400"/>
            <a:ext cx="990600" cy="304802"/>
          </a:xfrm>
          <a:prstGeom prst="rect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1473" rIns="45720" bIns="41473"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Page</a:t>
            </a:r>
            <a:r>
              <a:rPr lang="en-US" sz="2400" dirty="0" smtClean="0">
                <a:solidFill>
                  <a:schemeClr val="bg1"/>
                </a:solidFill>
              </a:rPr>
              <a:t> 1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467600" y="3276600"/>
            <a:ext cx="1447800" cy="12192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1473" rIns="45720" bIns="41473" rtlCol="0" anchor="ctr"/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Flash memory </a:t>
            </a:r>
            <a:r>
              <a:rPr lang="en-US" sz="2400" b="1" dirty="0" smtClean="0">
                <a:solidFill>
                  <a:schemeClr val="bg1"/>
                </a:solidFill>
              </a:rPr>
              <a:t>package </a:t>
            </a:r>
            <a:r>
              <a:rPr lang="en-US" sz="2400" dirty="0" smtClean="0">
                <a:solidFill>
                  <a:schemeClr val="bg1"/>
                </a:solidFill>
              </a:rPr>
              <a:t>4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46" name="Picture 45" descr="magnifying_glas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4876800" y="3505200"/>
            <a:ext cx="799734" cy="799734"/>
          </a:xfrm>
          <a:prstGeom prst="rect">
            <a:avLst/>
          </a:prstGeom>
        </p:spPr>
      </p:pic>
      <p:pic>
        <p:nvPicPr>
          <p:cNvPr id="2050" name="Picture 2" descr="C:\Users\agember\AppData\Local\Microsoft\Windows\Temporary Internet Files\Content.IE5\C0D333QZ\MC900432579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24600" y="2667000"/>
            <a:ext cx="1219086" cy="1219086"/>
          </a:xfrm>
          <a:prstGeom prst="rect">
            <a:avLst/>
          </a:prstGeom>
          <a:noFill/>
        </p:spPr>
      </p:pic>
      <p:grpSp>
        <p:nvGrpSpPr>
          <p:cNvPr id="78" name="Group 77"/>
          <p:cNvGrpSpPr/>
          <p:nvPr/>
        </p:nvGrpSpPr>
        <p:grpSpPr>
          <a:xfrm>
            <a:off x="533400" y="5715000"/>
            <a:ext cx="3810000" cy="990600"/>
            <a:chOff x="-1905000" y="2743200"/>
            <a:chExt cx="3810000" cy="990600"/>
          </a:xfrm>
        </p:grpSpPr>
        <p:sp>
          <p:nvSpPr>
            <p:cNvPr id="66" name="Rounded Rectangle 65"/>
            <p:cNvSpPr/>
            <p:nvPr/>
          </p:nvSpPr>
          <p:spPr>
            <a:xfrm>
              <a:off x="-1905000" y="2743200"/>
              <a:ext cx="3810000" cy="914400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228600" rtlCol="0" anchor="ctr"/>
            <a:lstStyle/>
            <a:p>
              <a:r>
                <a:rPr lang="en-US" sz="3200" b="1" i="1" dirty="0" err="1" smtClean="0"/>
                <a:t>SliceHash</a:t>
              </a:r>
              <a:endParaRPr lang="en-US" sz="3200" b="1" i="1" dirty="0" smtClean="0"/>
            </a:p>
          </p:txBody>
        </p:sp>
        <p:grpSp>
          <p:nvGrpSpPr>
            <p:cNvPr id="67" name="Group 66"/>
            <p:cNvGrpSpPr/>
            <p:nvPr/>
          </p:nvGrpSpPr>
          <p:grpSpPr>
            <a:xfrm>
              <a:off x="228600" y="2743200"/>
              <a:ext cx="1450480" cy="990600"/>
              <a:chOff x="2514600" y="5486400"/>
              <a:chExt cx="1733245" cy="1183713"/>
            </a:xfrm>
          </p:grpSpPr>
          <p:grpSp>
            <p:nvGrpSpPr>
              <p:cNvPr id="68" name="Group 110"/>
              <p:cNvGrpSpPr/>
              <p:nvPr/>
            </p:nvGrpSpPr>
            <p:grpSpPr>
              <a:xfrm>
                <a:off x="2514600" y="5791200"/>
                <a:ext cx="1485900" cy="685800"/>
                <a:chOff x="9091708" y="1295404"/>
                <a:chExt cx="1828805" cy="914400"/>
              </a:xfrm>
            </p:grpSpPr>
            <p:sp>
              <p:nvSpPr>
                <p:cNvPr id="70" name="Rectangle 69"/>
                <p:cNvSpPr/>
                <p:nvPr/>
              </p:nvSpPr>
              <p:spPr>
                <a:xfrm>
                  <a:off x="9091708" y="1295404"/>
                  <a:ext cx="533401" cy="228601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Rectangle 70"/>
                <p:cNvSpPr/>
                <p:nvPr/>
              </p:nvSpPr>
              <p:spPr>
                <a:xfrm>
                  <a:off x="9625112" y="1295404"/>
                  <a:ext cx="1295401" cy="228601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Rectangle 71"/>
                <p:cNvSpPr/>
                <p:nvPr/>
              </p:nvSpPr>
              <p:spPr>
                <a:xfrm>
                  <a:off x="9091711" y="1524005"/>
                  <a:ext cx="533401" cy="228601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Rectangle 72"/>
                <p:cNvSpPr/>
                <p:nvPr/>
              </p:nvSpPr>
              <p:spPr>
                <a:xfrm>
                  <a:off x="9625111" y="1524006"/>
                  <a:ext cx="1295402" cy="228602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Rectangle 73"/>
                <p:cNvSpPr/>
                <p:nvPr/>
              </p:nvSpPr>
              <p:spPr>
                <a:xfrm>
                  <a:off x="9091708" y="1752603"/>
                  <a:ext cx="533401" cy="228601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" name="Rectangle 74"/>
                <p:cNvSpPr/>
                <p:nvPr/>
              </p:nvSpPr>
              <p:spPr>
                <a:xfrm>
                  <a:off x="9625109" y="1752605"/>
                  <a:ext cx="1295401" cy="228601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Rectangle 75"/>
                <p:cNvSpPr/>
                <p:nvPr/>
              </p:nvSpPr>
              <p:spPr>
                <a:xfrm>
                  <a:off x="9091710" y="1981203"/>
                  <a:ext cx="533401" cy="228601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Rectangle 76"/>
                <p:cNvSpPr/>
                <p:nvPr/>
              </p:nvSpPr>
              <p:spPr>
                <a:xfrm>
                  <a:off x="9625109" y="1981201"/>
                  <a:ext cx="1295401" cy="228601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69" name="Picture 2" descr="C:\Users\agember\AppData\Local\Microsoft\Windows\Temporary Internet Files\Content.IE5\C0D333QZ\MC900384006[1].wmf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 rot="4093512">
                <a:off x="3132266" y="5554534"/>
                <a:ext cx="1183713" cy="1047445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3" grpId="0" uiExpand="1" build="p"/>
      <p:bldP spid="16" grpId="0" animBg="1"/>
      <p:bldP spid="16" grpId="1" animBg="1"/>
      <p:bldP spid="21" grpId="0" animBg="1"/>
      <p:bldP spid="22" grpId="0" animBg="1"/>
      <p:bldP spid="30" grpId="0"/>
      <p:bldP spid="31" grpId="0" animBg="1"/>
      <p:bldP spid="31" grpId="1" animBg="1"/>
      <p:bldP spid="36" grpId="0" animBg="1"/>
      <p:bldP spid="36" grpId="1" animBg="1"/>
      <p:bldP spid="44" grpId="0" animBg="1"/>
      <p:bldP spid="44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I. Store related entries on the same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hash table </a:t>
            </a:r>
            <a:r>
              <a:rPr lang="en-US" i="1" dirty="0" smtClean="0"/>
              <a:t>incarnations</a:t>
            </a:r>
            <a:r>
              <a:rPr lang="en-US" dirty="0" smtClean="0"/>
              <a:t>, like </a:t>
            </a:r>
            <a:r>
              <a:rPr lang="en-US" dirty="0" err="1" smtClean="0"/>
              <a:t>BufferHash</a:t>
            </a:r>
            <a:endParaRPr lang="en-US" dirty="0" smtClean="0"/>
          </a:p>
        </p:txBody>
      </p:sp>
      <p:sp>
        <p:nvSpPr>
          <p:cNvPr id="62" name="Rounded Rectangle 61"/>
          <p:cNvSpPr/>
          <p:nvPr/>
        </p:nvSpPr>
        <p:spPr>
          <a:xfrm rot="5400000">
            <a:off x="4838700" y="2263666"/>
            <a:ext cx="2971800" cy="4572000"/>
          </a:xfrm>
          <a:prstGeom prst="roundRect">
            <a:avLst>
              <a:gd name="adj" fmla="val 863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6" name="Group 115"/>
          <p:cNvGrpSpPr/>
          <p:nvPr/>
        </p:nvGrpSpPr>
        <p:grpSpPr>
          <a:xfrm>
            <a:off x="1905000" y="3216166"/>
            <a:ext cx="2209800" cy="609600"/>
            <a:chOff x="3962400" y="3276600"/>
            <a:chExt cx="2209800" cy="609600"/>
          </a:xfrm>
        </p:grpSpPr>
        <p:sp>
          <p:nvSpPr>
            <p:cNvPr id="117" name="TextBox 116"/>
            <p:cNvSpPr txBox="1"/>
            <p:nvPr/>
          </p:nvSpPr>
          <p:spPr>
            <a:xfrm>
              <a:off x="3962400" y="3276600"/>
              <a:ext cx="19002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 smtClean="0"/>
                <a:t>Incarnation</a:t>
              </a:r>
              <a:endParaRPr lang="en-US" sz="2800" i="1" dirty="0"/>
            </a:p>
          </p:txBody>
        </p:sp>
        <p:sp>
          <p:nvSpPr>
            <p:cNvPr id="118" name="Left Brace 117"/>
            <p:cNvSpPr/>
            <p:nvPr/>
          </p:nvSpPr>
          <p:spPr>
            <a:xfrm rot="10800000" flipH="1">
              <a:off x="5867400" y="3276600"/>
              <a:ext cx="304800" cy="609600"/>
            </a:xfrm>
            <a:prstGeom prst="leftBrace">
              <a:avLst>
                <a:gd name="adj1" fmla="val 3458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2" name="Group 211"/>
          <p:cNvGrpSpPr/>
          <p:nvPr/>
        </p:nvGrpSpPr>
        <p:grpSpPr>
          <a:xfrm>
            <a:off x="4191000" y="3216166"/>
            <a:ext cx="4267200" cy="609602"/>
            <a:chOff x="3962400" y="2590800"/>
            <a:chExt cx="4267200" cy="609602"/>
          </a:xfrm>
        </p:grpSpPr>
        <p:sp>
          <p:nvSpPr>
            <p:cNvPr id="82" name="Rectangle 81"/>
            <p:cNvSpPr/>
            <p:nvPr/>
          </p:nvSpPr>
          <p:spPr>
            <a:xfrm>
              <a:off x="3962400" y="28956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6"/>
                  </a:solidFill>
                </a:rPr>
                <a:t>4</a:t>
              </a:r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096000" y="28956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6: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5029200" y="28956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5: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6096000" y="25908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6"/>
                  </a:solidFill>
                </a:rPr>
                <a:t>2</a:t>
              </a:r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3962400" y="2590802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029200" y="2590802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7162800" y="25908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7162800" y="28956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8" name="Rectangle 87"/>
          <p:cNvSpPr/>
          <p:nvPr/>
        </p:nvSpPr>
        <p:spPr>
          <a:xfrm>
            <a:off x="5257800" y="3901966"/>
            <a:ext cx="1066800" cy="3048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000" b="1" dirty="0" smtClean="0">
                <a:solidFill>
                  <a:schemeClr val="accent4"/>
                </a:solidFill>
              </a:rPr>
              <a:t>1</a:t>
            </a:r>
            <a:endParaRPr lang="en-US" sz="2000" b="1" dirty="0">
              <a:solidFill>
                <a:schemeClr val="accent4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6324600" y="3901966"/>
            <a:ext cx="1066800" cy="304802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2: K,V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391400" y="3901966"/>
            <a:ext cx="1066800" cy="304802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3: K,V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213" name="Group 212"/>
          <p:cNvGrpSpPr/>
          <p:nvPr/>
        </p:nvGrpSpPr>
        <p:grpSpPr>
          <a:xfrm>
            <a:off x="4191000" y="4206766"/>
            <a:ext cx="4267200" cy="304802"/>
            <a:chOff x="3962400" y="3581400"/>
            <a:chExt cx="4267200" cy="304802"/>
          </a:xfrm>
        </p:grpSpPr>
        <p:sp>
          <p:nvSpPr>
            <p:cNvPr id="91" name="Rectangle 90"/>
            <p:cNvSpPr/>
            <p:nvPr/>
          </p:nvSpPr>
          <p:spPr>
            <a:xfrm>
              <a:off x="5029200" y="35814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4"/>
                  </a:solidFill>
                </a:rPr>
                <a:t>5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3962400" y="35814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4: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6096000" y="35814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6: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7162800" y="35814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88" name="Rectangle 187"/>
          <p:cNvSpPr/>
          <p:nvPr/>
        </p:nvSpPr>
        <p:spPr>
          <a:xfrm>
            <a:off x="4191000" y="3901966"/>
            <a:ext cx="1066800" cy="304802"/>
          </a:xfrm>
          <a:prstGeom prst="rect">
            <a:avLst/>
          </a:prstGeom>
          <a:solidFill>
            <a:schemeClr val="accent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0: K,V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201" name="Group 200"/>
          <p:cNvGrpSpPr/>
          <p:nvPr/>
        </p:nvGrpSpPr>
        <p:grpSpPr>
          <a:xfrm>
            <a:off x="4191000" y="4587766"/>
            <a:ext cx="4267200" cy="609602"/>
            <a:chOff x="7239000" y="5638800"/>
            <a:chExt cx="4267200" cy="609602"/>
          </a:xfrm>
        </p:grpSpPr>
        <p:sp>
          <p:nvSpPr>
            <p:cNvPr id="193" name="Rectangle 192"/>
            <p:cNvSpPr/>
            <p:nvPr/>
          </p:nvSpPr>
          <p:spPr>
            <a:xfrm>
              <a:off x="9372600" y="59436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3"/>
                  </a:solidFill>
                </a:rPr>
                <a:t>6</a:t>
              </a:r>
              <a:endParaRPr 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7239000" y="59436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4: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9372600" y="56388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10439400" y="56388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3"/>
                  </a:solidFill>
                </a:rPr>
                <a:t>3</a:t>
              </a:r>
              <a:endParaRPr 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7239000" y="5638802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8305800" y="5638802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10439400" y="59436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8305800" y="59436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5: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2" name="Group 201"/>
          <p:cNvGrpSpPr/>
          <p:nvPr/>
        </p:nvGrpSpPr>
        <p:grpSpPr>
          <a:xfrm>
            <a:off x="4191000" y="3216166"/>
            <a:ext cx="4267200" cy="2667000"/>
            <a:chOff x="3962400" y="2590800"/>
            <a:chExt cx="4267200" cy="2667000"/>
          </a:xfrm>
        </p:grpSpPr>
        <p:sp>
          <p:nvSpPr>
            <p:cNvPr id="85" name="Rectangle 84"/>
            <p:cNvSpPr/>
            <p:nvPr/>
          </p:nvSpPr>
          <p:spPr>
            <a:xfrm>
              <a:off x="3962400" y="28956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3962400" y="25908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3962400" y="35814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3962400" y="32766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3962400" y="49530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3962400" y="46482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962400" y="42672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3962400" y="39624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3" name="Group 182"/>
          <p:cNvGrpSpPr/>
          <p:nvPr/>
        </p:nvGrpSpPr>
        <p:grpSpPr>
          <a:xfrm>
            <a:off x="3048000" y="3825766"/>
            <a:ext cx="1108494" cy="523220"/>
            <a:chOff x="848265" y="3352800"/>
            <a:chExt cx="1108494" cy="523220"/>
          </a:xfrm>
        </p:grpSpPr>
        <p:sp>
          <p:nvSpPr>
            <p:cNvPr id="184" name="TextBox 183"/>
            <p:cNvSpPr txBox="1"/>
            <p:nvPr/>
          </p:nvSpPr>
          <p:spPr>
            <a:xfrm>
              <a:off x="848265" y="3352800"/>
              <a:ext cx="815586" cy="523220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pPr algn="r"/>
              <a:r>
                <a:rPr lang="en-US" sz="2800" i="1" dirty="0" smtClean="0"/>
                <a:t>Page</a:t>
              </a:r>
              <a:endParaRPr lang="en-US" sz="2800" i="1" dirty="0"/>
            </a:p>
          </p:txBody>
        </p:sp>
        <p:cxnSp>
          <p:nvCxnSpPr>
            <p:cNvPr id="185" name="Straight Arrow Connector 184"/>
            <p:cNvCxnSpPr/>
            <p:nvPr/>
          </p:nvCxnSpPr>
          <p:spPr>
            <a:xfrm>
              <a:off x="1651959" y="3605841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8" name="Rounded Rectangular Callout 47"/>
          <p:cNvSpPr/>
          <p:nvPr/>
        </p:nvSpPr>
        <p:spPr>
          <a:xfrm>
            <a:off x="1295400" y="4953000"/>
            <a:ext cx="2590800" cy="1524000"/>
          </a:xfrm>
          <a:prstGeom prst="wedgeRoundRectCallout">
            <a:avLst>
              <a:gd name="adj1" fmla="val 35119"/>
              <a:gd name="adj2" fmla="val -88571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800" b="1" dirty="0" smtClean="0"/>
              <a:t>Sequential slots from a specific incarnation</a:t>
            </a:r>
            <a:endParaRPr lang="en-US" sz="2800" b="1" dirty="0"/>
          </a:p>
        </p:txBody>
      </p:sp>
      <p:pic>
        <p:nvPicPr>
          <p:cNvPr id="56" name="Picture 55" descr="magnifying_glas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" y="2819400"/>
            <a:ext cx="1295400" cy="12954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66800" y="298198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K</a:t>
            </a:r>
            <a:endParaRPr lang="en-US" sz="2800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772729" y="2981980"/>
            <a:ext cx="827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#(   )</a:t>
            </a:r>
            <a:endParaRPr lang="en-US" sz="2800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990600" y="297180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5</a:t>
            </a:r>
            <a:endParaRPr lang="en-US" sz="2800" b="1" dirty="0"/>
          </a:p>
        </p:txBody>
      </p:sp>
      <p:sp>
        <p:nvSpPr>
          <p:cNvPr id="64" name="Rectangle 63"/>
          <p:cNvSpPr/>
          <p:nvPr/>
        </p:nvSpPr>
        <p:spPr>
          <a:xfrm>
            <a:off x="4191000" y="3505200"/>
            <a:ext cx="4267200" cy="3048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4191000" y="4191000"/>
            <a:ext cx="4267200" cy="3048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4191000" y="4876800"/>
            <a:ext cx="4267200" cy="3048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/>
          <p:cNvGrpSpPr/>
          <p:nvPr/>
        </p:nvGrpSpPr>
        <p:grpSpPr>
          <a:xfrm>
            <a:off x="609600" y="2819400"/>
            <a:ext cx="1295400" cy="1295400"/>
            <a:chOff x="9829800" y="2743200"/>
            <a:chExt cx="1295400" cy="1295400"/>
          </a:xfrm>
        </p:grpSpPr>
        <p:pic>
          <p:nvPicPr>
            <p:cNvPr id="61" name="Picture 60" descr="magnifying_glass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29800" y="2743200"/>
              <a:ext cx="1295400" cy="1295400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10210800" y="289560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5</a:t>
              </a:r>
              <a:endParaRPr lang="en-US" sz="2800" b="1" dirty="0"/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50632" y="3770293"/>
            <a:ext cx="2921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Multiple page 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reads per lookup!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8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9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4.44444E-6 L 0.49583 0.06111 " pathEditMode="relative" rAng="0" ptsTypes="AA">
                                      <p:cBhvr>
                                        <p:cTn id="8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9583 0.06111 L 0.49583 0.16111 " pathEditMode="relative" rAng="0" ptsTypes="AA">
                                      <p:cBhvr>
                                        <p:cTn id="8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9583 0.16111 L 0.49583 0.26111 " pathEditMode="relative" rAng="0" ptsTypes="AA">
                                      <p:cBhvr>
                                        <p:cTn id="9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88" grpId="1" animBg="1"/>
      <p:bldP spid="89" grpId="0" animBg="1"/>
      <p:bldP spid="89" grpId="1" animBg="1"/>
      <p:bldP spid="92" grpId="0" animBg="1"/>
      <p:bldP spid="92" grpId="1" animBg="1"/>
      <p:bldP spid="188" grpId="0" animBg="1"/>
      <p:bldP spid="188" grpId="1" animBg="1"/>
      <p:bldP spid="48" grpId="0" animBg="1"/>
      <p:bldP spid="57" grpId="0"/>
      <p:bldP spid="57" grpId="1"/>
      <p:bldP spid="58" grpId="0"/>
      <p:bldP spid="58" grpId="1"/>
      <p:bldP spid="59" grpId="0"/>
      <p:bldP spid="64" grpId="0" animBg="1"/>
      <p:bldP spid="65" grpId="0" animBg="1"/>
      <p:bldP spid="66" grpId="0" animBg="1"/>
      <p:bldP spid="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I. Store related entries on the same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hash table </a:t>
            </a:r>
            <a:r>
              <a:rPr lang="en-US" i="1" dirty="0" smtClean="0"/>
              <a:t>incarnations</a:t>
            </a:r>
            <a:r>
              <a:rPr lang="en-US" dirty="0" smtClean="0"/>
              <a:t>, like </a:t>
            </a:r>
            <a:r>
              <a:rPr lang="en-US" dirty="0" err="1" smtClean="0"/>
              <a:t>BufferHash</a:t>
            </a:r>
            <a:endParaRPr lang="en-US" dirty="0" smtClean="0"/>
          </a:p>
          <a:p>
            <a:r>
              <a:rPr lang="en-US" i="1" dirty="0" smtClean="0"/>
              <a:t>Slicing</a:t>
            </a:r>
            <a:r>
              <a:rPr lang="en-US" dirty="0" smtClean="0"/>
              <a:t>: store same hash slot from </a:t>
            </a:r>
            <a:br>
              <a:rPr lang="en-US" dirty="0" smtClean="0"/>
            </a:br>
            <a:r>
              <a:rPr lang="en-US" dirty="0" smtClean="0"/>
              <a:t>all incarnations on the same page</a:t>
            </a:r>
            <a:endParaRPr lang="en-US" i="1" dirty="0" smtClean="0"/>
          </a:p>
        </p:txBody>
      </p:sp>
      <p:grpSp>
        <p:nvGrpSpPr>
          <p:cNvPr id="219" name="Group 218"/>
          <p:cNvGrpSpPr/>
          <p:nvPr/>
        </p:nvGrpSpPr>
        <p:grpSpPr>
          <a:xfrm>
            <a:off x="4038600" y="3058180"/>
            <a:ext cx="4572000" cy="2971800"/>
            <a:chOff x="3886200" y="2438400"/>
            <a:chExt cx="4572000" cy="2971800"/>
          </a:xfrm>
        </p:grpSpPr>
        <p:sp>
          <p:nvSpPr>
            <p:cNvPr id="153" name="Rounded Rectangle 152"/>
            <p:cNvSpPr/>
            <p:nvPr/>
          </p:nvSpPr>
          <p:spPr>
            <a:xfrm rot="5400000">
              <a:off x="4686300" y="1638300"/>
              <a:ext cx="2971800" cy="4572000"/>
            </a:xfrm>
            <a:prstGeom prst="roundRect">
              <a:avLst>
                <a:gd name="adj" fmla="val 8633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4" name="Group 153"/>
            <p:cNvGrpSpPr/>
            <p:nvPr/>
          </p:nvGrpSpPr>
          <p:grpSpPr>
            <a:xfrm>
              <a:off x="4038600" y="2590800"/>
              <a:ext cx="4267200" cy="609602"/>
              <a:chOff x="3962400" y="2590800"/>
              <a:chExt cx="4267200" cy="609602"/>
            </a:xfrm>
          </p:grpSpPr>
          <p:sp>
            <p:nvSpPr>
              <p:cNvPr id="155" name="Rectangle 154"/>
              <p:cNvSpPr/>
              <p:nvPr/>
            </p:nvSpPr>
            <p:spPr>
              <a:xfrm>
                <a:off x="3962400" y="2895600"/>
                <a:ext cx="1066800" cy="30480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accent6"/>
                    </a:solidFill>
                  </a:rPr>
                  <a:t>4</a:t>
                </a:r>
                <a:endParaRPr lang="en-US" sz="2000" b="1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56" name="Rectangle 155"/>
              <p:cNvSpPr/>
              <p:nvPr/>
            </p:nvSpPr>
            <p:spPr>
              <a:xfrm>
                <a:off x="6096000" y="2895600"/>
                <a:ext cx="1066800" cy="304802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6: K,V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7" name="Rectangle 156"/>
              <p:cNvSpPr/>
              <p:nvPr/>
            </p:nvSpPr>
            <p:spPr>
              <a:xfrm>
                <a:off x="5029200" y="2895600"/>
                <a:ext cx="1066800" cy="304802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5: K,V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8" name="Rectangle 157"/>
              <p:cNvSpPr/>
              <p:nvPr/>
            </p:nvSpPr>
            <p:spPr>
              <a:xfrm>
                <a:off x="6096000" y="2590800"/>
                <a:ext cx="1066800" cy="30480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accent6"/>
                    </a:solidFill>
                  </a:rPr>
                  <a:t>2</a:t>
                </a:r>
                <a:endParaRPr lang="en-US" sz="2000" b="1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59" name="Rectangle 158"/>
              <p:cNvSpPr/>
              <p:nvPr/>
            </p:nvSpPr>
            <p:spPr>
              <a:xfrm>
                <a:off x="3962400" y="2590802"/>
                <a:ext cx="1066800" cy="304802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0: K,V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0" name="Rectangle 159"/>
              <p:cNvSpPr/>
              <p:nvPr/>
            </p:nvSpPr>
            <p:spPr>
              <a:xfrm>
                <a:off x="5029200" y="2590802"/>
                <a:ext cx="1066800" cy="304802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1: K,V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1" name="Rectangle 160"/>
              <p:cNvSpPr/>
              <p:nvPr/>
            </p:nvSpPr>
            <p:spPr>
              <a:xfrm>
                <a:off x="7162800" y="2590800"/>
                <a:ext cx="1066800" cy="304802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3: K,V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2" name="Rectangle 161"/>
              <p:cNvSpPr/>
              <p:nvPr/>
            </p:nvSpPr>
            <p:spPr>
              <a:xfrm>
                <a:off x="7162800" y="2895600"/>
                <a:ext cx="1066800" cy="304802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7: K,V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63" name="Rectangle 162"/>
            <p:cNvSpPr/>
            <p:nvPr/>
          </p:nvSpPr>
          <p:spPr>
            <a:xfrm>
              <a:off x="5105400" y="32766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4"/>
                  </a:solidFill>
                </a:rPr>
                <a:t>1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6172200" y="32766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7239000" y="32766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66" name="Group 165"/>
            <p:cNvGrpSpPr/>
            <p:nvPr/>
          </p:nvGrpSpPr>
          <p:grpSpPr>
            <a:xfrm>
              <a:off x="4038600" y="3581400"/>
              <a:ext cx="4267200" cy="304802"/>
              <a:chOff x="3962400" y="3581400"/>
              <a:chExt cx="4267200" cy="304802"/>
            </a:xfrm>
          </p:grpSpPr>
          <p:sp>
            <p:nvSpPr>
              <p:cNvPr id="167" name="Rectangle 166"/>
              <p:cNvSpPr/>
              <p:nvPr/>
            </p:nvSpPr>
            <p:spPr>
              <a:xfrm>
                <a:off x="5029200" y="3581400"/>
                <a:ext cx="1066800" cy="30480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accent4"/>
                    </a:solidFill>
                  </a:rPr>
                  <a:t>5</a:t>
                </a:r>
                <a:endParaRPr lang="en-US" sz="2000" b="1" dirty="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168" name="Rectangle 167"/>
              <p:cNvSpPr/>
              <p:nvPr/>
            </p:nvSpPr>
            <p:spPr>
              <a:xfrm>
                <a:off x="3962400" y="3581400"/>
                <a:ext cx="1066800" cy="304802"/>
              </a:xfrm>
              <a:prstGeom prst="rect">
                <a:avLst/>
              </a:prstGeom>
              <a:solidFill>
                <a:schemeClr val="accent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4: K,V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Rectangle 168"/>
              <p:cNvSpPr/>
              <p:nvPr/>
            </p:nvSpPr>
            <p:spPr>
              <a:xfrm>
                <a:off x="6096000" y="3581400"/>
                <a:ext cx="1066800" cy="304802"/>
              </a:xfrm>
              <a:prstGeom prst="rect">
                <a:avLst/>
              </a:prstGeom>
              <a:solidFill>
                <a:schemeClr val="accent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6: K,V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0" name="Rectangle 169"/>
              <p:cNvSpPr/>
              <p:nvPr/>
            </p:nvSpPr>
            <p:spPr>
              <a:xfrm>
                <a:off x="7162800" y="3581400"/>
                <a:ext cx="1066800" cy="304802"/>
              </a:xfrm>
              <a:prstGeom prst="rect">
                <a:avLst/>
              </a:prstGeom>
              <a:solidFill>
                <a:schemeClr val="accent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7: K,V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71" name="Rectangle 170"/>
            <p:cNvSpPr/>
            <p:nvPr/>
          </p:nvSpPr>
          <p:spPr>
            <a:xfrm>
              <a:off x="4038600" y="32766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72" name="Group 171"/>
            <p:cNvGrpSpPr/>
            <p:nvPr/>
          </p:nvGrpSpPr>
          <p:grpSpPr>
            <a:xfrm>
              <a:off x="4038600" y="3962400"/>
              <a:ext cx="4267200" cy="609602"/>
              <a:chOff x="7239000" y="5638800"/>
              <a:chExt cx="4267200" cy="609602"/>
            </a:xfrm>
          </p:grpSpPr>
          <p:sp>
            <p:nvSpPr>
              <p:cNvPr id="173" name="Rectangle 172"/>
              <p:cNvSpPr/>
              <p:nvPr/>
            </p:nvSpPr>
            <p:spPr>
              <a:xfrm>
                <a:off x="9372600" y="5943600"/>
                <a:ext cx="1066800" cy="30480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accent3"/>
                    </a:solidFill>
                  </a:rPr>
                  <a:t>6</a:t>
                </a:r>
                <a:endParaRPr lang="en-US" sz="2000" b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74" name="Rectangle 173"/>
              <p:cNvSpPr/>
              <p:nvPr/>
            </p:nvSpPr>
            <p:spPr>
              <a:xfrm>
                <a:off x="7239000" y="5943600"/>
                <a:ext cx="1066800" cy="304802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4: K,V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5" name="Rectangle 174"/>
              <p:cNvSpPr/>
              <p:nvPr/>
            </p:nvSpPr>
            <p:spPr>
              <a:xfrm>
                <a:off x="9372600" y="5638800"/>
                <a:ext cx="1066800" cy="304802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2: K,V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/>
              <p:cNvSpPr/>
              <p:nvPr/>
            </p:nvSpPr>
            <p:spPr>
              <a:xfrm>
                <a:off x="10439400" y="5638800"/>
                <a:ext cx="1066800" cy="30480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accent3"/>
                    </a:solidFill>
                  </a:rPr>
                  <a:t>3</a:t>
                </a:r>
                <a:endParaRPr lang="en-US" sz="2000" b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77" name="Rectangle 176"/>
              <p:cNvSpPr/>
              <p:nvPr/>
            </p:nvSpPr>
            <p:spPr>
              <a:xfrm>
                <a:off x="7239000" y="5638802"/>
                <a:ext cx="1066800" cy="304802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0: K,V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/>
              <p:cNvSpPr/>
              <p:nvPr/>
            </p:nvSpPr>
            <p:spPr>
              <a:xfrm>
                <a:off x="8305800" y="5638802"/>
                <a:ext cx="1066800" cy="304802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1: K,V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1" name="Rectangle 180"/>
              <p:cNvSpPr/>
              <p:nvPr/>
            </p:nvSpPr>
            <p:spPr>
              <a:xfrm>
                <a:off x="10439400" y="5943600"/>
                <a:ext cx="1066800" cy="304802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7: K,V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Rectangle 181"/>
              <p:cNvSpPr/>
              <p:nvPr/>
            </p:nvSpPr>
            <p:spPr>
              <a:xfrm>
                <a:off x="8305800" y="5943600"/>
                <a:ext cx="1066800" cy="304802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2000" b="1" dirty="0" smtClean="0">
                    <a:solidFill>
                      <a:schemeClr val="bg1"/>
                    </a:solidFill>
                  </a:rPr>
                  <a:t>5: K,V</a:t>
                </a:r>
                <a:endParaRPr lang="en-US" sz="20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0" name="Group 209"/>
            <p:cNvGrpSpPr/>
            <p:nvPr/>
          </p:nvGrpSpPr>
          <p:grpSpPr>
            <a:xfrm>
              <a:off x="4038600" y="2590800"/>
              <a:ext cx="4267200" cy="2667000"/>
              <a:chOff x="3962400" y="2590800"/>
              <a:chExt cx="4267200" cy="2667000"/>
            </a:xfrm>
          </p:grpSpPr>
          <p:sp>
            <p:nvSpPr>
              <p:cNvPr id="211" name="Rectangle 210"/>
              <p:cNvSpPr/>
              <p:nvPr/>
            </p:nvSpPr>
            <p:spPr>
              <a:xfrm>
                <a:off x="3962400" y="28956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Rectangle 211"/>
              <p:cNvSpPr/>
              <p:nvPr/>
            </p:nvSpPr>
            <p:spPr>
              <a:xfrm>
                <a:off x="3962400" y="25908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Rectangle 212"/>
              <p:cNvSpPr/>
              <p:nvPr/>
            </p:nvSpPr>
            <p:spPr>
              <a:xfrm>
                <a:off x="3962400" y="35814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214" name="Rectangle 213"/>
              <p:cNvSpPr/>
              <p:nvPr/>
            </p:nvSpPr>
            <p:spPr>
              <a:xfrm>
                <a:off x="3962400" y="32766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Rectangle 214"/>
              <p:cNvSpPr/>
              <p:nvPr/>
            </p:nvSpPr>
            <p:spPr>
              <a:xfrm>
                <a:off x="3962400" y="49530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Rectangle 215"/>
              <p:cNvSpPr/>
              <p:nvPr/>
            </p:nvSpPr>
            <p:spPr>
              <a:xfrm>
                <a:off x="3962400" y="46482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Rectangle 216"/>
              <p:cNvSpPr/>
              <p:nvPr/>
            </p:nvSpPr>
            <p:spPr>
              <a:xfrm>
                <a:off x="3962400" y="42672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17"/>
              <p:cNvSpPr/>
              <p:nvPr/>
            </p:nvSpPr>
            <p:spPr>
              <a:xfrm>
                <a:off x="3962400" y="39624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0" name="Group 219"/>
          <p:cNvGrpSpPr/>
          <p:nvPr/>
        </p:nvGrpSpPr>
        <p:grpSpPr>
          <a:xfrm>
            <a:off x="4038600" y="3063766"/>
            <a:ext cx="4572000" cy="2971800"/>
            <a:chOff x="3810000" y="2438400"/>
            <a:chExt cx="4572000" cy="2971800"/>
          </a:xfrm>
        </p:grpSpPr>
        <p:sp>
          <p:nvSpPr>
            <p:cNvPr id="221" name="Rounded Rectangle 220"/>
            <p:cNvSpPr/>
            <p:nvPr/>
          </p:nvSpPr>
          <p:spPr>
            <a:xfrm rot="5400000">
              <a:off x="4610100" y="1638300"/>
              <a:ext cx="2971800" cy="4572000"/>
            </a:xfrm>
            <a:prstGeom prst="roundRect">
              <a:avLst>
                <a:gd name="adj" fmla="val 8633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3962400" y="39624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6"/>
                  </a:solidFill>
                </a:rPr>
                <a:t>4</a:t>
              </a:r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3962400" y="46482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6: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3962400" y="42672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5: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3962400" y="32766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6"/>
                  </a:solidFill>
                </a:rPr>
                <a:t>2</a:t>
              </a:r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3962400" y="25908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3962400" y="28956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3962400" y="35814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3962400" y="49530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5029200" y="28956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4"/>
                  </a:solidFill>
                </a:rPr>
                <a:t>1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5029200" y="32766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5029200" y="35814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5029200" y="42672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4"/>
                  </a:solidFill>
                </a:rPr>
                <a:t>5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5029200" y="39624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4: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5029200" y="46482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6: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5029200" y="49530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5029200" y="25908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6096000" y="46482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3"/>
                  </a:solidFill>
                </a:rPr>
                <a:t>6</a:t>
              </a:r>
              <a:endParaRPr 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6096000" y="39624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4: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0" name="Rectangle 239"/>
            <p:cNvSpPr/>
            <p:nvPr/>
          </p:nvSpPr>
          <p:spPr>
            <a:xfrm>
              <a:off x="6096000" y="32766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1" name="Rectangle 240"/>
            <p:cNvSpPr/>
            <p:nvPr/>
          </p:nvSpPr>
          <p:spPr>
            <a:xfrm>
              <a:off x="6096000" y="35814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3"/>
                  </a:solidFill>
                </a:rPr>
                <a:t>3</a:t>
              </a:r>
              <a:endParaRPr 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242" name="Rectangle 241"/>
            <p:cNvSpPr/>
            <p:nvPr/>
          </p:nvSpPr>
          <p:spPr>
            <a:xfrm>
              <a:off x="6096000" y="25908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6096000" y="28956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6096000" y="49530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6096000" y="42672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5: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46" name="Group 201"/>
            <p:cNvGrpSpPr/>
            <p:nvPr/>
          </p:nvGrpSpPr>
          <p:grpSpPr>
            <a:xfrm>
              <a:off x="3962400" y="2590800"/>
              <a:ext cx="4267200" cy="2667000"/>
              <a:chOff x="3962400" y="2590800"/>
              <a:chExt cx="4267200" cy="2667000"/>
            </a:xfrm>
          </p:grpSpPr>
          <p:sp>
            <p:nvSpPr>
              <p:cNvPr id="247" name="Rectangle 246"/>
              <p:cNvSpPr/>
              <p:nvPr/>
            </p:nvSpPr>
            <p:spPr>
              <a:xfrm>
                <a:off x="3962400" y="28956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Rectangle 247"/>
              <p:cNvSpPr/>
              <p:nvPr/>
            </p:nvSpPr>
            <p:spPr>
              <a:xfrm>
                <a:off x="3962400" y="25908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" name="Rectangle 248"/>
              <p:cNvSpPr/>
              <p:nvPr/>
            </p:nvSpPr>
            <p:spPr>
              <a:xfrm>
                <a:off x="3962400" y="35814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/>
              </a:p>
            </p:txBody>
          </p:sp>
          <p:sp>
            <p:nvSpPr>
              <p:cNvPr id="250" name="Rectangle 249"/>
              <p:cNvSpPr/>
              <p:nvPr/>
            </p:nvSpPr>
            <p:spPr>
              <a:xfrm>
                <a:off x="3962400" y="32766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Rectangle 250"/>
              <p:cNvSpPr/>
              <p:nvPr/>
            </p:nvSpPr>
            <p:spPr>
              <a:xfrm>
                <a:off x="3962400" y="49530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51"/>
              <p:cNvSpPr/>
              <p:nvPr/>
            </p:nvSpPr>
            <p:spPr>
              <a:xfrm>
                <a:off x="3962400" y="46482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Rectangle 252"/>
              <p:cNvSpPr/>
              <p:nvPr/>
            </p:nvSpPr>
            <p:spPr>
              <a:xfrm>
                <a:off x="3962400" y="42672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Rectangle 253"/>
              <p:cNvSpPr/>
              <p:nvPr/>
            </p:nvSpPr>
            <p:spPr>
              <a:xfrm>
                <a:off x="3962400" y="3962400"/>
                <a:ext cx="4267200" cy="3048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" name="Group 182"/>
          <p:cNvGrpSpPr/>
          <p:nvPr/>
        </p:nvGrpSpPr>
        <p:grpSpPr>
          <a:xfrm>
            <a:off x="3048000" y="3820180"/>
            <a:ext cx="1108494" cy="523220"/>
            <a:chOff x="848265" y="3352800"/>
            <a:chExt cx="1108494" cy="523220"/>
          </a:xfrm>
        </p:grpSpPr>
        <p:sp>
          <p:nvSpPr>
            <p:cNvPr id="184" name="TextBox 183"/>
            <p:cNvSpPr txBox="1"/>
            <p:nvPr/>
          </p:nvSpPr>
          <p:spPr>
            <a:xfrm>
              <a:off x="848265" y="3352800"/>
              <a:ext cx="815586" cy="523220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pPr algn="r"/>
              <a:r>
                <a:rPr lang="en-US" sz="2800" i="1" dirty="0" smtClean="0"/>
                <a:t>Page</a:t>
              </a:r>
              <a:endParaRPr lang="en-US" sz="2800" i="1" dirty="0"/>
            </a:p>
          </p:txBody>
        </p:sp>
        <p:cxnSp>
          <p:nvCxnSpPr>
            <p:cNvPr id="185" name="Straight Arrow Connector 184"/>
            <p:cNvCxnSpPr/>
            <p:nvPr/>
          </p:nvCxnSpPr>
          <p:spPr>
            <a:xfrm>
              <a:off x="1651959" y="3605841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8" name="Group 257"/>
          <p:cNvGrpSpPr/>
          <p:nvPr/>
        </p:nvGrpSpPr>
        <p:grpSpPr>
          <a:xfrm>
            <a:off x="4876800" y="5953780"/>
            <a:ext cx="1900264" cy="828020"/>
            <a:chOff x="4648200" y="5334000"/>
            <a:chExt cx="1900264" cy="828020"/>
          </a:xfrm>
        </p:grpSpPr>
        <p:sp>
          <p:nvSpPr>
            <p:cNvPr id="256" name="TextBox 255"/>
            <p:cNvSpPr txBox="1"/>
            <p:nvPr/>
          </p:nvSpPr>
          <p:spPr>
            <a:xfrm>
              <a:off x="4648200" y="5638800"/>
              <a:ext cx="19002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 smtClean="0"/>
                <a:t>Incarnation</a:t>
              </a:r>
              <a:endParaRPr lang="en-US" sz="2800" i="1" dirty="0"/>
            </a:p>
          </p:txBody>
        </p:sp>
        <p:sp>
          <p:nvSpPr>
            <p:cNvPr id="257" name="Left Brace 256"/>
            <p:cNvSpPr/>
            <p:nvPr/>
          </p:nvSpPr>
          <p:spPr>
            <a:xfrm rot="5400000" flipH="1">
              <a:off x="5448300" y="4991100"/>
              <a:ext cx="304800" cy="990600"/>
            </a:xfrm>
            <a:prstGeom prst="leftBrace">
              <a:avLst>
                <a:gd name="adj1" fmla="val 3458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9" name="Rectangle 258"/>
          <p:cNvSpPr/>
          <p:nvPr/>
        </p:nvSpPr>
        <p:spPr>
          <a:xfrm>
            <a:off x="4191000" y="3886200"/>
            <a:ext cx="4267200" cy="30480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0" name="Group 182"/>
          <p:cNvGrpSpPr/>
          <p:nvPr/>
        </p:nvGrpSpPr>
        <p:grpSpPr>
          <a:xfrm>
            <a:off x="1905000" y="3810000"/>
            <a:ext cx="1108494" cy="523220"/>
            <a:chOff x="848265" y="3352800"/>
            <a:chExt cx="1108494" cy="523220"/>
          </a:xfrm>
        </p:grpSpPr>
        <p:sp>
          <p:nvSpPr>
            <p:cNvPr id="261" name="TextBox 260"/>
            <p:cNvSpPr txBox="1"/>
            <p:nvPr/>
          </p:nvSpPr>
          <p:spPr>
            <a:xfrm>
              <a:off x="848265" y="3352800"/>
              <a:ext cx="815586" cy="523220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pPr algn="r"/>
              <a:r>
                <a:rPr lang="en-US" sz="2800" i="1" dirty="0" smtClean="0"/>
                <a:t>Slice</a:t>
              </a:r>
              <a:endParaRPr lang="en-US" sz="2800" i="1" dirty="0"/>
            </a:p>
          </p:txBody>
        </p:sp>
        <p:cxnSp>
          <p:nvCxnSpPr>
            <p:cNvPr id="262" name="Straight Arrow Connector 261"/>
            <p:cNvCxnSpPr/>
            <p:nvPr/>
          </p:nvCxnSpPr>
          <p:spPr>
            <a:xfrm>
              <a:off x="1651959" y="3605841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3" name="Rectangle 262"/>
          <p:cNvSpPr/>
          <p:nvPr/>
        </p:nvSpPr>
        <p:spPr>
          <a:xfrm>
            <a:off x="5257800" y="3200400"/>
            <a:ext cx="1066800" cy="266700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TextBox 272"/>
          <p:cNvSpPr txBox="1"/>
          <p:nvPr/>
        </p:nvSpPr>
        <p:spPr>
          <a:xfrm>
            <a:off x="76200" y="3276600"/>
            <a:ext cx="2133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Only 1 page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read per 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lookup!</a:t>
            </a:r>
          </a:p>
        </p:txBody>
      </p:sp>
      <p:sp>
        <p:nvSpPr>
          <p:cNvPr id="97" name="Slide Number Placeholder 9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4191000" y="4893425"/>
            <a:ext cx="4267200" cy="30480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8" name="Group 267"/>
          <p:cNvGrpSpPr/>
          <p:nvPr/>
        </p:nvGrpSpPr>
        <p:grpSpPr>
          <a:xfrm>
            <a:off x="609600" y="2819400"/>
            <a:ext cx="1295400" cy="1295400"/>
            <a:chOff x="9829800" y="2743200"/>
            <a:chExt cx="1295400" cy="1295400"/>
          </a:xfrm>
        </p:grpSpPr>
        <p:pic>
          <p:nvPicPr>
            <p:cNvPr id="269" name="Picture 268" descr="magnifying_glass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29800" y="2743200"/>
              <a:ext cx="1295400" cy="1295400"/>
            </a:xfrm>
            <a:prstGeom prst="rect">
              <a:avLst/>
            </a:prstGeom>
          </p:spPr>
        </p:pic>
        <p:sp>
          <p:nvSpPr>
            <p:cNvPr id="270" name="TextBox 269"/>
            <p:cNvSpPr txBox="1"/>
            <p:nvPr/>
          </p:nvSpPr>
          <p:spPr>
            <a:xfrm>
              <a:off x="10210800" y="2895600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/>
                <a:t>5</a:t>
              </a:r>
              <a:endParaRPr lang="en-US" sz="2800" b="1" dirty="0"/>
            </a:p>
          </p:txBody>
        </p:sp>
      </p:grpSp>
      <p:sp>
        <p:nvSpPr>
          <p:cNvPr id="99" name="Rounded Rectangular Callout 98"/>
          <p:cNvSpPr/>
          <p:nvPr/>
        </p:nvSpPr>
        <p:spPr>
          <a:xfrm>
            <a:off x="1295400" y="4953000"/>
            <a:ext cx="2590800" cy="1524000"/>
          </a:xfrm>
          <a:prstGeom prst="wedgeRoundRectCallout">
            <a:avLst>
              <a:gd name="adj1" fmla="val 35119"/>
              <a:gd name="adj2" fmla="val -88571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800" b="1" dirty="0" smtClean="0"/>
              <a:t>Specific slot from all incarnations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778E-17 4.44444E-6 L 0.55417 0.26111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" y="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" grpId="0" animBg="1"/>
      <p:bldP spid="263" grpId="0" animBg="1"/>
      <p:bldP spid="273" grpId="0"/>
      <p:bldP spid="98" grpId="0" animBg="1"/>
      <p:bldP spid="9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458200" cy="4678363"/>
          </a:xfrm>
        </p:spPr>
        <p:txBody>
          <a:bodyPr/>
          <a:lstStyle/>
          <a:p>
            <a:r>
              <a:rPr lang="en-US" dirty="0" smtClean="0"/>
              <a:t>Insert into a hash table incarnation in RAM</a:t>
            </a:r>
          </a:p>
          <a:p>
            <a:r>
              <a:rPr lang="en-US" dirty="0" smtClean="0"/>
              <a:t>Divide the hash table so all slices </a:t>
            </a:r>
            <a:br>
              <a:rPr lang="en-US" dirty="0" smtClean="0"/>
            </a:br>
            <a:r>
              <a:rPr lang="en-US" dirty="0" smtClean="0"/>
              <a:t>fit into one block</a:t>
            </a:r>
            <a:endParaRPr lang="en-US" i="1" dirty="0" smtClean="0"/>
          </a:p>
        </p:txBody>
      </p:sp>
      <p:pic>
        <p:nvPicPr>
          <p:cNvPr id="106" name="Picture 105" descr="memory-ram.png"/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5400000">
            <a:off x="-24246" y="3986647"/>
            <a:ext cx="2971800" cy="1399309"/>
          </a:xfrm>
          <a:prstGeom prst="rect">
            <a:avLst/>
          </a:prstGeom>
        </p:spPr>
      </p:pic>
      <p:grpSp>
        <p:nvGrpSpPr>
          <p:cNvPr id="186" name="Group 185"/>
          <p:cNvGrpSpPr/>
          <p:nvPr/>
        </p:nvGrpSpPr>
        <p:grpSpPr>
          <a:xfrm>
            <a:off x="914400" y="3352800"/>
            <a:ext cx="1143000" cy="1219202"/>
            <a:chOff x="-1143000" y="3200400"/>
            <a:chExt cx="1143000" cy="1219202"/>
          </a:xfrm>
        </p:grpSpPr>
        <p:sp>
          <p:nvSpPr>
            <p:cNvPr id="108" name="Rectangle 107"/>
            <p:cNvSpPr/>
            <p:nvPr/>
          </p:nvSpPr>
          <p:spPr>
            <a:xfrm>
              <a:off x="-1143000" y="32004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-1143000" y="35052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-1143000" y="38100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2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-1143000" y="41148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-762000" y="32004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-762000" y="35052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-762000" y="38100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-762000" y="41148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7" name="Group 186"/>
          <p:cNvGrpSpPr/>
          <p:nvPr/>
        </p:nvGrpSpPr>
        <p:grpSpPr>
          <a:xfrm>
            <a:off x="914400" y="4572000"/>
            <a:ext cx="1143000" cy="1219202"/>
            <a:chOff x="-1143000" y="4419600"/>
            <a:chExt cx="1143000" cy="1219202"/>
          </a:xfrm>
        </p:grpSpPr>
        <p:sp>
          <p:nvSpPr>
            <p:cNvPr id="112" name="Rectangle 111"/>
            <p:cNvSpPr/>
            <p:nvPr/>
          </p:nvSpPr>
          <p:spPr>
            <a:xfrm>
              <a:off x="-1143000" y="44196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4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-1143000" y="47244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5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-762000" y="44196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-762000" y="47244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-1143000" y="50292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6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-762000" y="50292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-1143000" y="53340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7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-762000" y="53340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221" name="Rounded Rectangle 220"/>
          <p:cNvSpPr/>
          <p:nvPr/>
        </p:nvSpPr>
        <p:spPr>
          <a:xfrm rot="5400000">
            <a:off x="4838700" y="2258080"/>
            <a:ext cx="2971800" cy="4572000"/>
          </a:xfrm>
          <a:prstGeom prst="roundRect">
            <a:avLst>
              <a:gd name="adj" fmla="val 863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ounded Rectangle 151"/>
          <p:cNvSpPr/>
          <p:nvPr/>
        </p:nvSpPr>
        <p:spPr>
          <a:xfrm rot="5400000">
            <a:off x="4610100" y="2324100"/>
            <a:ext cx="3429000" cy="4724400"/>
          </a:xfrm>
          <a:prstGeom prst="roundRect">
            <a:avLst>
              <a:gd name="adj" fmla="val 863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ounded Rectangle 165"/>
          <p:cNvSpPr/>
          <p:nvPr/>
        </p:nvSpPr>
        <p:spPr>
          <a:xfrm>
            <a:off x="4038600" y="3048000"/>
            <a:ext cx="4572000" cy="16002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0" name="Group 149"/>
          <p:cNvGrpSpPr/>
          <p:nvPr/>
        </p:nvGrpSpPr>
        <p:grpSpPr>
          <a:xfrm>
            <a:off x="4191000" y="3210580"/>
            <a:ext cx="4267200" cy="1295402"/>
            <a:chOff x="3962400" y="3210580"/>
            <a:chExt cx="4267200" cy="1295402"/>
          </a:xfrm>
        </p:grpSpPr>
        <p:sp>
          <p:nvSpPr>
            <p:cNvPr id="225" name="Rectangle 224"/>
            <p:cNvSpPr/>
            <p:nvPr/>
          </p:nvSpPr>
          <p:spPr>
            <a:xfrm>
              <a:off x="3962400" y="389638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6"/>
                  </a:solidFill>
                </a:rPr>
                <a:t>2</a:t>
              </a:r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3962400" y="321058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3962400" y="351538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3962400" y="420118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5029200" y="351538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4"/>
                  </a:solidFill>
                </a:rPr>
                <a:t>1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5029200" y="389638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5029200" y="420118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5029200" y="321058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0" name="Rectangle 239"/>
            <p:cNvSpPr/>
            <p:nvPr/>
          </p:nvSpPr>
          <p:spPr>
            <a:xfrm>
              <a:off x="6096000" y="389638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1" name="Rectangle 240"/>
            <p:cNvSpPr/>
            <p:nvPr/>
          </p:nvSpPr>
          <p:spPr>
            <a:xfrm>
              <a:off x="6096000" y="420118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3"/>
                  </a:solidFill>
                </a:rPr>
                <a:t>3</a:t>
              </a:r>
              <a:endParaRPr 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242" name="Rectangle 241"/>
            <p:cNvSpPr/>
            <p:nvPr/>
          </p:nvSpPr>
          <p:spPr>
            <a:xfrm>
              <a:off x="6096000" y="321058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6096000" y="351538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7" name="Rectangle 246"/>
            <p:cNvSpPr/>
            <p:nvPr/>
          </p:nvSpPr>
          <p:spPr>
            <a:xfrm>
              <a:off x="3962400" y="35153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3962400" y="32105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3962400" y="42011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50" name="Rectangle 249"/>
            <p:cNvSpPr/>
            <p:nvPr/>
          </p:nvSpPr>
          <p:spPr>
            <a:xfrm>
              <a:off x="3962400" y="38963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II. Write to the SSD at block granularity </a:t>
            </a:r>
            <a:endParaRPr lang="en-US" dirty="0"/>
          </a:p>
        </p:txBody>
      </p:sp>
      <p:grpSp>
        <p:nvGrpSpPr>
          <p:cNvPr id="123" name="Group 122"/>
          <p:cNvGrpSpPr/>
          <p:nvPr/>
        </p:nvGrpSpPr>
        <p:grpSpPr>
          <a:xfrm>
            <a:off x="546151" y="5867400"/>
            <a:ext cx="1852687" cy="741640"/>
            <a:chOff x="3213151" y="5486400"/>
            <a:chExt cx="1852687" cy="741640"/>
          </a:xfrm>
        </p:grpSpPr>
        <p:sp>
          <p:nvSpPr>
            <p:cNvPr id="124" name="TextBox 123"/>
            <p:cNvSpPr txBox="1"/>
            <p:nvPr/>
          </p:nvSpPr>
          <p:spPr>
            <a:xfrm>
              <a:off x="3213151" y="5704820"/>
              <a:ext cx="18526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 smtClean="0"/>
                <a:t>Incarnation</a:t>
              </a:r>
              <a:endParaRPr lang="en-US" sz="2800" i="1" dirty="0"/>
            </a:p>
          </p:txBody>
        </p:sp>
        <p:sp>
          <p:nvSpPr>
            <p:cNvPr id="125" name="Left Brace 124"/>
            <p:cNvSpPr/>
            <p:nvPr/>
          </p:nvSpPr>
          <p:spPr>
            <a:xfrm rot="16200000">
              <a:off x="4005590" y="5138410"/>
              <a:ext cx="294620" cy="990600"/>
            </a:xfrm>
            <a:prstGeom prst="leftBrace">
              <a:avLst>
                <a:gd name="adj1" fmla="val 3458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1" name="Rectangle 120"/>
          <p:cNvSpPr/>
          <p:nvPr/>
        </p:nvSpPr>
        <p:spPr>
          <a:xfrm>
            <a:off x="1295400" y="5181600"/>
            <a:ext cx="7620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B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295400" y="4876800"/>
            <a:ext cx="7620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C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295400" y="3657600"/>
            <a:ext cx="7620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A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A</a:t>
            </a:r>
            <a:endParaRPr lang="en-US" sz="2000" b="1" baseline="-25000" dirty="0">
              <a:solidFill>
                <a:schemeClr val="bg1"/>
              </a:solidFill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1295400" y="3962400"/>
            <a:ext cx="7620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D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295400" y="4572000"/>
            <a:ext cx="7620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E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295400" y="4267200"/>
            <a:ext cx="7620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F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038600" y="4724400"/>
            <a:ext cx="4572000" cy="16002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1" name="Group 150"/>
          <p:cNvGrpSpPr/>
          <p:nvPr/>
        </p:nvGrpSpPr>
        <p:grpSpPr>
          <a:xfrm>
            <a:off x="4191000" y="4582180"/>
            <a:ext cx="4267200" cy="1295402"/>
            <a:chOff x="3962400" y="4582180"/>
            <a:chExt cx="4267200" cy="1295402"/>
          </a:xfrm>
        </p:grpSpPr>
        <p:sp>
          <p:nvSpPr>
            <p:cNvPr id="222" name="Rectangle 221"/>
            <p:cNvSpPr/>
            <p:nvPr/>
          </p:nvSpPr>
          <p:spPr>
            <a:xfrm>
              <a:off x="3962400" y="458218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6"/>
                  </a:solidFill>
                </a:rPr>
                <a:t>4</a:t>
              </a:r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3962400" y="526798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6: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3962400" y="488698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5: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3962400" y="557278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5029200" y="488698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4"/>
                  </a:solidFill>
                </a:rPr>
                <a:t>5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5029200" y="458218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4: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5029200" y="526798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6: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5029200" y="557278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6096000" y="526798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3"/>
                  </a:solidFill>
                </a:rPr>
                <a:t>6</a:t>
              </a:r>
              <a:endParaRPr 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6096000" y="458218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4: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6096000" y="557278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6096000" y="488698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5: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51" name="Rectangle 250"/>
            <p:cNvSpPr/>
            <p:nvPr/>
          </p:nvSpPr>
          <p:spPr>
            <a:xfrm>
              <a:off x="3962400" y="55727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/>
            <p:cNvSpPr/>
            <p:nvPr/>
          </p:nvSpPr>
          <p:spPr>
            <a:xfrm>
              <a:off x="3962400" y="52679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3962400" y="48869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3962400" y="45821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8" name="Group 177"/>
          <p:cNvGrpSpPr/>
          <p:nvPr/>
        </p:nvGrpSpPr>
        <p:grpSpPr>
          <a:xfrm>
            <a:off x="2819400" y="3048000"/>
            <a:ext cx="1219201" cy="1600200"/>
            <a:chOff x="4800600" y="3108434"/>
            <a:chExt cx="1219201" cy="1600200"/>
          </a:xfrm>
        </p:grpSpPr>
        <p:sp>
          <p:nvSpPr>
            <p:cNvPr id="180" name="TextBox 179"/>
            <p:cNvSpPr txBox="1"/>
            <p:nvPr/>
          </p:nvSpPr>
          <p:spPr>
            <a:xfrm>
              <a:off x="4800600" y="3652014"/>
              <a:ext cx="9589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800" i="1" dirty="0" smtClean="0"/>
                <a:t>Block</a:t>
              </a:r>
              <a:endParaRPr lang="en-US" sz="2800" i="1" dirty="0"/>
            </a:p>
          </p:txBody>
        </p:sp>
        <p:sp>
          <p:nvSpPr>
            <p:cNvPr id="183" name="Left Brace 182"/>
            <p:cNvSpPr/>
            <p:nvPr/>
          </p:nvSpPr>
          <p:spPr>
            <a:xfrm rot="10800000" flipH="1">
              <a:off x="5715001" y="3108434"/>
              <a:ext cx="304800" cy="1600200"/>
            </a:xfrm>
            <a:prstGeom prst="leftBrace">
              <a:avLst>
                <a:gd name="adj1" fmla="val 3458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7" name="Group 196"/>
          <p:cNvGrpSpPr/>
          <p:nvPr/>
        </p:nvGrpSpPr>
        <p:grpSpPr>
          <a:xfrm>
            <a:off x="1295400" y="4572000"/>
            <a:ext cx="762000" cy="914400"/>
            <a:chOff x="-1447800" y="4191000"/>
            <a:chExt cx="762000" cy="914400"/>
          </a:xfrm>
        </p:grpSpPr>
        <p:sp>
          <p:nvSpPr>
            <p:cNvPr id="188" name="Rectangle 187"/>
            <p:cNvSpPr/>
            <p:nvPr/>
          </p:nvSpPr>
          <p:spPr>
            <a:xfrm>
              <a:off x="-1447800" y="4800600"/>
              <a:ext cx="7620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B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-1447800" y="4495800"/>
              <a:ext cx="7620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C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-1447800" y="4191000"/>
              <a:ext cx="7620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E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E</a:t>
              </a:r>
            </a:p>
          </p:txBody>
        </p:sp>
      </p:grpSp>
      <p:grpSp>
        <p:nvGrpSpPr>
          <p:cNvPr id="196" name="Group 195"/>
          <p:cNvGrpSpPr/>
          <p:nvPr/>
        </p:nvGrpSpPr>
        <p:grpSpPr>
          <a:xfrm>
            <a:off x="1295400" y="3657600"/>
            <a:ext cx="762000" cy="914400"/>
            <a:chOff x="-1447800" y="3276600"/>
            <a:chExt cx="762000" cy="914400"/>
          </a:xfrm>
        </p:grpSpPr>
        <p:sp>
          <p:nvSpPr>
            <p:cNvPr id="191" name="Rectangle 190"/>
            <p:cNvSpPr/>
            <p:nvPr/>
          </p:nvSpPr>
          <p:spPr>
            <a:xfrm>
              <a:off x="-1447800" y="3276600"/>
              <a:ext cx="7620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A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A</a:t>
              </a:r>
              <a:endParaRPr lang="en-US" sz="20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-1447800" y="3581400"/>
              <a:ext cx="7620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D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-1447800" y="3886200"/>
              <a:ext cx="7620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F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F</a:t>
              </a:r>
            </a:p>
          </p:txBody>
        </p:sp>
      </p:grpSp>
      <p:sp>
        <p:nvSpPr>
          <p:cNvPr id="81" name="Slide Number Placeholder 8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191000" y="3200400"/>
            <a:ext cx="4267200" cy="129540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/>
          <p:cNvGrpSpPr/>
          <p:nvPr/>
        </p:nvGrpSpPr>
        <p:grpSpPr>
          <a:xfrm>
            <a:off x="4191000" y="2133600"/>
            <a:ext cx="4267200" cy="914402"/>
            <a:chOff x="3962400" y="2133600"/>
            <a:chExt cx="4267200" cy="914402"/>
          </a:xfrm>
        </p:grpSpPr>
        <p:sp>
          <p:nvSpPr>
            <p:cNvPr id="85" name="TextBox 84"/>
            <p:cNvSpPr txBox="1"/>
            <p:nvPr/>
          </p:nvSpPr>
          <p:spPr>
            <a:xfrm>
              <a:off x="6248400" y="2133600"/>
              <a:ext cx="15945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800" i="1" dirty="0" err="1" smtClean="0"/>
                <a:t>SliceTable</a:t>
              </a:r>
              <a:endParaRPr lang="en-US" sz="2800" i="1" dirty="0"/>
            </a:p>
          </p:txBody>
        </p:sp>
        <p:sp>
          <p:nvSpPr>
            <p:cNvPr id="86" name="Left Brace 85"/>
            <p:cNvSpPr/>
            <p:nvPr/>
          </p:nvSpPr>
          <p:spPr>
            <a:xfrm rot="16200000" flipH="1">
              <a:off x="5905498" y="723901"/>
              <a:ext cx="381003" cy="4267200"/>
            </a:xfrm>
            <a:prstGeom prst="leftBrace">
              <a:avLst>
                <a:gd name="adj1" fmla="val 34583"/>
                <a:gd name="adj2" fmla="val 71429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50289E-6 L 3.33333E-6 0.04855 " pathEditMode="relative" rAng="0" ptsTypes="AA">
                                      <p:cBhvr>
                                        <p:cTn id="65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-2.08092E-6 L 0.00069 0.0444 " pathEditMode="relative" rAng="0" ptsTypes="AA">
                                      <p:cBhvr>
                                        <p:cTn id="67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5087E-6 L -3.33333E-6 0.04439 " pathEditMode="relative" rAng="0" ptsTypes="AA">
                                      <p:cBhvr>
                                        <p:cTn id="69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2" grpId="1" animBg="1"/>
      <p:bldP spid="166" grpId="0" animBg="1"/>
      <p:bldP spid="121" grpId="0" animBg="1"/>
      <p:bldP spid="121" grpId="1" animBg="1"/>
      <p:bldP spid="122" grpId="0" animBg="1"/>
      <p:bldP spid="122" grpId="1" animBg="1"/>
      <p:bldP spid="120" grpId="0" animBg="1"/>
      <p:bldP spid="120" grpId="1" animBg="1"/>
      <p:bldP spid="142" grpId="0" animBg="1"/>
      <p:bldP spid="142" grpId="1" animBg="1"/>
      <p:bldP spid="143" grpId="0" animBg="1"/>
      <p:bldP spid="143" grpId="1" animBg="1"/>
      <p:bldP spid="144" grpId="0" animBg="1"/>
      <p:bldP spid="144" grpId="1" animBg="1"/>
      <p:bldP spid="172" grpId="0" animBg="1"/>
      <p:bldP spid="8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III. Issue large reads and large writes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3" name="Group 50"/>
          <p:cNvGrpSpPr/>
          <p:nvPr/>
        </p:nvGrpSpPr>
        <p:grpSpPr>
          <a:xfrm>
            <a:off x="1371600" y="4800600"/>
            <a:ext cx="1752600" cy="838200"/>
            <a:chOff x="2362200" y="1600200"/>
            <a:chExt cx="1752600" cy="838200"/>
          </a:xfrm>
        </p:grpSpPr>
        <p:sp>
          <p:nvSpPr>
            <p:cNvPr id="10" name="Rectangle 9"/>
            <p:cNvSpPr/>
            <p:nvPr/>
          </p:nvSpPr>
          <p:spPr>
            <a:xfrm>
              <a:off x="2362200" y="1600200"/>
              <a:ext cx="1752600" cy="838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t" anchorCtr="0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Package 1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352800" y="2057400"/>
              <a:ext cx="685800" cy="3047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Page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438400" y="2057400"/>
              <a:ext cx="609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dirty="0" err="1" smtClean="0">
                  <a:solidFill>
                    <a:schemeClr val="tx1"/>
                  </a:solidFill>
                </a:rPr>
                <a:t>Reg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Straight Arrow Connector 23"/>
            <p:cNvCxnSpPr>
              <a:stCxn id="23" idx="3"/>
              <a:endCxn id="22" idx="1"/>
            </p:cNvCxnSpPr>
            <p:nvPr/>
          </p:nvCxnSpPr>
          <p:spPr>
            <a:xfrm>
              <a:off x="3048000" y="2209800"/>
              <a:ext cx="3048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" name="Group 51"/>
          <p:cNvGrpSpPr/>
          <p:nvPr/>
        </p:nvGrpSpPr>
        <p:grpSpPr>
          <a:xfrm>
            <a:off x="3200400" y="4800600"/>
            <a:ext cx="1752600" cy="838200"/>
            <a:chOff x="4267200" y="1600200"/>
            <a:chExt cx="1752600" cy="838200"/>
          </a:xfrm>
        </p:grpSpPr>
        <p:sp>
          <p:nvSpPr>
            <p:cNvPr id="20" name="Rectangle 19"/>
            <p:cNvSpPr/>
            <p:nvPr/>
          </p:nvSpPr>
          <p:spPr>
            <a:xfrm>
              <a:off x="4267200" y="1600200"/>
              <a:ext cx="1752600" cy="838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t" anchorCtr="0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Package 2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257800" y="2057400"/>
              <a:ext cx="685800" cy="3047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Page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343400" y="2057400"/>
              <a:ext cx="609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dirty="0" err="1" smtClean="0">
                  <a:solidFill>
                    <a:schemeClr val="tx1"/>
                  </a:solidFill>
                </a:rPr>
                <a:t>Reg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Arrow Connector 28"/>
            <p:cNvCxnSpPr>
              <a:stCxn id="28" idx="3"/>
              <a:endCxn id="27" idx="1"/>
            </p:cNvCxnSpPr>
            <p:nvPr/>
          </p:nvCxnSpPr>
          <p:spPr>
            <a:xfrm>
              <a:off x="4953000" y="2209800"/>
              <a:ext cx="3048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up 52"/>
          <p:cNvGrpSpPr/>
          <p:nvPr/>
        </p:nvGrpSpPr>
        <p:grpSpPr>
          <a:xfrm>
            <a:off x="5029200" y="4800600"/>
            <a:ext cx="1752600" cy="838200"/>
            <a:chOff x="6172200" y="1600200"/>
            <a:chExt cx="1752600" cy="838200"/>
          </a:xfrm>
        </p:grpSpPr>
        <p:sp>
          <p:nvSpPr>
            <p:cNvPr id="17" name="Rectangle 16"/>
            <p:cNvSpPr/>
            <p:nvPr/>
          </p:nvSpPr>
          <p:spPr>
            <a:xfrm>
              <a:off x="6172200" y="1600200"/>
              <a:ext cx="1752600" cy="838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t" anchorCtr="0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Package 3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162800" y="2057400"/>
              <a:ext cx="685800" cy="3047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Page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48400" y="2057400"/>
              <a:ext cx="609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dirty="0" err="1" smtClean="0">
                  <a:solidFill>
                    <a:schemeClr val="tx1"/>
                  </a:solidFill>
                </a:rPr>
                <a:t>Reg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Straight Arrow Connector 31"/>
            <p:cNvCxnSpPr>
              <a:stCxn id="31" idx="3"/>
              <a:endCxn id="30" idx="1"/>
            </p:cNvCxnSpPr>
            <p:nvPr/>
          </p:nvCxnSpPr>
          <p:spPr>
            <a:xfrm>
              <a:off x="6858000" y="2209800"/>
              <a:ext cx="3048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54" name="Chart 53"/>
          <p:cNvGraphicFramePr/>
          <p:nvPr/>
        </p:nvGraphicFramePr>
        <p:xfrm>
          <a:off x="1600200" y="1676400"/>
          <a:ext cx="58674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6" name="Straight Connector 55"/>
          <p:cNvCxnSpPr/>
          <p:nvPr/>
        </p:nvCxnSpPr>
        <p:spPr>
          <a:xfrm flipV="1">
            <a:off x="3733800" y="2209800"/>
            <a:ext cx="1066800" cy="609600"/>
          </a:xfrm>
          <a:prstGeom prst="line">
            <a:avLst/>
          </a:prstGeom>
          <a:ln w="57150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5029200" y="1905000"/>
            <a:ext cx="2133600" cy="304800"/>
          </a:xfrm>
          <a:prstGeom prst="line">
            <a:avLst/>
          </a:prstGeom>
          <a:ln w="57150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371600" y="1066800"/>
            <a:ext cx="3505200" cy="0"/>
          </a:xfrm>
          <a:prstGeom prst="line">
            <a:avLst/>
          </a:prstGeom>
          <a:ln>
            <a:solidFill>
              <a:srgbClr val="C00000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8" name="Group 47"/>
          <p:cNvGrpSpPr/>
          <p:nvPr/>
        </p:nvGrpSpPr>
        <p:grpSpPr>
          <a:xfrm>
            <a:off x="2012732" y="4191000"/>
            <a:ext cx="1828800" cy="533400"/>
            <a:chOff x="1981200" y="4191000"/>
            <a:chExt cx="1828800" cy="533400"/>
          </a:xfrm>
        </p:grpSpPr>
        <p:sp>
          <p:nvSpPr>
            <p:cNvPr id="37" name="TextBox 36"/>
            <p:cNvSpPr txBox="1"/>
            <p:nvPr/>
          </p:nvSpPr>
          <p:spPr>
            <a:xfrm>
              <a:off x="1981200" y="4201180"/>
              <a:ext cx="1577586" cy="523220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pPr algn="r"/>
              <a:r>
                <a:rPr lang="en-US" sz="2800" i="1" dirty="0" smtClean="0"/>
                <a:t>Page size</a:t>
              </a:r>
              <a:endParaRPr lang="en-US" sz="2800" i="1" dirty="0"/>
            </a:p>
          </p:txBody>
        </p:sp>
        <p:cxnSp>
          <p:nvCxnSpPr>
            <p:cNvPr id="41" name="Shape 40"/>
            <p:cNvCxnSpPr>
              <a:stCxn id="37" idx="3"/>
            </p:cNvCxnSpPr>
            <p:nvPr/>
          </p:nvCxnSpPr>
          <p:spPr>
            <a:xfrm flipV="1">
              <a:off x="3558786" y="4191000"/>
              <a:ext cx="251214" cy="271790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Rounded Rectangular Callout 44"/>
          <p:cNvSpPr/>
          <p:nvPr/>
        </p:nvSpPr>
        <p:spPr>
          <a:xfrm>
            <a:off x="5410200" y="2667000"/>
            <a:ext cx="1828800" cy="914400"/>
          </a:xfrm>
          <a:prstGeom prst="wedgeRoundRectCallout">
            <a:avLst>
              <a:gd name="adj1" fmla="val -34007"/>
              <a:gd name="adj2" fmla="val -98861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800" b="1" dirty="0" smtClean="0"/>
              <a:t>Channel</a:t>
            </a:r>
            <a:br>
              <a:rPr lang="en-US" sz="2800" b="1" dirty="0" smtClean="0"/>
            </a:br>
            <a:r>
              <a:rPr lang="en-US" sz="2800" b="1" dirty="0" smtClean="0"/>
              <a:t>parallelism</a:t>
            </a:r>
            <a:endParaRPr lang="en-US" sz="2800" b="1" dirty="0"/>
          </a:p>
        </p:txBody>
      </p:sp>
      <p:sp>
        <p:nvSpPr>
          <p:cNvPr id="47" name="Rounded Rectangular Callout 46"/>
          <p:cNvSpPr/>
          <p:nvPr/>
        </p:nvSpPr>
        <p:spPr>
          <a:xfrm>
            <a:off x="2819400" y="1295400"/>
            <a:ext cx="1828800" cy="914400"/>
          </a:xfrm>
          <a:prstGeom prst="wedgeRoundRectCallout">
            <a:avLst>
              <a:gd name="adj1" fmla="val -5123"/>
              <a:gd name="adj2" fmla="val 112833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800" b="1" dirty="0" smtClean="0"/>
              <a:t>Package</a:t>
            </a:r>
            <a:br>
              <a:rPr lang="en-US" sz="2800" b="1" dirty="0" smtClean="0"/>
            </a:br>
            <a:r>
              <a:rPr lang="en-US" sz="2800" b="1" dirty="0" smtClean="0"/>
              <a:t>parallelism</a:t>
            </a:r>
            <a:endParaRPr lang="en-US" sz="2800" b="1" dirty="0"/>
          </a:p>
        </p:txBody>
      </p:sp>
      <p:cxnSp>
        <p:nvCxnSpPr>
          <p:cNvPr id="50" name="Straight Connector 49"/>
          <p:cNvCxnSpPr/>
          <p:nvPr/>
        </p:nvCxnSpPr>
        <p:spPr>
          <a:xfrm flipV="1">
            <a:off x="3352800" y="2895600"/>
            <a:ext cx="0" cy="381000"/>
          </a:xfrm>
          <a:prstGeom prst="line">
            <a:avLst/>
          </a:prstGeom>
          <a:ln w="57150"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8" name="Group 52"/>
          <p:cNvGrpSpPr/>
          <p:nvPr/>
        </p:nvGrpSpPr>
        <p:grpSpPr>
          <a:xfrm>
            <a:off x="6858000" y="4800600"/>
            <a:ext cx="1752600" cy="838200"/>
            <a:chOff x="6172200" y="1600200"/>
            <a:chExt cx="1752600" cy="838200"/>
          </a:xfrm>
        </p:grpSpPr>
        <p:sp>
          <p:nvSpPr>
            <p:cNvPr id="59" name="Rectangle 58"/>
            <p:cNvSpPr/>
            <p:nvPr/>
          </p:nvSpPr>
          <p:spPr>
            <a:xfrm>
              <a:off x="6172200" y="1600200"/>
              <a:ext cx="1752600" cy="838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t" anchorCtr="0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Package 4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162800" y="2057400"/>
              <a:ext cx="685800" cy="3047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dirty="0" smtClean="0">
                  <a:solidFill>
                    <a:schemeClr val="tx1"/>
                  </a:solidFill>
                </a:rPr>
                <a:t>Page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6248400" y="2057400"/>
              <a:ext cx="6096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1473" rIns="45720" bIns="41473" rtlCol="0" anchor="ctr"/>
            <a:lstStyle/>
            <a:p>
              <a:pPr algn="ctr"/>
              <a:r>
                <a:rPr lang="en-US" sz="2400" dirty="0" err="1" smtClean="0">
                  <a:solidFill>
                    <a:schemeClr val="tx1"/>
                  </a:solidFill>
                </a:rPr>
                <a:t>Reg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63" name="Straight Arrow Connector 62"/>
            <p:cNvCxnSpPr>
              <a:stCxn id="62" idx="3"/>
              <a:endCxn id="61" idx="1"/>
            </p:cNvCxnSpPr>
            <p:nvPr/>
          </p:nvCxnSpPr>
          <p:spPr>
            <a:xfrm>
              <a:off x="6858000" y="2209800"/>
              <a:ext cx="3048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3" name="Shape 42"/>
          <p:cNvCxnSpPr>
            <a:stCxn id="27" idx="1"/>
            <a:endCxn id="28" idx="3"/>
          </p:cNvCxnSpPr>
          <p:nvPr/>
        </p:nvCxnSpPr>
        <p:spPr>
          <a:xfrm rot="10800000">
            <a:off x="3886200" y="5410200"/>
            <a:ext cx="304800" cy="12700"/>
          </a:xfrm>
          <a:prstGeom prst="bentConnector3">
            <a:avLst>
              <a:gd name="adj1" fmla="val 50000"/>
            </a:avLst>
          </a:prstGeom>
          <a:ln w="5715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hape 42"/>
          <p:cNvCxnSpPr>
            <a:stCxn id="30" idx="1"/>
            <a:endCxn id="31" idx="3"/>
          </p:cNvCxnSpPr>
          <p:nvPr/>
        </p:nvCxnSpPr>
        <p:spPr>
          <a:xfrm rot="10800000">
            <a:off x="5715000" y="5410200"/>
            <a:ext cx="304800" cy="12700"/>
          </a:xfrm>
          <a:prstGeom prst="bentConnector3">
            <a:avLst>
              <a:gd name="adj1" fmla="val 50000"/>
            </a:avLst>
          </a:prstGeom>
          <a:ln w="5715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/>
          <p:cNvGrpSpPr/>
          <p:nvPr/>
        </p:nvGrpSpPr>
        <p:grpSpPr>
          <a:xfrm>
            <a:off x="304800" y="5562598"/>
            <a:ext cx="8305800" cy="533404"/>
            <a:chOff x="304800" y="5714998"/>
            <a:chExt cx="8305800" cy="533404"/>
          </a:xfrm>
        </p:grpSpPr>
        <p:sp>
          <p:nvSpPr>
            <p:cNvPr id="14" name="TextBox 13"/>
            <p:cNvSpPr txBox="1"/>
            <p:nvPr/>
          </p:nvSpPr>
          <p:spPr>
            <a:xfrm>
              <a:off x="304800" y="5791200"/>
              <a:ext cx="1447800" cy="453088"/>
            </a:xfrm>
            <a:prstGeom prst="rect">
              <a:avLst/>
            </a:prstGeom>
            <a:noFill/>
          </p:spPr>
          <p:txBody>
            <a:bodyPr wrap="square" lIns="45720" tIns="41473" rIns="45720" bIns="41473" rtlCol="0">
              <a:spAutoFit/>
            </a:bodyPr>
            <a:lstStyle/>
            <a:p>
              <a:pPr algn="ctr"/>
              <a:r>
                <a:rPr lang="en-US" sz="2400" dirty="0" smtClean="0"/>
                <a:t>Channel 1</a:t>
              </a:r>
              <a:endParaRPr lang="en-US" sz="2400" dirty="0"/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304800" y="6248400"/>
              <a:ext cx="8305800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5410200" y="5714998"/>
              <a:ext cx="0" cy="53340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3581400" y="5714998"/>
              <a:ext cx="0" cy="53340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V="1">
              <a:off x="1752600" y="5715000"/>
              <a:ext cx="0" cy="53340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 flipV="1">
              <a:off x="7239000" y="5715000"/>
              <a:ext cx="0" cy="53340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0" name="Shape 39"/>
          <p:cNvCxnSpPr/>
          <p:nvPr/>
        </p:nvCxnSpPr>
        <p:spPr>
          <a:xfrm rot="5400000">
            <a:off x="800100" y="5143500"/>
            <a:ext cx="533400" cy="1371600"/>
          </a:xfrm>
          <a:prstGeom prst="bentConnector2">
            <a:avLst/>
          </a:prstGeom>
          <a:ln w="5715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hape 42"/>
          <p:cNvCxnSpPr/>
          <p:nvPr/>
        </p:nvCxnSpPr>
        <p:spPr>
          <a:xfrm rot="10800000">
            <a:off x="7543800" y="5410200"/>
            <a:ext cx="304800" cy="12700"/>
          </a:xfrm>
          <a:prstGeom prst="bentConnector3">
            <a:avLst>
              <a:gd name="adj1" fmla="val 50000"/>
            </a:avLst>
          </a:prstGeom>
          <a:ln w="57150">
            <a:solidFill>
              <a:srgbClr val="FF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/>
          <p:cNvGrpSpPr/>
          <p:nvPr/>
        </p:nvGrpSpPr>
        <p:grpSpPr>
          <a:xfrm>
            <a:off x="304800" y="6248400"/>
            <a:ext cx="8305800" cy="457202"/>
            <a:chOff x="304800" y="6400800"/>
            <a:chExt cx="8305800" cy="457202"/>
          </a:xfrm>
        </p:grpSpPr>
        <p:sp>
          <p:nvSpPr>
            <p:cNvPr id="81" name="TextBox 80"/>
            <p:cNvSpPr txBox="1"/>
            <p:nvPr/>
          </p:nvSpPr>
          <p:spPr>
            <a:xfrm>
              <a:off x="304800" y="6404914"/>
              <a:ext cx="1447800" cy="453088"/>
            </a:xfrm>
            <a:prstGeom prst="rect">
              <a:avLst/>
            </a:prstGeom>
            <a:noFill/>
          </p:spPr>
          <p:txBody>
            <a:bodyPr wrap="square" lIns="45720" tIns="41473" rIns="45720" bIns="41473" rtlCol="0">
              <a:spAutoFit/>
            </a:bodyPr>
            <a:lstStyle/>
            <a:p>
              <a:pPr algn="ctr"/>
              <a:r>
                <a:rPr lang="en-US" sz="2400" dirty="0" smtClean="0"/>
                <a:t>Channel 2</a:t>
              </a:r>
              <a:endParaRPr lang="en-US" sz="2400" dirty="0"/>
            </a:p>
          </p:txBody>
        </p:sp>
        <p:grpSp>
          <p:nvGrpSpPr>
            <p:cNvPr id="92" name="Group 91"/>
            <p:cNvGrpSpPr/>
            <p:nvPr/>
          </p:nvGrpSpPr>
          <p:grpSpPr>
            <a:xfrm>
              <a:off x="304800" y="6400800"/>
              <a:ext cx="8305800" cy="304800"/>
              <a:chOff x="304800" y="6400800"/>
              <a:chExt cx="8305800" cy="533402"/>
            </a:xfrm>
          </p:grpSpPr>
          <p:cxnSp>
            <p:nvCxnSpPr>
              <p:cNvPr id="82" name="Straight Arrow Connector 81"/>
              <p:cNvCxnSpPr/>
              <p:nvPr/>
            </p:nvCxnSpPr>
            <p:spPr>
              <a:xfrm flipV="1">
                <a:off x="304800" y="6400802"/>
                <a:ext cx="8305800" cy="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/>
              <p:cNvCxnSpPr/>
              <p:nvPr/>
            </p:nvCxnSpPr>
            <p:spPr>
              <a:xfrm>
                <a:off x="5410200" y="6400800"/>
                <a:ext cx="0" cy="533402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/>
              <p:cNvCxnSpPr/>
              <p:nvPr/>
            </p:nvCxnSpPr>
            <p:spPr>
              <a:xfrm>
                <a:off x="3581400" y="6400800"/>
                <a:ext cx="0" cy="533402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/>
              <p:cNvCxnSpPr/>
              <p:nvPr/>
            </p:nvCxnSpPr>
            <p:spPr>
              <a:xfrm>
                <a:off x="1752600" y="6400802"/>
                <a:ext cx="0" cy="53340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/>
              <p:cNvCxnSpPr/>
              <p:nvPr/>
            </p:nvCxnSpPr>
            <p:spPr>
              <a:xfrm>
                <a:off x="7239000" y="6400800"/>
                <a:ext cx="0" cy="533402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61" dur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62" dur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3" dur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" dur="1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6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76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77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8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1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8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86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87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8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" dur="1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96" dur="1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>
                                      <p:cBhvr>
                                        <p:cTn id="97" dur="1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8" dur="1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1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5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5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54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500"/>
                            </p:stCondLst>
                            <p:childTnLst>
                              <p:par>
                                <p:cTn id="1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54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4" grpId="0" uiExpand="1">
        <p:bldSub>
          <a:bldChart bld="category"/>
        </p:bldSub>
      </p:bldGraphic>
      <p:bldP spid="45" grpId="0" animBg="1"/>
      <p:bldP spid="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/>
          <p:cNvGraphicFramePr/>
          <p:nvPr/>
        </p:nvGraphicFramePr>
        <p:xfrm>
          <a:off x="609600" y="1295400"/>
          <a:ext cx="8153400" cy="350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III. Issue large reads and large writes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4922837"/>
            <a:ext cx="6172200" cy="109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SSD assigns consecutive chunks </a:t>
            </a:r>
            <a:br>
              <a:rPr lang="en-US" dirty="0" smtClean="0"/>
            </a:br>
            <a:r>
              <a:rPr lang="en-US" dirty="0" smtClean="0"/>
              <a:t>(4 pages/8KB) to different channels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5943600" y="1066800"/>
            <a:ext cx="2438400" cy="0"/>
          </a:xfrm>
          <a:prstGeom prst="line">
            <a:avLst/>
          </a:prstGeom>
          <a:ln>
            <a:solidFill>
              <a:srgbClr val="C00000"/>
            </a:solidFill>
          </a:ln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7239000" y="1915180"/>
            <a:ext cx="1828800" cy="523220"/>
            <a:chOff x="6781800" y="1610380"/>
            <a:chExt cx="1828800" cy="523220"/>
          </a:xfrm>
        </p:grpSpPr>
        <p:sp>
          <p:nvSpPr>
            <p:cNvPr id="17" name="TextBox 16"/>
            <p:cNvSpPr txBox="1"/>
            <p:nvPr/>
          </p:nvSpPr>
          <p:spPr>
            <a:xfrm>
              <a:off x="7033014" y="1610380"/>
              <a:ext cx="1577586" cy="523220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r>
                <a:rPr lang="en-US" sz="2800" i="1" dirty="0" smtClean="0"/>
                <a:t>Block size</a:t>
              </a:r>
              <a:endParaRPr lang="en-US" sz="2800" i="1" dirty="0"/>
            </a:p>
          </p:txBody>
        </p:sp>
        <p:cxnSp>
          <p:nvCxnSpPr>
            <p:cNvPr id="18" name="Shape 17"/>
            <p:cNvCxnSpPr/>
            <p:nvPr/>
          </p:nvCxnSpPr>
          <p:spPr>
            <a:xfrm rot="10800000" flipV="1">
              <a:off x="6781800" y="1828800"/>
              <a:ext cx="251214" cy="271790"/>
            </a:xfrm>
            <a:prstGeom prst="bentConnector2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Rounded Rectangular Callout 19"/>
          <p:cNvSpPr/>
          <p:nvPr/>
        </p:nvSpPr>
        <p:spPr>
          <a:xfrm>
            <a:off x="533400" y="5029200"/>
            <a:ext cx="1828800" cy="914400"/>
          </a:xfrm>
          <a:prstGeom prst="wedgeRoundRectCallout">
            <a:avLst>
              <a:gd name="adj1" fmla="val -27110"/>
              <a:gd name="adj2" fmla="val -45413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800" b="1" dirty="0" smtClean="0"/>
              <a:t>Channel</a:t>
            </a:r>
            <a:br>
              <a:rPr lang="en-US" sz="2800" b="1" dirty="0" smtClean="0"/>
            </a:br>
            <a:r>
              <a:rPr lang="en-US" sz="2800" b="1" dirty="0" smtClean="0"/>
              <a:t>parallelism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 uiExpand="1">
        <p:bldSub>
          <a:bldChart bld="series"/>
        </p:bldSub>
      </p:bldGraphic>
      <p:bldP spid="3" grpId="0" build="p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200400"/>
            <a:ext cx="3810000" cy="3276600"/>
          </a:xfrm>
        </p:spPr>
        <p:txBody>
          <a:bodyPr>
            <a:normAutofit/>
          </a:bodyPr>
          <a:lstStyle/>
          <a:p>
            <a:r>
              <a:rPr lang="en-US" dirty="0" smtClean="0"/>
              <a:t>Read entire </a:t>
            </a:r>
            <a:r>
              <a:rPr lang="en-US" i="1" dirty="0" err="1" smtClean="0"/>
              <a:t>SliceTable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into RAM</a:t>
            </a:r>
          </a:p>
          <a:p>
            <a:r>
              <a:rPr lang="en-US" dirty="0" smtClean="0"/>
              <a:t>Write entire  </a:t>
            </a:r>
            <a:r>
              <a:rPr lang="en-US" i="1" dirty="0" err="1" smtClean="0"/>
              <a:t>SliceTable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onto SSD</a:t>
            </a:r>
            <a:endParaRPr lang="en-US" i="1" dirty="0" smtClean="0"/>
          </a:p>
        </p:txBody>
      </p:sp>
      <p:pic>
        <p:nvPicPr>
          <p:cNvPr id="106" name="Picture 105" descr="memory-ram.png"/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7200" y="1371600"/>
            <a:ext cx="8229600" cy="1600200"/>
          </a:xfrm>
          <a:prstGeom prst="rect">
            <a:avLst/>
          </a:prstGeom>
        </p:spPr>
      </p:pic>
      <p:grpSp>
        <p:nvGrpSpPr>
          <p:cNvPr id="4" name="Group 185"/>
          <p:cNvGrpSpPr/>
          <p:nvPr/>
        </p:nvGrpSpPr>
        <p:grpSpPr>
          <a:xfrm>
            <a:off x="685800" y="1539764"/>
            <a:ext cx="1143000" cy="1219202"/>
            <a:chOff x="-1143000" y="3200400"/>
            <a:chExt cx="1143000" cy="1219202"/>
          </a:xfrm>
        </p:grpSpPr>
        <p:sp>
          <p:nvSpPr>
            <p:cNvPr id="108" name="Rectangle 107"/>
            <p:cNvSpPr/>
            <p:nvPr/>
          </p:nvSpPr>
          <p:spPr>
            <a:xfrm>
              <a:off x="-1143000" y="32004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-1143000" y="35052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-1143000" y="38100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2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-1143000" y="41148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-762000" y="32004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-762000" y="35052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-762000" y="38100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-762000" y="41148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52" name="Rounded Rectangle 151"/>
          <p:cNvSpPr/>
          <p:nvPr/>
        </p:nvSpPr>
        <p:spPr>
          <a:xfrm rot="5400000">
            <a:off x="4914900" y="2552700"/>
            <a:ext cx="3429000" cy="4724400"/>
          </a:xfrm>
          <a:prstGeom prst="roundRect">
            <a:avLst>
              <a:gd name="adj" fmla="val 863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ounded Rectangle 165"/>
          <p:cNvSpPr/>
          <p:nvPr/>
        </p:nvSpPr>
        <p:spPr>
          <a:xfrm>
            <a:off x="4343400" y="3276600"/>
            <a:ext cx="4572000" cy="16002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III. Issues large reads and large writes</a:t>
            </a:r>
            <a:endParaRPr lang="en-US" dirty="0"/>
          </a:p>
        </p:txBody>
      </p:sp>
      <p:sp>
        <p:nvSpPr>
          <p:cNvPr id="172" name="Rounded Rectangle 171"/>
          <p:cNvSpPr/>
          <p:nvPr/>
        </p:nvSpPr>
        <p:spPr>
          <a:xfrm>
            <a:off x="4343400" y="4953000"/>
            <a:ext cx="4572000" cy="16002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0"/>
          <p:cNvGrpSpPr/>
          <p:nvPr/>
        </p:nvGrpSpPr>
        <p:grpSpPr>
          <a:xfrm>
            <a:off x="4495800" y="5105398"/>
            <a:ext cx="4267200" cy="1295402"/>
            <a:chOff x="3962400" y="4582180"/>
            <a:chExt cx="4267200" cy="1295402"/>
          </a:xfrm>
        </p:grpSpPr>
        <p:sp>
          <p:nvSpPr>
            <p:cNvPr id="222" name="Rectangle 221"/>
            <p:cNvSpPr/>
            <p:nvPr/>
          </p:nvSpPr>
          <p:spPr>
            <a:xfrm>
              <a:off x="3962400" y="458218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6"/>
                  </a:solidFill>
                </a:rPr>
                <a:t>4</a:t>
              </a:r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3962400" y="526798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6: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3962400" y="488698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5: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3962400" y="557278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5029200" y="488698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4"/>
                  </a:solidFill>
                </a:rPr>
                <a:t>5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5029200" y="458218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4: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5029200" y="526798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6: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5029200" y="557278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6096000" y="526798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3"/>
                  </a:solidFill>
                </a:rPr>
                <a:t>6</a:t>
              </a:r>
              <a:endParaRPr 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6096000" y="458218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4: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6096000" y="557278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6096000" y="488698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5: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51" name="Rectangle 250"/>
            <p:cNvSpPr/>
            <p:nvPr/>
          </p:nvSpPr>
          <p:spPr>
            <a:xfrm>
              <a:off x="3962400" y="55727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/>
            <p:cNvSpPr/>
            <p:nvPr/>
          </p:nvSpPr>
          <p:spPr>
            <a:xfrm>
              <a:off x="3962400" y="52679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3962400" y="48869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3962400" y="45821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3" name="Straight Arrow Connector 92"/>
          <p:cNvCxnSpPr/>
          <p:nvPr/>
        </p:nvCxnSpPr>
        <p:spPr>
          <a:xfrm>
            <a:off x="2438400" y="3962400"/>
            <a:ext cx="1905000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43200" y="3962400"/>
            <a:ext cx="1143000" cy="523220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algn="ctr"/>
            <a:r>
              <a:rPr lang="en-US" sz="2800" i="1" dirty="0" smtClean="0"/>
              <a:t>(Block)</a:t>
            </a:r>
            <a:endParaRPr lang="en-US" sz="2800" i="1" dirty="0"/>
          </a:p>
        </p:txBody>
      </p:sp>
      <p:grpSp>
        <p:nvGrpSpPr>
          <p:cNvPr id="107" name="Group 106"/>
          <p:cNvGrpSpPr/>
          <p:nvPr/>
        </p:nvGrpSpPr>
        <p:grpSpPr>
          <a:xfrm>
            <a:off x="4495800" y="3429000"/>
            <a:ext cx="3200400" cy="1295402"/>
            <a:chOff x="4495800" y="3428998"/>
            <a:chExt cx="3200400" cy="1295402"/>
          </a:xfrm>
        </p:grpSpPr>
        <p:sp>
          <p:nvSpPr>
            <p:cNvPr id="123" name="Rectangle 122"/>
            <p:cNvSpPr/>
            <p:nvPr/>
          </p:nvSpPr>
          <p:spPr>
            <a:xfrm>
              <a:off x="5562600" y="4114798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4495800" y="4114798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6"/>
                  </a:solidFill>
                </a:rPr>
                <a:t>2</a:t>
              </a:r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4495800" y="3428998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4495800" y="3733798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4495800" y="4419598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5562600" y="3733798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4"/>
                  </a:solidFill>
                </a:rPr>
                <a:t>1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5562600" y="4419598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5562600" y="3428998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6629400" y="4114798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6629400" y="4419598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3"/>
                  </a:solidFill>
                </a:rPr>
                <a:t>3</a:t>
              </a:r>
              <a:endParaRPr 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6629400" y="3428998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6629400" y="3733798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4495800" y="3413234"/>
            <a:ext cx="3200400" cy="1295402"/>
            <a:chOff x="4495800" y="3428998"/>
            <a:chExt cx="3200400" cy="1295402"/>
          </a:xfrm>
        </p:grpSpPr>
        <p:sp>
          <p:nvSpPr>
            <p:cNvPr id="231" name="Rectangle 230"/>
            <p:cNvSpPr/>
            <p:nvPr/>
          </p:nvSpPr>
          <p:spPr>
            <a:xfrm>
              <a:off x="5562600" y="4114798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4495800" y="4114798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6"/>
                  </a:solidFill>
                </a:rPr>
                <a:t>2</a:t>
              </a:r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4495800" y="3428998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4495800" y="3733798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4495800" y="4419598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5562600" y="3733798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4"/>
                  </a:solidFill>
                </a:rPr>
                <a:t>1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5562600" y="4419598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5562600" y="3428998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0" name="Rectangle 239"/>
            <p:cNvSpPr/>
            <p:nvPr/>
          </p:nvSpPr>
          <p:spPr>
            <a:xfrm>
              <a:off x="6629400" y="4114798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1" name="Rectangle 240"/>
            <p:cNvSpPr/>
            <p:nvPr/>
          </p:nvSpPr>
          <p:spPr>
            <a:xfrm>
              <a:off x="6629400" y="4419598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3"/>
                  </a:solidFill>
                </a:rPr>
                <a:t>3</a:t>
              </a:r>
              <a:endParaRPr 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242" name="Rectangle 241"/>
            <p:cNvSpPr/>
            <p:nvPr/>
          </p:nvSpPr>
          <p:spPr>
            <a:xfrm>
              <a:off x="6629400" y="3428998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6629400" y="3733798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1066800" y="1539764"/>
            <a:ext cx="762000" cy="3048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91" name="Rectangle 190"/>
          <p:cNvSpPr/>
          <p:nvPr/>
        </p:nvSpPr>
        <p:spPr>
          <a:xfrm>
            <a:off x="1066800" y="1844564"/>
            <a:ext cx="7620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A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A</a:t>
            </a:r>
            <a:endParaRPr lang="en-US" sz="2000" b="1" baseline="-25000" dirty="0">
              <a:solidFill>
                <a:schemeClr val="bg1"/>
              </a:solidFill>
            </a:endParaRPr>
          </a:p>
        </p:txBody>
      </p:sp>
      <p:sp>
        <p:nvSpPr>
          <p:cNvPr id="193" name="Rectangle 192"/>
          <p:cNvSpPr/>
          <p:nvPr/>
        </p:nvSpPr>
        <p:spPr>
          <a:xfrm>
            <a:off x="1066800" y="2149364"/>
            <a:ext cx="7620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D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066800" y="2454164"/>
            <a:ext cx="7620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F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77000" y="1844566"/>
            <a:ext cx="10668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1: 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A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A</a:t>
            </a:r>
            <a:endParaRPr lang="en-US" sz="2000" b="1" baseline="-25000" dirty="0">
              <a:solidFill>
                <a:schemeClr val="bg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477000" y="2225566"/>
            <a:ext cx="10668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2: 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D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D</a:t>
            </a:r>
            <a:endParaRPr lang="en-US" sz="2000" b="1" baseline="-25000" dirty="0">
              <a:solidFill>
                <a:schemeClr val="bg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6477000" y="2530366"/>
            <a:ext cx="10668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3: 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F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F</a:t>
            </a:r>
            <a:endParaRPr lang="en-US" sz="2000" b="1" baseline="-25000" dirty="0">
              <a:solidFill>
                <a:schemeClr val="bg1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6477000" y="1539766"/>
            <a:ext cx="1066800" cy="3048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000" b="1" dirty="0" smtClean="0">
                <a:solidFill>
                  <a:schemeClr val="accent5"/>
                </a:solidFill>
              </a:rPr>
              <a:t>0</a:t>
            </a:r>
            <a:endParaRPr lang="en-US" sz="2000" b="1" dirty="0">
              <a:solidFill>
                <a:schemeClr val="accent5"/>
              </a:solidFill>
            </a:endParaRPr>
          </a:p>
        </p:txBody>
      </p:sp>
      <p:grpSp>
        <p:nvGrpSpPr>
          <p:cNvPr id="163" name="Group 162"/>
          <p:cNvGrpSpPr/>
          <p:nvPr/>
        </p:nvGrpSpPr>
        <p:grpSpPr>
          <a:xfrm>
            <a:off x="3276600" y="1539766"/>
            <a:ext cx="4267200" cy="1295402"/>
            <a:chOff x="-3810000" y="533400"/>
            <a:chExt cx="4267200" cy="1295402"/>
          </a:xfrm>
        </p:grpSpPr>
        <p:sp>
          <p:nvSpPr>
            <p:cNvPr id="146" name="Rectangle 145"/>
            <p:cNvSpPr/>
            <p:nvPr/>
          </p:nvSpPr>
          <p:spPr>
            <a:xfrm>
              <a:off x="-2743200" y="12192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-3810000" y="12192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6"/>
                  </a:solidFill>
                </a:rPr>
                <a:t>2</a:t>
              </a:r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-3810000" y="5334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-3810000" y="8382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-3810000" y="15240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-2743200" y="8382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4"/>
                  </a:solidFill>
                </a:rPr>
                <a:t>1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-2743200" y="15240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-2743200" y="5334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-1676400" y="12192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-1676400" y="15240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3"/>
                  </a:solidFill>
                </a:rPr>
                <a:t>3</a:t>
              </a:r>
              <a:endParaRPr 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-1676400" y="5334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-1676400" y="8382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-609600" y="838200"/>
              <a:ext cx="10668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A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A</a:t>
              </a:r>
              <a:endParaRPr lang="en-US" sz="20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-609600" y="1219200"/>
              <a:ext cx="10668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D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D</a:t>
              </a:r>
              <a:endParaRPr lang="en-US" sz="20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-609600" y="1524000"/>
              <a:ext cx="10668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F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F</a:t>
              </a:r>
              <a:endParaRPr lang="en-US" sz="20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-609600" y="5334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5"/>
                  </a:solidFill>
                </a:rPr>
                <a:t>0</a:t>
              </a:r>
              <a:endParaRPr lang="en-US" sz="2000" b="1" dirty="0">
                <a:solidFill>
                  <a:schemeClr val="accent5"/>
                </a:solidFill>
              </a:endParaRPr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4495800" y="3428998"/>
            <a:ext cx="4267200" cy="1295400"/>
            <a:chOff x="4495800" y="3428998"/>
            <a:chExt cx="4267200" cy="1295400"/>
          </a:xfrm>
        </p:grpSpPr>
        <p:sp>
          <p:nvSpPr>
            <p:cNvPr id="247" name="Rectangle 246"/>
            <p:cNvSpPr/>
            <p:nvPr/>
          </p:nvSpPr>
          <p:spPr>
            <a:xfrm>
              <a:off x="4495800" y="3733798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4495800" y="3428998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4495800" y="4419598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50" name="Rectangle 249"/>
            <p:cNvSpPr/>
            <p:nvPr/>
          </p:nvSpPr>
          <p:spPr>
            <a:xfrm>
              <a:off x="4495800" y="4114798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7" name="Rectangle 86"/>
          <p:cNvSpPr/>
          <p:nvPr/>
        </p:nvSpPr>
        <p:spPr>
          <a:xfrm>
            <a:off x="4495800" y="3429000"/>
            <a:ext cx="4267200" cy="129540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Slide Number Placeholder 9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4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-0.13334 -0.27222 " pathEditMode="relative" rAng="0" ptsTypes="AA">
                                      <p:cBhvr>
                                        <p:cTn id="2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" y="-1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0.59167 4.44444E-6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1.11111E-6 L 0.59167 1.11111E-6 " pathEditMode="relative" rAng="0" ptsTypes="AA">
                                      <p:cBhvr>
                                        <p:cTn id="32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0.59167 0.01111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6" y="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0.59167 0.01111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6" y="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9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0.00463 L 0.13402 0.27454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" y="1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1" grpId="0"/>
      <p:bldP spid="103" grpId="0" animBg="1"/>
      <p:bldP spid="191" grpId="0" animBg="1"/>
      <p:bldP spid="193" grpId="0" animBg="1"/>
      <p:bldP spid="195" grpId="0" animBg="1"/>
      <p:bldP spid="83" grpId="0" animBg="1"/>
      <p:bldP spid="84" grpId="0" animBg="1"/>
      <p:bldP spid="85" grpId="0" animBg="1"/>
      <p:bldP spid="86" grpId="0" animBg="1"/>
      <p:bldP spid="8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IV. Spread small reads across channels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3200" i="1" dirty="0" smtClean="0"/>
              <a:t>Recall</a:t>
            </a:r>
            <a:r>
              <a:rPr lang="en-US" sz="3200" dirty="0" smtClean="0"/>
              <a:t>: SSD writes consecutive chunks </a:t>
            </a:r>
            <a:br>
              <a:rPr lang="en-US" sz="3200" dirty="0" smtClean="0"/>
            </a:br>
            <a:r>
              <a:rPr lang="en-US" sz="3200" dirty="0" smtClean="0"/>
              <a:t>(4 pages) of a block to different channels </a:t>
            </a:r>
          </a:p>
          <a:p>
            <a:pPr lvl="1"/>
            <a:r>
              <a:rPr lang="en-US" dirty="0" smtClean="0"/>
              <a:t>Use existing techniques to reverse </a:t>
            </a:r>
            <a:br>
              <a:rPr lang="en-US" dirty="0" smtClean="0"/>
            </a:br>
            <a:r>
              <a:rPr lang="en-US" dirty="0" smtClean="0"/>
              <a:t>engineer </a:t>
            </a:r>
            <a:r>
              <a:rPr lang="en-US" sz="2000" i="1" dirty="0" smtClean="0"/>
              <a:t>[Chen et al. HPCA ‘11]</a:t>
            </a:r>
          </a:p>
          <a:p>
            <a:pPr lvl="1"/>
            <a:r>
              <a:rPr lang="en-US" dirty="0" smtClean="0"/>
              <a:t>SSD uses write-order mapping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76400" y="4038600"/>
            <a:ext cx="574400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channel for chunk </a:t>
            </a:r>
            <a:r>
              <a:rPr lang="en-US" sz="2400" b="1" i="1" dirty="0" err="1" smtClean="0"/>
              <a:t>i</a:t>
            </a:r>
            <a:r>
              <a:rPr lang="en-US" sz="2400" b="1" dirty="0" smtClean="0"/>
              <a:t> = </a:t>
            </a:r>
            <a:r>
              <a:rPr lang="en-US" sz="2400" b="1" i="1" dirty="0" err="1" smtClean="0"/>
              <a:t>i</a:t>
            </a:r>
            <a:r>
              <a:rPr lang="en-US" sz="2400" b="1" dirty="0" smtClean="0"/>
              <a:t> modulo (# channels)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305800" cy="4678363"/>
          </a:xfrm>
        </p:spPr>
        <p:txBody>
          <a:bodyPr/>
          <a:lstStyle/>
          <a:p>
            <a:pPr marL="514350" indent="-514350"/>
            <a:r>
              <a:rPr lang="en-US" dirty="0" smtClean="0"/>
              <a:t>Estimate channel using slot # and chunk size</a:t>
            </a:r>
          </a:p>
          <a:p>
            <a:pPr marL="514350" indent="-514350"/>
            <a:r>
              <a:rPr lang="en-US" dirty="0" smtClean="0"/>
              <a:t>Attempt to schedule 1 read per 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129" y="4285327"/>
            <a:ext cx="4099071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(slot # * pages per slot)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400" b="1" i="1" dirty="0" smtClean="0"/>
              <a:t>modulo</a:t>
            </a:r>
          </a:p>
          <a:p>
            <a:pPr algn="ctr"/>
            <a:r>
              <a:rPr lang="en-US" sz="2400" b="1" dirty="0" smtClean="0"/>
              <a:t>(# channels * pages per chunk)</a:t>
            </a:r>
            <a:endParaRPr lang="en-US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930166" y="4285327"/>
            <a:ext cx="4099071" cy="127727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(           * pages per slot)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2400" b="1" i="1" dirty="0" smtClean="0"/>
              <a:t>modulo</a:t>
            </a:r>
          </a:p>
          <a:p>
            <a:pPr algn="ctr"/>
            <a:r>
              <a:rPr lang="en-US" sz="2400" b="1" dirty="0" smtClean="0"/>
              <a:t>(# channels * pages per chunk)</a:t>
            </a:r>
            <a:endParaRPr lang="en-US" sz="24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IV. Spread small reads across channels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07162" y="3352800"/>
            <a:ext cx="1430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Channel 0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7007162" y="3881735"/>
            <a:ext cx="1430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Channel 1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007162" y="4415135"/>
            <a:ext cx="1430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Channel 2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7007162" y="4948535"/>
            <a:ext cx="1430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Channel 3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685800" y="3276600"/>
            <a:ext cx="37338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752600" y="3352800"/>
            <a:ext cx="4572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2</a:t>
            </a:r>
            <a:endParaRPr lang="en-US" sz="2400" b="1" dirty="0"/>
          </a:p>
        </p:txBody>
      </p:sp>
      <p:sp>
        <p:nvSpPr>
          <p:cNvPr id="18" name="Rectangle 17"/>
          <p:cNvSpPr/>
          <p:nvPr/>
        </p:nvSpPr>
        <p:spPr>
          <a:xfrm>
            <a:off x="2286000" y="3352800"/>
            <a:ext cx="4572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429000" y="39624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3657600" y="54102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1</a:t>
            </a:r>
            <a:endParaRPr lang="en-US" sz="2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1752600" y="54102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16" name="Rectangle 15"/>
          <p:cNvSpPr/>
          <p:nvPr/>
        </p:nvSpPr>
        <p:spPr>
          <a:xfrm>
            <a:off x="2819400" y="3352800"/>
            <a:ext cx="4572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4</a:t>
            </a:r>
            <a:endParaRPr lang="en-US" sz="2400" b="1" dirty="0"/>
          </a:p>
        </p:txBody>
      </p:sp>
      <p:sp>
        <p:nvSpPr>
          <p:cNvPr id="15" name="Rectangle 14"/>
          <p:cNvSpPr/>
          <p:nvPr/>
        </p:nvSpPr>
        <p:spPr>
          <a:xfrm>
            <a:off x="3352800" y="3352800"/>
            <a:ext cx="4572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5</a:t>
            </a:r>
            <a:endParaRPr lang="en-US" sz="2400" b="1" dirty="0"/>
          </a:p>
        </p:txBody>
      </p:sp>
      <p:sp>
        <p:nvSpPr>
          <p:cNvPr id="14" name="Rectangle 13"/>
          <p:cNvSpPr/>
          <p:nvPr/>
        </p:nvSpPr>
        <p:spPr>
          <a:xfrm>
            <a:off x="3886200" y="3352800"/>
            <a:ext cx="457200" cy="381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0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6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-0.24167 0.13889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1" y="69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6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167 0.13889 L 0.28333 0.00555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2" y="-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9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-0.18334 0.13889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2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9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8334 0.13889 L 0.34166 0.08333 " pathEditMode="relative" rAng="0" ptsTypes="AA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2" y="-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11111E-6 L -0.125 0.14445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" y="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5" presetClass="emph" presetSubtype="1" grpId="3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7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2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73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6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5 0.13889 L -3.33333E-6 -0.00556 " pathEditMode="relative" rAng="0" ptsTypes="AA">
                                      <p:cBhvr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" y="-72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7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5" presetClass="emph" presetSubtype="0" grpId="4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8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82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83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-0.06667 0.14445 " pathEditMode="relative" rAng="0" ptsTypes="AA">
                                      <p:cBhvr>
                                        <p:cTn id="8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" y="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9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5" presetClass="emph" presetSubtype="1" grpId="3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92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93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94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4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667 0.13889 L 0 -0.00556 " pathEditMode="relative" rAng="0" ptsTypes="AA">
                                      <p:cBhvr>
                                        <p:cTn id="9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" y="-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3" presetClass="emph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 override="childStyle">
                                        <p:cTn id="10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" presetID="5" presetClass="emph" presetSubtype="0" grpId="4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03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04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0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-0.00834 0.13889 " pathEditMode="relative" rAng="0" ptsTypes="AA">
                                      <p:cBhvr>
                                        <p:cTn id="10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63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34 0.13889 L 0.51666 0.16111 " pathEditMode="relative" rAng="0" ptsTypes="AA">
                                      <p:cBhvr>
                                        <p:cTn id="1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2" y="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3" grpId="0"/>
      <p:bldP spid="20" grpId="0" animBg="1"/>
      <p:bldP spid="9" grpId="0"/>
      <p:bldP spid="9" grpId="1"/>
      <p:bldP spid="9" grpId="2"/>
      <p:bldP spid="9" grpId="3"/>
      <p:bldP spid="9" grpId="4"/>
      <p:bldP spid="10" grpId="0"/>
      <p:bldP spid="10" grpId="1"/>
      <p:bldP spid="10" grpId="2"/>
      <p:bldP spid="10" grpId="3"/>
      <p:bldP spid="10" grpId="4"/>
      <p:bldP spid="11" grpId="0"/>
      <p:bldP spid="12" grpId="0"/>
      <p:bldP spid="13" grpId="0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26" grpId="0"/>
      <p:bldP spid="27" grpId="0"/>
      <p:bldP spid="28" grpId="0"/>
      <p:bldP spid="16" grpId="0" animBg="1"/>
      <p:bldP spid="16" grpId="1" animBg="1"/>
      <p:bldP spid="16" grpId="2" animBg="1"/>
      <p:bldP spid="15" grpId="0" animBg="1"/>
      <p:bldP spid="15" grpId="1" animBg="1"/>
      <p:bldP spid="15" grpId="2" animBg="1"/>
      <p:bldP spid="14" grpId="0" animBg="1"/>
      <p:bldP spid="14" grpId="1" animBg="1"/>
      <p:bldP spid="14" grpId="2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 descr="memory-ram.png"/>
          <p:cNvPicPr>
            <a:picLocks noChangeAspect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5400000">
            <a:off x="-341797" y="3072247"/>
            <a:ext cx="2971800" cy="1399309"/>
          </a:xfrm>
          <a:prstGeom prst="rect">
            <a:avLst/>
          </a:prstGeom>
        </p:spPr>
      </p:pic>
      <p:grpSp>
        <p:nvGrpSpPr>
          <p:cNvPr id="4" name="Group 185"/>
          <p:cNvGrpSpPr/>
          <p:nvPr/>
        </p:nvGrpSpPr>
        <p:grpSpPr>
          <a:xfrm>
            <a:off x="596849" y="2438400"/>
            <a:ext cx="1143000" cy="1219202"/>
            <a:chOff x="-1143000" y="3200400"/>
            <a:chExt cx="1143000" cy="1219202"/>
          </a:xfrm>
        </p:grpSpPr>
        <p:sp>
          <p:nvSpPr>
            <p:cNvPr id="108" name="Rectangle 107"/>
            <p:cNvSpPr/>
            <p:nvPr/>
          </p:nvSpPr>
          <p:spPr>
            <a:xfrm>
              <a:off x="-1143000" y="32004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0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-1143000" y="35052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1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-1143000" y="38100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2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-1143000" y="41148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3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-762000" y="32004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-762000" y="35052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-762000" y="38100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-762000" y="41148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 186"/>
          <p:cNvGrpSpPr/>
          <p:nvPr/>
        </p:nvGrpSpPr>
        <p:grpSpPr>
          <a:xfrm>
            <a:off x="596849" y="3657600"/>
            <a:ext cx="1143000" cy="1219202"/>
            <a:chOff x="-1143000" y="4419600"/>
            <a:chExt cx="1143000" cy="1219202"/>
          </a:xfrm>
        </p:grpSpPr>
        <p:sp>
          <p:nvSpPr>
            <p:cNvPr id="112" name="Rectangle 111"/>
            <p:cNvSpPr/>
            <p:nvPr/>
          </p:nvSpPr>
          <p:spPr>
            <a:xfrm>
              <a:off x="-1143000" y="44196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4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-1143000" y="47244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5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-762000" y="44196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-762000" y="47244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-1143000" y="50292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6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-762000" y="50292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-1143000" y="5334000"/>
              <a:ext cx="381000" cy="3048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>
                  <a:solidFill>
                    <a:schemeClr val="tx1"/>
                  </a:solidFill>
                </a:rPr>
                <a:t>7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-762000" y="5334000"/>
              <a:ext cx="7620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221" name="Rounded Rectangle 220"/>
          <p:cNvSpPr/>
          <p:nvPr/>
        </p:nvSpPr>
        <p:spPr>
          <a:xfrm rot="5400000">
            <a:off x="4838700" y="1343680"/>
            <a:ext cx="2971800" cy="4572000"/>
          </a:xfrm>
          <a:prstGeom prst="roundRect">
            <a:avLst>
              <a:gd name="adj" fmla="val 863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ounded Rectangle 151"/>
          <p:cNvSpPr/>
          <p:nvPr/>
        </p:nvSpPr>
        <p:spPr>
          <a:xfrm rot="5400000">
            <a:off x="4610100" y="1409700"/>
            <a:ext cx="3429000" cy="4724400"/>
          </a:xfrm>
          <a:prstGeom prst="roundRect">
            <a:avLst>
              <a:gd name="adj" fmla="val 8633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ounded Rectangle 165"/>
          <p:cNvSpPr/>
          <p:nvPr/>
        </p:nvSpPr>
        <p:spPr>
          <a:xfrm>
            <a:off x="4038600" y="2133600"/>
            <a:ext cx="4572000" cy="16002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149"/>
          <p:cNvGrpSpPr/>
          <p:nvPr/>
        </p:nvGrpSpPr>
        <p:grpSpPr>
          <a:xfrm>
            <a:off x="4191000" y="2296180"/>
            <a:ext cx="4267200" cy="1295402"/>
            <a:chOff x="3962400" y="3210580"/>
            <a:chExt cx="4267200" cy="1295402"/>
          </a:xfrm>
        </p:grpSpPr>
        <p:sp>
          <p:nvSpPr>
            <p:cNvPr id="225" name="Rectangle 224"/>
            <p:cNvSpPr/>
            <p:nvPr/>
          </p:nvSpPr>
          <p:spPr>
            <a:xfrm>
              <a:off x="3962400" y="389638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6"/>
                  </a:solidFill>
                </a:rPr>
                <a:t>2</a:t>
              </a:r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3962400" y="321058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3962400" y="351538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3962400" y="420118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5029200" y="351538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4"/>
                  </a:solidFill>
                </a:rPr>
                <a:t>1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5029200" y="389638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5029200" y="420118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5029200" y="321058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0" name="Rectangle 239"/>
            <p:cNvSpPr/>
            <p:nvPr/>
          </p:nvSpPr>
          <p:spPr>
            <a:xfrm>
              <a:off x="6096000" y="389638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1" name="Rectangle 240"/>
            <p:cNvSpPr/>
            <p:nvPr/>
          </p:nvSpPr>
          <p:spPr>
            <a:xfrm>
              <a:off x="6096000" y="420118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3"/>
                  </a:solidFill>
                </a:rPr>
                <a:t>3</a:t>
              </a:r>
              <a:endParaRPr 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242" name="Rectangle 241"/>
            <p:cNvSpPr/>
            <p:nvPr/>
          </p:nvSpPr>
          <p:spPr>
            <a:xfrm>
              <a:off x="6096000" y="321058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6096000" y="351538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7" name="Rectangle 246"/>
            <p:cNvSpPr/>
            <p:nvPr/>
          </p:nvSpPr>
          <p:spPr>
            <a:xfrm>
              <a:off x="3962400" y="35153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3962400" y="32105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3962400" y="42011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250" name="Rectangle 249"/>
            <p:cNvSpPr/>
            <p:nvPr/>
          </p:nvSpPr>
          <p:spPr>
            <a:xfrm>
              <a:off x="3962400" y="38963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SliceHash</a:t>
            </a:r>
            <a:r>
              <a:rPr lang="en-US" dirty="0" smtClean="0"/>
              <a:t> summary</a:t>
            </a:r>
            <a:endParaRPr lang="en-US" dirty="0"/>
          </a:p>
        </p:txBody>
      </p:sp>
      <p:grpSp>
        <p:nvGrpSpPr>
          <p:cNvPr id="7" name="Group 122"/>
          <p:cNvGrpSpPr/>
          <p:nvPr/>
        </p:nvGrpSpPr>
        <p:grpSpPr>
          <a:xfrm>
            <a:off x="228600" y="4953000"/>
            <a:ext cx="1844672" cy="1172527"/>
            <a:chOff x="3213151" y="5486400"/>
            <a:chExt cx="1844672" cy="1172527"/>
          </a:xfrm>
        </p:grpSpPr>
        <p:sp>
          <p:nvSpPr>
            <p:cNvPr id="124" name="TextBox 123"/>
            <p:cNvSpPr txBox="1"/>
            <p:nvPr/>
          </p:nvSpPr>
          <p:spPr>
            <a:xfrm>
              <a:off x="3213151" y="5704820"/>
              <a:ext cx="184467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i="1" dirty="0" smtClean="0"/>
                <a:t>In-memory</a:t>
              </a:r>
              <a:br>
                <a:rPr lang="en-US" sz="2800" i="1" dirty="0" smtClean="0"/>
              </a:br>
              <a:r>
                <a:rPr lang="en-US" sz="2800" i="1" dirty="0" smtClean="0"/>
                <a:t>incarnation</a:t>
              </a:r>
              <a:endParaRPr lang="en-US" sz="2800" i="1" dirty="0"/>
            </a:p>
          </p:txBody>
        </p:sp>
        <p:sp>
          <p:nvSpPr>
            <p:cNvPr id="125" name="Left Brace 124"/>
            <p:cNvSpPr/>
            <p:nvPr/>
          </p:nvSpPr>
          <p:spPr>
            <a:xfrm rot="16200000">
              <a:off x="4005590" y="5138410"/>
              <a:ext cx="294620" cy="990600"/>
            </a:xfrm>
            <a:prstGeom prst="leftBrace">
              <a:avLst>
                <a:gd name="adj1" fmla="val 3458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1" name="Rectangle 120"/>
          <p:cNvSpPr/>
          <p:nvPr/>
        </p:nvSpPr>
        <p:spPr>
          <a:xfrm>
            <a:off x="977849" y="4267200"/>
            <a:ext cx="7620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B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77849" y="3962400"/>
            <a:ext cx="7620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C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77849" y="2743200"/>
            <a:ext cx="7620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A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A</a:t>
            </a:r>
            <a:endParaRPr lang="en-US" sz="2000" b="1" baseline="-25000" dirty="0">
              <a:solidFill>
                <a:schemeClr val="bg1"/>
              </a:solidFill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977849" y="3048000"/>
            <a:ext cx="7620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D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77849" y="3657600"/>
            <a:ext cx="7620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E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77849" y="3352800"/>
            <a:ext cx="762000" cy="30480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F</a:t>
            </a:r>
            <a:r>
              <a:rPr lang="en-US" sz="2000" b="1" dirty="0" smtClean="0">
                <a:solidFill>
                  <a:schemeClr val="bg1"/>
                </a:solidFill>
              </a:rPr>
              <a:t>,V</a:t>
            </a:r>
            <a:r>
              <a:rPr lang="en-US" sz="2000" b="1" baseline="-25000" dirty="0" smtClean="0">
                <a:solidFill>
                  <a:schemeClr val="bg1"/>
                </a:solidFill>
              </a:rPr>
              <a:t>F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038600" y="3810000"/>
            <a:ext cx="4572000" cy="16002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0"/>
          <p:cNvGrpSpPr/>
          <p:nvPr/>
        </p:nvGrpSpPr>
        <p:grpSpPr>
          <a:xfrm>
            <a:off x="4191000" y="3667780"/>
            <a:ext cx="4267200" cy="1295402"/>
            <a:chOff x="3962400" y="4582180"/>
            <a:chExt cx="4267200" cy="1295402"/>
          </a:xfrm>
        </p:grpSpPr>
        <p:sp>
          <p:nvSpPr>
            <p:cNvPr id="222" name="Rectangle 221"/>
            <p:cNvSpPr/>
            <p:nvPr/>
          </p:nvSpPr>
          <p:spPr>
            <a:xfrm>
              <a:off x="3962400" y="458218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6"/>
                  </a:solidFill>
                </a:rPr>
                <a:t>4</a:t>
              </a:r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3962400" y="526798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6: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3962400" y="488698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5: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3962400" y="557278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5029200" y="488698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4"/>
                  </a:solidFill>
                </a:rPr>
                <a:t>5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5029200" y="458218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4: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5029200" y="526798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6: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5029200" y="557278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6096000" y="526798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3"/>
                  </a:solidFill>
                </a:rPr>
                <a:t>6</a:t>
              </a:r>
              <a:endParaRPr 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6096000" y="458218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4: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6096000" y="557278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6096000" y="488698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5: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51" name="Rectangle 250"/>
            <p:cNvSpPr/>
            <p:nvPr/>
          </p:nvSpPr>
          <p:spPr>
            <a:xfrm>
              <a:off x="3962400" y="55727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Rectangle 251"/>
            <p:cNvSpPr/>
            <p:nvPr/>
          </p:nvSpPr>
          <p:spPr>
            <a:xfrm>
              <a:off x="3962400" y="52679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3962400" y="48869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3962400" y="458218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177"/>
          <p:cNvGrpSpPr/>
          <p:nvPr/>
        </p:nvGrpSpPr>
        <p:grpSpPr>
          <a:xfrm>
            <a:off x="2819400" y="3810000"/>
            <a:ext cx="1219201" cy="1600200"/>
            <a:chOff x="4800600" y="3108434"/>
            <a:chExt cx="1219201" cy="1600200"/>
          </a:xfrm>
        </p:grpSpPr>
        <p:sp>
          <p:nvSpPr>
            <p:cNvPr id="180" name="TextBox 179"/>
            <p:cNvSpPr txBox="1"/>
            <p:nvPr/>
          </p:nvSpPr>
          <p:spPr>
            <a:xfrm>
              <a:off x="4800600" y="3652014"/>
              <a:ext cx="9589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800" i="1" dirty="0" smtClean="0"/>
                <a:t>Block</a:t>
              </a:r>
              <a:endParaRPr lang="en-US" sz="2800" i="1" dirty="0"/>
            </a:p>
          </p:txBody>
        </p:sp>
        <p:sp>
          <p:nvSpPr>
            <p:cNvPr id="183" name="Left Brace 182"/>
            <p:cNvSpPr/>
            <p:nvPr/>
          </p:nvSpPr>
          <p:spPr>
            <a:xfrm rot="10800000" flipH="1">
              <a:off x="5715001" y="3108434"/>
              <a:ext cx="304800" cy="1600200"/>
            </a:xfrm>
            <a:prstGeom prst="leftBrace">
              <a:avLst>
                <a:gd name="adj1" fmla="val 3458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196"/>
          <p:cNvGrpSpPr/>
          <p:nvPr/>
        </p:nvGrpSpPr>
        <p:grpSpPr>
          <a:xfrm>
            <a:off x="977849" y="3657600"/>
            <a:ext cx="762000" cy="914400"/>
            <a:chOff x="-1447800" y="4191000"/>
            <a:chExt cx="762000" cy="914400"/>
          </a:xfrm>
        </p:grpSpPr>
        <p:sp>
          <p:nvSpPr>
            <p:cNvPr id="188" name="Rectangle 187"/>
            <p:cNvSpPr/>
            <p:nvPr/>
          </p:nvSpPr>
          <p:spPr>
            <a:xfrm>
              <a:off x="-1447800" y="4800600"/>
              <a:ext cx="7620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B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-1447800" y="4495800"/>
              <a:ext cx="7620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C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C</a:t>
              </a:r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-1447800" y="4191000"/>
              <a:ext cx="7620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E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E</a:t>
              </a:r>
            </a:p>
          </p:txBody>
        </p:sp>
      </p:grpSp>
      <p:grpSp>
        <p:nvGrpSpPr>
          <p:cNvPr id="11" name="Group 195"/>
          <p:cNvGrpSpPr/>
          <p:nvPr/>
        </p:nvGrpSpPr>
        <p:grpSpPr>
          <a:xfrm>
            <a:off x="977849" y="2743200"/>
            <a:ext cx="762000" cy="914400"/>
            <a:chOff x="-1447800" y="3276600"/>
            <a:chExt cx="762000" cy="914400"/>
          </a:xfrm>
        </p:grpSpPr>
        <p:sp>
          <p:nvSpPr>
            <p:cNvPr id="191" name="Rectangle 190"/>
            <p:cNvSpPr/>
            <p:nvPr/>
          </p:nvSpPr>
          <p:spPr>
            <a:xfrm>
              <a:off x="-1447800" y="3276600"/>
              <a:ext cx="7620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A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A</a:t>
              </a:r>
              <a:endParaRPr lang="en-US" sz="20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-1447800" y="3581400"/>
              <a:ext cx="7620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D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D</a:t>
              </a:r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-1447800" y="3886200"/>
              <a:ext cx="762000" cy="304800"/>
            </a:xfrm>
            <a:prstGeom prst="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K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F</a:t>
              </a:r>
              <a:r>
                <a:rPr lang="en-US" sz="2000" b="1" dirty="0" smtClean="0">
                  <a:solidFill>
                    <a:schemeClr val="bg1"/>
                  </a:solidFill>
                </a:rPr>
                <a:t>,V</a:t>
              </a:r>
              <a:r>
                <a:rPr lang="en-US" sz="2000" b="1" baseline="-25000" dirty="0" smtClean="0">
                  <a:solidFill>
                    <a:schemeClr val="bg1"/>
                  </a:solidFill>
                </a:rPr>
                <a:t>F</a:t>
              </a:r>
            </a:p>
          </p:txBody>
        </p:sp>
      </p:grpSp>
      <p:sp>
        <p:nvSpPr>
          <p:cNvPr id="81" name="Slide Number Placeholder 8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191000" y="3989613"/>
            <a:ext cx="4267200" cy="129540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86"/>
          <p:cNvGrpSpPr/>
          <p:nvPr/>
        </p:nvGrpSpPr>
        <p:grpSpPr>
          <a:xfrm>
            <a:off x="4191000" y="5420380"/>
            <a:ext cx="4267200" cy="828020"/>
            <a:chOff x="3962400" y="1828800"/>
            <a:chExt cx="4267200" cy="828020"/>
          </a:xfrm>
        </p:grpSpPr>
        <p:sp>
          <p:nvSpPr>
            <p:cNvPr id="85" name="TextBox 84"/>
            <p:cNvSpPr txBox="1"/>
            <p:nvPr/>
          </p:nvSpPr>
          <p:spPr>
            <a:xfrm>
              <a:off x="6248400" y="2133600"/>
              <a:ext cx="15945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800" i="1" dirty="0" err="1" smtClean="0"/>
                <a:t>SliceTable</a:t>
              </a:r>
              <a:endParaRPr lang="en-US" sz="2800" i="1" dirty="0"/>
            </a:p>
          </p:txBody>
        </p:sp>
        <p:sp>
          <p:nvSpPr>
            <p:cNvPr id="86" name="Left Brace 85"/>
            <p:cNvSpPr/>
            <p:nvPr/>
          </p:nvSpPr>
          <p:spPr>
            <a:xfrm rot="5400000" flipH="1" flipV="1">
              <a:off x="5905498" y="-114298"/>
              <a:ext cx="381003" cy="4267200"/>
            </a:xfrm>
            <a:prstGeom prst="leftBrace">
              <a:avLst>
                <a:gd name="adj1" fmla="val 34583"/>
                <a:gd name="adj2" fmla="val 71429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182"/>
          <p:cNvGrpSpPr/>
          <p:nvPr/>
        </p:nvGrpSpPr>
        <p:grpSpPr>
          <a:xfrm>
            <a:off x="3048000" y="2905780"/>
            <a:ext cx="1108494" cy="523220"/>
            <a:chOff x="848265" y="3352800"/>
            <a:chExt cx="1108494" cy="523220"/>
          </a:xfrm>
        </p:grpSpPr>
        <p:sp>
          <p:nvSpPr>
            <p:cNvPr id="88" name="TextBox 87"/>
            <p:cNvSpPr txBox="1"/>
            <p:nvPr/>
          </p:nvSpPr>
          <p:spPr>
            <a:xfrm>
              <a:off x="848265" y="3352800"/>
              <a:ext cx="815586" cy="523220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pPr algn="r"/>
              <a:r>
                <a:rPr lang="en-US" sz="2800" i="1" dirty="0" smtClean="0"/>
                <a:t>Page</a:t>
              </a:r>
              <a:endParaRPr lang="en-US" sz="2800" i="1" dirty="0"/>
            </a:p>
          </p:txBody>
        </p:sp>
        <p:cxnSp>
          <p:nvCxnSpPr>
            <p:cNvPr id="89" name="Straight Arrow Connector 88"/>
            <p:cNvCxnSpPr/>
            <p:nvPr/>
          </p:nvCxnSpPr>
          <p:spPr>
            <a:xfrm>
              <a:off x="1651959" y="3605841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0" name="Group 89"/>
          <p:cNvGrpSpPr/>
          <p:nvPr/>
        </p:nvGrpSpPr>
        <p:grpSpPr>
          <a:xfrm>
            <a:off x="4800600" y="1447800"/>
            <a:ext cx="1900264" cy="762001"/>
            <a:chOff x="4648200" y="5410200"/>
            <a:chExt cx="1900264" cy="762001"/>
          </a:xfrm>
        </p:grpSpPr>
        <p:sp>
          <p:nvSpPr>
            <p:cNvPr id="91" name="TextBox 90"/>
            <p:cNvSpPr txBox="1"/>
            <p:nvPr/>
          </p:nvSpPr>
          <p:spPr>
            <a:xfrm>
              <a:off x="4648200" y="5410200"/>
              <a:ext cx="190026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i="1" dirty="0" smtClean="0"/>
                <a:t>Incarnation</a:t>
              </a:r>
              <a:endParaRPr lang="en-US" sz="2800" i="1" dirty="0"/>
            </a:p>
          </p:txBody>
        </p:sp>
        <p:sp>
          <p:nvSpPr>
            <p:cNvPr id="92" name="Left Brace 91"/>
            <p:cNvSpPr/>
            <p:nvPr/>
          </p:nvSpPr>
          <p:spPr>
            <a:xfrm rot="16200000" flipH="1" flipV="1">
              <a:off x="5448300" y="5524501"/>
              <a:ext cx="304800" cy="990600"/>
            </a:xfrm>
            <a:prstGeom prst="leftBrace">
              <a:avLst>
                <a:gd name="adj1" fmla="val 3458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4" name="Group 182"/>
          <p:cNvGrpSpPr/>
          <p:nvPr/>
        </p:nvGrpSpPr>
        <p:grpSpPr>
          <a:xfrm>
            <a:off x="1905000" y="2895600"/>
            <a:ext cx="1108494" cy="523220"/>
            <a:chOff x="848265" y="3352800"/>
            <a:chExt cx="1108494" cy="523220"/>
          </a:xfrm>
        </p:grpSpPr>
        <p:sp>
          <p:nvSpPr>
            <p:cNvPr id="95" name="TextBox 94"/>
            <p:cNvSpPr txBox="1"/>
            <p:nvPr/>
          </p:nvSpPr>
          <p:spPr>
            <a:xfrm>
              <a:off x="848265" y="3352800"/>
              <a:ext cx="815586" cy="523220"/>
            </a:xfrm>
            <a:prstGeom prst="rect">
              <a:avLst/>
            </a:prstGeom>
            <a:noFill/>
          </p:spPr>
          <p:txBody>
            <a:bodyPr wrap="square" lIns="45720" rIns="45720" rtlCol="0">
              <a:spAutoFit/>
            </a:bodyPr>
            <a:lstStyle/>
            <a:p>
              <a:pPr algn="r"/>
              <a:r>
                <a:rPr lang="en-US" sz="2800" i="1" dirty="0" smtClean="0"/>
                <a:t>Slice</a:t>
              </a:r>
              <a:endParaRPr lang="en-US" sz="2800" i="1" dirty="0"/>
            </a:p>
          </p:txBody>
        </p:sp>
        <p:cxnSp>
          <p:nvCxnSpPr>
            <p:cNvPr id="96" name="Straight Arrow Connector 95"/>
            <p:cNvCxnSpPr/>
            <p:nvPr/>
          </p:nvCxnSpPr>
          <p:spPr>
            <a:xfrm>
              <a:off x="1651959" y="3605841"/>
              <a:ext cx="304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8" name="Rounded Rectangular Callout 97"/>
          <p:cNvSpPr/>
          <p:nvPr/>
        </p:nvSpPr>
        <p:spPr>
          <a:xfrm>
            <a:off x="685800" y="1143000"/>
            <a:ext cx="3124200" cy="990600"/>
          </a:xfrm>
          <a:prstGeom prst="wedgeRoundRectCallout">
            <a:avLst>
              <a:gd name="adj1" fmla="val 39997"/>
              <a:gd name="adj2" fmla="val 135361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800" b="1" dirty="0" smtClean="0"/>
              <a:t>Specific slot from all incarnations</a:t>
            </a:r>
            <a:endParaRPr lang="en-US" sz="2800" b="1" dirty="0"/>
          </a:p>
        </p:txBody>
      </p:sp>
      <p:grpSp>
        <p:nvGrpSpPr>
          <p:cNvPr id="139" name="Group 138"/>
          <p:cNvGrpSpPr/>
          <p:nvPr/>
        </p:nvGrpSpPr>
        <p:grpSpPr>
          <a:xfrm>
            <a:off x="4191000" y="3657600"/>
            <a:ext cx="3200400" cy="1295402"/>
            <a:chOff x="9144000" y="2667000"/>
            <a:chExt cx="3200400" cy="1295402"/>
          </a:xfrm>
        </p:grpSpPr>
        <p:sp>
          <p:nvSpPr>
            <p:cNvPr id="100" name="Rectangle 99"/>
            <p:cNvSpPr/>
            <p:nvPr/>
          </p:nvSpPr>
          <p:spPr>
            <a:xfrm>
              <a:off x="9144000" y="26670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6"/>
                  </a:solidFill>
                </a:rPr>
                <a:t>4</a:t>
              </a:r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9144000" y="33528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6: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9144000" y="29718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5: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9144000" y="36576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210800" y="29718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4"/>
                  </a:solidFill>
                </a:rPr>
                <a:t>5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10210800" y="26670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4: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10210800" y="33528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6: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0210800" y="36576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11277600" y="33528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3"/>
                  </a:solidFill>
                </a:rPr>
                <a:t>6</a:t>
              </a:r>
              <a:endParaRPr 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11277600" y="26670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4: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11277600" y="36576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7: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11277600" y="29718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5: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4191000" y="3657600"/>
            <a:ext cx="4267200" cy="1295400"/>
            <a:chOff x="9144000" y="2667000"/>
            <a:chExt cx="4267200" cy="1295400"/>
          </a:xfrm>
        </p:grpSpPr>
        <p:sp>
          <p:nvSpPr>
            <p:cNvPr id="134" name="Rectangle 133"/>
            <p:cNvSpPr/>
            <p:nvPr/>
          </p:nvSpPr>
          <p:spPr>
            <a:xfrm>
              <a:off x="9144000" y="36576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9144000" y="33528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9144000" y="29718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9144000" y="26670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4191000" y="2286000"/>
            <a:ext cx="3200400" cy="1295402"/>
            <a:chOff x="9144000" y="3810000"/>
            <a:chExt cx="3200400" cy="1295402"/>
          </a:xfrm>
        </p:grpSpPr>
        <p:sp>
          <p:nvSpPr>
            <p:cNvPr id="141" name="Rectangle 140"/>
            <p:cNvSpPr/>
            <p:nvPr/>
          </p:nvSpPr>
          <p:spPr>
            <a:xfrm>
              <a:off x="9144000" y="44958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6"/>
                  </a:solidFill>
                </a:rPr>
                <a:t>2</a:t>
              </a:r>
              <a:endParaRPr lang="en-US" sz="2000" b="1" dirty="0">
                <a:solidFill>
                  <a:schemeClr val="accent6"/>
                </a:solidFill>
              </a:endParaRPr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9144000" y="38100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9144000" y="41148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9144000" y="4800600"/>
              <a:ext cx="1066800" cy="304802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10210800" y="41148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4"/>
                  </a:solidFill>
                </a:rPr>
                <a:t>1</a:t>
              </a:r>
              <a:endParaRPr 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10210800" y="44958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10210800" y="48006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3: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10210800" y="3810000"/>
              <a:ext cx="1066800" cy="304802"/>
            </a:xfrm>
            <a:prstGeom prst="rect">
              <a:avLst/>
            </a:prstGeom>
            <a:solidFill>
              <a:schemeClr val="accent4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11277600" y="44958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2: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11277600" y="4800600"/>
              <a:ext cx="1066800" cy="3048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accent3"/>
                  </a:solidFill>
                </a:rPr>
                <a:t>3</a:t>
              </a:r>
              <a:endParaRPr 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11277600" y="38100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0: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11277600" y="4114800"/>
              <a:ext cx="1066800" cy="304802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2000" b="1" dirty="0" smtClean="0">
                  <a:solidFill>
                    <a:schemeClr val="bg1"/>
                  </a:solidFill>
                </a:rPr>
                <a:t>1: K,V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1" name="Group 160"/>
          <p:cNvGrpSpPr/>
          <p:nvPr/>
        </p:nvGrpSpPr>
        <p:grpSpPr>
          <a:xfrm>
            <a:off x="4191000" y="2286000"/>
            <a:ext cx="4267200" cy="1295400"/>
            <a:chOff x="9144000" y="3810000"/>
            <a:chExt cx="4267200" cy="1295400"/>
          </a:xfrm>
        </p:grpSpPr>
        <p:sp>
          <p:nvSpPr>
            <p:cNvPr id="157" name="Rectangle 156"/>
            <p:cNvSpPr/>
            <p:nvPr/>
          </p:nvSpPr>
          <p:spPr>
            <a:xfrm>
              <a:off x="9144000" y="41148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9144000" y="38100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9144000" y="48006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9144000" y="4495800"/>
              <a:ext cx="4267200" cy="3048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3" name="Rectangle 92"/>
          <p:cNvSpPr/>
          <p:nvPr/>
        </p:nvSpPr>
        <p:spPr>
          <a:xfrm>
            <a:off x="4191000" y="2971800"/>
            <a:ext cx="4267200" cy="30480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5257800" y="2286000"/>
            <a:ext cx="1066800" cy="266700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/>
          <p:cNvSpPr/>
          <p:nvPr/>
        </p:nvSpPr>
        <p:spPr>
          <a:xfrm>
            <a:off x="5257800" y="4953000"/>
            <a:ext cx="1066800" cy="381000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ounded Rectangular Callout 164"/>
          <p:cNvSpPr/>
          <p:nvPr/>
        </p:nvSpPr>
        <p:spPr>
          <a:xfrm>
            <a:off x="3124200" y="5638800"/>
            <a:ext cx="2667000" cy="990600"/>
          </a:xfrm>
          <a:prstGeom prst="wedgeRoundRectCallout">
            <a:avLst>
              <a:gd name="adj1" fmla="val 76463"/>
              <a:gd name="adj2" fmla="val -19584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800" b="1" dirty="0" smtClean="0"/>
              <a:t>Read/write </a:t>
            </a:r>
            <a:br>
              <a:rPr lang="en-US" sz="2800" b="1" dirty="0" smtClean="0"/>
            </a:br>
            <a:r>
              <a:rPr lang="en-US" sz="2800" b="1" dirty="0" smtClean="0"/>
              <a:t>when updating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50289E-6 L 3.33333E-6 0.04855 " pathEditMode="relative" rAng="0" ptsTypes="AA">
                                      <p:cBhvr>
                                        <p:cTn id="8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-2.08092E-6 L 0.00069 0.0444 " pathEditMode="relative" rAng="0" ptsTypes="AA">
                                      <p:cBhvr>
                                        <p:cTn id="9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"/>
                                    </p:animMotion>
                                  </p:childTnLst>
                                </p:cTn>
                              </p:par>
                              <p:par>
                                <p:cTn id="92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5087E-6 L -3.33333E-6 0.04439 " pathEditMode="relative" rAng="0" ptsTypes="AA">
                                      <p:cBhvr>
                                        <p:cTn id="9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2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42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1.11111E-6 L 1.94444E-6 0.04792 " pathEditMode="relative" rAng="0" ptsTypes="AA">
                                      <p:cBhvr>
                                        <p:cTn id="9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2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 animBg="1"/>
      <p:bldP spid="121" grpId="1" animBg="1"/>
      <p:bldP spid="122" grpId="1" animBg="1"/>
      <p:bldP spid="120" grpId="1" animBg="1"/>
      <p:bldP spid="142" grpId="1" animBg="1"/>
      <p:bldP spid="143" grpId="1" animBg="1"/>
      <p:bldP spid="144" grpId="1" animBg="1"/>
      <p:bldP spid="172" grpId="0" animBg="1"/>
      <p:bldP spid="83" grpId="0" animBg="1"/>
      <p:bldP spid="98" grpId="0" animBg="1"/>
      <p:bldP spid="93" grpId="0" animBg="1"/>
      <p:bldP spid="97" grpId="0" animBg="1"/>
      <p:bldP spid="164" grpId="1" animBg="1"/>
      <p:bldP spid="16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Chart 38"/>
          <p:cNvGraphicFramePr/>
          <p:nvPr/>
        </p:nvGraphicFramePr>
        <p:xfrm>
          <a:off x="3733800" y="3048000"/>
          <a:ext cx="51816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Chart 24"/>
          <p:cNvGraphicFramePr/>
          <p:nvPr/>
        </p:nvGraphicFramePr>
        <p:xfrm>
          <a:off x="228600" y="2971800"/>
          <a:ext cx="37338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Evaluation: throughput vs. overhead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04800" y="2012788"/>
            <a:ext cx="2590800" cy="954107"/>
            <a:chOff x="6898640" y="1447800"/>
            <a:chExt cx="2590800" cy="954107"/>
          </a:xfrm>
        </p:grpSpPr>
        <p:pic>
          <p:nvPicPr>
            <p:cNvPr id="6" name="Picture 5" descr="drive-harddisk-5.png"/>
            <p:cNvPicPr>
              <a:picLocks noChangeAspect="1"/>
            </p:cNvPicPr>
            <p:nvPr/>
          </p:nvPicPr>
          <p:blipFill>
            <a:blip r:embed="rId4" cstate="print"/>
            <a:srcRect t="10526" b="10526"/>
            <a:stretch>
              <a:fillRect/>
            </a:stretch>
          </p:blipFill>
          <p:spPr>
            <a:xfrm>
              <a:off x="6898640" y="1600200"/>
              <a:ext cx="772160" cy="6096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7584440" y="1447800"/>
              <a:ext cx="1905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/>
                <a:t>128GB</a:t>
              </a:r>
              <a:br>
                <a:rPr lang="en-US" sz="2800" dirty="0" smtClean="0"/>
              </a:br>
              <a:r>
                <a:rPr lang="en-US" sz="2800" dirty="0" smtClean="0"/>
                <a:t>Crucial M4</a:t>
              </a:r>
              <a:endParaRPr lang="en-US" sz="28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743200" y="2012788"/>
            <a:ext cx="1752600" cy="954107"/>
            <a:chOff x="3505200" y="5181600"/>
            <a:chExt cx="1752600" cy="954107"/>
          </a:xfrm>
        </p:grpSpPr>
        <p:sp>
          <p:nvSpPr>
            <p:cNvPr id="9" name="TextBox 8"/>
            <p:cNvSpPr txBox="1"/>
            <p:nvPr/>
          </p:nvSpPr>
          <p:spPr>
            <a:xfrm>
              <a:off x="3886200" y="5181600"/>
              <a:ext cx="13716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/>
                <a:t>2.26Ghz</a:t>
              </a:r>
              <a:br>
                <a:rPr lang="en-US" sz="2800" dirty="0" smtClean="0"/>
              </a:br>
              <a:r>
                <a:rPr lang="en-US" sz="2800" dirty="0" smtClean="0"/>
                <a:t>4-core</a:t>
              </a:r>
              <a:endParaRPr lang="en-US" sz="2800" dirty="0"/>
            </a:p>
          </p:txBody>
        </p:sp>
        <p:pic>
          <p:nvPicPr>
            <p:cNvPr id="10" name="Picture 9" descr="chip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5200" y="5257800"/>
              <a:ext cx="457200" cy="457200"/>
            </a:xfrm>
            <a:prstGeom prst="rect">
              <a:avLst/>
            </a:prstGeom>
          </p:spPr>
        </p:pic>
        <p:pic>
          <p:nvPicPr>
            <p:cNvPr id="11" name="Picture 10" descr="chip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5200" y="5638800"/>
              <a:ext cx="457200" cy="457200"/>
            </a:xfrm>
            <a:prstGeom prst="rect">
              <a:avLst/>
            </a:prstGeom>
          </p:spPr>
        </p:pic>
      </p:grpSp>
      <p:sp>
        <p:nvSpPr>
          <p:cNvPr id="17" name="TextBox 16"/>
          <p:cNvSpPr txBox="1"/>
          <p:nvPr/>
        </p:nvSpPr>
        <p:spPr>
          <a:xfrm>
            <a:off x="5562600" y="3200400"/>
            <a:ext cx="997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↑6.6x</a:t>
            </a:r>
            <a:endParaRPr lang="en-US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2971800" y="3462250"/>
            <a:ext cx="998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↓12%</a:t>
            </a:r>
            <a:endParaRPr lang="en-US" sz="2400" b="1" dirty="0"/>
          </a:p>
        </p:txBody>
      </p:sp>
      <p:grpSp>
        <p:nvGrpSpPr>
          <p:cNvPr id="26" name="Group 25"/>
          <p:cNvGrpSpPr/>
          <p:nvPr/>
        </p:nvGrpSpPr>
        <p:grpSpPr>
          <a:xfrm>
            <a:off x="4572000" y="2012788"/>
            <a:ext cx="1905000" cy="954107"/>
            <a:chOff x="6706872" y="3008293"/>
            <a:chExt cx="1905000" cy="954107"/>
          </a:xfrm>
        </p:grpSpPr>
        <p:pic>
          <p:nvPicPr>
            <p:cNvPr id="27" name="Picture 4" descr="C:\Users\agember\AppData\Local\Microsoft\Windows\Temporary Internet Files\Content.IE5\C0D333QZ\MC900384028[1].wmf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 rot="900000">
              <a:off x="6706872" y="3157564"/>
              <a:ext cx="423506" cy="306291"/>
            </a:xfrm>
            <a:prstGeom prst="rect">
              <a:avLst/>
            </a:prstGeom>
            <a:noFill/>
          </p:spPr>
        </p:pic>
        <p:pic>
          <p:nvPicPr>
            <p:cNvPr id="28" name="Picture 6" descr="C:\Users\agember\AppData\Local\Microsoft\Windows\Temporary Internet Files\Content.IE5\C0D333QZ\MC910217611[1].wmf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781800" y="3429000"/>
              <a:ext cx="426631" cy="493693"/>
            </a:xfrm>
            <a:prstGeom prst="rect">
              <a:avLst/>
            </a:prstGeom>
            <a:noFill/>
          </p:spPr>
        </p:pic>
        <p:sp>
          <p:nvSpPr>
            <p:cNvPr id="29" name="TextBox 28"/>
            <p:cNvSpPr txBox="1"/>
            <p:nvPr/>
          </p:nvSpPr>
          <p:spPr>
            <a:xfrm>
              <a:off x="7162800" y="3008293"/>
              <a:ext cx="144907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/>
                <a:t>8B key</a:t>
              </a:r>
              <a:br>
                <a:rPr lang="en-US" sz="2800" dirty="0" smtClean="0"/>
              </a:br>
              <a:r>
                <a:rPr lang="en-US" sz="2800" dirty="0" smtClean="0"/>
                <a:t>8B value</a:t>
              </a:r>
              <a:endParaRPr lang="en-US" sz="2800" dirty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477000" y="2012788"/>
            <a:ext cx="2420746" cy="1035212"/>
            <a:chOff x="5123054" y="4876800"/>
            <a:chExt cx="2420746" cy="1035212"/>
          </a:xfrm>
        </p:grpSpPr>
        <p:sp>
          <p:nvSpPr>
            <p:cNvPr id="15" name="TextBox 14"/>
            <p:cNvSpPr txBox="1"/>
            <p:nvPr/>
          </p:nvSpPr>
          <p:spPr>
            <a:xfrm>
              <a:off x="5637528" y="4876800"/>
              <a:ext cx="190627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smtClean="0"/>
                <a:t>50% insert</a:t>
              </a:r>
              <a:br>
                <a:rPr lang="en-US" sz="2800" dirty="0" smtClean="0"/>
              </a:br>
              <a:r>
                <a:rPr lang="en-US" sz="2800" dirty="0" smtClean="0"/>
                <a:t>50% lookup</a:t>
              </a:r>
              <a:endParaRPr lang="en-US" sz="2800" dirty="0"/>
            </a:p>
          </p:txBody>
        </p:sp>
        <p:sp>
          <p:nvSpPr>
            <p:cNvPr id="30" name="Right Arrow 29"/>
            <p:cNvSpPr/>
            <p:nvPr/>
          </p:nvSpPr>
          <p:spPr>
            <a:xfrm rot="5400000">
              <a:off x="5334000" y="5029200"/>
              <a:ext cx="381000" cy="381000"/>
            </a:xfrm>
            <a:prstGeom prst="rightArrow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magnifying_glass.pn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 rot="19603435">
              <a:off x="5123054" y="5351654"/>
              <a:ext cx="560358" cy="560358"/>
            </a:xfrm>
            <a:prstGeom prst="rect">
              <a:avLst/>
            </a:prstGeom>
          </p:spPr>
        </p:pic>
      </p:grpSp>
      <p:sp>
        <p:nvSpPr>
          <p:cNvPr id="36" name="TextBox 35"/>
          <p:cNvSpPr txBox="1"/>
          <p:nvPr/>
        </p:nvSpPr>
        <p:spPr>
          <a:xfrm>
            <a:off x="6851211" y="3195935"/>
            <a:ext cx="997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↑2.8x</a:t>
            </a:r>
            <a:endParaRPr lang="en-US" sz="2400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2209800" y="3124200"/>
            <a:ext cx="998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↑15%</a:t>
            </a:r>
            <a:endParaRPr lang="en-US" sz="2400" b="1" dirty="0"/>
          </a:p>
        </p:txBody>
      </p:sp>
      <p:sp>
        <p:nvSpPr>
          <p:cNvPr id="38" name="Rectangle 37"/>
          <p:cNvSpPr/>
          <p:nvPr/>
        </p:nvSpPr>
        <p:spPr>
          <a:xfrm>
            <a:off x="7924800" y="2971800"/>
            <a:ext cx="990600" cy="274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447800" y="1219200"/>
            <a:ext cx="6248400" cy="6096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lang="en-US" sz="3200" b="1" dirty="0" smtClean="0"/>
              <a:t>See paper for theoretical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9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0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9">
                                            <p:graphicEl>
                                              <a:chart seriesIdx="0" categoryIdx="1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0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3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9">
                                            <p:graphicEl>
                                              <a:chart seriesIdx="3" categoryIdx="0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3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9">
                                            <p:graphicEl>
                                              <a:chart seriesIdx="3" categoryIdx="1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graphicEl>
                                              <a:chart seriesIdx="3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9">
                                            <p:graphicEl>
                                              <a:chart seriesIdx="3" categoryIdx="2" bldStep="ptIn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9" grpId="0" uiExpand="1">
        <p:bldSub>
          <a:bldChart bld="categoryEl"/>
        </p:bldSub>
      </p:bldGraphic>
      <p:bldGraphic spid="39" grpId="1" uiExpand="1">
        <p:bldSub>
          <a:bldChart bld="categoryEl"/>
        </p:bldSub>
      </p:bldGraphic>
      <p:bldGraphic spid="25" grpId="0" uiExpand="1">
        <p:bldSub>
          <a:bldChart bld="category"/>
        </p:bldSub>
      </p:bldGraphic>
      <p:bldP spid="17" grpId="0" uiExpand="1"/>
      <p:bldP spid="18" grpId="0"/>
      <p:bldP spid="36" grpId="0"/>
      <p:bldP spid="37" grpId="0" uiExpand="1"/>
      <p:bldP spid="38" grpId="0" animBg="1"/>
      <p:bldP spid="3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Evaluation: flexibility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Trade-off memory for throughput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Chart 4"/>
          <p:cNvGraphicFramePr/>
          <p:nvPr/>
        </p:nvGraphicFramePr>
        <p:xfrm>
          <a:off x="4419600" y="2209800"/>
          <a:ext cx="43434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228600" y="2209800"/>
          <a:ext cx="432435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V="1">
            <a:off x="1676400" y="4114800"/>
            <a:ext cx="1447800" cy="533400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5867400" y="2667000"/>
            <a:ext cx="1600200" cy="838200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6647054" y="1250788"/>
            <a:ext cx="2420746" cy="1035212"/>
            <a:chOff x="5123054" y="4876800"/>
            <a:chExt cx="2420746" cy="1035212"/>
          </a:xfrm>
        </p:grpSpPr>
        <p:sp>
          <p:nvSpPr>
            <p:cNvPr id="22" name="TextBox 21"/>
            <p:cNvSpPr txBox="1"/>
            <p:nvPr/>
          </p:nvSpPr>
          <p:spPr>
            <a:xfrm>
              <a:off x="5637528" y="4876800"/>
              <a:ext cx="190627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 smtClean="0"/>
                <a:t>50% insert</a:t>
              </a:r>
              <a:br>
                <a:rPr lang="en-US" sz="2800" i="1" dirty="0" smtClean="0"/>
              </a:br>
              <a:r>
                <a:rPr lang="en-US" sz="2800" i="1" dirty="0" smtClean="0"/>
                <a:t>50% lookup</a:t>
              </a:r>
              <a:endParaRPr lang="en-US" sz="2800" i="1" dirty="0"/>
            </a:p>
          </p:txBody>
        </p:sp>
        <p:sp>
          <p:nvSpPr>
            <p:cNvPr id="23" name="Right Arrow 22"/>
            <p:cNvSpPr/>
            <p:nvPr/>
          </p:nvSpPr>
          <p:spPr>
            <a:xfrm rot="5400000">
              <a:off x="5334000" y="5029200"/>
              <a:ext cx="381000" cy="381000"/>
            </a:xfrm>
            <a:prstGeom prst="rightArrow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 descr="magnifying_glass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19603435">
              <a:off x="5123054" y="5351654"/>
              <a:ext cx="560358" cy="560358"/>
            </a:xfrm>
            <a:prstGeom prst="rect">
              <a:avLst/>
            </a:prstGeom>
          </p:spPr>
        </p:pic>
      </p:grpSp>
      <p:sp>
        <p:nvSpPr>
          <p:cNvPr id="25" name="Rectangle 24"/>
          <p:cNvSpPr/>
          <p:nvPr/>
        </p:nvSpPr>
        <p:spPr>
          <a:xfrm>
            <a:off x="1447800" y="5029200"/>
            <a:ext cx="4572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981200" y="5029200"/>
            <a:ext cx="4572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971800" y="5029200"/>
            <a:ext cx="4572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715000" y="4953000"/>
            <a:ext cx="4572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248400" y="4953000"/>
            <a:ext cx="4572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239000" y="4953000"/>
            <a:ext cx="457200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1676400" y="5105400"/>
            <a:ext cx="6248400" cy="15240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lang="en-US" sz="3200" b="1" dirty="0" smtClean="0"/>
              <a:t>Use multiple SSDs for even </a:t>
            </a:r>
            <a:br>
              <a:rPr lang="en-US" sz="3200" b="1" dirty="0" smtClean="0"/>
            </a:br>
            <a:r>
              <a:rPr lang="en-US" sz="3200" b="1" dirty="0" smtClean="0"/>
              <a:t>↓ memory use and ↑ throughput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xit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xit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xit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xit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Chart bld="category"/>
        </p:bldSub>
      </p:bldGraphic>
      <p:bldGraphic spid="5" grpId="1" uiExpand="1">
        <p:bldSub>
          <a:bldChart bld="category"/>
        </p:bldSub>
      </p:bldGraphic>
      <p:bldGraphic spid="6" grpId="0" uiExpand="1">
        <p:bldSub>
          <a:bldChart bld="category"/>
        </p:bldSub>
      </p:bldGraphic>
      <p:bldGraphic spid="6" grpId="1" uiExpand="1">
        <p:bldSub>
          <a:bldChart bld="category"/>
        </p:bldSub>
      </p:bldGraphic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Evaluation: generality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Workload may change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5" name="Chart 4"/>
          <p:cNvGraphicFramePr/>
          <p:nvPr/>
        </p:nvGraphicFramePr>
        <p:xfrm>
          <a:off x="228600" y="2133600"/>
          <a:ext cx="4800600" cy="4346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5410200" y="1447800"/>
          <a:ext cx="35814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27332" y="1229380"/>
            <a:ext cx="35166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accent3"/>
                </a:solidFill>
              </a:rPr>
              <a:t>Memory (bytes/entry)</a:t>
            </a:r>
            <a:endParaRPr lang="en-US" sz="2800" b="1" dirty="0">
              <a:solidFill>
                <a:schemeClr val="accent3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21041" y="3886200"/>
            <a:ext cx="2941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accent4"/>
                </a:solidFill>
              </a:rPr>
              <a:t>CPU utilization (%)</a:t>
            </a:r>
            <a:endParaRPr lang="en-US" sz="2800" b="1" dirty="0">
              <a:solidFill>
                <a:schemeClr val="accent4"/>
              </a:solidFill>
            </a:endParaRPr>
          </a:p>
        </p:txBody>
      </p:sp>
      <p:graphicFrame>
        <p:nvGraphicFramePr>
          <p:cNvPr id="11" name="Chart 10"/>
          <p:cNvGraphicFramePr/>
          <p:nvPr/>
        </p:nvGraphicFramePr>
        <p:xfrm>
          <a:off x="5105400" y="4162425"/>
          <a:ext cx="3810000" cy="2543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Rectangle 11"/>
          <p:cNvSpPr/>
          <p:nvPr/>
        </p:nvSpPr>
        <p:spPr>
          <a:xfrm>
            <a:off x="1539766" y="2438400"/>
            <a:ext cx="18288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539766" y="2819400"/>
            <a:ext cx="18288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539766" y="3200400"/>
            <a:ext cx="18288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ular Callout 14"/>
          <p:cNvSpPr/>
          <p:nvPr/>
        </p:nvSpPr>
        <p:spPr>
          <a:xfrm>
            <a:off x="5105400" y="4724400"/>
            <a:ext cx="1981200" cy="609600"/>
          </a:xfrm>
          <a:prstGeom prst="wedgeRoundRectCallout">
            <a:avLst>
              <a:gd name="adj1" fmla="val 14292"/>
              <a:gd name="adj2" fmla="val 108161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800" b="1" dirty="0" smtClean="0"/>
              <a:t>Decreasing!</a:t>
            </a:r>
            <a:endParaRPr lang="en-US" sz="2800" b="1" dirty="0"/>
          </a:p>
        </p:txBody>
      </p:sp>
      <p:sp>
        <p:nvSpPr>
          <p:cNvPr id="16" name="Rounded Rectangular Callout 15"/>
          <p:cNvSpPr/>
          <p:nvPr/>
        </p:nvSpPr>
        <p:spPr>
          <a:xfrm>
            <a:off x="5029200" y="1752600"/>
            <a:ext cx="1828800" cy="914400"/>
          </a:xfrm>
          <a:prstGeom prst="wedgeRoundRectCallout">
            <a:avLst>
              <a:gd name="adj1" fmla="val 23313"/>
              <a:gd name="adj2" fmla="val 89070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2800" b="1" dirty="0" smtClean="0"/>
              <a:t>Constantly low!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Chart bld="series"/>
        </p:bldSub>
      </p:bldGraphic>
      <p:bldGraphic spid="7" grpId="0">
        <p:bldAsOne/>
      </p:bldGraphic>
      <p:bldP spid="8" grpId="0"/>
      <p:bldP spid="10" grpId="0"/>
      <p:bldGraphic spid="11" grpId="0">
        <p:bldAsOne/>
      </p:bldGraphic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800"/>
              </a:spcBef>
            </a:pPr>
            <a:r>
              <a:rPr lang="en-US" dirty="0" smtClean="0"/>
              <a:t>Present design practices for low cost and </a:t>
            </a:r>
            <a:br>
              <a:rPr lang="en-US" dirty="0" smtClean="0"/>
            </a:br>
            <a:r>
              <a:rPr lang="en-US" dirty="0" smtClean="0"/>
              <a:t>high performance SSD-based indexes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Introduce </a:t>
            </a:r>
            <a:r>
              <a:rPr lang="en-US" i="1" dirty="0" smtClean="0"/>
              <a:t>slicing</a:t>
            </a:r>
            <a:r>
              <a:rPr lang="en-US" dirty="0" smtClean="0"/>
              <a:t> to co-locate related entries and leverage multiple levels of SSD parallelism</a:t>
            </a:r>
          </a:p>
          <a:p>
            <a:pPr>
              <a:spcBef>
                <a:spcPts val="1800"/>
              </a:spcBef>
            </a:pPr>
            <a:r>
              <a:rPr lang="en-US" dirty="0" err="1" smtClean="0"/>
              <a:t>SliceHash</a:t>
            </a:r>
            <a:r>
              <a:rPr lang="en-US" dirty="0" smtClean="0"/>
              <a:t> achieves 69K lookups/sec (≈12% </a:t>
            </a:r>
            <a:br>
              <a:rPr lang="en-US" dirty="0" smtClean="0"/>
            </a:br>
            <a:r>
              <a:rPr lang="en-US" dirty="0" smtClean="0"/>
              <a:t>better than prior works), with consistently low memory (0.6B/entry) and CPU (12%) overhead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Evaluation: theoretical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4419600" cy="4678363"/>
          </a:xfrm>
        </p:spPr>
        <p:txBody>
          <a:bodyPr/>
          <a:lstStyle/>
          <a:p>
            <a:r>
              <a:rPr lang="en-US" dirty="0" smtClean="0"/>
              <a:t>Parameters</a:t>
            </a:r>
          </a:p>
          <a:p>
            <a:pPr lvl="1"/>
            <a:r>
              <a:rPr lang="en-US" dirty="0" smtClean="0"/>
              <a:t>16B key/value pairs</a:t>
            </a:r>
          </a:p>
          <a:p>
            <a:pPr lvl="1"/>
            <a:r>
              <a:rPr lang="en-US" dirty="0" smtClean="0"/>
              <a:t>80% table utilization</a:t>
            </a:r>
          </a:p>
          <a:p>
            <a:pPr lvl="1"/>
            <a:r>
              <a:rPr lang="en-US" dirty="0" smtClean="0"/>
              <a:t>32 incarnations</a:t>
            </a:r>
          </a:p>
          <a:p>
            <a:pPr lvl="1"/>
            <a:r>
              <a:rPr lang="en-US" dirty="0" smtClean="0"/>
              <a:t>4GB of memory</a:t>
            </a:r>
          </a:p>
          <a:p>
            <a:pPr lvl="1"/>
            <a:r>
              <a:rPr lang="en-US" dirty="0" smtClean="0"/>
              <a:t>128GB SSD</a:t>
            </a:r>
          </a:p>
          <a:p>
            <a:pPr lvl="1"/>
            <a:r>
              <a:rPr lang="en-US" dirty="0" smtClean="0"/>
              <a:t>0.31ms to read a block</a:t>
            </a:r>
          </a:p>
          <a:p>
            <a:pPr lvl="1"/>
            <a:r>
              <a:rPr lang="en-US" dirty="0" smtClean="0"/>
              <a:t>0.83ms to write a block</a:t>
            </a:r>
          </a:p>
          <a:p>
            <a:pPr lvl="1"/>
            <a:r>
              <a:rPr lang="en-US" dirty="0" smtClean="0"/>
              <a:t>0.15ms to read a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5257800" y="1600200"/>
            <a:ext cx="2743200" cy="1056620"/>
            <a:chOff x="5257800" y="1600200"/>
            <a:chExt cx="2743200" cy="1056620"/>
          </a:xfrm>
        </p:grpSpPr>
        <p:grpSp>
          <p:nvGrpSpPr>
            <p:cNvPr id="6" name="Group 5"/>
            <p:cNvGrpSpPr/>
            <p:nvPr/>
          </p:nvGrpSpPr>
          <p:grpSpPr>
            <a:xfrm>
              <a:off x="5334000" y="1600200"/>
              <a:ext cx="2537355" cy="461665"/>
              <a:chOff x="990601" y="2133600"/>
              <a:chExt cx="2537355" cy="461665"/>
            </a:xfrm>
          </p:grpSpPr>
          <p:pic>
            <p:nvPicPr>
              <p:cNvPr id="7" name="Picture 6" descr="memory-ram.pn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990601" y="2133600"/>
                <a:ext cx="1066800" cy="457200"/>
              </a:xfrm>
              <a:prstGeom prst="rect">
                <a:avLst/>
              </a:prstGeom>
            </p:spPr>
          </p:pic>
          <p:sp>
            <p:nvSpPr>
              <p:cNvPr id="8" name="TextBox 7"/>
              <p:cNvSpPr txBox="1"/>
              <p:nvPr/>
            </p:nvSpPr>
            <p:spPr>
              <a:xfrm>
                <a:off x="2133600" y="2133600"/>
                <a:ext cx="13943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overhead</a:t>
                </a:r>
                <a:endParaRPr lang="en-US" sz="2400" b="1" dirty="0"/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5257800" y="2133600"/>
              <a:ext cx="2743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smtClean="0">
                  <a:solidFill>
                    <a:srgbClr val="C00000"/>
                  </a:solidFill>
                </a:rPr>
                <a:t>0.6 B/entry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257800" y="3048000"/>
            <a:ext cx="2743200" cy="1345287"/>
            <a:chOff x="5257800" y="3048000"/>
            <a:chExt cx="2743200" cy="1345287"/>
          </a:xfrm>
        </p:grpSpPr>
        <p:grpSp>
          <p:nvGrpSpPr>
            <p:cNvPr id="16" name="Group 15"/>
            <p:cNvGrpSpPr/>
            <p:nvPr/>
          </p:nvGrpSpPr>
          <p:grpSpPr>
            <a:xfrm>
              <a:off x="5904141" y="3048000"/>
              <a:ext cx="1334859" cy="485105"/>
              <a:chOff x="4267200" y="2133600"/>
              <a:chExt cx="1334859" cy="485105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4898148" y="2157040"/>
                <a:ext cx="7039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cost</a:t>
                </a:r>
                <a:endParaRPr lang="en-US" sz="2400" b="1" dirty="0"/>
              </a:p>
            </p:txBody>
          </p:sp>
          <p:sp>
            <p:nvSpPr>
              <p:cNvPr id="18" name="Right Arrow 17"/>
              <p:cNvSpPr/>
              <p:nvPr/>
            </p:nvSpPr>
            <p:spPr>
              <a:xfrm rot="5400000">
                <a:off x="4255480" y="2145320"/>
                <a:ext cx="480640" cy="457200"/>
              </a:xfrm>
              <a:prstGeom prst="rightArrow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5257800" y="3439180"/>
              <a:ext cx="2743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 smtClean="0">
                  <a:solidFill>
                    <a:srgbClr val="C00000"/>
                  </a:solidFill>
                </a:rPr>
                <a:t>avg</a:t>
              </a:r>
              <a:r>
                <a:rPr lang="en-US" sz="2800" b="1" dirty="0" smtClean="0">
                  <a:solidFill>
                    <a:srgbClr val="C00000"/>
                  </a:solidFill>
                </a:rPr>
                <a:t>: ≈5.7</a:t>
              </a:r>
              <a:r>
                <a:rPr lang="el-GR" sz="2800" b="1" dirty="0" smtClean="0">
                  <a:solidFill>
                    <a:srgbClr val="C00000"/>
                  </a:solidFill>
                </a:rPr>
                <a:t>μ</a:t>
              </a:r>
              <a:r>
                <a:rPr lang="en-US" sz="2800" b="1" dirty="0" smtClean="0">
                  <a:solidFill>
                    <a:srgbClr val="C00000"/>
                  </a:solidFill>
                </a:rPr>
                <a:t>s</a:t>
              </a:r>
              <a:br>
                <a:rPr lang="en-US" sz="2800" b="1" dirty="0" smtClean="0">
                  <a:solidFill>
                    <a:srgbClr val="C00000"/>
                  </a:solidFill>
                </a:rPr>
              </a:br>
              <a:r>
                <a:rPr lang="en-US" sz="2800" b="1" dirty="0" smtClean="0">
                  <a:solidFill>
                    <a:srgbClr val="C00000"/>
                  </a:solidFill>
                </a:rPr>
                <a:t>worst: 1.14ms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257800" y="4582180"/>
            <a:ext cx="2743200" cy="1716107"/>
            <a:chOff x="5257800" y="4495800"/>
            <a:chExt cx="2743200" cy="1716107"/>
          </a:xfrm>
        </p:grpSpPr>
        <p:grpSp>
          <p:nvGrpSpPr>
            <p:cNvPr id="20" name="Group 19"/>
            <p:cNvGrpSpPr/>
            <p:nvPr/>
          </p:nvGrpSpPr>
          <p:grpSpPr>
            <a:xfrm>
              <a:off x="5715000" y="4495800"/>
              <a:ext cx="1741818" cy="990600"/>
              <a:chOff x="5439092" y="3457892"/>
              <a:chExt cx="1741818" cy="990600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6476999" y="3657600"/>
                <a:ext cx="7039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cost</a:t>
                </a:r>
                <a:endParaRPr lang="en-US" sz="2400" b="1" dirty="0"/>
              </a:p>
            </p:txBody>
          </p:sp>
          <p:pic>
            <p:nvPicPr>
              <p:cNvPr id="19" name="Picture 18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 rot="18000000">
                <a:off x="5439092" y="3457892"/>
                <a:ext cx="990600" cy="990600"/>
              </a:xfrm>
              <a:prstGeom prst="rect">
                <a:avLst/>
              </a:prstGeom>
            </p:spPr>
          </p:pic>
        </p:grpSp>
        <p:sp>
          <p:nvSpPr>
            <p:cNvPr id="24" name="TextBox 23"/>
            <p:cNvSpPr txBox="1"/>
            <p:nvPr/>
          </p:nvSpPr>
          <p:spPr>
            <a:xfrm>
              <a:off x="5257800" y="5257800"/>
              <a:ext cx="2743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 smtClean="0">
                  <a:solidFill>
                    <a:srgbClr val="C00000"/>
                  </a:solidFill>
                </a:rPr>
                <a:t>avg</a:t>
              </a:r>
              <a:r>
                <a:rPr lang="en-US" sz="2800" b="1" dirty="0" smtClean="0">
                  <a:solidFill>
                    <a:srgbClr val="C00000"/>
                  </a:solidFill>
                </a:rPr>
                <a:t> &amp; worst: 0.15ms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Evaluation: theoretical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" name="Group 24"/>
          <p:cNvGrpSpPr/>
          <p:nvPr/>
        </p:nvGrpSpPr>
        <p:grpSpPr>
          <a:xfrm>
            <a:off x="5257800" y="1600200"/>
            <a:ext cx="2743200" cy="1056620"/>
            <a:chOff x="5257800" y="1600200"/>
            <a:chExt cx="2743200" cy="1056620"/>
          </a:xfrm>
        </p:grpSpPr>
        <p:grpSp>
          <p:nvGrpSpPr>
            <p:cNvPr id="6" name="Group 5"/>
            <p:cNvGrpSpPr/>
            <p:nvPr/>
          </p:nvGrpSpPr>
          <p:grpSpPr>
            <a:xfrm>
              <a:off x="5334000" y="1600200"/>
              <a:ext cx="2537355" cy="461665"/>
              <a:chOff x="990601" y="2133600"/>
              <a:chExt cx="2537355" cy="461665"/>
            </a:xfrm>
          </p:grpSpPr>
          <p:pic>
            <p:nvPicPr>
              <p:cNvPr id="7" name="Picture 6" descr="memory-ram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990601" y="2133600"/>
                <a:ext cx="1066800" cy="457200"/>
              </a:xfrm>
              <a:prstGeom prst="rect">
                <a:avLst/>
              </a:prstGeom>
            </p:spPr>
          </p:pic>
          <p:sp>
            <p:nvSpPr>
              <p:cNvPr id="8" name="TextBox 7"/>
              <p:cNvSpPr txBox="1"/>
              <p:nvPr/>
            </p:nvSpPr>
            <p:spPr>
              <a:xfrm>
                <a:off x="2133600" y="2133600"/>
                <a:ext cx="13943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overhead</a:t>
                </a:r>
                <a:endParaRPr lang="en-US" sz="2400" b="1" dirty="0"/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5257800" y="2133600"/>
              <a:ext cx="2743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smtClean="0">
                  <a:solidFill>
                    <a:srgbClr val="C00000"/>
                  </a:solidFill>
                </a:rPr>
                <a:t>0.6 B/entry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9" name="Group 25"/>
          <p:cNvGrpSpPr/>
          <p:nvPr/>
        </p:nvGrpSpPr>
        <p:grpSpPr>
          <a:xfrm>
            <a:off x="5257800" y="3048000"/>
            <a:ext cx="2743200" cy="1345287"/>
            <a:chOff x="5257800" y="3048000"/>
            <a:chExt cx="2743200" cy="1345287"/>
          </a:xfrm>
        </p:grpSpPr>
        <p:grpSp>
          <p:nvGrpSpPr>
            <p:cNvPr id="10" name="Group 15"/>
            <p:cNvGrpSpPr/>
            <p:nvPr/>
          </p:nvGrpSpPr>
          <p:grpSpPr>
            <a:xfrm>
              <a:off x="5904141" y="3048000"/>
              <a:ext cx="1334859" cy="485105"/>
              <a:chOff x="4267200" y="2133600"/>
              <a:chExt cx="1334859" cy="485105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4898148" y="2157040"/>
                <a:ext cx="7039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cost</a:t>
                </a:r>
                <a:endParaRPr lang="en-US" sz="2400" b="1" dirty="0"/>
              </a:p>
            </p:txBody>
          </p:sp>
          <p:sp>
            <p:nvSpPr>
              <p:cNvPr id="18" name="Right Arrow 17"/>
              <p:cNvSpPr/>
              <p:nvPr/>
            </p:nvSpPr>
            <p:spPr>
              <a:xfrm rot="5400000">
                <a:off x="4255480" y="2145320"/>
                <a:ext cx="480640" cy="457200"/>
              </a:xfrm>
              <a:prstGeom prst="rightArrow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5257800" y="3439180"/>
              <a:ext cx="2743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 smtClean="0">
                  <a:solidFill>
                    <a:srgbClr val="C00000"/>
                  </a:solidFill>
                </a:rPr>
                <a:t>avg</a:t>
              </a:r>
              <a:r>
                <a:rPr lang="en-US" sz="2800" b="1" dirty="0" smtClean="0">
                  <a:solidFill>
                    <a:srgbClr val="C00000"/>
                  </a:solidFill>
                </a:rPr>
                <a:t>: ≈5.7</a:t>
              </a:r>
              <a:r>
                <a:rPr lang="el-GR" sz="2800" b="1" dirty="0" smtClean="0">
                  <a:solidFill>
                    <a:srgbClr val="C00000"/>
                  </a:solidFill>
                </a:rPr>
                <a:t>μ</a:t>
              </a:r>
              <a:r>
                <a:rPr lang="en-US" sz="2800" b="1" dirty="0" smtClean="0">
                  <a:solidFill>
                    <a:srgbClr val="C00000"/>
                  </a:solidFill>
                </a:rPr>
                <a:t>s</a:t>
              </a:r>
              <a:br>
                <a:rPr lang="en-US" sz="2800" b="1" dirty="0" smtClean="0">
                  <a:solidFill>
                    <a:srgbClr val="C00000"/>
                  </a:solidFill>
                </a:rPr>
              </a:br>
              <a:r>
                <a:rPr lang="en-US" sz="2800" b="1" dirty="0" smtClean="0">
                  <a:solidFill>
                    <a:srgbClr val="C00000"/>
                  </a:solidFill>
                </a:rPr>
                <a:t>worst: 1.14ms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3" name="Group 26"/>
          <p:cNvGrpSpPr/>
          <p:nvPr/>
        </p:nvGrpSpPr>
        <p:grpSpPr>
          <a:xfrm>
            <a:off x="5257800" y="4582180"/>
            <a:ext cx="2743200" cy="1716107"/>
            <a:chOff x="5257800" y="4495800"/>
            <a:chExt cx="2743200" cy="1716107"/>
          </a:xfrm>
        </p:grpSpPr>
        <p:grpSp>
          <p:nvGrpSpPr>
            <p:cNvPr id="14" name="Group 19"/>
            <p:cNvGrpSpPr/>
            <p:nvPr/>
          </p:nvGrpSpPr>
          <p:grpSpPr>
            <a:xfrm>
              <a:off x="5715000" y="4495800"/>
              <a:ext cx="1741818" cy="990600"/>
              <a:chOff x="5439092" y="3457892"/>
              <a:chExt cx="1741818" cy="990600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6476999" y="3657600"/>
                <a:ext cx="70391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 smtClean="0"/>
                  <a:t>cost</a:t>
                </a:r>
                <a:endParaRPr lang="en-US" sz="2400" b="1" dirty="0"/>
              </a:p>
            </p:txBody>
          </p:sp>
          <p:pic>
            <p:nvPicPr>
              <p:cNvPr id="19" name="Picture 18" descr="magnifying_glass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 rot="18000000">
                <a:off x="5439092" y="3457892"/>
                <a:ext cx="990600" cy="990600"/>
              </a:xfrm>
              <a:prstGeom prst="rect">
                <a:avLst/>
              </a:prstGeom>
            </p:spPr>
          </p:pic>
        </p:grpSp>
        <p:sp>
          <p:nvSpPr>
            <p:cNvPr id="24" name="TextBox 23"/>
            <p:cNvSpPr txBox="1"/>
            <p:nvPr/>
          </p:nvSpPr>
          <p:spPr>
            <a:xfrm>
              <a:off x="5257800" y="5257800"/>
              <a:ext cx="27432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 smtClean="0">
                  <a:solidFill>
                    <a:srgbClr val="C00000"/>
                  </a:solidFill>
                </a:rPr>
                <a:t>avg</a:t>
              </a:r>
              <a:r>
                <a:rPr lang="en-US" sz="2800" b="1" dirty="0" smtClean="0">
                  <a:solidFill>
                    <a:srgbClr val="C00000"/>
                  </a:solidFill>
                </a:rPr>
                <a:t> &amp; worst: 0.15ms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20" name="Content Placeholder 19"/>
          <p:cNvSpPr>
            <a:spLocks noGrp="1"/>
          </p:cNvSpPr>
          <p:nvPr>
            <p:ph idx="1"/>
          </p:nvPr>
        </p:nvSpPr>
        <p:spPr>
          <a:xfrm>
            <a:off x="1981200" y="1447800"/>
            <a:ext cx="3048000" cy="4953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2800" b="1" dirty="0" err="1" smtClean="0"/>
              <a:t>BufferHash</a:t>
            </a:r>
            <a:endParaRPr lang="en-US" sz="2800" b="1" dirty="0" smtClean="0"/>
          </a:p>
          <a:p>
            <a:pPr algn="ctr">
              <a:spcBef>
                <a:spcPts val="1800"/>
              </a:spcBef>
              <a:buNone/>
            </a:pPr>
            <a:r>
              <a:rPr lang="en-US" sz="2800" dirty="0" smtClean="0"/>
              <a:t>4B/entry</a:t>
            </a:r>
          </a:p>
          <a:p>
            <a:pPr algn="ctr">
              <a:buNone/>
            </a:pPr>
            <a:endParaRPr lang="en-US" sz="2800" dirty="0" smtClean="0"/>
          </a:p>
          <a:p>
            <a:pPr algn="ctr">
              <a:spcBef>
                <a:spcPts val="3200"/>
              </a:spcBef>
              <a:buNone/>
            </a:pPr>
            <a:r>
              <a:rPr lang="en-US" sz="2800" dirty="0" err="1" smtClean="0"/>
              <a:t>avg</a:t>
            </a:r>
            <a:r>
              <a:rPr lang="en-US" sz="2800" dirty="0" smtClean="0"/>
              <a:t>: ≈0.2us</a:t>
            </a:r>
          </a:p>
          <a:p>
            <a:pPr algn="ctr">
              <a:spcBef>
                <a:spcPts val="0"/>
              </a:spcBef>
              <a:buNone/>
            </a:pPr>
            <a:r>
              <a:rPr lang="en-US" sz="2800" dirty="0" smtClean="0"/>
              <a:t>worst: 0.83ms</a:t>
            </a:r>
          </a:p>
          <a:p>
            <a:pPr algn="ctr">
              <a:buNone/>
            </a:pPr>
            <a:endParaRPr lang="en-US" sz="2800" dirty="0" smtClean="0"/>
          </a:p>
          <a:p>
            <a:pPr algn="ctr">
              <a:spcBef>
                <a:spcPts val="4400"/>
              </a:spcBef>
              <a:buNone/>
            </a:pPr>
            <a:r>
              <a:rPr lang="en-US" sz="2800" dirty="0" err="1" smtClean="0"/>
              <a:t>avg</a:t>
            </a:r>
            <a:r>
              <a:rPr lang="en-US" sz="2800" dirty="0" smtClean="0"/>
              <a:t>: ≈0.15ms</a:t>
            </a:r>
          </a:p>
          <a:p>
            <a:pPr algn="ctr">
              <a:spcBef>
                <a:spcPts val="0"/>
              </a:spcBef>
              <a:buNone/>
            </a:pPr>
            <a:r>
              <a:rPr lang="en-US" sz="2800" dirty="0" smtClean="0"/>
              <a:t>worst: 4.8ms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2187</TotalTime>
  <Words>1401</Words>
  <Application>Microsoft Office PowerPoint</Application>
  <PresentationFormat>On-screen Show (4:3)</PresentationFormat>
  <Paragraphs>595</Paragraphs>
  <Slides>26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1_Office Theme</vt:lpstr>
      <vt:lpstr>Design Patterns for Tunable and Efficient SSD-based Indexes</vt:lpstr>
      <vt:lpstr>Large hash-based indexes</vt:lpstr>
      <vt:lpstr>Use of large hash-based indexes</vt:lpstr>
      <vt:lpstr>Slide 4</vt:lpstr>
      <vt:lpstr>What’s the problem?</vt:lpstr>
      <vt:lpstr>Our contributions</vt:lpstr>
      <vt:lpstr>Outline</vt:lpstr>
      <vt:lpstr>State-of-the-art SSD-based index</vt:lpstr>
      <vt:lpstr>State-of-the-art SSD-based index</vt:lpstr>
      <vt:lpstr>SSD Architecture</vt:lpstr>
      <vt:lpstr>Four design principles</vt:lpstr>
      <vt:lpstr>I. Store related entries on the same page</vt:lpstr>
      <vt:lpstr>I. Store related entries on the same page</vt:lpstr>
      <vt:lpstr>II. Write to the SSD at block granularity </vt:lpstr>
      <vt:lpstr>III. Issue large reads and large writes</vt:lpstr>
      <vt:lpstr>III. Issue large reads and large writes</vt:lpstr>
      <vt:lpstr>III. Issues large reads and large writes</vt:lpstr>
      <vt:lpstr>IV. Spread small reads across channels</vt:lpstr>
      <vt:lpstr>IV. Spread small reads across channels</vt:lpstr>
      <vt:lpstr>SliceHash summary</vt:lpstr>
      <vt:lpstr>Evaluation: throughput vs. overhead</vt:lpstr>
      <vt:lpstr>Evaluation: flexibility</vt:lpstr>
      <vt:lpstr>Evaluation: generality</vt:lpstr>
      <vt:lpstr>Summary</vt:lpstr>
      <vt:lpstr>Evaluation: theoretical analysis</vt:lpstr>
      <vt:lpstr>Evaluation: theoretical analysis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Aaron Gember</dc:creator>
  <cp:lastModifiedBy>Aaron Gember</cp:lastModifiedBy>
  <cp:revision>1443</cp:revision>
  <dcterms:created xsi:type="dcterms:W3CDTF">2014-10-14T00:38:20Z</dcterms:created>
  <dcterms:modified xsi:type="dcterms:W3CDTF">2014-10-21T19:16:23Z</dcterms:modified>
</cp:coreProperties>
</file>