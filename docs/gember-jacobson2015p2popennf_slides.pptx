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82" r:id="rId4"/>
    <p:sldId id="264" r:id="rId5"/>
    <p:sldId id="273" r:id="rId6"/>
    <p:sldId id="283" r:id="rId7"/>
    <p:sldId id="263" r:id="rId8"/>
    <p:sldId id="265" r:id="rId9"/>
    <p:sldId id="276" r:id="rId10"/>
    <p:sldId id="277" r:id="rId11"/>
    <p:sldId id="284" r:id="rId12"/>
    <p:sldId id="267" r:id="rId13"/>
    <p:sldId id="269" r:id="rId14"/>
    <p:sldId id="278" r:id="rId15"/>
    <p:sldId id="279" r:id="rId16"/>
    <p:sldId id="28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aron Gember-Jacobson" initials="AGJ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99"/>
    <a:srgbClr val="663300"/>
    <a:srgbClr val="993300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84229" autoAdjust="0"/>
  </p:normalViewPr>
  <p:slideViewPr>
    <p:cSldViewPr>
      <p:cViewPr varScale="1">
        <p:scale>
          <a:sx n="57" d="100"/>
          <a:sy n="57" d="100"/>
        </p:scale>
        <p:origin x="-112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2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Dropbox\talks\p2popennf\reprocess_latency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Dropbox\talks\p2popennf\p2p_latency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Dropbox\talks\p2popennf\p2p_simulatenou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097361011691721"/>
          <c:y val="5.3291601049868791E-2"/>
          <c:w val="0.59951002147458843"/>
          <c:h val="0.7104527559055116"/>
        </c:manualLayout>
      </c:layout>
      <c:scatterChart>
        <c:scatterStyle val="lineMarker"/>
        <c:ser>
          <c:idx val="0"/>
          <c:order val="0"/>
          <c:tx>
            <c:strRef>
              <c:f>Sheet1!$B$1</c:f>
              <c:strCache>
                <c:ptCount val="1"/>
                <c:pt idx="0">
                  <c:v>Normal pkts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square"/>
            <c:size val="7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  <c:pt idx="4">
                  <c:v>20</c:v>
                </c:pt>
                <c:pt idx="5">
                  <c:v>28</c:v>
                </c:pt>
                <c:pt idx="6">
                  <c:v>36</c:v>
                </c:pt>
                <c:pt idx="7">
                  <c:v>44</c:v>
                </c:pt>
                <c:pt idx="8">
                  <c:v>52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0.18550000000000005</c:v>
                </c:pt>
                <c:pt idx="1">
                  <c:v>0.18000000000000005</c:v>
                </c:pt>
                <c:pt idx="2">
                  <c:v>0.36200000000000015</c:v>
                </c:pt>
                <c:pt idx="3">
                  <c:v>0.48900000000000016</c:v>
                </c:pt>
                <c:pt idx="4">
                  <c:v>0.65450000000000019</c:v>
                </c:pt>
                <c:pt idx="5">
                  <c:v>1.4569999999999996</c:v>
                </c:pt>
                <c:pt idx="6">
                  <c:v>1.9600000000000004</c:v>
                </c:pt>
                <c:pt idx="7">
                  <c:v>1.8460000000000001</c:v>
                </c:pt>
                <c:pt idx="8">
                  <c:v>2.16</c:v>
                </c:pt>
              </c:numCache>
            </c:numRef>
          </c:y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Redirected pkts (original OpenNF)</c:v>
                </c:pt>
              </c:strCache>
            </c:strRef>
          </c:tx>
          <c:spPr>
            <a:ln>
              <a:solidFill>
                <a:srgbClr val="FFC000"/>
              </a:solidFill>
            </a:ln>
          </c:spPr>
          <c:marker>
            <c:symbol val="circle"/>
            <c:size val="7"/>
            <c:spPr>
              <a:solidFill>
                <a:srgbClr val="FFC000"/>
              </a:solidFill>
              <a:ln>
                <a:solidFill>
                  <a:srgbClr val="FFC000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  <c:pt idx="4">
                  <c:v>20</c:v>
                </c:pt>
                <c:pt idx="5">
                  <c:v>28</c:v>
                </c:pt>
                <c:pt idx="6">
                  <c:v>36</c:v>
                </c:pt>
                <c:pt idx="7">
                  <c:v>44</c:v>
                </c:pt>
                <c:pt idx="8">
                  <c:v>52</c:v>
                </c:pt>
              </c:numCache>
            </c:numRef>
          </c:xVal>
          <c:yVal>
            <c:numRef>
              <c:f>Sheet1!$C$2:$C$10</c:f>
              <c:numCache>
                <c:formatCode>General</c:formatCode>
                <c:ptCount val="9"/>
                <c:pt idx="0">
                  <c:v>2.0779999999999998</c:v>
                </c:pt>
                <c:pt idx="1">
                  <c:v>2.64</c:v>
                </c:pt>
                <c:pt idx="2">
                  <c:v>5.2169999999999996</c:v>
                </c:pt>
                <c:pt idx="3">
                  <c:v>8.0630000000000006</c:v>
                </c:pt>
                <c:pt idx="4">
                  <c:v>10.181000000000001</c:v>
                </c:pt>
                <c:pt idx="5">
                  <c:v>14.463000000000005</c:v>
                </c:pt>
                <c:pt idx="6">
                  <c:v>22.479999999999993</c:v>
                </c:pt>
                <c:pt idx="7">
                  <c:v>20.228000000000002</c:v>
                </c:pt>
                <c:pt idx="8">
                  <c:v>19.721</c:v>
                </c:pt>
              </c:numCache>
            </c:numRef>
          </c:y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Reprocessed pkts (new design)</c:v>
                </c:pt>
              </c:strCache>
            </c:strRef>
          </c:tx>
          <c:spPr>
            <a:ln>
              <a:solidFill>
                <a:schemeClr val="accent5"/>
              </a:solidFill>
            </a:ln>
          </c:spPr>
          <c:marker>
            <c:symbol val="triangle"/>
            <c:size val="7"/>
            <c:spPr>
              <a:solidFill>
                <a:schemeClr val="accent5"/>
              </a:solidFill>
              <a:ln>
                <a:solidFill>
                  <a:srgbClr val="4BACC6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4</c:v>
                </c:pt>
                <c:pt idx="1">
                  <c:v>8</c:v>
                </c:pt>
                <c:pt idx="2">
                  <c:v>12</c:v>
                </c:pt>
                <c:pt idx="3">
                  <c:v>16</c:v>
                </c:pt>
                <c:pt idx="4">
                  <c:v>20</c:v>
                </c:pt>
                <c:pt idx="5">
                  <c:v>28</c:v>
                </c:pt>
                <c:pt idx="6">
                  <c:v>36</c:v>
                </c:pt>
                <c:pt idx="7">
                  <c:v>44</c:v>
                </c:pt>
                <c:pt idx="8">
                  <c:v>52</c:v>
                </c:pt>
              </c:numCache>
            </c:numRef>
          </c:xVal>
          <c:yVal>
            <c:numRef>
              <c:f>Sheet1!$D$2:$D$10</c:f>
              <c:numCache>
                <c:formatCode>General</c:formatCode>
                <c:ptCount val="9"/>
                <c:pt idx="0">
                  <c:v>0.88600000000000001</c:v>
                </c:pt>
                <c:pt idx="1">
                  <c:v>0.65300000000000025</c:v>
                </c:pt>
                <c:pt idx="2">
                  <c:v>0.78400000000000003</c:v>
                </c:pt>
                <c:pt idx="3">
                  <c:v>0.61300000000000021</c:v>
                </c:pt>
                <c:pt idx="4">
                  <c:v>1.706</c:v>
                </c:pt>
                <c:pt idx="5">
                  <c:v>3.6819999999999999</c:v>
                </c:pt>
                <c:pt idx="6">
                  <c:v>5.7130000000000001</c:v>
                </c:pt>
                <c:pt idx="7">
                  <c:v>5.7759999999999998</c:v>
                </c:pt>
                <c:pt idx="8">
                  <c:v>7.3319999999999999</c:v>
                </c:pt>
              </c:numCache>
            </c:numRef>
          </c:yVal>
        </c:ser>
        <c:axId val="88759680"/>
        <c:axId val="88926080"/>
      </c:scatterChart>
      <c:valAx>
        <c:axId val="88759680"/>
        <c:scaling>
          <c:orientation val="minMax"/>
          <c:max val="52"/>
          <c:min val="4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Traffic rate (1000s of pkts/sec)</a:t>
                </a:r>
              </a:p>
            </c:rich>
          </c:tx>
          <c:layout/>
        </c:title>
        <c:numFmt formatCode="General" sourceLinked="1"/>
        <c:tickLblPos val="nextTo"/>
        <c:crossAx val="88926080"/>
        <c:crosses val="autoZero"/>
        <c:crossBetween val="midCat"/>
        <c:majorUnit val="8"/>
        <c:minorUnit val="4"/>
      </c:valAx>
      <c:valAx>
        <c:axId val="88926080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Avg pkt latency (ms)</a:t>
                </a:r>
              </a:p>
            </c:rich>
          </c:tx>
          <c:layout/>
        </c:title>
        <c:numFmt formatCode="General" sourceLinked="1"/>
        <c:tickLblPos val="nextTo"/>
        <c:crossAx val="88759680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3670448580291081"/>
          <c:y val="0.25244803149606299"/>
          <c:w val="0.25420460510617993"/>
          <c:h val="0.49510393700787425"/>
        </c:manualLayout>
      </c:layout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14392988376452948"/>
          <c:y val="5.3291601049868791E-2"/>
          <c:w val="0.57101849768778923"/>
          <c:h val="0.7104527559055116"/>
        </c:manualLayout>
      </c:layout>
      <c:scatterChart>
        <c:scatterStyle val="lineMarker"/>
        <c:ser>
          <c:idx val="0"/>
          <c:order val="0"/>
          <c:tx>
            <c:strRef>
              <c:f>Sheet1!$B$1</c:f>
              <c:strCache>
                <c:ptCount val="1"/>
                <c:pt idx="0">
                  <c:v>Via Controller (original OpenNF)</c:v>
                </c:pt>
              </c:strCache>
            </c:strRef>
          </c:tx>
          <c:spPr>
            <a:ln>
              <a:solidFill>
                <a:srgbClr val="FFC000"/>
              </a:solidFill>
            </a:ln>
          </c:spPr>
          <c:marker>
            <c:symbol val="circle"/>
            <c:size val="7"/>
            <c:spPr>
              <a:solidFill>
                <a:srgbClr val="FFC000"/>
              </a:solidFill>
              <a:ln>
                <a:solidFill>
                  <a:srgbClr val="FFC000"/>
                </a:solidFill>
              </a:ln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0.5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15</c:v>
                </c:pt>
                <c:pt idx="5">
                  <c:v>20</c:v>
                </c:pt>
                <c:pt idx="6">
                  <c:v>25</c:v>
                </c:pt>
              </c:numCache>
            </c:numRef>
          </c:xVal>
          <c:yVal>
            <c:numRef>
              <c:f>Sheet1!$B$2:$B$8</c:f>
              <c:numCache>
                <c:formatCode>0</c:formatCode>
                <c:ptCount val="7"/>
                <c:pt idx="0">
                  <c:v>115.33333333333297</c:v>
                </c:pt>
                <c:pt idx="1">
                  <c:v>218.66666666666694</c:v>
                </c:pt>
                <c:pt idx="2">
                  <c:v>514.33333333333303</c:v>
                </c:pt>
                <c:pt idx="3">
                  <c:v>670.33333333333303</c:v>
                </c:pt>
                <c:pt idx="4">
                  <c:v>831.33333333333303</c:v>
                </c:pt>
                <c:pt idx="5">
                  <c:v>908</c:v>
                </c:pt>
                <c:pt idx="6">
                  <c:v>999.6666666666672</c:v>
                </c:pt>
              </c:numCache>
            </c:numRef>
          </c:y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P2P Transfer (new design)</c:v>
                </c:pt>
              </c:strCache>
            </c:strRef>
          </c:tx>
          <c:spPr>
            <a:ln>
              <a:solidFill>
                <a:srgbClr val="0070C0"/>
              </a:solidFill>
            </a:ln>
          </c:spPr>
          <c:marker>
            <c:symbol val="triangle"/>
            <c:size val="7"/>
            <c:spPr>
              <a:solidFill>
                <a:srgbClr val="0070C0"/>
              </a:solidFill>
              <a:ln>
                <a:solidFill>
                  <a:srgbClr val="0070C0"/>
                </a:solidFill>
              </a:ln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0.5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15</c:v>
                </c:pt>
                <c:pt idx="5">
                  <c:v>20</c:v>
                </c:pt>
                <c:pt idx="6">
                  <c:v>25</c:v>
                </c:pt>
              </c:numCache>
            </c:numRef>
          </c:xVal>
          <c:yVal>
            <c:numRef>
              <c:f>Sheet1!$C$2:$C$8</c:f>
              <c:numCache>
                <c:formatCode>0</c:formatCode>
                <c:ptCount val="7"/>
                <c:pt idx="0">
                  <c:v>53.75</c:v>
                </c:pt>
                <c:pt idx="1">
                  <c:v>69.75</c:v>
                </c:pt>
                <c:pt idx="2">
                  <c:v>152.75</c:v>
                </c:pt>
                <c:pt idx="3">
                  <c:v>285.5</c:v>
                </c:pt>
                <c:pt idx="4">
                  <c:v>433</c:v>
                </c:pt>
                <c:pt idx="5">
                  <c:v>562.75</c:v>
                </c:pt>
                <c:pt idx="6">
                  <c:v>685.25</c:v>
                </c:pt>
              </c:numCache>
            </c:numRef>
          </c:yVal>
        </c:ser>
        <c:axId val="90917888"/>
        <c:axId val="101524992"/>
      </c:scatterChart>
      <c:valAx>
        <c:axId val="90917888"/>
        <c:scaling>
          <c:orientation val="minMax"/>
          <c:max val="25"/>
          <c:min val="0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Transfer size (1000s of flows)</a:t>
                </a:r>
              </a:p>
            </c:rich>
          </c:tx>
          <c:layout/>
        </c:title>
        <c:numFmt formatCode="General" sourceLinked="1"/>
        <c:tickLblPos val="nextTo"/>
        <c:crossAx val="101524992"/>
        <c:crosses val="autoZero"/>
        <c:crossBetween val="midCat"/>
        <c:majorUnit val="5"/>
      </c:valAx>
      <c:valAx>
        <c:axId val="101524992"/>
        <c:scaling>
          <c:orientation val="minMax"/>
          <c:max val="1000"/>
          <c:min val="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Avg transfer time (ms)</a:t>
                </a:r>
              </a:p>
            </c:rich>
          </c:tx>
          <c:layout/>
        </c:title>
        <c:numFmt formatCode="0" sourceLinked="1"/>
        <c:tickLblPos val="nextTo"/>
        <c:crossAx val="90917888"/>
        <c:crosses val="autoZero"/>
        <c:crossBetween val="midCat"/>
        <c:majorUnit val="200"/>
      </c:valAx>
    </c:plotArea>
    <c:legend>
      <c:legendPos val="r"/>
      <c:layout>
        <c:manualLayout>
          <c:xMode val="edge"/>
          <c:yMode val="edge"/>
          <c:x val="0.74212698412698408"/>
          <c:y val="0.33496535433070884"/>
          <c:w val="0.24834920634920643"/>
          <c:h val="0.33006929133858287"/>
        </c:manualLayout>
      </c:layout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14392988376452948"/>
          <c:y val="5.3291601049868791E-2"/>
          <c:w val="0.580248593925759"/>
          <c:h val="0.7104527559055116"/>
        </c:manualLayout>
      </c:layout>
      <c:scatterChart>
        <c:scatterStyle val="lineMarker"/>
        <c:ser>
          <c:idx val="0"/>
          <c:order val="0"/>
          <c:tx>
            <c:strRef>
              <c:f>Sheet1!$B$1</c:f>
              <c:strCache>
                <c:ptCount val="1"/>
                <c:pt idx="0">
                  <c:v>Via Controller (original OpenNF)</c:v>
                </c:pt>
              </c:strCache>
            </c:strRef>
          </c:tx>
          <c:spPr>
            <a:ln>
              <a:solidFill>
                <a:srgbClr val="FFC000"/>
              </a:solidFill>
            </a:ln>
          </c:spPr>
          <c:marker>
            <c:symbol val="circle"/>
            <c:size val="7"/>
            <c:spPr>
              <a:solidFill>
                <a:srgbClr val="FFC000"/>
              </a:solidFill>
              <a:ln>
                <a:solidFill>
                  <a:srgbClr val="FFC000"/>
                </a:solidFill>
              </a:ln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390</c:v>
                </c:pt>
                <c:pt idx="1">
                  <c:v>400</c:v>
                </c:pt>
                <c:pt idx="2">
                  <c:v>460</c:v>
                </c:pt>
                <c:pt idx="3">
                  <c:v>700</c:v>
                </c:pt>
                <c:pt idx="4">
                  <c:v>1060</c:v>
                </c:pt>
              </c:numCache>
            </c:numRef>
          </c:y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P2P Transfer (new design)</c:v>
                </c:pt>
              </c:strCache>
            </c:strRef>
          </c:tx>
          <c:spPr>
            <a:ln>
              <a:solidFill>
                <a:srgbClr val="0070C0"/>
              </a:solidFill>
            </a:ln>
          </c:spPr>
          <c:marker>
            <c:symbol val="triangle"/>
            <c:size val="7"/>
            <c:spPr>
              <a:solidFill>
                <a:srgbClr val="0070C0"/>
              </a:solidFill>
              <a:ln>
                <a:solidFill>
                  <a:srgbClr val="0070C0"/>
                </a:solidFill>
              </a:ln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93</c:v>
                </c:pt>
                <c:pt idx="1">
                  <c:v>93.5</c:v>
                </c:pt>
                <c:pt idx="2">
                  <c:v>98</c:v>
                </c:pt>
                <c:pt idx="3">
                  <c:v>103.5</c:v>
                </c:pt>
                <c:pt idx="4">
                  <c:v>190.5</c:v>
                </c:pt>
              </c:numCache>
            </c:numRef>
          </c:yVal>
        </c:ser>
        <c:axId val="101492608"/>
        <c:axId val="101495168"/>
      </c:scatterChart>
      <c:valAx>
        <c:axId val="101492608"/>
        <c:scaling>
          <c:orientation val="minMax"/>
          <c:max val="16"/>
          <c:min val="0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# of simultaneous</a:t>
                </a:r>
                <a:r>
                  <a:rPr lang="en-US" baseline="0"/>
                  <a:t> moves</a:t>
                </a:r>
                <a:endParaRPr lang="en-US"/>
              </a:p>
            </c:rich>
          </c:tx>
          <c:layout/>
        </c:title>
        <c:numFmt formatCode="General" sourceLinked="1"/>
        <c:tickLblPos val="nextTo"/>
        <c:crossAx val="101495168"/>
        <c:crosses val="autoZero"/>
        <c:crossBetween val="midCat"/>
        <c:majorUnit val="4"/>
      </c:valAx>
      <c:valAx>
        <c:axId val="101495168"/>
        <c:scaling>
          <c:orientation val="minMax"/>
          <c:max val="1400"/>
          <c:min val="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Avg time per move (ms)</a:t>
                </a:r>
              </a:p>
            </c:rich>
          </c:tx>
          <c:layout/>
        </c:title>
        <c:numFmt formatCode="General" sourceLinked="1"/>
        <c:tickLblPos val="nextTo"/>
        <c:crossAx val="101492608"/>
        <c:crosses val="autoZero"/>
        <c:crossBetween val="midCat"/>
        <c:majorUnit val="200"/>
      </c:valAx>
    </c:plotArea>
    <c:legend>
      <c:legendPos val="r"/>
      <c:layout>
        <c:manualLayout>
          <c:xMode val="edge"/>
          <c:yMode val="edge"/>
          <c:x val="0.74342057242844672"/>
          <c:y val="0.33496535433070884"/>
          <c:w val="0.24705561804774401"/>
          <c:h val="0.33006929133858287"/>
        </c:manualLayout>
      </c:layout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CF6DE-503F-401C-90F3-13DDE069A086}" type="datetimeFigureOut">
              <a:rPr lang="en-US" smtClean="0"/>
              <a:pPr/>
              <a:t>8/20/2015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C25DE6-2F5F-4543-90B3-ABFCEE2E87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Today, I’m going to be talking about how we can better manage network function state amidst dynamic changes to NF deployments.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Two key trends are making</a:t>
            </a:r>
            <a:r>
              <a:rPr lang="en-US" baseline="0" dirty="0" smtClean="0"/>
              <a:t> NF deployments more dynamic.</a:t>
            </a:r>
          </a:p>
          <a:p>
            <a:endParaRPr lang="en-US" dirty="0" smtClean="0"/>
          </a:p>
          <a:p>
            <a:r>
              <a:rPr lang="en-US" dirty="0" smtClean="0"/>
              <a:t>This</a:t>
            </a:r>
            <a:r>
              <a:rPr lang="en-US" baseline="0" dirty="0" smtClean="0"/>
              <a:t> opens the door for new services and abstractions. In particular, we can have NFs that are: automatically scaled, kept up-to-date, and opportunistically enhanced.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When we want to make dynamic changes to an NF deployment, we must deal with the fact that many NFs are </a:t>
            </a:r>
            <a:r>
              <a:rPr lang="en-US" baseline="0" dirty="0" err="1" smtClean="0"/>
              <a:t>stateful</a:t>
            </a:r>
            <a:r>
              <a:rPr lang="en-US" baseline="0" dirty="0" smtClean="0"/>
              <a:t>. As flows traverse the NF, the NF creates a variety of per-flow and cross-flow state, such as: information about the connection endpoints, reassembled packet payloads, connection or packet counters, and other NF-specific information.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If we simply reroute traffic without considering this state, an NF will process that traffic incorrectly because it doesn’t have the state it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So,</a:t>
            </a:r>
            <a:r>
              <a:rPr lang="en-US" baseline="0" dirty="0" smtClean="0"/>
              <a:t> how do these NF state management frameworks work?  For concreteness, I’m going to describe </a:t>
            </a:r>
            <a:r>
              <a:rPr lang="en-US" baseline="0" dirty="0" err="1" smtClean="0"/>
              <a:t>OpenNF</a:t>
            </a:r>
            <a:r>
              <a:rPr lang="en-US" baseline="0" dirty="0" smtClean="0"/>
              <a:t>, but Split/Merge and other frameworks are similar.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first problem is efficiency. When</a:t>
            </a:r>
            <a:r>
              <a:rPr lang="en-US" baseline="0" dirty="0" smtClean="0"/>
              <a:t> a state transfer is occurring, packets are not processed by IDS1; instead, they are sent to the controller and buffered. As a result, any packet or log output that results from processing these packets doesn’t occur until after the state transfer finishes and these packets are released to IDS2.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first problem is efficiency. When</a:t>
            </a:r>
            <a:r>
              <a:rPr lang="en-US" baseline="0" dirty="0" smtClean="0"/>
              <a:t> a state transfer is occurring, packets are not processed by IDS1; instead, they are sent to the controller and buffered. As a result, any packet or log output that results from processing these packets doesn’t occur until after the state transfer finishes and these packets are released to IDS2.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Output does not depend on buffering → reduced latency overhead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NF</a:t>
            </a:r>
            <a:r>
              <a:rPr lang="en-US" baseline="-25000" dirty="0" smtClean="0"/>
              <a:t>1</a:t>
            </a:r>
            <a:r>
              <a:rPr lang="en-US" dirty="0" smtClean="0"/>
              <a:t> always has up-to-date state → if buffer overflow occurs, retransfer state from NF</a:t>
            </a:r>
            <a:r>
              <a:rPr lang="en-US" baseline="0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Transfer state/packets directly between NF instances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Establishing</a:t>
            </a:r>
            <a:r>
              <a:rPr lang="en-US" baseline="0" dirty="0" smtClean="0"/>
              <a:t> a peer-to-peer connection and transferring state is relatively easy. The key challenge is conducting a peer-to-peer transfer of packets.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NF2 </a:t>
            </a:r>
            <a:r>
              <a:rPr lang="en-US" baseline="0" dirty="0" smtClean="0"/>
              <a:t>can implement order preserving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C25DE6-2F5F-4543-90B3-ABFCEE2E874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30658-B187-430A-A4DF-6A89D20DD4C9}" type="datetime1">
              <a:rPr lang="en-US" smtClean="0"/>
              <a:pPr/>
              <a:t>8/20/2015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707B4-72E8-48EC-9790-8671F4C6050F}" type="datetime1">
              <a:rPr lang="en-US" smtClean="0"/>
              <a:pPr/>
              <a:t>8/20/2015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0E38-1ACF-4677-9827-EC0CFDA1B5DB}" type="datetime1">
              <a:rPr lang="en-US" smtClean="0"/>
              <a:pPr/>
              <a:t>8/20/2015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D9DC-5614-418B-8A53-B7E0EFB983FD}" type="datetime1">
              <a:rPr lang="en-US" smtClean="0"/>
              <a:pPr/>
              <a:t>8/20/2015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68429-E4D9-4E05-AB61-D743F596FD27}" type="datetime1">
              <a:rPr lang="en-US" smtClean="0"/>
              <a:pPr/>
              <a:t>8/20/2015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5E13E-93F8-44F9-AFB1-FB58F9159AEC}" type="datetime1">
              <a:rPr lang="en-US" smtClean="0"/>
              <a:pPr/>
              <a:t>8/20/2015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B13A-6651-417E-ACE7-A542AE0A26DD}" type="datetime1">
              <a:rPr lang="en-US" smtClean="0"/>
              <a:pPr/>
              <a:t>8/20/2015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6D85-B3AD-49EC-B3CC-B614266B9811}" type="datetime1">
              <a:rPr lang="en-US" smtClean="0"/>
              <a:pPr/>
              <a:t>8/20/2015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0BEE9-F8A9-4F76-BA8D-9DA1EC361E08}" type="datetime1">
              <a:rPr lang="en-US" smtClean="0"/>
              <a:pPr/>
              <a:t>8/20/2015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F10E-B5B6-45A8-B64E-A729EA9A4F78}" type="datetime1">
              <a:rPr lang="en-US" smtClean="0"/>
              <a:pPr/>
              <a:t>8/20/2015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101A5-BDEB-45B3-85CF-5985F6E9EEA2}" type="datetime1">
              <a:rPr lang="en-US" smtClean="0"/>
              <a:pPr/>
              <a:t>8/20/2015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498EF-D227-4F35-880E-C409F4F9C6A0}" type="datetime1">
              <a:rPr lang="en-US" smtClean="0"/>
              <a:pPr/>
              <a:t>8/20/2015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43B23-7201-43B1-8A45-2A111B314B0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90600"/>
            <a:ext cx="7772400" cy="26098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Improving the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Safety</a:t>
            </a:r>
            <a:r>
              <a:rPr lang="en-US" b="1" dirty="0"/>
              <a:t>, Scalability, and Efficiency</a:t>
            </a:r>
            <a:br>
              <a:rPr lang="en-US" b="1" dirty="0"/>
            </a:br>
            <a:r>
              <a:rPr lang="en-US" b="1" dirty="0"/>
              <a:t>of Network Function State Transfers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772400" cy="762000"/>
          </a:xfrm>
        </p:spPr>
        <p:txBody>
          <a:bodyPr/>
          <a:lstStyle/>
          <a:p>
            <a:r>
              <a:rPr lang="en-US" dirty="0" smtClean="0"/>
              <a:t>Aaron Gember-Jacobson &amp; </a:t>
            </a:r>
            <a:r>
              <a:rPr lang="en-US" dirty="0" err="1" smtClean="0"/>
              <a:t>Aditya</a:t>
            </a:r>
            <a:r>
              <a:rPr lang="en-US" dirty="0" smtClean="0"/>
              <a:t> </a:t>
            </a:r>
            <a:r>
              <a:rPr lang="en-US" dirty="0" err="1" smtClean="0"/>
              <a:t>Akella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 descr="uw_full_horizontal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24200" y="4800600"/>
            <a:ext cx="2904169" cy="99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NFV: start instances on-demand</a:t>
            </a:r>
          </a:p>
          <a:p>
            <a:r>
              <a:rPr lang="en-US" dirty="0" smtClean="0"/>
              <a:t>SDN: re-route flows on-demand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NF that is…</a:t>
            </a:r>
          </a:p>
        </p:txBody>
      </p:sp>
      <p:grpSp>
        <p:nvGrpSpPr>
          <p:cNvPr id="68" name="Group 75"/>
          <p:cNvGrpSpPr/>
          <p:nvPr/>
        </p:nvGrpSpPr>
        <p:grpSpPr>
          <a:xfrm>
            <a:off x="907729" y="4191000"/>
            <a:ext cx="768671" cy="803857"/>
            <a:chOff x="4846320" y="2209800"/>
            <a:chExt cx="609600" cy="609600"/>
          </a:xfrm>
        </p:grpSpPr>
        <p:sp>
          <p:nvSpPr>
            <p:cNvPr id="70" name="Rounded Rectangle 69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1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72" name="Picture 71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3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grpSp>
        <p:nvGrpSpPr>
          <p:cNvPr id="75" name="Group 75"/>
          <p:cNvGrpSpPr/>
          <p:nvPr/>
        </p:nvGrpSpPr>
        <p:grpSpPr>
          <a:xfrm>
            <a:off x="2050729" y="4191000"/>
            <a:ext cx="768671" cy="803857"/>
            <a:chOff x="4846320" y="2209800"/>
            <a:chExt cx="609600" cy="609600"/>
          </a:xfrm>
        </p:grpSpPr>
        <p:sp>
          <p:nvSpPr>
            <p:cNvPr id="77" name="Rounded Rectangle 76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8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79" name="Picture 78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80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NF deployments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26799" y="5218093"/>
            <a:ext cx="1909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Auto-scaled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3613787" y="5218093"/>
            <a:ext cx="20033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Immediately</a:t>
            </a:r>
            <a:br>
              <a:rPr lang="en-US" sz="2800" dirty="0" smtClean="0"/>
            </a:br>
            <a:r>
              <a:rPr lang="en-US" sz="2800" dirty="0" smtClean="0"/>
              <a:t>updated</a:t>
            </a:r>
            <a:endParaRPr lang="en-US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6083035" y="5218093"/>
            <a:ext cx="26799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Opportunistically</a:t>
            </a:r>
            <a:br>
              <a:rPr lang="en-US" sz="2800" dirty="0" smtClean="0"/>
            </a:br>
            <a:r>
              <a:rPr lang="en-US" sz="2800" dirty="0" smtClean="0"/>
              <a:t>augmented</a:t>
            </a:r>
            <a:endParaRPr lang="en-US" sz="2800" dirty="0"/>
          </a:p>
        </p:txBody>
      </p:sp>
      <p:grpSp>
        <p:nvGrpSpPr>
          <p:cNvPr id="99" name="Group 98"/>
          <p:cNvGrpSpPr/>
          <p:nvPr/>
        </p:nvGrpSpPr>
        <p:grpSpPr>
          <a:xfrm>
            <a:off x="3505200" y="4034021"/>
            <a:ext cx="990600" cy="960836"/>
            <a:chOff x="3733800" y="3886200"/>
            <a:chExt cx="1143000" cy="1108657"/>
          </a:xfrm>
        </p:grpSpPr>
        <p:grpSp>
          <p:nvGrpSpPr>
            <p:cNvPr id="9" name="Group 75"/>
            <p:cNvGrpSpPr/>
            <p:nvPr/>
          </p:nvGrpSpPr>
          <p:grpSpPr>
            <a:xfrm>
              <a:off x="3733800" y="4038600"/>
              <a:ext cx="914400" cy="956257"/>
              <a:chOff x="4846320" y="2209800"/>
              <a:chExt cx="609600" cy="609600"/>
            </a:xfrm>
          </p:grpSpPr>
          <p:sp>
            <p:nvSpPr>
              <p:cNvPr id="10" name="Rounded Rectangle 9"/>
              <p:cNvSpPr/>
              <p:nvPr/>
            </p:nvSpPr>
            <p:spPr>
              <a:xfrm>
                <a:off x="4846320" y="2209800"/>
                <a:ext cx="609600" cy="6096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23"/>
              <p:cNvGrpSpPr/>
              <p:nvPr/>
            </p:nvGrpSpPr>
            <p:grpSpPr>
              <a:xfrm>
                <a:off x="4876798" y="2270760"/>
                <a:ext cx="518164" cy="487680"/>
                <a:chOff x="609600" y="1652131"/>
                <a:chExt cx="359837" cy="338667"/>
              </a:xfrm>
            </p:grpSpPr>
            <p:pic>
              <p:nvPicPr>
                <p:cNvPr id="12" name="Picture 11" descr="magnifying_glass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630769" y="1652131"/>
                  <a:ext cx="338668" cy="338667"/>
                </a:xfrm>
                <a:prstGeom prst="rect">
                  <a:avLst/>
                </a:prstGeo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13" name="Picture 2" descr="C:\Users\agember\AppData\Local\Microsoft\Windows\Temporary Internet Files\Content.IE5\2DGPU1UI\MC900431599[1].png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609600" y="1752600"/>
                  <a:ext cx="238125" cy="238125"/>
                </a:xfrm>
                <a:prstGeom prst="rect">
                  <a:avLst/>
                </a:prstGeom>
                <a:noFill/>
              </p:spPr>
            </p:pic>
          </p:grpSp>
        </p:grpSp>
        <p:sp>
          <p:nvSpPr>
            <p:cNvPr id="97" name="Rounded Rectangle 96"/>
            <p:cNvSpPr/>
            <p:nvPr/>
          </p:nvSpPr>
          <p:spPr>
            <a:xfrm>
              <a:off x="4343400" y="3886200"/>
              <a:ext cx="533400" cy="38100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400" dirty="0" smtClean="0"/>
                <a:t>v2</a:t>
              </a:r>
              <a:endParaRPr lang="en-US" sz="2400" dirty="0"/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4800584" y="4034021"/>
            <a:ext cx="990501" cy="960836"/>
            <a:chOff x="5181714" y="3886200"/>
            <a:chExt cx="1142886" cy="1108657"/>
          </a:xfrm>
        </p:grpSpPr>
        <p:grpSp>
          <p:nvGrpSpPr>
            <p:cNvPr id="23" name="Group 75"/>
            <p:cNvGrpSpPr/>
            <p:nvPr/>
          </p:nvGrpSpPr>
          <p:grpSpPr>
            <a:xfrm>
              <a:off x="5181714" y="4038600"/>
              <a:ext cx="914400" cy="956257"/>
              <a:chOff x="4846320" y="2209800"/>
              <a:chExt cx="609600" cy="609600"/>
            </a:xfrm>
          </p:grpSpPr>
          <p:sp>
            <p:nvSpPr>
              <p:cNvPr id="24" name="Rounded Rectangle 23"/>
              <p:cNvSpPr/>
              <p:nvPr/>
            </p:nvSpPr>
            <p:spPr>
              <a:xfrm>
                <a:off x="4846320" y="2209800"/>
                <a:ext cx="609600" cy="6096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5" name="Group 23"/>
              <p:cNvGrpSpPr/>
              <p:nvPr/>
            </p:nvGrpSpPr>
            <p:grpSpPr>
              <a:xfrm>
                <a:off x="4876798" y="2270760"/>
                <a:ext cx="518164" cy="487680"/>
                <a:chOff x="609600" y="1652131"/>
                <a:chExt cx="359837" cy="338667"/>
              </a:xfrm>
            </p:grpSpPr>
            <p:pic>
              <p:nvPicPr>
                <p:cNvPr id="26" name="Picture 25" descr="magnifying_glass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630769" y="1652131"/>
                  <a:ext cx="338668" cy="338667"/>
                </a:xfrm>
                <a:prstGeom prst="rect">
                  <a:avLst/>
                </a:prstGeo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7" name="Picture 2" descr="C:\Users\agember\AppData\Local\Microsoft\Windows\Temporary Internet Files\Content.IE5\2DGPU1UI\MC900431599[1].png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609600" y="1752600"/>
                  <a:ext cx="238125" cy="238125"/>
                </a:xfrm>
                <a:prstGeom prst="rect">
                  <a:avLst/>
                </a:prstGeom>
                <a:noFill/>
              </p:spPr>
            </p:pic>
          </p:grpSp>
        </p:grpSp>
        <p:sp>
          <p:nvSpPr>
            <p:cNvPr id="98" name="Rounded Rectangle 97"/>
            <p:cNvSpPr/>
            <p:nvPr/>
          </p:nvSpPr>
          <p:spPr>
            <a:xfrm>
              <a:off x="5791200" y="3886200"/>
              <a:ext cx="533400" cy="38100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400" dirty="0" smtClean="0"/>
                <a:t>v2</a:t>
              </a:r>
              <a:endParaRPr lang="en-US" sz="2400" dirty="0"/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6629400" y="3657600"/>
            <a:ext cx="1475232" cy="1600200"/>
            <a:chOff x="6553200" y="3352800"/>
            <a:chExt cx="1676400" cy="1818409"/>
          </a:xfrm>
        </p:grpSpPr>
        <p:sp>
          <p:nvSpPr>
            <p:cNvPr id="93" name="Cloud 92"/>
            <p:cNvSpPr/>
            <p:nvPr/>
          </p:nvSpPr>
          <p:spPr>
            <a:xfrm>
              <a:off x="6553200" y="3872345"/>
              <a:ext cx="1676400" cy="1298864"/>
            </a:xfrm>
            <a:prstGeom prst="cloud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4" name="Picture 103" descr="muscular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4030" y="3352800"/>
              <a:ext cx="1060770" cy="982980"/>
            </a:xfrm>
            <a:prstGeom prst="rect">
              <a:avLst/>
            </a:prstGeom>
          </p:spPr>
        </p:pic>
        <p:grpSp>
          <p:nvGrpSpPr>
            <p:cNvPr id="86" name="Group 75"/>
            <p:cNvGrpSpPr/>
            <p:nvPr/>
          </p:nvGrpSpPr>
          <p:grpSpPr>
            <a:xfrm>
              <a:off x="6934200" y="4038600"/>
              <a:ext cx="914400" cy="956257"/>
              <a:chOff x="4846320" y="2209800"/>
              <a:chExt cx="609600" cy="609600"/>
            </a:xfrm>
          </p:grpSpPr>
          <p:sp>
            <p:nvSpPr>
              <p:cNvPr id="88" name="Rounded Rectangle 87"/>
              <p:cNvSpPr/>
              <p:nvPr/>
            </p:nvSpPr>
            <p:spPr>
              <a:xfrm>
                <a:off x="4846320" y="2209800"/>
                <a:ext cx="609600" cy="6096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9" name="Group 23"/>
              <p:cNvGrpSpPr/>
              <p:nvPr/>
            </p:nvGrpSpPr>
            <p:grpSpPr>
              <a:xfrm>
                <a:off x="4876798" y="2270760"/>
                <a:ext cx="518164" cy="487680"/>
                <a:chOff x="609600" y="1652131"/>
                <a:chExt cx="359837" cy="338667"/>
              </a:xfrm>
            </p:grpSpPr>
            <p:pic>
              <p:nvPicPr>
                <p:cNvPr id="90" name="Picture 89" descr="magnifying_glass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630769" y="1652131"/>
                  <a:ext cx="338668" cy="338667"/>
                </a:xfrm>
                <a:prstGeom prst="rect">
                  <a:avLst/>
                </a:prstGeo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91" name="Picture 2" descr="C:\Users\agember\AppData\Local\Microsoft\Windows\Temporary Internet Files\Content.IE5\2DGPU1UI\MC900431599[1].png"/>
                <p:cNvPicPr>
                  <a:picLocks noChangeAspect="1"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609600" y="1752600"/>
                  <a:ext cx="238125" cy="238125"/>
                </a:xfrm>
                <a:prstGeom prst="rect">
                  <a:avLst/>
                </a:prstGeom>
                <a:noFill/>
              </p:spPr>
            </p:pic>
          </p:grpSp>
        </p:grpSp>
      </p:grpSp>
      <p:sp>
        <p:nvSpPr>
          <p:cNvPr id="106" name="Rounded Rectangle 105"/>
          <p:cNvSpPr/>
          <p:nvPr/>
        </p:nvSpPr>
        <p:spPr>
          <a:xfrm>
            <a:off x="6477000" y="2362200"/>
            <a:ext cx="2286000" cy="3810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i="1" dirty="0" smtClean="0"/>
              <a:t>Hypervisor</a:t>
            </a:r>
            <a:endParaRPr lang="en-US" sz="2400" i="1" dirty="0"/>
          </a:p>
        </p:txBody>
      </p:sp>
      <p:grpSp>
        <p:nvGrpSpPr>
          <p:cNvPr id="107" name="Group 28"/>
          <p:cNvGrpSpPr/>
          <p:nvPr/>
        </p:nvGrpSpPr>
        <p:grpSpPr>
          <a:xfrm>
            <a:off x="7226691" y="1587891"/>
            <a:ext cx="698109" cy="698109"/>
            <a:chOff x="1371600" y="3657600"/>
            <a:chExt cx="762000" cy="762000"/>
          </a:xfrm>
        </p:grpSpPr>
        <p:sp>
          <p:nvSpPr>
            <p:cNvPr id="108" name="Rounded Rectangle 107"/>
            <p:cNvSpPr/>
            <p:nvPr/>
          </p:nvSpPr>
          <p:spPr>
            <a:xfrm>
              <a:off x="1371600" y="3657600"/>
              <a:ext cx="762000" cy="7620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9" name="Picture 108" descr="globe_gear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7800" y="3733800"/>
              <a:ext cx="609600" cy="609600"/>
            </a:xfrm>
            <a:prstGeom prst="rect">
              <a:avLst/>
            </a:prstGeom>
          </p:spPr>
        </p:pic>
      </p:grpSp>
      <p:grpSp>
        <p:nvGrpSpPr>
          <p:cNvPr id="115" name="Group 33"/>
          <p:cNvGrpSpPr/>
          <p:nvPr/>
        </p:nvGrpSpPr>
        <p:grpSpPr>
          <a:xfrm>
            <a:off x="6477000" y="1600200"/>
            <a:ext cx="685800" cy="685800"/>
            <a:chOff x="6155875" y="2950761"/>
            <a:chExt cx="762000" cy="762000"/>
          </a:xfrm>
        </p:grpSpPr>
        <p:sp>
          <p:nvSpPr>
            <p:cNvPr id="116" name="Rounded Rectangle 115"/>
            <p:cNvSpPr/>
            <p:nvPr/>
          </p:nvSpPr>
          <p:spPr>
            <a:xfrm>
              <a:off x="6155875" y="2950761"/>
              <a:ext cx="762000" cy="7620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7" name="Picture 7" descr="C:\Users\agember\AppData\Local\Microsoft\Windows\Temporary Internet Files\Content.IE5\QZT0K7D8\MC900434719[1]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158676" y="2979512"/>
              <a:ext cx="706860" cy="706860"/>
            </a:xfrm>
            <a:prstGeom prst="rect">
              <a:avLst/>
            </a:prstGeom>
            <a:noFill/>
          </p:spPr>
        </p:pic>
      </p:grpSp>
      <p:grpSp>
        <p:nvGrpSpPr>
          <p:cNvPr id="118" name="Group 28"/>
          <p:cNvGrpSpPr/>
          <p:nvPr/>
        </p:nvGrpSpPr>
        <p:grpSpPr>
          <a:xfrm>
            <a:off x="7988690" y="1587891"/>
            <a:ext cx="698109" cy="698109"/>
            <a:chOff x="1371600" y="3657600"/>
            <a:chExt cx="762000" cy="762000"/>
          </a:xfrm>
        </p:grpSpPr>
        <p:sp>
          <p:nvSpPr>
            <p:cNvPr id="119" name="Rounded Rectangle 118"/>
            <p:cNvSpPr/>
            <p:nvPr/>
          </p:nvSpPr>
          <p:spPr>
            <a:xfrm>
              <a:off x="1371600" y="3657600"/>
              <a:ext cx="762000" cy="7620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0" name="Picture 119" descr="globe_gear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7800" y="3733800"/>
              <a:ext cx="609600" cy="609600"/>
            </a:xfrm>
            <a:prstGeom prst="rect">
              <a:avLst/>
            </a:prstGeom>
          </p:spPr>
        </p:pic>
      </p:grpSp>
      <p:pic>
        <p:nvPicPr>
          <p:cNvPr id="121" name="Picture 12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819400"/>
            <a:ext cx="612358" cy="609600"/>
          </a:xfrm>
          <a:prstGeom prst="rect">
            <a:avLst/>
          </a:prstGeom>
        </p:spPr>
      </p:pic>
      <p:sp>
        <p:nvSpPr>
          <p:cNvPr id="122" name="Freeform 121"/>
          <p:cNvSpPr/>
          <p:nvPr/>
        </p:nvSpPr>
        <p:spPr>
          <a:xfrm flipV="1">
            <a:off x="7391400" y="1371600"/>
            <a:ext cx="457200" cy="21336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solidFill>
              <a:schemeClr val="accent2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 122"/>
          <p:cNvSpPr/>
          <p:nvPr/>
        </p:nvSpPr>
        <p:spPr>
          <a:xfrm flipH="1" flipV="1">
            <a:off x="7848600" y="1371600"/>
            <a:ext cx="457200" cy="2133600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76200">
            <a:solidFill>
              <a:schemeClr val="accent2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own Arrow 123"/>
          <p:cNvSpPr/>
          <p:nvPr/>
        </p:nvSpPr>
        <p:spPr>
          <a:xfrm>
            <a:off x="1828800" y="2819400"/>
            <a:ext cx="304800" cy="508000"/>
          </a:xfrm>
          <a:prstGeom prst="down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Slide Number Placeholder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xit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  <p:bldP spid="16" grpId="0"/>
      <p:bldP spid="17" grpId="0"/>
      <p:bldP spid="122" grpId="0" uiExpand="1" animBg="1"/>
      <p:bldP spid="122" grpId="1" animBg="1"/>
      <p:bldP spid="123" grpId="0" uiExpand="1" animBg="1"/>
      <p:bldP spid="1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E.g., endpoint metadata,</a:t>
            </a:r>
            <a:br>
              <a:rPr lang="en-US" dirty="0" smtClean="0"/>
            </a:br>
            <a:r>
              <a:rPr lang="en-US" dirty="0" smtClean="0"/>
              <a:t>packet payloads, counters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Possible solutions</a:t>
            </a:r>
          </a:p>
          <a:p>
            <a:pPr lvl="1"/>
            <a:r>
              <a:rPr lang="en-US" dirty="0" smtClean="0"/>
              <a:t>Only re-route new flows</a:t>
            </a:r>
          </a:p>
          <a:p>
            <a:pPr lvl="1"/>
            <a:r>
              <a:rPr lang="en-US" dirty="0" smtClean="0"/>
              <a:t>Clone virtual machines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NF state management frameworks</a:t>
            </a:r>
          </a:p>
          <a:p>
            <a:pPr lvl="1"/>
            <a:r>
              <a:rPr lang="en-US" dirty="0" smtClean="0"/>
              <a:t>E.g., Split/Merge </a:t>
            </a:r>
            <a:r>
              <a:rPr lang="en-US" sz="2000" i="1" dirty="0" smtClean="0"/>
              <a:t>[NSDI’13]</a:t>
            </a:r>
            <a:r>
              <a:rPr lang="en-US" dirty="0" smtClean="0"/>
              <a:t>, </a:t>
            </a:r>
            <a:r>
              <a:rPr lang="en-US" dirty="0" err="1" smtClean="0"/>
              <a:t>OpenNF</a:t>
            </a:r>
            <a:r>
              <a:rPr lang="en-US" dirty="0" smtClean="0"/>
              <a:t> </a:t>
            </a:r>
            <a:r>
              <a:rPr lang="en-US" sz="2000" i="1" dirty="0" smtClean="0"/>
              <a:t>[SIGCOMM’14]</a:t>
            </a:r>
            <a:endParaRPr lang="en-US" sz="2000" i="1" dirty="0"/>
          </a:p>
        </p:txBody>
      </p:sp>
      <p:grpSp>
        <p:nvGrpSpPr>
          <p:cNvPr id="5" name="Group 75"/>
          <p:cNvGrpSpPr/>
          <p:nvPr/>
        </p:nvGrpSpPr>
        <p:grpSpPr>
          <a:xfrm>
            <a:off x="7010400" y="1600200"/>
            <a:ext cx="1143000" cy="1143000"/>
            <a:chOff x="4846320" y="2209800"/>
            <a:chExt cx="609600" cy="609600"/>
          </a:xfrm>
        </p:grpSpPr>
        <p:sp>
          <p:nvSpPr>
            <p:cNvPr id="6" name="Rounded Rectangle 5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8" name="Picture 6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85" name="Can 84"/>
          <p:cNvSpPr/>
          <p:nvPr/>
        </p:nvSpPr>
        <p:spPr>
          <a:xfrm>
            <a:off x="7924800" y="1371600"/>
            <a:ext cx="381000" cy="384048"/>
          </a:xfrm>
          <a:prstGeom prst="can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about NF state?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Cube 9"/>
          <p:cNvSpPr/>
          <p:nvPr/>
        </p:nvSpPr>
        <p:spPr>
          <a:xfrm>
            <a:off x="7391400" y="1371600"/>
            <a:ext cx="381000" cy="381000"/>
          </a:xfrm>
          <a:prstGeom prst="cub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n 11"/>
          <p:cNvSpPr/>
          <p:nvPr/>
        </p:nvSpPr>
        <p:spPr>
          <a:xfrm>
            <a:off x="6858000" y="1371600"/>
            <a:ext cx="381000" cy="384048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75"/>
          <p:cNvGrpSpPr/>
          <p:nvPr/>
        </p:nvGrpSpPr>
        <p:grpSpPr>
          <a:xfrm>
            <a:off x="7010400" y="3015916"/>
            <a:ext cx="1143000" cy="1143000"/>
            <a:chOff x="4846320" y="2209800"/>
            <a:chExt cx="609600" cy="609600"/>
          </a:xfrm>
        </p:grpSpPr>
        <p:sp>
          <p:nvSpPr>
            <p:cNvPr id="20" name="Rounded Rectangle 19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22" name="Picture 6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3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grpSp>
        <p:nvGrpSpPr>
          <p:cNvPr id="50" name="Group 75"/>
          <p:cNvGrpSpPr/>
          <p:nvPr/>
        </p:nvGrpSpPr>
        <p:grpSpPr>
          <a:xfrm>
            <a:off x="7010400" y="1600200"/>
            <a:ext cx="1143000" cy="1143000"/>
            <a:chOff x="4846320" y="2209800"/>
            <a:chExt cx="609600" cy="609600"/>
          </a:xfrm>
        </p:grpSpPr>
        <p:sp>
          <p:nvSpPr>
            <p:cNvPr id="51" name="Rounded Rectangle 50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53" name="Picture 6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4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55" name="Cube 54"/>
          <p:cNvSpPr/>
          <p:nvPr/>
        </p:nvSpPr>
        <p:spPr>
          <a:xfrm>
            <a:off x="7391400" y="1371600"/>
            <a:ext cx="381000" cy="381000"/>
          </a:xfrm>
          <a:prstGeom prst="cube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6019800" y="2057400"/>
            <a:ext cx="2590800" cy="0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019800" y="2438400"/>
            <a:ext cx="2590800" cy="0"/>
          </a:xfrm>
          <a:prstGeom prst="straightConnector1">
            <a:avLst/>
          </a:prstGeom>
          <a:ln w="76200">
            <a:solidFill>
              <a:schemeClr val="accent5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Curved Connector 31"/>
          <p:cNvCxnSpPr/>
          <p:nvPr/>
        </p:nvCxnSpPr>
        <p:spPr>
          <a:xfrm>
            <a:off x="6019800" y="2438400"/>
            <a:ext cx="2590800" cy="1219200"/>
          </a:xfrm>
          <a:prstGeom prst="curvedConnector3">
            <a:avLst>
              <a:gd name="adj1" fmla="val 23994"/>
            </a:avLst>
          </a:prstGeom>
          <a:ln w="76200">
            <a:solidFill>
              <a:schemeClr val="accent5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Curved Connector 60"/>
          <p:cNvCxnSpPr/>
          <p:nvPr/>
        </p:nvCxnSpPr>
        <p:spPr>
          <a:xfrm>
            <a:off x="6019800" y="2819400"/>
            <a:ext cx="2590800" cy="1143000"/>
          </a:xfrm>
          <a:prstGeom prst="curvedConnector3">
            <a:avLst>
              <a:gd name="adj1" fmla="val 19659"/>
            </a:avLst>
          </a:prstGeom>
          <a:ln w="76200">
            <a:solidFill>
              <a:schemeClr val="accent3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5" name="Picture 74" descr="x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6484" y="3521242"/>
            <a:ext cx="304800" cy="304800"/>
          </a:xfrm>
          <a:prstGeom prst="rect">
            <a:avLst/>
          </a:prstGeom>
        </p:spPr>
      </p:pic>
      <p:pic>
        <p:nvPicPr>
          <p:cNvPr id="76" name="Picture 75" descr="x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4880" y="4038600"/>
            <a:ext cx="304800" cy="304800"/>
          </a:xfrm>
          <a:prstGeom prst="rect">
            <a:avLst/>
          </a:prstGeom>
        </p:spPr>
      </p:pic>
      <p:sp>
        <p:nvSpPr>
          <p:cNvPr id="81" name="Lightning Bolt 80"/>
          <p:cNvSpPr/>
          <p:nvPr/>
        </p:nvSpPr>
        <p:spPr>
          <a:xfrm flipH="1">
            <a:off x="7924800" y="3124200"/>
            <a:ext cx="533400" cy="533400"/>
          </a:xfrm>
          <a:prstGeom prst="lightningBol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Can 82"/>
          <p:cNvSpPr/>
          <p:nvPr/>
        </p:nvSpPr>
        <p:spPr>
          <a:xfrm>
            <a:off x="6858000" y="1371600"/>
            <a:ext cx="381000" cy="384048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an 83"/>
          <p:cNvSpPr/>
          <p:nvPr/>
        </p:nvSpPr>
        <p:spPr>
          <a:xfrm>
            <a:off x="7924800" y="1371600"/>
            <a:ext cx="381000" cy="384048"/>
          </a:xfrm>
          <a:prstGeom prst="can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Can 85"/>
          <p:cNvSpPr/>
          <p:nvPr/>
        </p:nvSpPr>
        <p:spPr>
          <a:xfrm>
            <a:off x="6858000" y="3962400"/>
            <a:ext cx="381000" cy="384048"/>
          </a:xfrm>
          <a:prstGeom prst="can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43200000">
                                      <p:cBhvr>
                                        <p:cTn id="35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4" presetClass="entr" presetSubtype="3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00578E-6 L 3.33333E-6 0.20486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2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5087E-6 L -3.33333E-6 0.21642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8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33526E-6 L 3.33333E-6 0.21618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8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33526E-6 L 3.33333E-6 0.21618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87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5" grpId="0" animBg="1"/>
      <p:bldP spid="85" grpId="1" animBg="1"/>
      <p:bldP spid="10" grpId="1" animBg="1"/>
      <p:bldP spid="12" grpId="0" animBg="1"/>
      <p:bldP spid="55" grpId="0" animBg="1"/>
      <p:bldP spid="55" grpId="1" animBg="1"/>
      <p:bldP spid="81" grpId="0" animBg="1"/>
      <p:bldP spid="81" grpId="1" animBg="1"/>
      <p:bldP spid="83" grpId="0" animBg="1"/>
      <p:bldP spid="83" grpId="1" animBg="1"/>
      <p:bldP spid="83" grpId="2" animBg="1"/>
      <p:bldP spid="84" grpId="0" animBg="1"/>
      <p:bldP spid="84" grpId="1" animBg="1"/>
      <p:bldP spid="86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transfers in </a:t>
            </a:r>
            <a:r>
              <a:rPr lang="en-US" dirty="0" err="1" smtClean="0"/>
              <a:t>OpenNF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365125"/>
          </a:xfrm>
        </p:spPr>
        <p:txBody>
          <a:bodyPr/>
          <a:lstStyle/>
          <a:p>
            <a:fld id="{622C5A87-65DC-41FD-9E53-7EAC48455B9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758598" y="1447800"/>
            <a:ext cx="1994686" cy="533400"/>
          </a:xfrm>
          <a:prstGeom prst="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Control </a:t>
            </a:r>
            <a:r>
              <a:rPr lang="en-US" sz="2800" dirty="0" smtClean="0"/>
              <a:t>App</a:t>
            </a:r>
            <a:endParaRPr lang="en-US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1364774" y="2133600"/>
            <a:ext cx="29132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i="1" dirty="0" smtClean="0"/>
              <a:t>move(</a:t>
            </a:r>
            <a:r>
              <a:rPr lang="en-US" sz="2400" i="1" dirty="0" smtClean="0">
                <a:solidFill>
                  <a:srgbClr val="FF0000"/>
                </a:solidFill>
              </a:rPr>
              <a:t>red</a:t>
            </a:r>
            <a:r>
              <a:rPr lang="en-US" sz="2400" i="1" dirty="0" smtClean="0"/>
              <a:t>, IDS</a:t>
            </a:r>
            <a:r>
              <a:rPr lang="en-US" sz="2400" i="1" baseline="-25000" dirty="0" smtClean="0"/>
              <a:t>1</a:t>
            </a:r>
            <a:r>
              <a:rPr lang="en-US" sz="2400" i="1" dirty="0" smtClean="0"/>
              <a:t>→IDS</a:t>
            </a:r>
            <a:r>
              <a:rPr lang="en-US" sz="2400" i="1" baseline="-25000" dirty="0" smtClean="0"/>
              <a:t>2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  <p:sp>
        <p:nvSpPr>
          <p:cNvPr id="19" name="TextBox 18"/>
          <p:cNvSpPr txBox="1"/>
          <p:nvPr/>
        </p:nvSpPr>
        <p:spPr>
          <a:xfrm>
            <a:off x="840060" y="3881735"/>
            <a:ext cx="1832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i="1" dirty="0" err="1" smtClean="0"/>
              <a:t>getState</a:t>
            </a:r>
            <a:r>
              <a:rPr lang="en-US" sz="2400" i="1" dirty="0" smtClean="0"/>
              <a:t>(</a:t>
            </a:r>
            <a:r>
              <a:rPr lang="en-US" sz="2400" i="1" dirty="0" smtClean="0">
                <a:solidFill>
                  <a:srgbClr val="FF0000"/>
                </a:solidFill>
              </a:rPr>
              <a:t>red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  <p:cxnSp>
        <p:nvCxnSpPr>
          <p:cNvPr id="27" name="Shape 26"/>
          <p:cNvCxnSpPr>
            <a:stCxn id="30" idx="3"/>
          </p:cNvCxnSpPr>
          <p:nvPr/>
        </p:nvCxnSpPr>
        <p:spPr>
          <a:xfrm flipV="1">
            <a:off x="3099717" y="3429000"/>
            <a:ext cx="563881" cy="1584960"/>
          </a:xfrm>
          <a:prstGeom prst="curvedConnector2">
            <a:avLst/>
          </a:prstGeom>
          <a:ln>
            <a:prstDash val="dash"/>
            <a:headEnd type="none" w="med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822150" y="3810000"/>
            <a:ext cx="1645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 smtClean="0"/>
              <a:t>putState</a:t>
            </a:r>
            <a:r>
              <a:rPr lang="en-US" sz="2400" i="1" dirty="0" smtClean="0"/>
              <a:t>(…)</a:t>
            </a:r>
            <a:endParaRPr lang="en-US" sz="2400" i="1" dirty="0"/>
          </a:p>
        </p:txBody>
      </p:sp>
      <p:cxnSp>
        <p:nvCxnSpPr>
          <p:cNvPr id="72" name="Shape 71"/>
          <p:cNvCxnSpPr>
            <a:stCxn id="10" idx="3"/>
          </p:cNvCxnSpPr>
          <p:nvPr/>
        </p:nvCxnSpPr>
        <p:spPr>
          <a:xfrm>
            <a:off x="3753284" y="1714500"/>
            <a:ext cx="748514" cy="1028700"/>
          </a:xfrm>
          <a:prstGeom prst="curvedConnector2">
            <a:avLst/>
          </a:prstGeom>
          <a:ln>
            <a:prstDash val="dash"/>
            <a:headEnd type="none" w="med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33873" y="3733800"/>
            <a:ext cx="13692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 smtClean="0"/>
              <a:t>forward</a:t>
            </a:r>
            <a:br>
              <a:rPr lang="en-US" sz="2400" i="1" dirty="0" smtClean="0"/>
            </a:br>
            <a:r>
              <a:rPr lang="en-US" sz="2400" i="1" dirty="0" smtClean="0"/>
              <a:t>(</a:t>
            </a:r>
            <a:r>
              <a:rPr lang="en-US" sz="2400" i="1" dirty="0" smtClean="0">
                <a:solidFill>
                  <a:srgbClr val="FF0000"/>
                </a:solidFill>
              </a:rPr>
              <a:t>red</a:t>
            </a:r>
            <a:r>
              <a:rPr lang="en-US" sz="2400" i="1" dirty="0" smtClean="0"/>
              <a:t>,IDS</a:t>
            </a:r>
            <a:r>
              <a:rPr lang="en-US" sz="2400" i="1" baseline="-25000" dirty="0" smtClean="0"/>
              <a:t>2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  <p:sp>
        <p:nvSpPr>
          <p:cNvPr id="97" name="Rectangle 96"/>
          <p:cNvSpPr/>
          <p:nvPr/>
        </p:nvSpPr>
        <p:spPr>
          <a:xfrm>
            <a:off x="6202681" y="5410200"/>
            <a:ext cx="7986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E46C0A"/>
                </a:solidFill>
              </a:rPr>
              <a:t>IDS</a:t>
            </a:r>
            <a:r>
              <a:rPr lang="en-US" sz="2800" b="1" baseline="-25000" dirty="0" smtClean="0">
                <a:solidFill>
                  <a:srgbClr val="E46C0A"/>
                </a:solidFill>
              </a:rPr>
              <a:t>2</a:t>
            </a:r>
            <a:endParaRPr lang="en-US" sz="2800" b="1" baseline="-25000" dirty="0">
              <a:solidFill>
                <a:srgbClr val="E46C0A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2291998" y="5410200"/>
            <a:ext cx="7986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E46C0A"/>
                </a:solidFill>
              </a:rPr>
              <a:t>IDS</a:t>
            </a:r>
            <a:r>
              <a:rPr lang="en-US" sz="2800" b="1" baseline="-25000" dirty="0" smtClean="0">
                <a:solidFill>
                  <a:srgbClr val="E46C0A"/>
                </a:solidFill>
              </a:rPr>
              <a:t>1</a:t>
            </a:r>
            <a:endParaRPr lang="en-US" sz="2800" b="1" baseline="-25000" dirty="0">
              <a:solidFill>
                <a:srgbClr val="E46C0A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3348335"/>
            <a:ext cx="226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i="1" dirty="0" err="1" smtClean="0"/>
              <a:t>redirectPkts</a:t>
            </a:r>
            <a:r>
              <a:rPr lang="en-US" sz="2400" i="1" dirty="0" smtClean="0"/>
              <a:t>(</a:t>
            </a:r>
            <a:r>
              <a:rPr lang="en-US" sz="2400" i="1" dirty="0" smtClean="0">
                <a:solidFill>
                  <a:srgbClr val="FF0000"/>
                </a:solidFill>
              </a:rPr>
              <a:t>red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  <p:cxnSp>
        <p:nvCxnSpPr>
          <p:cNvPr id="56" name="Straight Connector 55"/>
          <p:cNvCxnSpPr>
            <a:endCxn id="34" idx="3"/>
          </p:cNvCxnSpPr>
          <p:nvPr/>
        </p:nvCxnSpPr>
        <p:spPr>
          <a:xfrm flipH="1" flipV="1">
            <a:off x="2757194" y="5118773"/>
            <a:ext cx="2119606" cy="52002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endCxn id="42" idx="3"/>
          </p:cNvCxnSpPr>
          <p:nvPr/>
        </p:nvCxnSpPr>
        <p:spPr>
          <a:xfrm flipV="1">
            <a:off x="4800600" y="5118773"/>
            <a:ext cx="1943477" cy="52002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9" name="Group 75"/>
          <p:cNvGrpSpPr/>
          <p:nvPr/>
        </p:nvGrpSpPr>
        <p:grpSpPr>
          <a:xfrm>
            <a:off x="2215798" y="4572000"/>
            <a:ext cx="883919" cy="883919"/>
            <a:chOff x="4846320" y="2209800"/>
            <a:chExt cx="609600" cy="609600"/>
          </a:xfrm>
        </p:grpSpPr>
        <p:sp>
          <p:nvSpPr>
            <p:cNvPr id="30" name="Rounded Rectangle 29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33" name="Picture 32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4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cxnSp>
        <p:nvCxnSpPr>
          <p:cNvPr id="25" name="Shape 24"/>
          <p:cNvCxnSpPr>
            <a:stCxn id="7" idx="1"/>
            <a:endCxn id="30" idx="0"/>
          </p:cNvCxnSpPr>
          <p:nvPr/>
        </p:nvCxnSpPr>
        <p:spPr>
          <a:xfrm rot="10800000" flipV="1">
            <a:off x="2657758" y="3086100"/>
            <a:ext cx="562126" cy="1485900"/>
          </a:xfrm>
          <a:prstGeom prst="curvedConnector2">
            <a:avLst/>
          </a:prstGeom>
          <a:ln>
            <a:prstDash val="dash"/>
            <a:headEnd type="none" w="med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hape 44"/>
          <p:cNvCxnSpPr>
            <a:endCxn id="39" idx="1"/>
          </p:cNvCxnSpPr>
          <p:nvPr/>
        </p:nvCxnSpPr>
        <p:spPr>
          <a:xfrm rot="16200000" flipH="1">
            <a:off x="5105401" y="3916680"/>
            <a:ext cx="1584960" cy="609600"/>
          </a:xfrm>
          <a:prstGeom prst="curvedConnector2">
            <a:avLst/>
          </a:prstGeom>
          <a:ln>
            <a:prstDash val="dash"/>
            <a:headEnd type="none" w="med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8" name="Group 75"/>
          <p:cNvGrpSpPr/>
          <p:nvPr/>
        </p:nvGrpSpPr>
        <p:grpSpPr>
          <a:xfrm>
            <a:off x="6202681" y="4572000"/>
            <a:ext cx="883919" cy="883919"/>
            <a:chOff x="4846320" y="2209800"/>
            <a:chExt cx="609600" cy="609600"/>
          </a:xfrm>
        </p:grpSpPr>
        <p:sp>
          <p:nvSpPr>
            <p:cNvPr id="39" name="Rounded Rectangle 38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0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41" name="Picture 40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2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598" y="5334000"/>
            <a:ext cx="765448" cy="762000"/>
          </a:xfrm>
          <a:prstGeom prst="rect">
            <a:avLst/>
          </a:prstGeom>
        </p:spPr>
      </p:pic>
      <p:grpSp>
        <p:nvGrpSpPr>
          <p:cNvPr id="107" name="Group 106"/>
          <p:cNvGrpSpPr/>
          <p:nvPr/>
        </p:nvGrpSpPr>
        <p:grpSpPr>
          <a:xfrm>
            <a:off x="3219884" y="2743200"/>
            <a:ext cx="5091914" cy="685800"/>
            <a:chOff x="3442486" y="2743200"/>
            <a:chExt cx="5091914" cy="685800"/>
          </a:xfrm>
        </p:grpSpPr>
        <p:sp>
          <p:nvSpPr>
            <p:cNvPr id="7" name="Rounded Rectangle 6"/>
            <p:cNvSpPr/>
            <p:nvPr/>
          </p:nvSpPr>
          <p:spPr>
            <a:xfrm>
              <a:off x="3442486" y="2743200"/>
              <a:ext cx="5091914" cy="685800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r>
                <a:rPr lang="en-US" sz="2800" dirty="0" err="1" smtClean="0">
                  <a:solidFill>
                    <a:schemeClr val="accent6"/>
                  </a:solidFill>
                </a:rPr>
                <a:t>OpenNF</a:t>
              </a:r>
              <a:r>
                <a:rPr lang="en-US" sz="2800" dirty="0" smtClean="0">
                  <a:solidFill>
                    <a:schemeClr val="accent6"/>
                  </a:solidFill>
                </a:rPr>
                <a:t> Controller</a:t>
              </a:r>
              <a:endParaRPr lang="en-US" sz="2800" dirty="0">
                <a:solidFill>
                  <a:schemeClr val="accent6"/>
                </a:solidFill>
              </a:endParaRPr>
            </a:p>
          </p:txBody>
        </p:sp>
        <p:grpSp>
          <p:nvGrpSpPr>
            <p:cNvPr id="82" name="Group 81"/>
            <p:cNvGrpSpPr/>
            <p:nvPr/>
          </p:nvGrpSpPr>
          <p:grpSpPr>
            <a:xfrm>
              <a:off x="3581400" y="2819400"/>
              <a:ext cx="1447800" cy="533400"/>
              <a:chOff x="6553200" y="2971800"/>
              <a:chExt cx="1447800" cy="381000"/>
            </a:xfrm>
          </p:grpSpPr>
          <p:cxnSp>
            <p:nvCxnSpPr>
              <p:cNvPr id="78" name="Straight Connector 77"/>
              <p:cNvCxnSpPr/>
              <p:nvPr/>
            </p:nvCxnSpPr>
            <p:spPr>
              <a:xfrm>
                <a:off x="6553200" y="2971800"/>
                <a:ext cx="14478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6553200" y="3352800"/>
                <a:ext cx="14478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8001000" y="2971800"/>
                <a:ext cx="0" cy="3810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0" name="Right Arrow 99"/>
          <p:cNvSpPr/>
          <p:nvPr/>
        </p:nvSpPr>
        <p:spPr>
          <a:xfrm rot="12061720">
            <a:off x="4093233" y="5568663"/>
            <a:ext cx="526959" cy="368876"/>
          </a:xfrm>
          <a:prstGeom prst="rightArrow">
            <a:avLst>
              <a:gd name="adj1" fmla="val 39339"/>
              <a:gd name="adj2" fmla="val 5284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ight Arrow 100"/>
          <p:cNvSpPr/>
          <p:nvPr/>
        </p:nvSpPr>
        <p:spPr>
          <a:xfrm rot="9538280" flipH="1">
            <a:off x="5007633" y="5568662"/>
            <a:ext cx="526959" cy="368876"/>
          </a:xfrm>
          <a:prstGeom prst="rightArrow">
            <a:avLst>
              <a:gd name="adj1" fmla="val 39339"/>
              <a:gd name="adj2" fmla="val 52849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4501798" y="6934200"/>
            <a:ext cx="495300" cy="381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Can 107"/>
          <p:cNvSpPr/>
          <p:nvPr/>
        </p:nvSpPr>
        <p:spPr>
          <a:xfrm>
            <a:off x="1905000" y="4572000"/>
            <a:ext cx="381000" cy="381000"/>
          </a:xfrm>
          <a:prstGeom prst="ca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Can 108"/>
          <p:cNvSpPr/>
          <p:nvPr/>
        </p:nvSpPr>
        <p:spPr>
          <a:xfrm>
            <a:off x="1910998" y="51054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Can 109"/>
          <p:cNvSpPr/>
          <p:nvPr/>
        </p:nvSpPr>
        <p:spPr>
          <a:xfrm>
            <a:off x="1905000" y="51054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Curved Connector 133"/>
          <p:cNvCxnSpPr>
            <a:endCxn id="28" idx="0"/>
          </p:cNvCxnSpPr>
          <p:nvPr/>
        </p:nvCxnSpPr>
        <p:spPr>
          <a:xfrm rot="5400000">
            <a:off x="4118661" y="4118661"/>
            <a:ext cx="1905000" cy="525678"/>
          </a:xfrm>
          <a:prstGeom prst="curvedConnector3">
            <a:avLst>
              <a:gd name="adj1" fmla="val 70444"/>
            </a:avLst>
          </a:prstGeom>
          <a:ln>
            <a:prstDash val="dash"/>
            <a:headEnd type="none" w="med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0.03148 C 0.01892 -0.09421 0.03924 -0.15695 0.0026 -0.20185 C -0.03403 -0.24676 -0.12778 -0.27384 -0.22153 -0.3007 " pathEditMode="relative" ptsTypes="aaA">
                                      <p:cBhvr>
                                        <p:cTn id="26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153 -0.3007 C -0.19531 -0.30093 -0.16893 -0.30116 -0.15295 -0.32801 C -0.13698 -0.35486 -0.1316 -0.42732 -0.12518 -0.46135 C -0.11875 -0.49537 -0.12431 -0.51227 -0.11406 -0.53287 C -0.10382 -0.55347 -0.07847 -0.57523 -0.06406 -0.58472 C -0.04965 -0.59422 -0.03837 -0.5919 -0.02709 -0.58959 " pathEditMode="relative" rAng="0" ptsTypes="aaaaaA">
                                      <p:cBhvr>
                                        <p:cTn id="33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" y="-1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1.85185E-6 C 0.0566 -0.00903 0.11337 -0.01782 0.14444 -0.06181 C 0.17552 -0.10579 0.15504 -0.2206 0.18715 -0.26412 C 0.21927 -0.30764 0.27813 -0.31551 0.33715 -0.32338 " pathEditMode="relative" ptsTypes="aaaA">
                                      <p:cBhvr>
                                        <p:cTn id="41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715 -0.32338 C 0.34636 -0.32245 0.35556 -0.32129 0.3658 -0.28634 C 0.37604 -0.25139 0.36754 -0.15972 0.39896 -0.11366 C 0.43021 -0.06759 0.49184 -0.03889 0.55347 -0.00995 " pathEditMode="relative" rAng="0" ptsTypes="aaaA">
                                      <p:cBhvr>
                                        <p:cTn id="50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" y="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708 -0.5896 C -0.01007 -0.58313 0.00712 -0.57665 0.01476 -0.51931 C 0.0224 -0.46197 -0.01302 -0.27977 0.0184 -0.24555 C 0.04983 -0.21133 0.12674 -0.26243 0.20382 -0.31353 " pathEditMode="relative" rAng="0" ptsTypes="aaaA">
                                      <p:cBhvr>
                                        <p:cTn id="54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" y="1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/>
      <p:bldP spid="19" grpId="0"/>
      <p:bldP spid="46" grpId="0"/>
      <p:bldP spid="84" grpId="0"/>
      <p:bldP spid="26" grpId="0"/>
      <p:bldP spid="100" grpId="0" animBg="1"/>
      <p:bldP spid="101" grpId="0" animBg="1"/>
      <p:bldP spid="93" grpId="0" animBg="1"/>
      <p:bldP spid="93" grpId="1" animBg="1"/>
      <p:bldP spid="93" grpId="3" animBg="1"/>
      <p:bldP spid="110" grpId="0" animBg="1"/>
      <p:bldP spid="110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365125"/>
          </a:xfrm>
        </p:spPr>
        <p:txBody>
          <a:bodyPr/>
          <a:lstStyle/>
          <a:p>
            <a:fld id="{622C5A87-65DC-41FD-9E53-7EAC48455B9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758598" y="1447800"/>
            <a:ext cx="1994686" cy="533400"/>
          </a:xfrm>
          <a:prstGeom prst="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/>
              <a:t>Control </a:t>
            </a:r>
            <a:r>
              <a:rPr lang="en-US" sz="2800" dirty="0" smtClean="0"/>
              <a:t>App</a:t>
            </a:r>
            <a:endParaRPr lang="en-US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1377598" y="2133600"/>
            <a:ext cx="29004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i="1" dirty="0" smtClean="0"/>
              <a:t>move(</a:t>
            </a:r>
            <a:r>
              <a:rPr lang="en-US" sz="2400" i="1" dirty="0" smtClean="0">
                <a:solidFill>
                  <a:srgbClr val="FF0000"/>
                </a:solidFill>
              </a:rPr>
              <a:t>red</a:t>
            </a:r>
            <a:r>
              <a:rPr lang="en-US" sz="2400" i="1" dirty="0" smtClean="0"/>
              <a:t>, Bro</a:t>
            </a:r>
            <a:r>
              <a:rPr lang="en-US" sz="2400" i="1" baseline="-25000" dirty="0" smtClean="0"/>
              <a:t>1</a:t>
            </a:r>
            <a:r>
              <a:rPr lang="en-US" sz="2400" i="1" dirty="0" smtClean="0"/>
              <a:t>, Bro</a:t>
            </a:r>
            <a:r>
              <a:rPr lang="en-US" sz="2400" i="1" baseline="-25000" dirty="0" smtClean="0"/>
              <a:t>2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  <p:sp>
        <p:nvSpPr>
          <p:cNvPr id="19" name="TextBox 18"/>
          <p:cNvSpPr txBox="1"/>
          <p:nvPr/>
        </p:nvSpPr>
        <p:spPr>
          <a:xfrm>
            <a:off x="840060" y="3881735"/>
            <a:ext cx="1832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i="1" dirty="0" err="1" smtClean="0"/>
              <a:t>getState</a:t>
            </a:r>
            <a:r>
              <a:rPr lang="en-US" sz="2400" i="1" dirty="0" smtClean="0"/>
              <a:t>(</a:t>
            </a:r>
            <a:r>
              <a:rPr lang="en-US" sz="2400" i="1" dirty="0" smtClean="0">
                <a:solidFill>
                  <a:srgbClr val="FF0000"/>
                </a:solidFill>
              </a:rPr>
              <a:t>red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  <p:cxnSp>
        <p:nvCxnSpPr>
          <p:cNvPr id="27" name="Shape 26"/>
          <p:cNvCxnSpPr>
            <a:stCxn id="30" idx="3"/>
          </p:cNvCxnSpPr>
          <p:nvPr/>
        </p:nvCxnSpPr>
        <p:spPr>
          <a:xfrm flipV="1">
            <a:off x="3099717" y="3429000"/>
            <a:ext cx="563881" cy="1584960"/>
          </a:xfrm>
          <a:prstGeom prst="curvedConnector2">
            <a:avLst/>
          </a:prstGeom>
          <a:ln>
            <a:prstDash val="dash"/>
            <a:headEnd type="none" w="med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822150" y="3810000"/>
            <a:ext cx="1645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 smtClean="0"/>
              <a:t>putState</a:t>
            </a:r>
            <a:r>
              <a:rPr lang="en-US" sz="2400" i="1" dirty="0" smtClean="0"/>
              <a:t>(…)</a:t>
            </a:r>
            <a:endParaRPr lang="en-US" sz="2400" i="1" dirty="0"/>
          </a:p>
        </p:txBody>
      </p:sp>
      <p:cxnSp>
        <p:nvCxnSpPr>
          <p:cNvPr id="72" name="Shape 71"/>
          <p:cNvCxnSpPr>
            <a:stCxn id="10" idx="3"/>
          </p:cNvCxnSpPr>
          <p:nvPr/>
        </p:nvCxnSpPr>
        <p:spPr>
          <a:xfrm>
            <a:off x="3753284" y="1714500"/>
            <a:ext cx="748514" cy="1028700"/>
          </a:xfrm>
          <a:prstGeom prst="curvedConnector2">
            <a:avLst/>
          </a:prstGeom>
          <a:ln>
            <a:prstDash val="dash"/>
            <a:headEnd type="none" w="med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903031" y="3733800"/>
            <a:ext cx="14309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 smtClean="0"/>
              <a:t>forward</a:t>
            </a:r>
            <a:br>
              <a:rPr lang="en-US" sz="2400" i="1" dirty="0" smtClean="0"/>
            </a:br>
            <a:r>
              <a:rPr lang="en-US" sz="2400" i="1" dirty="0" smtClean="0"/>
              <a:t>(</a:t>
            </a:r>
            <a:r>
              <a:rPr lang="en-US" sz="2400" i="1" dirty="0" smtClean="0">
                <a:solidFill>
                  <a:srgbClr val="FF0000"/>
                </a:solidFill>
              </a:rPr>
              <a:t>red</a:t>
            </a:r>
            <a:r>
              <a:rPr lang="en-US" sz="2400" i="1" dirty="0" smtClean="0"/>
              <a:t>,Bro</a:t>
            </a:r>
            <a:r>
              <a:rPr lang="en-US" sz="2400" i="1" baseline="-25000" dirty="0" smtClean="0"/>
              <a:t>2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  <p:sp>
        <p:nvSpPr>
          <p:cNvPr id="97" name="Rectangle 96"/>
          <p:cNvSpPr/>
          <p:nvPr/>
        </p:nvSpPr>
        <p:spPr>
          <a:xfrm>
            <a:off x="6202681" y="5410200"/>
            <a:ext cx="7986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E46C0A"/>
                </a:solidFill>
              </a:rPr>
              <a:t>IDS</a:t>
            </a:r>
            <a:r>
              <a:rPr lang="en-US" sz="2800" b="1" baseline="-25000" dirty="0" smtClean="0">
                <a:solidFill>
                  <a:srgbClr val="E46C0A"/>
                </a:solidFill>
              </a:rPr>
              <a:t>2</a:t>
            </a:r>
            <a:endParaRPr lang="en-US" sz="2800" b="1" baseline="-25000" dirty="0">
              <a:solidFill>
                <a:srgbClr val="E46C0A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2291998" y="5410200"/>
            <a:ext cx="7986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E46C0A"/>
                </a:solidFill>
              </a:rPr>
              <a:t>IDS</a:t>
            </a:r>
            <a:r>
              <a:rPr lang="en-US" sz="2800" b="1" baseline="-25000" dirty="0" smtClean="0">
                <a:solidFill>
                  <a:srgbClr val="E46C0A"/>
                </a:solidFill>
              </a:rPr>
              <a:t>1</a:t>
            </a:r>
            <a:endParaRPr lang="en-US" sz="2800" b="1" baseline="-25000" dirty="0">
              <a:solidFill>
                <a:srgbClr val="E46C0A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3348335"/>
            <a:ext cx="226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i="1" dirty="0" err="1" smtClean="0"/>
              <a:t>redirectPkts</a:t>
            </a:r>
            <a:r>
              <a:rPr lang="en-US" sz="2400" i="1" dirty="0" smtClean="0"/>
              <a:t>(</a:t>
            </a:r>
            <a:r>
              <a:rPr lang="en-US" sz="2400" i="1" dirty="0" smtClean="0">
                <a:solidFill>
                  <a:srgbClr val="FF0000"/>
                </a:solidFill>
              </a:rPr>
              <a:t>red</a:t>
            </a:r>
            <a:r>
              <a:rPr lang="en-US" sz="2400" i="1" dirty="0" smtClean="0"/>
              <a:t>)</a:t>
            </a:r>
            <a:endParaRPr lang="en-US" sz="2400" i="1" dirty="0"/>
          </a:p>
        </p:txBody>
      </p:sp>
      <p:cxnSp>
        <p:nvCxnSpPr>
          <p:cNvPr id="56" name="Straight Connector 55"/>
          <p:cNvCxnSpPr>
            <a:endCxn id="34" idx="3"/>
          </p:cNvCxnSpPr>
          <p:nvPr/>
        </p:nvCxnSpPr>
        <p:spPr>
          <a:xfrm flipH="1" flipV="1">
            <a:off x="2757194" y="5118773"/>
            <a:ext cx="2119606" cy="52002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endCxn id="42" idx="3"/>
          </p:cNvCxnSpPr>
          <p:nvPr/>
        </p:nvCxnSpPr>
        <p:spPr>
          <a:xfrm flipV="1">
            <a:off x="4800600" y="5118773"/>
            <a:ext cx="1943477" cy="52002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" name="Group 75"/>
          <p:cNvGrpSpPr/>
          <p:nvPr/>
        </p:nvGrpSpPr>
        <p:grpSpPr>
          <a:xfrm>
            <a:off x="2215798" y="4572000"/>
            <a:ext cx="883919" cy="883919"/>
            <a:chOff x="4846320" y="2209800"/>
            <a:chExt cx="609600" cy="609600"/>
          </a:xfrm>
        </p:grpSpPr>
        <p:sp>
          <p:nvSpPr>
            <p:cNvPr id="30" name="Rounded Rectangle 29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33" name="Picture 32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4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cxnSp>
        <p:nvCxnSpPr>
          <p:cNvPr id="25" name="Shape 24"/>
          <p:cNvCxnSpPr>
            <a:stCxn id="7" idx="1"/>
            <a:endCxn id="30" idx="0"/>
          </p:cNvCxnSpPr>
          <p:nvPr/>
        </p:nvCxnSpPr>
        <p:spPr>
          <a:xfrm rot="10800000" flipV="1">
            <a:off x="2657758" y="3086100"/>
            <a:ext cx="562126" cy="1485900"/>
          </a:xfrm>
          <a:prstGeom prst="curvedConnector2">
            <a:avLst/>
          </a:prstGeom>
          <a:ln>
            <a:prstDash val="dash"/>
            <a:headEnd type="none" w="med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hape 44"/>
          <p:cNvCxnSpPr>
            <a:endCxn id="39" idx="1"/>
          </p:cNvCxnSpPr>
          <p:nvPr/>
        </p:nvCxnSpPr>
        <p:spPr>
          <a:xfrm rot="16200000" flipH="1">
            <a:off x="5105401" y="3916680"/>
            <a:ext cx="1584960" cy="609600"/>
          </a:xfrm>
          <a:prstGeom prst="curvedConnector2">
            <a:avLst/>
          </a:prstGeom>
          <a:ln>
            <a:prstDash val="dash"/>
            <a:headEnd type="none" w="med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" name="Group 75"/>
          <p:cNvGrpSpPr/>
          <p:nvPr/>
        </p:nvGrpSpPr>
        <p:grpSpPr>
          <a:xfrm>
            <a:off x="6202681" y="4572000"/>
            <a:ext cx="883919" cy="883919"/>
            <a:chOff x="4846320" y="2209800"/>
            <a:chExt cx="609600" cy="609600"/>
          </a:xfrm>
        </p:grpSpPr>
        <p:sp>
          <p:nvSpPr>
            <p:cNvPr id="39" name="Rounded Rectangle 38"/>
            <p:cNvSpPr/>
            <p:nvPr/>
          </p:nvSpPr>
          <p:spPr>
            <a:xfrm>
              <a:off x="4846320" y="2209800"/>
              <a:ext cx="609600" cy="6096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23"/>
            <p:cNvGrpSpPr/>
            <p:nvPr/>
          </p:nvGrpSpPr>
          <p:grpSpPr>
            <a:xfrm>
              <a:off x="4876798" y="2270760"/>
              <a:ext cx="518164" cy="487680"/>
              <a:chOff x="609600" y="1652131"/>
              <a:chExt cx="359837" cy="338667"/>
            </a:xfrm>
          </p:grpSpPr>
          <p:pic>
            <p:nvPicPr>
              <p:cNvPr id="41" name="Picture 40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0769" y="1652131"/>
                <a:ext cx="338668" cy="338667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2" name="Picture 2" descr="C:\Users\agember\AppData\Local\Microsoft\Windows\Temporary Internet Files\Content.IE5\2DGPU1UI\MC90043159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09600" y="1752600"/>
                <a:ext cx="238125" cy="238125"/>
              </a:xfrm>
              <a:prstGeom prst="rect">
                <a:avLst/>
              </a:prstGeom>
              <a:noFill/>
            </p:spPr>
          </p:pic>
        </p:grpSp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598" y="5334000"/>
            <a:ext cx="765448" cy="76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19884" y="2743200"/>
            <a:ext cx="5091914" cy="68580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2800" dirty="0" err="1" smtClean="0">
                <a:solidFill>
                  <a:schemeClr val="accent6"/>
                </a:solidFill>
              </a:rPr>
              <a:t>OpenNF</a:t>
            </a:r>
            <a:r>
              <a:rPr lang="en-US" sz="2800" dirty="0" smtClean="0">
                <a:solidFill>
                  <a:schemeClr val="accent6"/>
                </a:solidFill>
              </a:rPr>
              <a:t> Controller</a:t>
            </a:r>
            <a:endParaRPr lang="en-US" sz="2800" dirty="0">
              <a:solidFill>
                <a:schemeClr val="accent6"/>
              </a:solidFill>
            </a:endParaRPr>
          </a:p>
        </p:txBody>
      </p:sp>
      <p:grpSp>
        <p:nvGrpSpPr>
          <p:cNvPr id="11" name="Group 81"/>
          <p:cNvGrpSpPr/>
          <p:nvPr/>
        </p:nvGrpSpPr>
        <p:grpSpPr>
          <a:xfrm>
            <a:off x="3358798" y="2819400"/>
            <a:ext cx="1447800" cy="533400"/>
            <a:chOff x="6553200" y="2971800"/>
            <a:chExt cx="1447800" cy="381000"/>
          </a:xfrm>
        </p:grpSpPr>
        <p:cxnSp>
          <p:nvCxnSpPr>
            <p:cNvPr id="78" name="Straight Connector 77"/>
            <p:cNvCxnSpPr/>
            <p:nvPr/>
          </p:nvCxnSpPr>
          <p:spPr>
            <a:xfrm>
              <a:off x="6553200" y="2971800"/>
              <a:ext cx="1447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6553200" y="3352800"/>
              <a:ext cx="1447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8001000" y="2971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Right Arrow 100"/>
          <p:cNvSpPr/>
          <p:nvPr/>
        </p:nvSpPr>
        <p:spPr>
          <a:xfrm rot="9538280" flipH="1">
            <a:off x="5007633" y="5568662"/>
            <a:ext cx="526959" cy="368876"/>
          </a:xfrm>
          <a:prstGeom prst="rightArrow">
            <a:avLst>
              <a:gd name="adj1" fmla="val 39339"/>
              <a:gd name="adj2" fmla="val 5284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6367242" y="4783975"/>
            <a:ext cx="495300" cy="381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Can 107"/>
          <p:cNvSpPr/>
          <p:nvPr/>
        </p:nvSpPr>
        <p:spPr>
          <a:xfrm>
            <a:off x="1905000" y="4572000"/>
            <a:ext cx="381000" cy="381000"/>
          </a:xfrm>
          <a:prstGeom prst="ca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Can 108"/>
          <p:cNvSpPr/>
          <p:nvPr/>
        </p:nvSpPr>
        <p:spPr>
          <a:xfrm>
            <a:off x="1910998" y="51054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Can 109"/>
          <p:cNvSpPr/>
          <p:nvPr/>
        </p:nvSpPr>
        <p:spPr>
          <a:xfrm>
            <a:off x="6968066" y="50292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Curved Connector 133"/>
          <p:cNvCxnSpPr>
            <a:endCxn id="28" idx="0"/>
          </p:cNvCxnSpPr>
          <p:nvPr/>
        </p:nvCxnSpPr>
        <p:spPr>
          <a:xfrm rot="5400000">
            <a:off x="4118661" y="4118661"/>
            <a:ext cx="1905000" cy="525678"/>
          </a:xfrm>
          <a:prstGeom prst="curvedConnector3">
            <a:avLst>
              <a:gd name="adj1" fmla="val 70444"/>
            </a:avLst>
          </a:prstGeom>
          <a:ln>
            <a:prstDash val="dash"/>
            <a:headEnd type="none" w="med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0" y="1143000"/>
            <a:ext cx="9144000" cy="4953000"/>
          </a:xfrm>
          <a:prstGeom prst="rect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ounded Rectangle 64"/>
          <p:cNvSpPr/>
          <p:nvPr/>
        </p:nvSpPr>
        <p:spPr>
          <a:xfrm>
            <a:off x="3200400" y="2743200"/>
            <a:ext cx="5091914" cy="68580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2800" dirty="0" err="1" smtClean="0">
                <a:solidFill>
                  <a:schemeClr val="accent6"/>
                </a:solidFill>
              </a:rPr>
              <a:t>OpenNF</a:t>
            </a:r>
            <a:r>
              <a:rPr lang="en-US" sz="2800" dirty="0" smtClean="0">
                <a:solidFill>
                  <a:schemeClr val="accent6"/>
                </a:solidFill>
              </a:rPr>
              <a:t> Controller</a:t>
            </a:r>
            <a:endParaRPr lang="en-US" sz="2800" dirty="0">
              <a:solidFill>
                <a:schemeClr val="accent6"/>
              </a:solidFill>
            </a:endParaRPr>
          </a:p>
        </p:txBody>
      </p:sp>
      <p:grpSp>
        <p:nvGrpSpPr>
          <p:cNvPr id="47" name="Group 81"/>
          <p:cNvGrpSpPr/>
          <p:nvPr/>
        </p:nvGrpSpPr>
        <p:grpSpPr>
          <a:xfrm>
            <a:off x="3352800" y="2819400"/>
            <a:ext cx="1447800" cy="533400"/>
            <a:chOff x="6553200" y="2971800"/>
            <a:chExt cx="1447800" cy="381000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6553200" y="2971800"/>
              <a:ext cx="1447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6553200" y="3352800"/>
              <a:ext cx="1447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8001000" y="2971800"/>
              <a:ext cx="0" cy="3810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Rounded Rectangular Callout 50"/>
          <p:cNvSpPr/>
          <p:nvPr/>
        </p:nvSpPr>
        <p:spPr>
          <a:xfrm>
            <a:off x="4648200" y="1143000"/>
            <a:ext cx="2590800" cy="1447800"/>
          </a:xfrm>
          <a:prstGeom prst="wedgeRoundRectCallout">
            <a:avLst>
              <a:gd name="adj1" fmla="val -42640"/>
              <a:gd name="adj2" fmla="val 74332"/>
              <a:gd name="adj3" fmla="val 16667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1) Efficiency</a:t>
            </a:r>
            <a:br>
              <a:rPr lang="en-US" sz="2800" dirty="0" smtClean="0"/>
            </a:br>
            <a:r>
              <a:rPr lang="en-US" sz="2800" i="1" dirty="0" smtClean="0"/>
              <a:t>buffering → output delayed</a:t>
            </a:r>
            <a:endParaRPr lang="en-US" sz="2800" i="1" dirty="0"/>
          </a:p>
        </p:txBody>
      </p:sp>
      <p:sp>
        <p:nvSpPr>
          <p:cNvPr id="52" name="Rounded Rectangular Callout 51"/>
          <p:cNvSpPr/>
          <p:nvPr/>
        </p:nvSpPr>
        <p:spPr>
          <a:xfrm>
            <a:off x="533400" y="1143000"/>
            <a:ext cx="3276600" cy="1447800"/>
          </a:xfrm>
          <a:prstGeom prst="wedgeRoundRectCallout">
            <a:avLst>
              <a:gd name="adj1" fmla="val 28872"/>
              <a:gd name="adj2" fmla="val 67230"/>
              <a:gd name="adj3" fmla="val 16667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2) Safety</a:t>
            </a:r>
            <a:br>
              <a:rPr lang="en-US" sz="2800" dirty="0" smtClean="0"/>
            </a:br>
            <a:r>
              <a:rPr lang="en-US" sz="2800" i="1" dirty="0" smtClean="0"/>
              <a:t>overflow → loss → incomplete analysis</a:t>
            </a:r>
            <a:endParaRPr lang="en-US" sz="2800" i="1" dirty="0"/>
          </a:p>
        </p:txBody>
      </p:sp>
      <p:sp>
        <p:nvSpPr>
          <p:cNvPr id="53" name="Rectangle 52"/>
          <p:cNvSpPr/>
          <p:nvPr/>
        </p:nvSpPr>
        <p:spPr>
          <a:xfrm>
            <a:off x="4495800" y="2895600"/>
            <a:ext cx="266700" cy="381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4152900" y="2895600"/>
            <a:ext cx="266700" cy="381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3793067" y="2895600"/>
            <a:ext cx="266700" cy="381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3086100" y="2895600"/>
            <a:ext cx="266700" cy="381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3429000" y="2895600"/>
            <a:ext cx="266700" cy="381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hape 62"/>
          <p:cNvCxnSpPr/>
          <p:nvPr/>
        </p:nvCxnSpPr>
        <p:spPr>
          <a:xfrm flipV="1">
            <a:off x="3106615" y="3429001"/>
            <a:ext cx="563881" cy="1584960"/>
          </a:xfrm>
          <a:prstGeom prst="curvedConnector2">
            <a:avLst/>
          </a:prstGeom>
          <a:ln>
            <a:prstDash val="dash"/>
            <a:headEnd type="none" w="med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hape 63"/>
          <p:cNvCxnSpPr/>
          <p:nvPr/>
        </p:nvCxnSpPr>
        <p:spPr>
          <a:xfrm rot="16200000" flipH="1">
            <a:off x="5112299" y="3916681"/>
            <a:ext cx="1584960" cy="609600"/>
          </a:xfrm>
          <a:prstGeom prst="curvedConnector2">
            <a:avLst/>
          </a:prstGeom>
          <a:ln>
            <a:prstDash val="dash"/>
            <a:headEnd type="none" w="med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Can 65"/>
          <p:cNvSpPr/>
          <p:nvPr/>
        </p:nvSpPr>
        <p:spPr>
          <a:xfrm>
            <a:off x="3352800" y="42672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ounded Rectangular Callout 67"/>
          <p:cNvSpPr/>
          <p:nvPr/>
        </p:nvSpPr>
        <p:spPr>
          <a:xfrm>
            <a:off x="3429000" y="5029200"/>
            <a:ext cx="2286000" cy="1447800"/>
          </a:xfrm>
          <a:prstGeom prst="wedgeRoundRectCallout">
            <a:avLst>
              <a:gd name="adj1" fmla="val -34736"/>
              <a:gd name="adj2" fmla="val -73099"/>
              <a:gd name="adj3" fmla="val 16667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3) Scalability</a:t>
            </a:r>
            <a:br>
              <a:rPr lang="en-US" sz="2800" dirty="0" smtClean="0"/>
            </a:br>
            <a:r>
              <a:rPr lang="en-US" sz="2800" i="1" dirty="0" smtClean="0"/>
              <a:t>transfer via controller</a:t>
            </a:r>
            <a:endParaRPr lang="en-US" sz="2800" i="1" dirty="0"/>
          </a:p>
        </p:txBody>
      </p:sp>
      <p:sp>
        <p:nvSpPr>
          <p:cNvPr id="69" name="Rectangle 68"/>
          <p:cNvSpPr/>
          <p:nvPr/>
        </p:nvSpPr>
        <p:spPr>
          <a:xfrm>
            <a:off x="3505200" y="3733800"/>
            <a:ext cx="304800" cy="381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2738350" y="2895600"/>
            <a:ext cx="266700" cy="381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51" grpId="0" animBg="1"/>
      <p:bldP spid="52" grpId="0" animBg="1"/>
      <p:bldP spid="53" grpId="0" animBg="1"/>
      <p:bldP spid="59" grpId="0" animBg="1"/>
      <p:bldP spid="60" grpId="0" animBg="1"/>
      <p:bldP spid="61" grpId="0" animBg="1"/>
      <p:bldP spid="61" grpId="1" animBg="1"/>
      <p:bldP spid="62" grpId="0" animBg="1"/>
      <p:bldP spid="66" grpId="0" animBg="1"/>
      <p:bldP spid="68" grpId="0" animBg="1"/>
      <p:bldP spid="69" grpId="0" animBg="1"/>
      <p:bldP spid="67" grpId="0" animBg="1"/>
      <p:bldP spid="6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talk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365125"/>
          </a:xfrm>
        </p:spPr>
        <p:txBody>
          <a:bodyPr/>
          <a:lstStyle/>
          <a:p>
            <a:fld id="{622C5A87-65DC-41FD-9E53-7EAC48455B9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1" name="Rounded Rectangular Callout 50"/>
          <p:cNvSpPr/>
          <p:nvPr/>
        </p:nvSpPr>
        <p:spPr>
          <a:xfrm>
            <a:off x="4648200" y="1143000"/>
            <a:ext cx="2590800" cy="1447800"/>
          </a:xfrm>
          <a:prstGeom prst="wedgeRoundRectCallout">
            <a:avLst>
              <a:gd name="adj1" fmla="val -42640"/>
              <a:gd name="adj2" fmla="val 74332"/>
              <a:gd name="adj3" fmla="val 16667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1) Efficiency</a:t>
            </a:r>
            <a:br>
              <a:rPr lang="en-US" sz="2800" dirty="0" smtClean="0"/>
            </a:br>
            <a:r>
              <a:rPr lang="en-US" sz="2800" i="1" dirty="0" smtClean="0"/>
              <a:t>buffering → output delayed</a:t>
            </a:r>
            <a:endParaRPr lang="en-US" sz="2800" i="1" dirty="0"/>
          </a:p>
        </p:txBody>
      </p:sp>
      <p:sp>
        <p:nvSpPr>
          <p:cNvPr id="68" name="Rounded Rectangular Callout 67"/>
          <p:cNvSpPr/>
          <p:nvPr/>
        </p:nvSpPr>
        <p:spPr>
          <a:xfrm>
            <a:off x="3429000" y="5029200"/>
            <a:ext cx="2286000" cy="1447800"/>
          </a:xfrm>
          <a:prstGeom prst="wedgeRoundRectCallout">
            <a:avLst>
              <a:gd name="adj1" fmla="val -34736"/>
              <a:gd name="adj2" fmla="val -73099"/>
              <a:gd name="adj3" fmla="val 16667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3) Scalability</a:t>
            </a:r>
            <a:br>
              <a:rPr lang="en-US" sz="2800" dirty="0" smtClean="0"/>
            </a:br>
            <a:r>
              <a:rPr lang="en-US" sz="2800" i="1" dirty="0" smtClean="0"/>
              <a:t>transfer via controller</a:t>
            </a:r>
            <a:endParaRPr lang="en-US" sz="2800" i="1" dirty="0"/>
          </a:p>
        </p:txBody>
      </p:sp>
      <p:sp>
        <p:nvSpPr>
          <p:cNvPr id="71" name="Rounded Rectangular Callout 70"/>
          <p:cNvSpPr/>
          <p:nvPr/>
        </p:nvSpPr>
        <p:spPr>
          <a:xfrm>
            <a:off x="533400" y="1143000"/>
            <a:ext cx="3276600" cy="1447800"/>
          </a:xfrm>
          <a:prstGeom prst="wedgeRoundRectCallout">
            <a:avLst>
              <a:gd name="adj1" fmla="val 28872"/>
              <a:gd name="adj2" fmla="val 67230"/>
              <a:gd name="adj3" fmla="val 16667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2) Safety</a:t>
            </a:r>
            <a:br>
              <a:rPr lang="en-US" sz="2800" dirty="0" smtClean="0"/>
            </a:br>
            <a:r>
              <a:rPr lang="en-US" sz="2800" i="1" dirty="0" smtClean="0"/>
              <a:t>overflow → loss → incomplete analysis</a:t>
            </a:r>
            <a:endParaRPr lang="en-US" sz="2800" i="1" dirty="0"/>
          </a:p>
        </p:txBody>
      </p:sp>
      <p:grpSp>
        <p:nvGrpSpPr>
          <p:cNvPr id="82" name="Group 81"/>
          <p:cNvGrpSpPr/>
          <p:nvPr/>
        </p:nvGrpSpPr>
        <p:grpSpPr>
          <a:xfrm>
            <a:off x="5257800" y="1447800"/>
            <a:ext cx="3124200" cy="5014913"/>
            <a:chOff x="5257800" y="1447800"/>
            <a:chExt cx="3124200" cy="5014913"/>
          </a:xfrm>
        </p:grpSpPr>
        <p:sp>
          <p:nvSpPr>
            <p:cNvPr id="74" name="TextBox 73"/>
            <p:cNvSpPr txBox="1"/>
            <p:nvPr/>
          </p:nvSpPr>
          <p:spPr>
            <a:xfrm>
              <a:off x="5257800" y="1447800"/>
              <a:ext cx="3104119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dirty="0" smtClean="0"/>
                <a:t>How do we solve </a:t>
              </a:r>
              <a:br>
                <a:rPr lang="en-US" sz="3200" dirty="0" smtClean="0"/>
              </a:br>
              <a:r>
                <a:rPr lang="en-US" sz="3200" dirty="0" smtClean="0"/>
                <a:t>these issues?</a:t>
              </a:r>
              <a:endParaRPr lang="en-US" sz="3200" dirty="0"/>
            </a:p>
          </p:txBody>
        </p:sp>
        <p:grpSp>
          <p:nvGrpSpPr>
            <p:cNvPr id="81" name="Group 80"/>
            <p:cNvGrpSpPr/>
            <p:nvPr/>
          </p:nvGrpSpPr>
          <p:grpSpPr>
            <a:xfrm>
              <a:off x="5445045" y="2590800"/>
              <a:ext cx="2936955" cy="3871913"/>
              <a:chOff x="5105400" y="2590800"/>
              <a:chExt cx="2936955" cy="3871913"/>
            </a:xfrm>
          </p:grpSpPr>
          <p:pic>
            <p:nvPicPr>
              <p:cNvPr id="75" name="Picture 74" descr="thinkingcap.gif"/>
              <p:cNvPicPr>
                <a:picLocks noChangeAspect="1"/>
              </p:cNvPicPr>
              <p:nvPr/>
            </p:nvPicPr>
            <p:blipFill>
              <a:blip r:embed="rId3" cstate="print"/>
              <a:srcRect l="6706" t="1930" r="17293"/>
              <a:stretch>
                <a:fillRect/>
              </a:stretch>
            </p:blipFill>
            <p:spPr>
              <a:xfrm>
                <a:off x="5105400" y="2590800"/>
                <a:ext cx="2590800" cy="3871913"/>
              </a:xfrm>
              <a:prstGeom prst="rect">
                <a:avLst/>
              </a:prstGeom>
            </p:spPr>
          </p:pic>
          <p:sp>
            <p:nvSpPr>
              <p:cNvPr id="77" name="Rounded Rectangle 76"/>
              <p:cNvSpPr/>
              <p:nvPr/>
            </p:nvSpPr>
            <p:spPr>
              <a:xfrm rot="18000000">
                <a:off x="7296127" y="5228589"/>
                <a:ext cx="838200" cy="65425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3" name="Rounded Rectangular Callout 82"/>
          <p:cNvSpPr/>
          <p:nvPr/>
        </p:nvSpPr>
        <p:spPr>
          <a:xfrm>
            <a:off x="990600" y="1143000"/>
            <a:ext cx="2590800" cy="1447800"/>
          </a:xfrm>
          <a:prstGeom prst="wedgeRoundRectCallout">
            <a:avLst>
              <a:gd name="adj1" fmla="val -42640"/>
              <a:gd name="adj2" fmla="val 74332"/>
              <a:gd name="adj3" fmla="val 16667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1) Efficiency</a:t>
            </a:r>
            <a:br>
              <a:rPr lang="en-US" sz="2800" dirty="0" smtClean="0"/>
            </a:br>
            <a:r>
              <a:rPr lang="en-US" sz="2800" i="1" dirty="0" smtClean="0"/>
              <a:t>buffering → output delayed</a:t>
            </a:r>
            <a:endParaRPr lang="en-US" sz="28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48555E-6 L -0.40416 2.48555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91329E-6 L -3.33333E-6 0.29411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9.24855E-7 L -0.25 9.24855E-7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68" grpId="0" animBg="1"/>
      <p:bldP spid="71" grpId="0" animBg="1"/>
      <p:bldP spid="8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 delay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 packet processing (+ output)</a:t>
            </a:r>
            <a:br>
              <a:rPr lang="en-US" dirty="0" smtClean="0"/>
            </a:br>
            <a:r>
              <a:rPr lang="en-US" dirty="0" smtClean="0"/>
              <a:t>during state transfer</a:t>
            </a:r>
          </a:p>
          <a:p>
            <a:pPr>
              <a:spcBef>
                <a:spcPts val="3600"/>
              </a:spcBef>
            </a:pPr>
            <a:r>
              <a:rPr lang="en-US" dirty="0" smtClean="0"/>
              <a:t>Live virtual machine migration</a:t>
            </a:r>
          </a:p>
          <a:p>
            <a:pPr lvl="1">
              <a:buNone/>
            </a:pPr>
            <a:r>
              <a:rPr lang="en-US" dirty="0" smtClean="0"/>
              <a:t>	State is small → </a:t>
            </a:r>
            <a:br>
              <a:rPr lang="en-US" dirty="0" smtClean="0"/>
            </a:br>
            <a:r>
              <a:rPr lang="en-US" dirty="0" smtClean="0"/>
              <a:t>memory page is too </a:t>
            </a:r>
            <a:r>
              <a:rPr lang="en-US" dirty="0" smtClean="0"/>
              <a:t>coarse</a:t>
            </a:r>
            <a:endParaRPr lang="en-US" dirty="0" smtClean="0"/>
          </a:p>
        </p:txBody>
      </p:sp>
      <p:grpSp>
        <p:nvGrpSpPr>
          <p:cNvPr id="4" name="Group 3"/>
          <p:cNvGrpSpPr/>
          <p:nvPr/>
        </p:nvGrpSpPr>
        <p:grpSpPr>
          <a:xfrm>
            <a:off x="7239000" y="4114800"/>
            <a:ext cx="1371600" cy="1219200"/>
            <a:chOff x="7010400" y="3200400"/>
            <a:chExt cx="1371600" cy="1219200"/>
          </a:xfrm>
        </p:grpSpPr>
        <p:sp>
          <p:nvSpPr>
            <p:cNvPr id="5" name="Rectangle 4"/>
            <p:cNvSpPr/>
            <p:nvPr/>
          </p:nvSpPr>
          <p:spPr>
            <a:xfrm>
              <a:off x="7315200" y="3200400"/>
              <a:ext cx="1066800" cy="12192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memory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6534912" y="3675888"/>
              <a:ext cx="1219200" cy="268224"/>
            </a:xfrm>
            <a:prstGeom prst="rect">
              <a:avLst/>
            </a:prstGeom>
          </p:spPr>
        </p:pic>
      </p:grpSp>
      <p:grpSp>
        <p:nvGrpSpPr>
          <p:cNvPr id="7" name="Group 6"/>
          <p:cNvGrpSpPr/>
          <p:nvPr/>
        </p:nvGrpSpPr>
        <p:grpSpPr>
          <a:xfrm>
            <a:off x="5655564" y="4114800"/>
            <a:ext cx="1354836" cy="1219200"/>
            <a:chOff x="5350764" y="3200400"/>
            <a:chExt cx="1354836" cy="1219200"/>
          </a:xfrm>
        </p:grpSpPr>
        <p:sp>
          <p:nvSpPr>
            <p:cNvPr id="8" name="Rectangle 7"/>
            <p:cNvSpPr/>
            <p:nvPr/>
          </p:nvSpPr>
          <p:spPr>
            <a:xfrm>
              <a:off x="5638800" y="3200400"/>
              <a:ext cx="1066800" cy="3048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 B C</a:t>
              </a:r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638800" y="3505200"/>
              <a:ext cx="1066800" cy="3048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D E F</a:t>
              </a:r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638800" y="3810000"/>
              <a:ext cx="1066800" cy="3048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G H I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638800" y="4114800"/>
              <a:ext cx="1066800" cy="3048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J K L</a:t>
              </a:r>
              <a:endParaRPr lang="en-US" dirty="0"/>
            </a:p>
          </p:txBody>
        </p:sp>
        <p:pic>
          <p:nvPicPr>
            <p:cNvPr id="12" name="Picture 11" descr="memory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16200000">
              <a:off x="4875276" y="3675888"/>
              <a:ext cx="1219200" cy="268224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/>
        </p:nvSpPr>
        <p:spPr>
          <a:xfrm>
            <a:off x="5943600" y="4114800"/>
            <a:ext cx="10668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 B C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943600" y="4419600"/>
            <a:ext cx="10668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 E F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943600" y="4724400"/>
            <a:ext cx="10668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 H I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5943600" y="5029200"/>
            <a:ext cx="1066800" cy="304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 K L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5943600" y="4419600"/>
            <a:ext cx="1066800" cy="3048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1 2 3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943600" y="5029200"/>
            <a:ext cx="1066800" cy="3048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4 5 6</a:t>
            </a:r>
            <a:endParaRPr lang="en-US" dirty="0"/>
          </a:p>
        </p:txBody>
      </p:sp>
      <p:pic>
        <p:nvPicPr>
          <p:cNvPr id="19" name="Picture 2" descr="C:\Users\agember\AppData\Local\Microsoft\Windows\Temporary Internet Files\Content.IE5\C0D333QZ\stick-man-295293_640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3657600"/>
            <a:ext cx="457200" cy="437912"/>
          </a:xfrm>
          <a:prstGeom prst="rect">
            <a:avLst/>
          </a:prstGeom>
          <a:noFill/>
        </p:spPr>
      </p:pic>
      <p:sp>
        <p:nvSpPr>
          <p:cNvPr id="20" name="Rectangle 19"/>
          <p:cNvSpPr/>
          <p:nvPr/>
        </p:nvSpPr>
        <p:spPr>
          <a:xfrm>
            <a:off x="5943600" y="4419600"/>
            <a:ext cx="1066800" cy="3048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1 2 3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943600" y="5029200"/>
            <a:ext cx="1066800" cy="3048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4 5 6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5943600" y="4419600"/>
            <a:ext cx="1066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1 2 3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5943600" y="5029200"/>
            <a:ext cx="1066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4 5 6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7543800" y="4419600"/>
            <a:ext cx="1066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1 2 3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7543800" y="5029200"/>
            <a:ext cx="1066800" cy="30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4 5 6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5943600" y="4724400"/>
            <a:ext cx="1066800" cy="3048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7 8 9</a:t>
            </a:r>
            <a:endParaRPr lang="en-US" dirty="0"/>
          </a:p>
        </p:txBody>
      </p:sp>
      <p:pic>
        <p:nvPicPr>
          <p:cNvPr id="30" name="Picture 4" descr="C:\Users\agember\AppData\Local\Microsoft\Windows\Temporary Internet Files\Content.IE5\O2Q741H5\schoolfreeware_Stop_Sign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48400" y="3657600"/>
            <a:ext cx="416689" cy="411480"/>
          </a:xfrm>
          <a:prstGeom prst="rect">
            <a:avLst/>
          </a:prstGeom>
          <a:noFill/>
        </p:spPr>
      </p:pic>
      <p:pic>
        <p:nvPicPr>
          <p:cNvPr id="31" name="Picture 2" descr="C:\Users\agember\AppData\Local\Microsoft\Windows\Temporary Internet Files\Content.IE5\C0D333QZ\stick-man-295293_640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48600" y="3657600"/>
            <a:ext cx="457200" cy="437912"/>
          </a:xfrm>
          <a:prstGeom prst="rect">
            <a:avLst/>
          </a:prstGeom>
          <a:noFill/>
        </p:spPr>
      </p:pic>
      <p:pic>
        <p:nvPicPr>
          <p:cNvPr id="32" name="Picture 31" descr="x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14400" y="3733800"/>
            <a:ext cx="304800" cy="304800"/>
          </a:xfrm>
          <a:prstGeom prst="rect">
            <a:avLst/>
          </a:prstGeom>
        </p:spPr>
      </p:pic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52" name="Group 51"/>
          <p:cNvGrpSpPr/>
          <p:nvPr/>
        </p:nvGrpSpPr>
        <p:grpSpPr>
          <a:xfrm>
            <a:off x="6705600" y="1371600"/>
            <a:ext cx="1254760" cy="1752600"/>
            <a:chOff x="7620000" y="1371600"/>
            <a:chExt cx="1254760" cy="1752600"/>
          </a:xfrm>
        </p:grpSpPr>
        <p:cxnSp>
          <p:nvCxnSpPr>
            <p:cNvPr id="51" name="Straight Connector 50"/>
            <p:cNvCxnSpPr/>
            <p:nvPr/>
          </p:nvCxnSpPr>
          <p:spPr>
            <a:xfrm flipV="1">
              <a:off x="8241632" y="2590800"/>
              <a:ext cx="0" cy="533400"/>
            </a:xfrm>
            <a:prstGeom prst="line">
              <a:avLst/>
            </a:prstGeom>
            <a:ln w="152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4" name="Picture 10" descr="C:\Users\agember\AppData\Local\Microsoft\Windows\Temporary Internet Files\Content.IE5\2LFDD3P3\The-Traffic-Light[1].gif"/>
            <p:cNvPicPr>
              <a:picLocks noChangeAspect="1" noChangeArrowheads="1"/>
            </p:cNvPicPr>
            <p:nvPr/>
          </p:nvPicPr>
          <p:blipFill>
            <a:blip r:embed="rId7" cstate="print"/>
            <a:srcRect l="8696" r="6522" b="4075"/>
            <a:stretch>
              <a:fillRect/>
            </a:stretch>
          </p:blipFill>
          <p:spPr bwMode="auto">
            <a:xfrm>
              <a:off x="7620000" y="1371600"/>
              <a:ext cx="1254760" cy="1447800"/>
            </a:xfrm>
            <a:prstGeom prst="rect">
              <a:avLst/>
            </a:prstGeom>
            <a:noFill/>
          </p:spPr>
        </p:pic>
      </p:grpSp>
      <p:sp>
        <p:nvSpPr>
          <p:cNvPr id="53" name="Oval 52"/>
          <p:cNvSpPr/>
          <p:nvPr/>
        </p:nvSpPr>
        <p:spPr>
          <a:xfrm>
            <a:off x="7194884" y="1584158"/>
            <a:ext cx="304800" cy="304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7190874" y="2438400"/>
            <a:ext cx="304800" cy="3048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/>
          <p:nvPr/>
        </p:nvCxnSpPr>
        <p:spPr>
          <a:xfrm>
            <a:off x="881150" y="1905000"/>
            <a:ext cx="533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943600" y="4724400"/>
            <a:ext cx="1066800" cy="3048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7 8 9</a:t>
            </a:r>
            <a:endParaRPr lang="en-US" dirty="0"/>
          </a:p>
        </p:txBody>
      </p:sp>
      <p:grpSp>
        <p:nvGrpSpPr>
          <p:cNvPr id="57" name="Group 56"/>
          <p:cNvGrpSpPr/>
          <p:nvPr/>
        </p:nvGrpSpPr>
        <p:grpSpPr>
          <a:xfrm>
            <a:off x="5943600" y="4114800"/>
            <a:ext cx="1063752" cy="304800"/>
            <a:chOff x="6096000" y="5867400"/>
            <a:chExt cx="1063752" cy="304800"/>
          </a:xfrm>
        </p:grpSpPr>
        <p:sp>
          <p:nvSpPr>
            <p:cNvPr id="48" name="Can 47"/>
            <p:cNvSpPr/>
            <p:nvPr/>
          </p:nvSpPr>
          <p:spPr>
            <a:xfrm>
              <a:off x="6096000" y="5867400"/>
              <a:ext cx="304800" cy="304800"/>
            </a:xfrm>
            <a:prstGeom prst="can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Can 48"/>
            <p:cNvSpPr/>
            <p:nvPr/>
          </p:nvSpPr>
          <p:spPr>
            <a:xfrm>
              <a:off x="6477000" y="5867400"/>
              <a:ext cx="301752" cy="304800"/>
            </a:xfrm>
            <a:prstGeom prst="can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Can 54"/>
            <p:cNvSpPr/>
            <p:nvPr/>
          </p:nvSpPr>
          <p:spPr>
            <a:xfrm>
              <a:off x="6858000" y="5867400"/>
              <a:ext cx="301752" cy="304800"/>
            </a:xfrm>
            <a:prstGeom prst="can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0162 L 0.175 0.00162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6725E-6 L 0.175 3.36725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028E-8 L 0.175 3.70028E-8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29325E-6 L 0.175 -3.29325E-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6725E-6 L 0.175 3.36725E-6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29325E-6 L 0.175 -3.29325E-6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6725E-6 L 0.175 3.36725E-6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8" grpId="0" animBg="1"/>
      <p:bldP spid="20" grpId="0" animBg="1"/>
      <p:bldP spid="20" grpId="1" animBg="1"/>
      <p:bldP spid="21" grpId="0" animBg="1"/>
      <p:bldP spid="21" grpId="1" animBg="1"/>
      <p:bldP spid="25" grpId="0" animBg="1"/>
      <p:bldP spid="26" grpId="0" animBg="1"/>
      <p:bldP spid="29" grpId="1" animBg="1"/>
      <p:bldP spid="53" grpId="1" animBg="1"/>
      <p:bldP spid="54" grpId="0" animBg="1"/>
      <p:bldP spid="44" grpId="0" animBg="1"/>
      <p:bldP spid="4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3574006" y="3352800"/>
            <a:ext cx="1683794" cy="1742420"/>
            <a:chOff x="3574006" y="3886200"/>
            <a:chExt cx="1683794" cy="1742420"/>
          </a:xfrm>
        </p:grpSpPr>
        <p:sp>
          <p:nvSpPr>
            <p:cNvPr id="33" name="Rounded Rectangle 32"/>
            <p:cNvSpPr/>
            <p:nvPr/>
          </p:nvSpPr>
          <p:spPr>
            <a:xfrm>
              <a:off x="3657600" y="3886200"/>
              <a:ext cx="1447800" cy="1143000"/>
            </a:xfrm>
            <a:prstGeom prst="round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574006" y="5105400"/>
              <a:ext cx="168379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 smtClean="0">
                  <a:solidFill>
                    <a:srgbClr val="E46C0A"/>
                  </a:solidFill>
                </a:rPr>
                <a:t>Controller</a:t>
              </a:r>
              <a:endParaRPr lang="en-US" sz="2800" b="1" dirty="0">
                <a:solidFill>
                  <a:srgbClr val="E46C0A"/>
                </a:solidFill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962400" y="3490570"/>
            <a:ext cx="838200" cy="304800"/>
            <a:chOff x="3358798" y="2819400"/>
            <a:chExt cx="1447800" cy="533400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3358798" y="2819400"/>
              <a:ext cx="1447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3358798" y="3352800"/>
              <a:ext cx="1447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4806598" y="2819400"/>
              <a:ext cx="0" cy="533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Cube 43"/>
          <p:cNvSpPr/>
          <p:nvPr/>
        </p:nvSpPr>
        <p:spPr>
          <a:xfrm>
            <a:off x="5105400" y="2641203"/>
            <a:ext cx="958755" cy="623455"/>
          </a:xfrm>
          <a:prstGeom prst="cube">
            <a:avLst>
              <a:gd name="adj" fmla="val 346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Packet reprocessing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905000"/>
            <a:ext cx="596229" cy="593543"/>
          </a:xfrm>
          <a:prstGeom prst="rect">
            <a:avLst/>
          </a:prstGeom>
        </p:spPr>
      </p:pic>
      <p:sp>
        <p:nvSpPr>
          <p:cNvPr id="5" name="Cube 4"/>
          <p:cNvSpPr/>
          <p:nvPr/>
        </p:nvSpPr>
        <p:spPr>
          <a:xfrm>
            <a:off x="2819400" y="2641203"/>
            <a:ext cx="958755" cy="623455"/>
          </a:xfrm>
          <a:prstGeom prst="cube">
            <a:avLst>
              <a:gd name="adj" fmla="val 346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3212911" y="1900389"/>
            <a:ext cx="1130489" cy="1452412"/>
          </a:xfrm>
          <a:custGeom>
            <a:avLst/>
            <a:gdLst>
              <a:gd name="connsiteX0" fmla="*/ 1105468 w 1130489"/>
              <a:gd name="connsiteY0" fmla="*/ 0 h 1665027"/>
              <a:gd name="connsiteX1" fmla="*/ 982638 w 1130489"/>
              <a:gd name="connsiteY1" fmla="*/ 341194 h 1665027"/>
              <a:gd name="connsiteX2" fmla="*/ 218364 w 1130489"/>
              <a:gd name="connsiteY2" fmla="*/ 1064526 h 1665027"/>
              <a:gd name="connsiteX3" fmla="*/ 0 w 1130489"/>
              <a:gd name="connsiteY3" fmla="*/ 1665027 h 166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489" h="1665027">
                <a:moveTo>
                  <a:pt x="1105468" y="0"/>
                </a:moveTo>
                <a:cubicBezTo>
                  <a:pt x="1117978" y="81886"/>
                  <a:pt x="1130489" y="163773"/>
                  <a:pt x="982638" y="341194"/>
                </a:cubicBezTo>
                <a:cubicBezTo>
                  <a:pt x="834787" y="518615"/>
                  <a:pt x="382137" y="843887"/>
                  <a:pt x="218364" y="1064526"/>
                </a:cubicBezTo>
                <a:cubicBezTo>
                  <a:pt x="54591" y="1285165"/>
                  <a:pt x="27295" y="1475096"/>
                  <a:pt x="0" y="1665027"/>
                </a:cubicBezTo>
              </a:path>
            </a:pathLst>
          </a:custGeom>
          <a:ln w="571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81600" y="3276600"/>
            <a:ext cx="7088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E46C0A"/>
                </a:solidFill>
              </a:rPr>
              <a:t>NF</a:t>
            </a:r>
            <a:r>
              <a:rPr lang="en-US" sz="2800" b="1" baseline="-25000" dirty="0" smtClean="0">
                <a:solidFill>
                  <a:srgbClr val="E46C0A"/>
                </a:solidFill>
              </a:rPr>
              <a:t>2</a:t>
            </a:r>
            <a:endParaRPr lang="en-US" sz="2800" b="1" dirty="0">
              <a:solidFill>
                <a:srgbClr val="E46C0A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61016" y="3286780"/>
            <a:ext cx="7088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E46C0A"/>
                </a:solidFill>
              </a:rPr>
              <a:t>NF</a:t>
            </a:r>
            <a:r>
              <a:rPr lang="en-US" sz="2800" b="1" baseline="-25000" dirty="0" smtClean="0">
                <a:solidFill>
                  <a:srgbClr val="E46C0A"/>
                </a:solidFill>
              </a:rPr>
              <a:t>1</a:t>
            </a:r>
            <a:endParaRPr lang="en-US" sz="2800" b="1" dirty="0">
              <a:solidFill>
                <a:srgbClr val="E46C0A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038600" y="1752600"/>
            <a:ext cx="523152" cy="228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038600" y="1752600"/>
            <a:ext cx="533400" cy="228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895600" y="2939844"/>
            <a:ext cx="533400" cy="228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P1’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85800" y="1905000"/>
            <a:ext cx="2590800" cy="381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200" dirty="0" smtClean="0"/>
              <a:t>move(</a:t>
            </a:r>
            <a:r>
              <a:rPr lang="en-US" sz="2200" dirty="0" smtClean="0">
                <a:solidFill>
                  <a:srgbClr val="FF0000"/>
                </a:solidFill>
              </a:rPr>
              <a:t>red</a:t>
            </a:r>
            <a:r>
              <a:rPr lang="en-US" sz="2200" dirty="0" smtClean="0"/>
              <a:t>, NF</a:t>
            </a:r>
            <a:r>
              <a:rPr lang="en-US" sz="2200" baseline="-25000" dirty="0" smtClean="0"/>
              <a:t>1</a:t>
            </a:r>
            <a:r>
              <a:rPr lang="en-US" sz="2200" dirty="0" smtClean="0"/>
              <a:t>→NF</a:t>
            </a:r>
            <a:r>
              <a:rPr lang="en-US" sz="2200" baseline="-25000" dirty="0" smtClean="0"/>
              <a:t>2</a:t>
            </a:r>
            <a:r>
              <a:rPr lang="en-US" sz="2200" dirty="0" smtClean="0"/>
              <a:t>)</a:t>
            </a:r>
            <a:endParaRPr lang="en-US" sz="2200" dirty="0"/>
          </a:p>
        </p:txBody>
      </p:sp>
      <p:sp>
        <p:nvSpPr>
          <p:cNvPr id="50" name="Rectangle 49"/>
          <p:cNvSpPr/>
          <p:nvPr/>
        </p:nvSpPr>
        <p:spPr>
          <a:xfrm>
            <a:off x="2895600" y="2942540"/>
            <a:ext cx="533400" cy="228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P2’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895600" y="2942540"/>
            <a:ext cx="533400" cy="228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3" name="Rounded Rectangular Callout 52"/>
          <p:cNvSpPr/>
          <p:nvPr/>
        </p:nvSpPr>
        <p:spPr>
          <a:xfrm>
            <a:off x="1524000" y="3429000"/>
            <a:ext cx="1219200" cy="838200"/>
          </a:xfrm>
          <a:prstGeom prst="wedgeRoundRectCallout">
            <a:avLst>
              <a:gd name="adj1" fmla="val 56181"/>
              <a:gd name="adj2" fmla="val -7161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i="1" dirty="0" smtClean="0"/>
              <a:t>Process packet</a:t>
            </a:r>
            <a:endParaRPr lang="en-US" sz="2400" i="1" dirty="0"/>
          </a:p>
        </p:txBody>
      </p:sp>
      <p:sp>
        <p:nvSpPr>
          <p:cNvPr id="54" name="Rounded Rectangular Callout 53"/>
          <p:cNvSpPr/>
          <p:nvPr/>
        </p:nvSpPr>
        <p:spPr>
          <a:xfrm flipH="1">
            <a:off x="5638800" y="1524000"/>
            <a:ext cx="2209800" cy="838200"/>
          </a:xfrm>
          <a:prstGeom prst="wedgeRoundRectCallout">
            <a:avLst>
              <a:gd name="adj1" fmla="val 33488"/>
              <a:gd name="adj2" fmla="val 7998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0" rIns="0" bIns="0" rtlCol="0" anchor="ctr"/>
          <a:lstStyle/>
          <a:p>
            <a:r>
              <a:rPr lang="en-US" sz="2400" i="1" dirty="0" smtClean="0"/>
              <a:t>Process packet again</a:t>
            </a:r>
            <a:endParaRPr lang="en-US" sz="2400" i="1" dirty="0"/>
          </a:p>
        </p:txBody>
      </p:sp>
      <p:sp>
        <p:nvSpPr>
          <p:cNvPr id="63" name="Rounded Rectangle 62"/>
          <p:cNvSpPr/>
          <p:nvPr/>
        </p:nvSpPr>
        <p:spPr>
          <a:xfrm>
            <a:off x="1143000" y="5181600"/>
            <a:ext cx="6858000" cy="12192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/>
            <a:r>
              <a:rPr lang="en-US" sz="2800" dirty="0" smtClean="0"/>
              <a:t>How do we suppress output?</a:t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64" name="Rectangle 63"/>
          <p:cNvSpPr/>
          <p:nvPr/>
        </p:nvSpPr>
        <p:spPr>
          <a:xfrm>
            <a:off x="1323707" y="5791200"/>
            <a:ext cx="64965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prstClr val="white"/>
                </a:solidFill>
              </a:rPr>
              <a:t>wrappers for network and file I/O functions</a:t>
            </a:r>
            <a:endParaRPr lang="en-US" dirty="0"/>
          </a:p>
        </p:txBody>
      </p:sp>
      <p:sp>
        <p:nvSpPr>
          <p:cNvPr id="32" name="Slide Number Placeholder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8" name="Can 37"/>
          <p:cNvSpPr/>
          <p:nvPr/>
        </p:nvSpPr>
        <p:spPr>
          <a:xfrm>
            <a:off x="2286000" y="26670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ctr"/>
          <a:lstStyle/>
          <a:p>
            <a:pPr algn="ctr"/>
            <a:r>
              <a:rPr lang="en-US" dirty="0" smtClean="0"/>
              <a:t>S1</a:t>
            </a:r>
            <a:endParaRPr lang="en-US" dirty="0"/>
          </a:p>
        </p:txBody>
      </p:sp>
      <p:sp>
        <p:nvSpPr>
          <p:cNvPr id="39" name="Can 38"/>
          <p:cNvSpPr/>
          <p:nvPr/>
        </p:nvSpPr>
        <p:spPr>
          <a:xfrm>
            <a:off x="2286000" y="26670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ctr"/>
          <a:lstStyle/>
          <a:p>
            <a:pPr algn="ctr"/>
            <a:r>
              <a:rPr lang="en-US" dirty="0" smtClean="0"/>
              <a:t>S1</a:t>
            </a:r>
            <a:endParaRPr lang="en-US" dirty="0"/>
          </a:p>
        </p:txBody>
      </p:sp>
      <p:sp>
        <p:nvSpPr>
          <p:cNvPr id="40" name="Can 39"/>
          <p:cNvSpPr/>
          <p:nvPr/>
        </p:nvSpPr>
        <p:spPr>
          <a:xfrm>
            <a:off x="2286000" y="26670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ctr"/>
          <a:lstStyle/>
          <a:p>
            <a:pPr algn="ctr"/>
            <a:r>
              <a:rPr lang="en-US" dirty="0" smtClean="0"/>
              <a:t>S2</a:t>
            </a:r>
            <a:endParaRPr lang="en-US" dirty="0"/>
          </a:p>
        </p:txBody>
      </p:sp>
      <p:sp>
        <p:nvSpPr>
          <p:cNvPr id="47" name="Oval 46"/>
          <p:cNvSpPr/>
          <p:nvPr/>
        </p:nvSpPr>
        <p:spPr>
          <a:xfrm>
            <a:off x="2133600" y="2514600"/>
            <a:ext cx="685800" cy="685800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6134100" y="2514600"/>
            <a:ext cx="685800" cy="685800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ular Callout 40"/>
          <p:cNvSpPr/>
          <p:nvPr/>
        </p:nvSpPr>
        <p:spPr>
          <a:xfrm>
            <a:off x="838200" y="2590800"/>
            <a:ext cx="1143000" cy="457200"/>
          </a:xfrm>
          <a:prstGeom prst="wedgeRoundRectCallout">
            <a:avLst>
              <a:gd name="adj1" fmla="val 73369"/>
              <a:gd name="adj2" fmla="val -911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i="1" dirty="0" smtClean="0"/>
              <a:t>Recopy?</a:t>
            </a:r>
            <a:endParaRPr lang="en-US" sz="2400" i="1" dirty="0"/>
          </a:p>
        </p:txBody>
      </p:sp>
      <p:pic>
        <p:nvPicPr>
          <p:cNvPr id="42" name="Picture 41" descr="x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0600" y="2514600"/>
            <a:ext cx="761998" cy="609600"/>
          </a:xfrm>
          <a:prstGeom prst="rect">
            <a:avLst/>
          </a:prstGeom>
        </p:spPr>
      </p:pic>
      <p:sp>
        <p:nvSpPr>
          <p:cNvPr id="59" name="Can 58"/>
          <p:cNvSpPr/>
          <p:nvPr/>
        </p:nvSpPr>
        <p:spPr>
          <a:xfrm>
            <a:off x="6286500" y="2657475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ctr"/>
          <a:lstStyle/>
          <a:p>
            <a:pPr algn="ctr"/>
            <a:r>
              <a:rPr lang="en-US" dirty="0" smtClean="0"/>
              <a:t>S2</a:t>
            </a:r>
            <a:endParaRPr lang="en-US" dirty="0"/>
          </a:p>
        </p:txBody>
      </p:sp>
      <p:sp>
        <p:nvSpPr>
          <p:cNvPr id="60" name="Rounded Rectangular Callout 59"/>
          <p:cNvSpPr/>
          <p:nvPr/>
        </p:nvSpPr>
        <p:spPr>
          <a:xfrm flipH="1">
            <a:off x="5638800" y="1524000"/>
            <a:ext cx="2209800" cy="838200"/>
          </a:xfrm>
          <a:prstGeom prst="wedgeRoundRectCallout">
            <a:avLst>
              <a:gd name="adj1" fmla="val 33488"/>
              <a:gd name="adj2" fmla="val 7998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0" rIns="0" bIns="0" rtlCol="0" anchor="ctr"/>
          <a:lstStyle/>
          <a:p>
            <a:r>
              <a:rPr lang="en-US" sz="2400" i="1" dirty="0" smtClean="0"/>
              <a:t>Process packet again; no output</a:t>
            </a:r>
            <a:endParaRPr lang="en-US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4 -0.00023 L -0.125 0.17191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" y="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116 L -0.00052 0.1868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16057E-6 L 0 0.09162 C 0 0.13234 0.0559 0.18325 0.10208 0.18325 L 0.20417 0.18325 " pathEditMode="relative" rAng="0" ptsTypes="FfFF">
                                      <p:cBhvr>
                                        <p:cTn id="33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" y="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64 -0.00023 L -0.12552 0.17191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093 L 0.0724 -0.00093 C 0.10487 -0.00093 0.14532 0.02314 0.14532 0.04303 L 0.14532 0.08723 " pathEditMode="relative" rAng="0" ptsTypes="FfFF">
                                      <p:cBhvr>
                                        <p:cTn id="4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" y="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7.40741E-7 L -4.44444E-6 0.13357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417 0.18333 L 0.32084 0.18333 C 0.37275 0.18333 0.4375 0.13217 0.4375 0.0912 L 0.4375 -0.00093 " pathEditMode="relative" rAng="0" ptsTypes="FfFF">
                                      <p:cBhvr>
                                        <p:cTn id="6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" y="-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32 0.08723 C 0.14618 0.03424 0.14723 -0.01851 0.15035 -0.04813 C 0.1533 -0.07774 0.15087 -0.09417 0.16337 -0.0907 C 0.1757 -0.08723 0.21007 -0.04188 0.225 -0.02684 C 0.23993 -0.0118 0.24653 -0.00602 0.2533 1.60111E-6 " pathEditMode="relative" rAng="0" ptsTypes="aaaaA">
                                      <p:cBhvr>
                                        <p:cTn id="8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" y="-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2" grpId="2" animBg="1"/>
      <p:bldP spid="19" grpId="0" animBg="1"/>
      <p:bldP spid="19" grpId="1" animBg="1"/>
      <p:bldP spid="19" grpId="2" animBg="1"/>
      <p:bldP spid="43" grpId="1" animBg="1"/>
      <p:bldP spid="43" grpId="2" animBg="1"/>
      <p:bldP spid="46" grpId="0"/>
      <p:bldP spid="50" grpId="0" animBg="1"/>
      <p:bldP spid="50" grpId="1" animBg="1"/>
      <p:bldP spid="51" grpId="0" animBg="1"/>
      <p:bldP spid="51" grpId="1" animBg="1"/>
      <p:bldP spid="51" grpId="2" animBg="1"/>
      <p:bldP spid="51" grpId="3" animBg="1"/>
      <p:bldP spid="53" grpId="0" animBg="1"/>
      <p:bldP spid="54" grpId="0" animBg="1"/>
      <p:bldP spid="63" grpId="0" animBg="1"/>
      <p:bldP spid="64" grpId="0"/>
      <p:bldP spid="38" grpId="0" animBg="1"/>
      <p:bldP spid="39" grpId="0" animBg="1"/>
      <p:bldP spid="39" grpId="1" animBg="1"/>
      <p:bldP spid="39" grpId="2" animBg="1"/>
      <p:bldP spid="40" grpId="0" animBg="1"/>
      <p:bldP spid="47" grpId="0" animBg="1"/>
      <p:bldP spid="52" grpId="0" animBg="1"/>
      <p:bldP spid="41" grpId="0" animBg="1"/>
      <p:bldP spid="59" grpId="0" animBg="1"/>
      <p:bldP spid="6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381000" y="2514600"/>
          <a:ext cx="8382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reprocessing (1)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705600" y="4114800"/>
            <a:ext cx="19812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629400" y="4800600"/>
            <a:ext cx="19812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028700" y="1524000"/>
            <a:ext cx="7086600" cy="6858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Buffering does not impact output latency</a:t>
            </a:r>
            <a:endParaRPr lang="en-US" sz="28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4038600" y="3680320"/>
            <a:ext cx="1696951" cy="1120280"/>
            <a:chOff x="4876800" y="2537320"/>
            <a:chExt cx="1696951" cy="1120280"/>
          </a:xfrm>
        </p:grpSpPr>
        <p:sp>
          <p:nvSpPr>
            <p:cNvPr id="10" name="Down Arrow 9"/>
            <p:cNvSpPr/>
            <p:nvPr/>
          </p:nvSpPr>
          <p:spPr>
            <a:xfrm>
              <a:off x="4876800" y="2590800"/>
              <a:ext cx="381000" cy="1066800"/>
            </a:xfrm>
            <a:prstGeom prst="downArrow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105400" y="2537320"/>
              <a:ext cx="1468351" cy="815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en-US" sz="2800" b="1" dirty="0" smtClean="0"/>
                <a:t>4x lower</a:t>
              </a:r>
              <a:br>
                <a:rPr lang="en-US" sz="2800" b="1" dirty="0" smtClean="0"/>
              </a:br>
              <a:r>
                <a:rPr lang="en-US" sz="2800" b="1" dirty="0" smtClean="0"/>
                <a:t>latency</a:t>
              </a:r>
              <a:endParaRPr lang="en-US" sz="2800" b="1" dirty="0"/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Chart bld="series" animBg="0"/>
        </p:bldSub>
      </p:bldGraphic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an 41"/>
          <p:cNvSpPr/>
          <p:nvPr/>
        </p:nvSpPr>
        <p:spPr>
          <a:xfrm>
            <a:off x="2971800" y="37338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ctr"/>
          <a:lstStyle/>
          <a:p>
            <a:pPr algn="ctr"/>
            <a:r>
              <a:rPr lang="en-US" dirty="0" smtClean="0"/>
              <a:t>S1</a:t>
            </a:r>
            <a:endParaRPr lang="en-US" dirty="0"/>
          </a:p>
        </p:txBody>
      </p:sp>
      <p:grpSp>
        <p:nvGrpSpPr>
          <p:cNvPr id="37" name="Group 36"/>
          <p:cNvGrpSpPr/>
          <p:nvPr/>
        </p:nvGrpSpPr>
        <p:grpSpPr>
          <a:xfrm>
            <a:off x="4869406" y="3886200"/>
            <a:ext cx="1683794" cy="1742420"/>
            <a:chOff x="3574006" y="3886200"/>
            <a:chExt cx="1683794" cy="1742420"/>
          </a:xfrm>
        </p:grpSpPr>
        <p:sp>
          <p:nvSpPr>
            <p:cNvPr id="40" name="Rounded Rectangle 39"/>
            <p:cNvSpPr/>
            <p:nvPr/>
          </p:nvSpPr>
          <p:spPr>
            <a:xfrm>
              <a:off x="3657600" y="3886200"/>
              <a:ext cx="1447800" cy="1143000"/>
            </a:xfrm>
            <a:prstGeom prst="roundRect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574006" y="5105400"/>
              <a:ext cx="168379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 smtClean="0">
                  <a:solidFill>
                    <a:srgbClr val="E46C0A"/>
                  </a:solidFill>
                </a:rPr>
                <a:t>Controller</a:t>
              </a:r>
              <a:endParaRPr lang="en-US" sz="2800" b="1" dirty="0">
                <a:solidFill>
                  <a:srgbClr val="E46C0A"/>
                </a:solidFill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615984" y="2967189"/>
            <a:ext cx="4004016" cy="1909611"/>
            <a:chOff x="3615984" y="2967189"/>
            <a:chExt cx="4004016" cy="1909611"/>
          </a:xfrm>
        </p:grpSpPr>
        <p:grpSp>
          <p:nvGrpSpPr>
            <p:cNvPr id="6" name="Group 57"/>
            <p:cNvGrpSpPr/>
            <p:nvPr/>
          </p:nvGrpSpPr>
          <p:grpSpPr>
            <a:xfrm>
              <a:off x="5105400" y="3987546"/>
              <a:ext cx="1101472" cy="304801"/>
              <a:chOff x="3358798" y="2802731"/>
              <a:chExt cx="1447800" cy="533402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3358798" y="2802731"/>
                <a:ext cx="14478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3358798" y="3336133"/>
                <a:ext cx="14478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4806598" y="2802733"/>
                <a:ext cx="0" cy="533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Cube 43"/>
            <p:cNvSpPr/>
            <p:nvPr/>
          </p:nvSpPr>
          <p:spPr>
            <a:xfrm>
              <a:off x="6661245" y="3708003"/>
              <a:ext cx="958755" cy="623455"/>
            </a:xfrm>
            <a:prstGeom prst="cube">
              <a:avLst>
                <a:gd name="adj" fmla="val 34600"/>
              </a:avLst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4400" y="2971800"/>
              <a:ext cx="596229" cy="593543"/>
            </a:xfrm>
            <a:prstGeom prst="rect">
              <a:avLst/>
            </a:prstGeom>
          </p:spPr>
        </p:pic>
        <p:sp>
          <p:nvSpPr>
            <p:cNvPr id="5" name="Cube 4"/>
            <p:cNvSpPr/>
            <p:nvPr/>
          </p:nvSpPr>
          <p:spPr>
            <a:xfrm>
              <a:off x="3615984" y="3708003"/>
              <a:ext cx="958755" cy="623455"/>
            </a:xfrm>
            <a:prstGeom prst="cube">
              <a:avLst>
                <a:gd name="adj" fmla="val 34600"/>
              </a:avLst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3898711" y="2967189"/>
              <a:ext cx="1130489" cy="1452412"/>
            </a:xfrm>
            <a:custGeom>
              <a:avLst/>
              <a:gdLst>
                <a:gd name="connsiteX0" fmla="*/ 1105468 w 1130489"/>
                <a:gd name="connsiteY0" fmla="*/ 0 h 1665027"/>
                <a:gd name="connsiteX1" fmla="*/ 982638 w 1130489"/>
                <a:gd name="connsiteY1" fmla="*/ 341194 h 1665027"/>
                <a:gd name="connsiteX2" fmla="*/ 218364 w 1130489"/>
                <a:gd name="connsiteY2" fmla="*/ 1064526 h 1665027"/>
                <a:gd name="connsiteX3" fmla="*/ 0 w 1130489"/>
                <a:gd name="connsiteY3" fmla="*/ 1665027 h 166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0489" h="1665027">
                  <a:moveTo>
                    <a:pt x="1105468" y="0"/>
                  </a:moveTo>
                  <a:cubicBezTo>
                    <a:pt x="1117978" y="81886"/>
                    <a:pt x="1130489" y="163773"/>
                    <a:pt x="982638" y="341194"/>
                  </a:cubicBezTo>
                  <a:cubicBezTo>
                    <a:pt x="834787" y="518615"/>
                    <a:pt x="382137" y="843887"/>
                    <a:pt x="218364" y="1064526"/>
                  </a:cubicBezTo>
                  <a:cubicBezTo>
                    <a:pt x="54591" y="1285165"/>
                    <a:pt x="27295" y="1475096"/>
                    <a:pt x="0" y="1665027"/>
                  </a:cubicBezTo>
                </a:path>
              </a:pathLst>
            </a:custGeom>
            <a:ln w="57150"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682552" y="4343400"/>
              <a:ext cx="70884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 smtClean="0">
                  <a:solidFill>
                    <a:srgbClr val="E46C0A"/>
                  </a:solidFill>
                </a:rPr>
                <a:t>NF</a:t>
              </a:r>
              <a:r>
                <a:rPr lang="en-US" sz="2800" b="1" baseline="-25000" dirty="0" smtClean="0">
                  <a:solidFill>
                    <a:srgbClr val="E46C0A"/>
                  </a:solidFill>
                </a:rPr>
                <a:t>2</a:t>
              </a:r>
              <a:endParaRPr lang="en-US" sz="2800" b="1" dirty="0">
                <a:solidFill>
                  <a:srgbClr val="E46C0A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657600" y="4353580"/>
              <a:ext cx="70884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 smtClean="0">
                  <a:solidFill>
                    <a:srgbClr val="E46C0A"/>
                  </a:solidFill>
                </a:rPr>
                <a:t>NF</a:t>
              </a:r>
              <a:r>
                <a:rPr lang="en-US" sz="2800" b="1" baseline="-25000" dirty="0" smtClean="0">
                  <a:solidFill>
                    <a:srgbClr val="E46C0A"/>
                  </a:solidFill>
                </a:rPr>
                <a:t>1</a:t>
              </a:r>
              <a:endParaRPr lang="en-US" sz="2800" b="1" dirty="0">
                <a:solidFill>
                  <a:srgbClr val="E46C0A"/>
                </a:solidFill>
              </a:endParaRPr>
            </a:p>
          </p:txBody>
        </p:sp>
      </p:grpSp>
      <p:sp>
        <p:nvSpPr>
          <p:cNvPr id="53" name="Rounded Rectangular Callout 52"/>
          <p:cNvSpPr/>
          <p:nvPr/>
        </p:nvSpPr>
        <p:spPr>
          <a:xfrm>
            <a:off x="1447800" y="4572000"/>
            <a:ext cx="2133600" cy="838200"/>
          </a:xfrm>
          <a:prstGeom prst="wedgeRoundRectCallout">
            <a:avLst>
              <a:gd name="adj1" fmla="val 51426"/>
              <a:gd name="adj2" fmla="val -7977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i="1" dirty="0" smtClean="0"/>
              <a:t>Always has </a:t>
            </a:r>
            <a:br>
              <a:rPr lang="en-US" sz="2400" i="1" dirty="0" smtClean="0"/>
            </a:br>
            <a:r>
              <a:rPr lang="en-US" sz="2400" i="1" dirty="0" smtClean="0"/>
              <a:t>up-to-date state</a:t>
            </a:r>
            <a:endParaRPr lang="en-US" sz="2400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reprocessing (2)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763406" y="2819400"/>
            <a:ext cx="457200" cy="228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762500" y="2819400"/>
            <a:ext cx="457200" cy="228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733800" y="4038600"/>
            <a:ext cx="457200" cy="228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P2’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733800" y="4038600"/>
            <a:ext cx="457200" cy="228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P3’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143000" y="1524000"/>
            <a:ext cx="6858000" cy="6858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We can safely recover from buffer overflow</a:t>
            </a:r>
            <a:endParaRPr lang="en-US" sz="2800" dirty="0"/>
          </a:p>
        </p:txBody>
      </p:sp>
      <p:sp>
        <p:nvSpPr>
          <p:cNvPr id="34" name="Rectangle 33"/>
          <p:cNvSpPr/>
          <p:nvPr/>
        </p:nvSpPr>
        <p:spPr>
          <a:xfrm>
            <a:off x="3733800" y="4038600"/>
            <a:ext cx="457200" cy="228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733800" y="4038600"/>
            <a:ext cx="457200" cy="228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762500" y="2819400"/>
            <a:ext cx="457200" cy="228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733800" y="4038600"/>
            <a:ext cx="457200" cy="228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P4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" name="Picture 29" descr="dialog-warning-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10200" y="3200400"/>
            <a:ext cx="685800" cy="6858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3733800" y="4038600"/>
            <a:ext cx="457200" cy="2286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P4’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6" name="Can 35"/>
          <p:cNvSpPr/>
          <p:nvPr/>
        </p:nvSpPr>
        <p:spPr>
          <a:xfrm>
            <a:off x="2971800" y="37338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ctr"/>
          <a:lstStyle/>
          <a:p>
            <a:pPr algn="ctr"/>
            <a:r>
              <a:rPr lang="en-US" dirty="0" smtClean="0"/>
              <a:t>S1</a:t>
            </a:r>
            <a:endParaRPr lang="en-US" dirty="0"/>
          </a:p>
        </p:txBody>
      </p:sp>
      <p:sp>
        <p:nvSpPr>
          <p:cNvPr id="45" name="Can 44"/>
          <p:cNvSpPr/>
          <p:nvPr/>
        </p:nvSpPr>
        <p:spPr>
          <a:xfrm>
            <a:off x="2971800" y="37338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ctr"/>
          <a:lstStyle/>
          <a:p>
            <a:pPr algn="ctr"/>
            <a:r>
              <a:rPr lang="en-US" dirty="0" smtClean="0"/>
              <a:t>S2</a:t>
            </a:r>
            <a:endParaRPr lang="en-US" dirty="0"/>
          </a:p>
        </p:txBody>
      </p:sp>
      <p:sp>
        <p:nvSpPr>
          <p:cNvPr id="46" name="Can 45"/>
          <p:cNvSpPr/>
          <p:nvPr/>
        </p:nvSpPr>
        <p:spPr>
          <a:xfrm>
            <a:off x="2971800" y="37338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ctr"/>
          <a:lstStyle/>
          <a:p>
            <a:pPr algn="ctr"/>
            <a:r>
              <a:rPr lang="en-US" dirty="0" smtClean="0"/>
              <a:t>S3</a:t>
            </a:r>
            <a:endParaRPr lang="en-US" dirty="0"/>
          </a:p>
        </p:txBody>
      </p:sp>
      <p:sp>
        <p:nvSpPr>
          <p:cNvPr id="47" name="Can 46"/>
          <p:cNvSpPr/>
          <p:nvPr/>
        </p:nvSpPr>
        <p:spPr>
          <a:xfrm>
            <a:off x="2971800" y="37338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ctr"/>
          <a:lstStyle/>
          <a:p>
            <a:pPr algn="ctr"/>
            <a:r>
              <a:rPr lang="en-US" dirty="0" smtClean="0"/>
              <a:t>S4</a:t>
            </a:r>
            <a:endParaRPr lang="en-US" dirty="0"/>
          </a:p>
        </p:txBody>
      </p:sp>
      <p:sp>
        <p:nvSpPr>
          <p:cNvPr id="52" name="Can 51"/>
          <p:cNvSpPr/>
          <p:nvPr/>
        </p:nvSpPr>
        <p:spPr>
          <a:xfrm>
            <a:off x="2971800" y="37338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5720" rIns="0" bIns="0" rtlCol="0" anchor="ctr"/>
          <a:lstStyle/>
          <a:p>
            <a:pPr algn="ctr"/>
            <a:r>
              <a:rPr lang="en-US" dirty="0" smtClean="0"/>
              <a:t>S4</a:t>
            </a:r>
            <a:endParaRPr lang="en-US" dirty="0"/>
          </a:p>
        </p:txBody>
      </p:sp>
      <p:sp>
        <p:nvSpPr>
          <p:cNvPr id="54" name="Rounded Rectangular Callout 53"/>
          <p:cNvSpPr/>
          <p:nvPr/>
        </p:nvSpPr>
        <p:spPr>
          <a:xfrm>
            <a:off x="1752600" y="3657600"/>
            <a:ext cx="990600" cy="457200"/>
          </a:xfrm>
          <a:prstGeom prst="wedgeRoundRectCallout">
            <a:avLst>
              <a:gd name="adj1" fmla="val 73369"/>
              <a:gd name="adj2" fmla="val -911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i="1" dirty="0" smtClean="0"/>
              <a:t>Recopy</a:t>
            </a:r>
            <a:endParaRPr lang="en-US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-3.33333E-6 0.05278 C -3.33333E-6 0.07639 0.07448 0.10556 0.13542 0.10556 L 0.27084 0.10556 " pathEditMode="relative" rAng="0" ptsTypes="FfFF">
                                      <p:cBhvr>
                                        <p:cTn id="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" y="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5 0.0044 L -0.11493 0.17658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" y="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0.0007 L 0.21667 -0.0007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91557E-6 L -3.33333E-6 0.22878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5 0.0044 L -0.11493 0.17658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" y="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5876E-6 L 0.15833 -1.5876E-6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59473E-6 L -3.33333E-6 0.1846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000"/>
                            </p:stCondLst>
                            <p:childTnLst>
                              <p:par>
                                <p:cTn id="60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5 0.0044 L -0.11493 0.17658 " pathEditMode="relative" rAng="0" ptsTypes="AA">
                                      <p:cBhvr>
                                        <p:cTn id="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" y="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49456E-7 L 0.1 -3.49456E-7 " pathEditMode="relative" rAng="0" ptsTypes="AA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12353E-6 L -3.33333E-6 0.13879 " pathEditMode="relative" rAng="0" ptsTypes="AA">
                                      <p:cBhvr>
                                        <p:cTn id="9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-3.33333E-6 0.05278 C -3.33333E-6 0.07639 0.07448 0.10556 0.13542 0.10556 L 0.27084 0.10556 " pathEditMode="relative" rAng="0" ptsTypes="FfFF">
                                      <p:cBhvr>
                                        <p:cTn id="104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" y="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5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55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12" grpId="0" animBg="1"/>
      <p:bldP spid="12" grpId="1" animBg="1"/>
      <p:bldP spid="12" grpId="2" animBg="1"/>
      <p:bldP spid="19" grpId="0" animBg="1"/>
      <p:bldP spid="19" grpId="1" animBg="1"/>
      <p:bldP spid="19" grpId="2" animBg="1"/>
      <p:bldP spid="43" grpId="0" animBg="1"/>
      <p:bldP spid="43" grpId="1" animBg="1"/>
      <p:bldP spid="50" grpId="0" animBg="1"/>
      <p:bldP spid="50" grpId="1" animBg="1"/>
      <p:bldP spid="34" grpId="0" animBg="1"/>
      <p:bldP spid="34" grpId="1" animBg="1"/>
      <p:bldP spid="34" grpId="2" animBg="1"/>
      <p:bldP spid="51" grpId="0" animBg="1"/>
      <p:bldP spid="51" grpId="1" animBg="1"/>
      <p:bldP spid="51" grpId="2" animBg="1"/>
      <p:bldP spid="28" grpId="0" animBg="1"/>
      <p:bldP spid="28" grpId="1" animBg="1"/>
      <p:bldP spid="28" grpId="2" animBg="1"/>
      <p:bldP spid="29" grpId="0" animBg="1"/>
      <p:bldP spid="29" grpId="1" animBg="1"/>
      <p:bldP spid="29" grpId="3" animBg="1"/>
      <p:bldP spid="31" grpId="0" animBg="1"/>
      <p:bldP spid="31" grpId="1" animBg="1"/>
      <p:bldP spid="36" grpId="0" animBg="1"/>
      <p:bldP spid="36" grpId="1" animBg="1"/>
      <p:bldP spid="45" grpId="0" animBg="1"/>
      <p:bldP spid="46" grpId="0" animBg="1"/>
      <p:bldP spid="47" grpId="0" animBg="1"/>
      <p:bldP spid="52" grpId="0" animBg="1"/>
      <p:bldP spid="52" grpId="1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talk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365125"/>
          </a:xfrm>
        </p:spPr>
        <p:txBody>
          <a:bodyPr/>
          <a:lstStyle/>
          <a:p>
            <a:fld id="{622C5A87-65DC-41FD-9E53-7EAC48455B9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8" name="Rounded Rectangular Callout 67"/>
          <p:cNvSpPr/>
          <p:nvPr/>
        </p:nvSpPr>
        <p:spPr>
          <a:xfrm>
            <a:off x="1143000" y="5105400"/>
            <a:ext cx="2286000" cy="1447800"/>
          </a:xfrm>
          <a:prstGeom prst="wedgeRoundRectCallout">
            <a:avLst>
              <a:gd name="adj1" fmla="val -34736"/>
              <a:gd name="adj2" fmla="val -73099"/>
              <a:gd name="adj3" fmla="val 16667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3) Scalability</a:t>
            </a:r>
            <a:br>
              <a:rPr lang="en-US" sz="2800" dirty="0" smtClean="0"/>
            </a:br>
            <a:r>
              <a:rPr lang="en-US" sz="2800" i="1" dirty="0" smtClean="0"/>
              <a:t>transfer via controller</a:t>
            </a:r>
            <a:endParaRPr lang="en-US" sz="2800" i="1" dirty="0"/>
          </a:p>
        </p:txBody>
      </p:sp>
      <p:sp>
        <p:nvSpPr>
          <p:cNvPr id="71" name="Rounded Rectangular Callout 70"/>
          <p:cNvSpPr/>
          <p:nvPr/>
        </p:nvSpPr>
        <p:spPr>
          <a:xfrm>
            <a:off x="533400" y="3124200"/>
            <a:ext cx="3276600" cy="1447800"/>
          </a:xfrm>
          <a:prstGeom prst="wedgeRoundRectCallout">
            <a:avLst>
              <a:gd name="adj1" fmla="val 28872"/>
              <a:gd name="adj2" fmla="val 67230"/>
              <a:gd name="adj3" fmla="val 16667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2) Safety</a:t>
            </a:r>
            <a:br>
              <a:rPr lang="en-US" sz="2800" dirty="0" smtClean="0"/>
            </a:br>
            <a:r>
              <a:rPr lang="en-US" sz="2800" i="1" dirty="0" smtClean="0"/>
              <a:t>overflow → loss → incomplete analysis</a:t>
            </a:r>
            <a:endParaRPr lang="en-US" sz="2800" i="1" dirty="0"/>
          </a:p>
        </p:txBody>
      </p:sp>
      <p:grpSp>
        <p:nvGrpSpPr>
          <p:cNvPr id="5" name="Group 80"/>
          <p:cNvGrpSpPr/>
          <p:nvPr/>
        </p:nvGrpSpPr>
        <p:grpSpPr>
          <a:xfrm>
            <a:off x="5445045" y="2590800"/>
            <a:ext cx="2936955" cy="3871913"/>
            <a:chOff x="5105400" y="2590800"/>
            <a:chExt cx="2936955" cy="3871913"/>
          </a:xfrm>
        </p:grpSpPr>
        <p:pic>
          <p:nvPicPr>
            <p:cNvPr id="75" name="Picture 74" descr="thinkingcap.gif"/>
            <p:cNvPicPr>
              <a:picLocks noChangeAspect="1"/>
            </p:cNvPicPr>
            <p:nvPr/>
          </p:nvPicPr>
          <p:blipFill>
            <a:blip r:embed="rId3" cstate="print"/>
            <a:srcRect l="6706" t="1930" r="17293"/>
            <a:stretch>
              <a:fillRect/>
            </a:stretch>
          </p:blipFill>
          <p:spPr>
            <a:xfrm>
              <a:off x="5105400" y="2590800"/>
              <a:ext cx="2590800" cy="3871913"/>
            </a:xfrm>
            <a:prstGeom prst="rect">
              <a:avLst/>
            </a:prstGeom>
          </p:spPr>
        </p:pic>
        <p:sp>
          <p:nvSpPr>
            <p:cNvPr id="77" name="Rounded Rectangle 76"/>
            <p:cNvSpPr/>
            <p:nvPr/>
          </p:nvSpPr>
          <p:spPr>
            <a:xfrm rot="18000000">
              <a:off x="7296127" y="5228589"/>
              <a:ext cx="838200" cy="65425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Rounded Rectangular Callout 82"/>
          <p:cNvSpPr/>
          <p:nvPr/>
        </p:nvSpPr>
        <p:spPr>
          <a:xfrm>
            <a:off x="990600" y="1143000"/>
            <a:ext cx="2590800" cy="1447800"/>
          </a:xfrm>
          <a:prstGeom prst="wedgeRoundRectCallout">
            <a:avLst>
              <a:gd name="adj1" fmla="val -42640"/>
              <a:gd name="adj2" fmla="val 74332"/>
              <a:gd name="adj3" fmla="val 16667"/>
            </a:avLst>
          </a:prstGeom>
          <a:ln w="76200"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1) Efficiency</a:t>
            </a:r>
            <a:br>
              <a:rPr lang="en-US" sz="2800" dirty="0" smtClean="0"/>
            </a:br>
            <a:r>
              <a:rPr lang="en-US" sz="2800" i="1" dirty="0" smtClean="0"/>
              <a:t>buffering → output delayed</a:t>
            </a:r>
            <a:endParaRPr lang="en-US" sz="2800" i="1" dirty="0"/>
          </a:p>
        </p:txBody>
      </p:sp>
      <p:sp>
        <p:nvSpPr>
          <p:cNvPr id="14" name="Rounded Rectangular Callout 13"/>
          <p:cNvSpPr/>
          <p:nvPr/>
        </p:nvSpPr>
        <p:spPr>
          <a:xfrm>
            <a:off x="990600" y="1143000"/>
            <a:ext cx="2590800" cy="1447800"/>
          </a:xfrm>
          <a:prstGeom prst="wedgeRoundRectCallout">
            <a:avLst>
              <a:gd name="adj1" fmla="val -42640"/>
              <a:gd name="adj2" fmla="val 74332"/>
              <a:gd name="adj3" fmla="val 16667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1) Efficiency</a:t>
            </a:r>
            <a:br>
              <a:rPr lang="en-US" sz="2800" dirty="0" smtClean="0"/>
            </a:br>
            <a:r>
              <a:rPr lang="en-US" sz="2800" i="1" dirty="0" smtClean="0"/>
              <a:t>buffering → output delayed</a:t>
            </a:r>
            <a:endParaRPr lang="en-US" sz="2800" i="1" dirty="0"/>
          </a:p>
        </p:txBody>
      </p:sp>
      <p:sp>
        <p:nvSpPr>
          <p:cNvPr id="15" name="Rounded Rectangular Callout 14"/>
          <p:cNvSpPr/>
          <p:nvPr/>
        </p:nvSpPr>
        <p:spPr>
          <a:xfrm>
            <a:off x="533400" y="3124200"/>
            <a:ext cx="3276600" cy="1447800"/>
          </a:xfrm>
          <a:prstGeom prst="wedgeRoundRectCallout">
            <a:avLst>
              <a:gd name="adj1" fmla="val 28872"/>
              <a:gd name="adj2" fmla="val 67230"/>
              <a:gd name="adj3" fmla="val 16667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2) Safety</a:t>
            </a:r>
            <a:br>
              <a:rPr lang="en-US" sz="2800" dirty="0" smtClean="0"/>
            </a:br>
            <a:r>
              <a:rPr lang="en-US" sz="2800" i="1" dirty="0" smtClean="0"/>
              <a:t>overflow → loss → incomplete analysis</a:t>
            </a:r>
            <a:endParaRPr lang="en-US" sz="2800" i="1" dirty="0"/>
          </a:p>
        </p:txBody>
      </p:sp>
      <p:sp>
        <p:nvSpPr>
          <p:cNvPr id="16" name="Rounded Rectangular Callout 15"/>
          <p:cNvSpPr/>
          <p:nvPr/>
        </p:nvSpPr>
        <p:spPr>
          <a:xfrm>
            <a:off x="1143000" y="5105400"/>
            <a:ext cx="2286000" cy="1447800"/>
          </a:xfrm>
          <a:prstGeom prst="wedgeRoundRectCallout">
            <a:avLst>
              <a:gd name="adj1" fmla="val -34736"/>
              <a:gd name="adj2" fmla="val -73099"/>
              <a:gd name="adj3" fmla="val 16667"/>
            </a:avLst>
          </a:prstGeom>
          <a:ln w="76200">
            <a:solidFill>
              <a:schemeClr val="tx1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3) Scalability</a:t>
            </a:r>
            <a:br>
              <a:rPr lang="en-US" sz="2800" dirty="0" smtClean="0"/>
            </a:br>
            <a:r>
              <a:rPr lang="en-US" sz="2800" i="1" dirty="0" smtClean="0"/>
              <a:t>transfer via controller</a:t>
            </a:r>
            <a:endParaRPr lang="en-US" sz="2800" i="1" dirty="0"/>
          </a:p>
        </p:txBody>
      </p:sp>
      <p:grpSp>
        <p:nvGrpSpPr>
          <p:cNvPr id="20" name="Group 19"/>
          <p:cNvGrpSpPr/>
          <p:nvPr/>
        </p:nvGrpSpPr>
        <p:grpSpPr>
          <a:xfrm>
            <a:off x="3962400" y="1371600"/>
            <a:ext cx="2971800" cy="1524000"/>
            <a:chOff x="4114800" y="1371600"/>
            <a:chExt cx="2971800" cy="1524000"/>
          </a:xfrm>
        </p:grpSpPr>
        <p:sp>
          <p:nvSpPr>
            <p:cNvPr id="18" name="Cloud Callout 17"/>
            <p:cNvSpPr/>
            <p:nvPr/>
          </p:nvSpPr>
          <p:spPr>
            <a:xfrm flipV="1">
              <a:off x="4114800" y="1371600"/>
              <a:ext cx="2971800" cy="1524000"/>
            </a:xfrm>
            <a:prstGeom prst="cloudCallout">
              <a:avLst>
                <a:gd name="adj1" fmla="val 27563"/>
                <a:gd name="adj2" fmla="val -98870"/>
              </a:avLst>
            </a:prstGeom>
            <a:ln w="571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en-US" sz="3200" dirty="0" smtClean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19600" y="1589782"/>
              <a:ext cx="2514600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3200" b="1" dirty="0" smtClean="0">
                  <a:solidFill>
                    <a:schemeClr val="accent6">
                      <a:lumMod val="75000"/>
                    </a:schemeClr>
                  </a:solidFill>
                </a:rPr>
                <a:t>Packet</a:t>
              </a:r>
              <a:br>
                <a:rPr lang="en-US" sz="3200" b="1" dirty="0" smtClean="0">
                  <a:solidFill>
                    <a:schemeClr val="accent6">
                      <a:lumMod val="75000"/>
                    </a:schemeClr>
                  </a:solidFill>
                </a:rPr>
              </a:br>
              <a:r>
                <a:rPr lang="en-US" sz="3200" b="1" dirty="0" smtClean="0">
                  <a:solidFill>
                    <a:schemeClr val="accent6">
                      <a:lumMod val="75000"/>
                    </a:schemeClr>
                  </a:solidFill>
                </a:rPr>
                <a:t>reprocessing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Minimizing controller overhead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i="1" dirty="0" smtClean="0"/>
              <a:t>We don’t want to send state/packets </a:t>
            </a:r>
            <a:br>
              <a:rPr lang="en-US" i="1" dirty="0" smtClean="0"/>
            </a:br>
            <a:r>
              <a:rPr lang="en-US" i="1" dirty="0" smtClean="0"/>
              <a:t>through the 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1" y="4724400"/>
            <a:ext cx="7088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E46C0A"/>
                </a:solidFill>
              </a:rPr>
              <a:t>NF</a:t>
            </a:r>
            <a:r>
              <a:rPr lang="en-US" sz="2800" b="1" baseline="-25000" dirty="0" smtClean="0">
                <a:solidFill>
                  <a:srgbClr val="E46C0A"/>
                </a:solidFill>
              </a:rPr>
              <a:t>2</a:t>
            </a:r>
            <a:endParaRPr lang="en-US" sz="2800" b="1" baseline="-25000" dirty="0">
              <a:solidFill>
                <a:srgbClr val="E46C0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15798" y="4724400"/>
            <a:ext cx="7088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E46C0A"/>
                </a:solidFill>
              </a:rPr>
              <a:t>NF</a:t>
            </a:r>
            <a:r>
              <a:rPr lang="en-US" sz="2800" b="1" baseline="-25000" dirty="0" smtClean="0">
                <a:solidFill>
                  <a:srgbClr val="E46C0A"/>
                </a:solidFill>
              </a:rPr>
              <a:t>1</a:t>
            </a:r>
            <a:endParaRPr lang="en-US" sz="2800" b="1" baseline="-25000" dirty="0">
              <a:solidFill>
                <a:srgbClr val="E46C0A"/>
              </a:solidFill>
            </a:endParaRPr>
          </a:p>
        </p:txBody>
      </p:sp>
      <p:cxnSp>
        <p:nvCxnSpPr>
          <p:cNvPr id="8" name="Straight Connector 7"/>
          <p:cNvCxnSpPr>
            <a:stCxn id="21" idx="1"/>
            <a:endCxn id="42" idx="4"/>
          </p:cNvCxnSpPr>
          <p:nvPr/>
        </p:nvCxnSpPr>
        <p:spPr>
          <a:xfrm flipH="1" flipV="1">
            <a:off x="2952840" y="4610585"/>
            <a:ext cx="1314360" cy="41861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21" idx="3"/>
          </p:cNvCxnSpPr>
          <p:nvPr/>
        </p:nvCxnSpPr>
        <p:spPr>
          <a:xfrm flipV="1">
            <a:off x="5032648" y="4724400"/>
            <a:ext cx="987152" cy="3048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4648200"/>
            <a:ext cx="765448" cy="762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048000" y="3048000"/>
            <a:ext cx="3028516" cy="685800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dirty="0" err="1" smtClean="0">
                <a:solidFill>
                  <a:schemeClr val="accent6"/>
                </a:solidFill>
              </a:rPr>
              <a:t>OpenNF</a:t>
            </a:r>
            <a:r>
              <a:rPr lang="en-US" sz="2800" dirty="0" smtClean="0">
                <a:solidFill>
                  <a:schemeClr val="accent6"/>
                </a:solidFill>
              </a:rPr>
              <a:t> Controller</a:t>
            </a:r>
            <a:endParaRPr lang="en-US" sz="2800" dirty="0">
              <a:solidFill>
                <a:schemeClr val="accent6"/>
              </a:solidFill>
            </a:endParaRPr>
          </a:p>
        </p:txBody>
      </p:sp>
      <p:sp>
        <p:nvSpPr>
          <p:cNvPr id="41" name="Cube 40"/>
          <p:cNvSpPr/>
          <p:nvPr/>
        </p:nvSpPr>
        <p:spPr>
          <a:xfrm>
            <a:off x="6019800" y="4191000"/>
            <a:ext cx="958755" cy="623455"/>
          </a:xfrm>
          <a:prstGeom prst="cube">
            <a:avLst>
              <a:gd name="adj" fmla="val 346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ube 41"/>
          <p:cNvSpPr/>
          <p:nvPr/>
        </p:nvSpPr>
        <p:spPr>
          <a:xfrm>
            <a:off x="2209800" y="4191000"/>
            <a:ext cx="958755" cy="623455"/>
          </a:xfrm>
          <a:prstGeom prst="cube">
            <a:avLst>
              <a:gd name="adj" fmla="val 34600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Slide Number Placeholder 7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2" name="Freeform 91"/>
          <p:cNvSpPr/>
          <p:nvPr/>
        </p:nvSpPr>
        <p:spPr>
          <a:xfrm>
            <a:off x="2949677" y="3574026"/>
            <a:ext cx="3259394" cy="607142"/>
          </a:xfrm>
          <a:custGeom>
            <a:avLst/>
            <a:gdLst>
              <a:gd name="connsiteX0" fmla="*/ 0 w 3259394"/>
              <a:gd name="connsiteY0" fmla="*/ 592393 h 607142"/>
              <a:gd name="connsiteX1" fmla="*/ 1651820 w 3259394"/>
              <a:gd name="connsiteY1" fmla="*/ 2458 h 607142"/>
              <a:gd name="connsiteX2" fmla="*/ 3259394 w 3259394"/>
              <a:gd name="connsiteY2" fmla="*/ 607142 h 607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9394" h="607142">
                <a:moveTo>
                  <a:pt x="0" y="592393"/>
                </a:moveTo>
                <a:cubicBezTo>
                  <a:pt x="554294" y="296196"/>
                  <a:pt x="1108588" y="0"/>
                  <a:pt x="1651820" y="2458"/>
                </a:cubicBezTo>
                <a:cubicBezTo>
                  <a:pt x="2195052" y="4916"/>
                  <a:pt x="2727223" y="306029"/>
                  <a:pt x="3259394" y="607142"/>
                </a:cubicBezTo>
              </a:path>
            </a:pathLst>
          </a:custGeom>
          <a:ln>
            <a:prstDash val="dash"/>
            <a:headEnd type="none" w="med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an 64"/>
          <p:cNvSpPr/>
          <p:nvPr/>
        </p:nvSpPr>
        <p:spPr>
          <a:xfrm>
            <a:off x="2438400" y="42672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reeform 94"/>
          <p:cNvSpPr/>
          <p:nvPr/>
        </p:nvSpPr>
        <p:spPr>
          <a:xfrm>
            <a:off x="4114800" y="3554361"/>
            <a:ext cx="1887794" cy="1322439"/>
          </a:xfrm>
          <a:custGeom>
            <a:avLst/>
            <a:gdLst>
              <a:gd name="connsiteX0" fmla="*/ 0 w 1887794"/>
              <a:gd name="connsiteY0" fmla="*/ 95865 h 1322439"/>
              <a:gd name="connsiteX1" fmla="*/ 73742 w 1887794"/>
              <a:gd name="connsiteY1" fmla="*/ 95865 h 1322439"/>
              <a:gd name="connsiteX2" fmla="*/ 309716 w 1887794"/>
              <a:gd name="connsiteY2" fmla="*/ 184355 h 1322439"/>
              <a:gd name="connsiteX3" fmla="*/ 589935 w 1887794"/>
              <a:gd name="connsiteY3" fmla="*/ 1201994 h 1322439"/>
              <a:gd name="connsiteX4" fmla="*/ 1887794 w 1887794"/>
              <a:gd name="connsiteY4" fmla="*/ 907026 h 132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7794" h="1322439">
                <a:moveTo>
                  <a:pt x="0" y="95865"/>
                </a:moveTo>
                <a:cubicBezTo>
                  <a:pt x="11061" y="88491"/>
                  <a:pt x="22123" y="81117"/>
                  <a:pt x="73742" y="95865"/>
                </a:cubicBezTo>
                <a:cubicBezTo>
                  <a:pt x="125361" y="110613"/>
                  <a:pt x="223684" y="0"/>
                  <a:pt x="309716" y="184355"/>
                </a:cubicBezTo>
                <a:cubicBezTo>
                  <a:pt x="395748" y="368710"/>
                  <a:pt x="326922" y="1081549"/>
                  <a:pt x="589935" y="1201994"/>
                </a:cubicBezTo>
                <a:cubicBezTo>
                  <a:pt x="852948" y="1322439"/>
                  <a:pt x="1370371" y="1114732"/>
                  <a:pt x="1887794" y="907026"/>
                </a:cubicBezTo>
              </a:path>
            </a:pathLst>
          </a:custGeom>
          <a:ln>
            <a:prstDash val="dash"/>
            <a:headEnd type="none" w="med" len="me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2438400" y="4267200"/>
            <a:ext cx="381000" cy="381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ounded Rectangular Callout 74"/>
          <p:cNvSpPr/>
          <p:nvPr/>
        </p:nvSpPr>
        <p:spPr>
          <a:xfrm>
            <a:off x="6324600" y="3276600"/>
            <a:ext cx="1828800" cy="838200"/>
          </a:xfrm>
          <a:prstGeom prst="wedgeRoundRectCallout">
            <a:avLst>
              <a:gd name="adj1" fmla="val -80920"/>
              <a:gd name="adj2" fmla="val 6505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i="1" dirty="0" smtClean="0"/>
              <a:t>Peer-to-peer transfer</a:t>
            </a:r>
            <a:endParaRPr lang="en-US" sz="2400" i="1" dirty="0"/>
          </a:p>
        </p:txBody>
      </p:sp>
      <p:sp>
        <p:nvSpPr>
          <p:cNvPr id="71" name="Right Arrow 70"/>
          <p:cNvSpPr/>
          <p:nvPr/>
        </p:nvSpPr>
        <p:spPr>
          <a:xfrm>
            <a:off x="3397155" y="4267200"/>
            <a:ext cx="2438400" cy="304800"/>
          </a:xfrm>
          <a:prstGeom prst="rightArrow">
            <a:avLst/>
          </a:prstGeom>
          <a:solidFill>
            <a:srgbClr val="FFFF00"/>
          </a:soli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Can 71"/>
          <p:cNvSpPr/>
          <p:nvPr/>
        </p:nvSpPr>
        <p:spPr>
          <a:xfrm>
            <a:off x="2438400" y="4267200"/>
            <a:ext cx="381000" cy="381000"/>
          </a:xfrm>
          <a:prstGeom prst="ca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2438400" y="4267200"/>
            <a:ext cx="381000" cy="381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7 -0.00209 C 0.0717 -0.06505 0.14774 -0.12778 0.2184 -0.12686 C 0.28906 -0.12593 0.35451 -0.06088 0.41997 0.00416 " pathEditMode="relative" rAng="0" ptsTypes="aaA">
                                      <p:cBhvr>
                                        <p:cTn id="9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" y="-6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100"/>
                            </p:stCondLst>
                            <p:childTnLst>
                              <p:par>
                                <p:cTn id="14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5973 -0.04629 0.11945 -0.09259 0.1533 -0.10764 C 0.18716 -0.12268 0.18803 -0.11643 0.2033 -0.09027 C 0.21858 -0.06412 0.20921 0.0338 0.24514 0.04931 C 0.28108 0.06482 0.35018 0.03334 0.41945 0.00209 " pathEditMode="relative" ptsTypes="aaaaA">
                                      <p:cBhvr>
                                        <p:cTn id="23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200"/>
                            </p:stCondLst>
                            <p:childTnLst>
                              <p:par>
                                <p:cTn id="28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0.42084 -3.33333E-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0.42084 0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65" grpId="0" animBg="1"/>
      <p:bldP spid="65" grpId="1" animBg="1"/>
      <p:bldP spid="65" grpId="2" animBg="1"/>
      <p:bldP spid="95" grpId="0" animBg="1"/>
      <p:bldP spid="66" grpId="0" animBg="1"/>
      <p:bldP spid="66" grpId="2" animBg="1"/>
      <p:bldP spid="66" grpId="3" animBg="1"/>
      <p:bldP spid="75" grpId="0" animBg="1"/>
      <p:bldP spid="71" grpId="1" animBg="1"/>
      <p:bldP spid="72" grpId="0" animBg="1"/>
      <p:bldP spid="72" grpId="2" animBg="1"/>
      <p:bldP spid="72" grpId="3" animBg="1"/>
      <p:bldP spid="73" grpId="0" animBg="1"/>
      <p:bldP spid="73" grpId="2" animBg="1"/>
      <p:bldP spid="73" grpId="3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4572000" y="4876800"/>
            <a:ext cx="1600200" cy="1056620"/>
            <a:chOff x="762000" y="3200400"/>
            <a:chExt cx="1600200" cy="1056620"/>
          </a:xfrm>
        </p:grpSpPr>
        <p:sp>
          <p:nvSpPr>
            <p:cNvPr id="60" name="Cube 59"/>
            <p:cNvSpPr/>
            <p:nvPr/>
          </p:nvSpPr>
          <p:spPr>
            <a:xfrm>
              <a:off x="762000" y="3200400"/>
              <a:ext cx="958755" cy="623455"/>
            </a:xfrm>
            <a:prstGeom prst="cube">
              <a:avLst>
                <a:gd name="adj" fmla="val 34600"/>
              </a:avLst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ight Arrow 60"/>
            <p:cNvSpPr/>
            <p:nvPr/>
          </p:nvSpPr>
          <p:spPr>
            <a:xfrm>
              <a:off x="1676400" y="3352800"/>
              <a:ext cx="685800" cy="304800"/>
            </a:xfrm>
            <a:prstGeom prst="rightArrow">
              <a:avLst/>
            </a:prstGeom>
            <a:solidFill>
              <a:srgbClr val="FFFF00"/>
            </a:solidFill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62000" y="3733800"/>
              <a:ext cx="70884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 smtClean="0">
                  <a:solidFill>
                    <a:srgbClr val="E46C0A"/>
                  </a:solidFill>
                </a:rPr>
                <a:t>NF</a:t>
              </a:r>
              <a:r>
                <a:rPr lang="en-US" sz="2800" b="1" baseline="-25000" dirty="0" smtClean="0">
                  <a:solidFill>
                    <a:srgbClr val="E46C0A"/>
                  </a:solidFill>
                </a:rPr>
                <a:t>1</a:t>
              </a:r>
              <a:endParaRPr lang="en-US" sz="2800" b="1" baseline="-25000" dirty="0">
                <a:solidFill>
                  <a:srgbClr val="E46C0A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029200" cy="1371600"/>
          </a:xfrm>
        </p:spPr>
        <p:txBody>
          <a:bodyPr/>
          <a:lstStyle/>
          <a:p>
            <a:r>
              <a:rPr lang="en-US" dirty="0" smtClean="0"/>
              <a:t>Use virtual Ethernet (</a:t>
            </a:r>
            <a:r>
              <a:rPr lang="en-US" dirty="0" err="1" smtClean="0"/>
              <a:t>veth</a:t>
            </a:r>
            <a:r>
              <a:rPr lang="en-US" dirty="0" smtClean="0"/>
              <a:t>)</a:t>
            </a:r>
            <a:br>
              <a:rPr lang="en-US" dirty="0" smtClean="0"/>
            </a:br>
            <a:r>
              <a:rPr lang="en-US" dirty="0" smtClean="0"/>
              <a:t>interfaces and bridging</a:t>
            </a:r>
          </a:p>
          <a:p>
            <a:pPr lvl="1"/>
            <a:endParaRPr lang="en-US" dirty="0" smtClean="0"/>
          </a:p>
        </p:txBody>
      </p:sp>
      <p:grpSp>
        <p:nvGrpSpPr>
          <p:cNvPr id="69" name="Group 68"/>
          <p:cNvGrpSpPr/>
          <p:nvPr/>
        </p:nvGrpSpPr>
        <p:grpSpPr>
          <a:xfrm>
            <a:off x="6172200" y="4267200"/>
            <a:ext cx="958755" cy="1590020"/>
            <a:chOff x="6172200" y="4267200"/>
            <a:chExt cx="958755" cy="1590020"/>
          </a:xfrm>
        </p:grpSpPr>
        <p:sp>
          <p:nvSpPr>
            <p:cNvPr id="15" name="Cube 14"/>
            <p:cNvSpPr/>
            <p:nvPr/>
          </p:nvSpPr>
          <p:spPr>
            <a:xfrm>
              <a:off x="6172200" y="4800600"/>
              <a:ext cx="958755" cy="623455"/>
            </a:xfrm>
            <a:prstGeom prst="cube">
              <a:avLst>
                <a:gd name="adj" fmla="val 34600"/>
              </a:avLst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/>
            <p:cNvCxnSpPr/>
            <p:nvPr/>
          </p:nvCxnSpPr>
          <p:spPr>
            <a:xfrm>
              <a:off x="6629400" y="4267200"/>
              <a:ext cx="0" cy="533400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65"/>
            <p:cNvSpPr/>
            <p:nvPr/>
          </p:nvSpPr>
          <p:spPr>
            <a:xfrm>
              <a:off x="6172200" y="5334000"/>
              <a:ext cx="70884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 smtClean="0">
                  <a:solidFill>
                    <a:srgbClr val="E46C0A"/>
                  </a:solidFill>
                </a:rPr>
                <a:t>NF</a:t>
              </a:r>
              <a:r>
                <a:rPr lang="en-US" sz="2800" b="1" baseline="-25000" dirty="0" smtClean="0">
                  <a:solidFill>
                    <a:srgbClr val="E46C0A"/>
                  </a:solidFill>
                </a:rPr>
                <a:t>2</a:t>
              </a:r>
              <a:endParaRPr lang="en-US" sz="2800" b="1" baseline="-25000" dirty="0">
                <a:solidFill>
                  <a:srgbClr val="E46C0A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Challenge: injecting packets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5562600" y="2757055"/>
            <a:ext cx="1555454" cy="1160720"/>
            <a:chOff x="7772400" y="2095321"/>
            <a:chExt cx="1555454" cy="1160720"/>
          </a:xfrm>
        </p:grpSpPr>
        <p:sp>
          <p:nvSpPr>
            <p:cNvPr id="44" name="Isosceles Triangle 43"/>
            <p:cNvSpPr/>
            <p:nvPr/>
          </p:nvSpPr>
          <p:spPr>
            <a:xfrm rot="1800000">
              <a:off x="7981418" y="2095321"/>
              <a:ext cx="1346436" cy="1160720"/>
            </a:xfrm>
            <a:prstGeom prst="triangl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772400" y="2590800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dirty="0" smtClean="0">
                  <a:solidFill>
                    <a:schemeClr val="bg1"/>
                  </a:solidFill>
                </a:rPr>
                <a:t>bridge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3886200" y="3290455"/>
            <a:ext cx="1905000" cy="457200"/>
            <a:chOff x="3886200" y="3290455"/>
            <a:chExt cx="1905000" cy="457200"/>
          </a:xfrm>
        </p:grpSpPr>
        <p:cxnSp>
          <p:nvCxnSpPr>
            <p:cNvPr id="30" name="Straight Connector 29"/>
            <p:cNvCxnSpPr>
              <a:stCxn id="35" idx="3"/>
              <a:endCxn id="34" idx="1"/>
            </p:cNvCxnSpPr>
            <p:nvPr/>
          </p:nvCxnSpPr>
          <p:spPr>
            <a:xfrm>
              <a:off x="3886200" y="3519055"/>
              <a:ext cx="381000" cy="0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>
              <a:off x="4267200" y="3290455"/>
              <a:ext cx="1524000" cy="4572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schemeClr val="accent1"/>
                  </a:solidFill>
                </a:rPr>
                <a:t>vethP2Pbr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6172200" y="2819400"/>
            <a:ext cx="914400" cy="1600200"/>
            <a:chOff x="7696200" y="1905000"/>
            <a:chExt cx="914400" cy="1600200"/>
          </a:xfrm>
        </p:grpSpPr>
        <p:sp>
          <p:nvSpPr>
            <p:cNvPr id="6" name="Rectangle 5"/>
            <p:cNvSpPr/>
            <p:nvPr/>
          </p:nvSpPr>
          <p:spPr>
            <a:xfrm>
              <a:off x="7696200" y="3048000"/>
              <a:ext cx="914400" cy="4572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 smtClean="0">
                  <a:solidFill>
                    <a:schemeClr val="accent1"/>
                  </a:solidFill>
                </a:rPr>
                <a:t>ethIn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2400" y="1905000"/>
              <a:ext cx="765448" cy="762000"/>
            </a:xfrm>
            <a:prstGeom prst="rect">
              <a:avLst/>
            </a:prstGeom>
          </p:spPr>
        </p:pic>
        <p:cxnSp>
          <p:nvCxnSpPr>
            <p:cNvPr id="8" name="Straight Connector 7"/>
            <p:cNvCxnSpPr>
              <a:stCxn id="7" idx="2"/>
              <a:endCxn id="6" idx="0"/>
            </p:cNvCxnSpPr>
            <p:nvPr/>
          </p:nvCxnSpPr>
          <p:spPr>
            <a:xfrm flipH="1">
              <a:off x="8153400" y="2667000"/>
              <a:ext cx="1724" cy="381000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/>
          <p:cNvSpPr/>
          <p:nvPr/>
        </p:nvSpPr>
        <p:spPr>
          <a:xfrm>
            <a:off x="5867400" y="4800600"/>
            <a:ext cx="1524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 smtClean="0">
                <a:solidFill>
                  <a:schemeClr val="accent1"/>
                </a:solidFill>
              </a:rPr>
              <a:t>vethNFin</a:t>
            </a:r>
            <a:endParaRPr lang="en-US" sz="2400" dirty="0">
              <a:solidFill>
                <a:schemeClr val="accent1"/>
              </a:solidFill>
            </a:endParaRPr>
          </a:p>
        </p:txBody>
      </p:sp>
      <p:grpSp>
        <p:nvGrpSpPr>
          <p:cNvPr id="59" name="Group 58"/>
          <p:cNvGrpSpPr/>
          <p:nvPr/>
        </p:nvGrpSpPr>
        <p:grpSpPr>
          <a:xfrm>
            <a:off x="5867400" y="3962400"/>
            <a:ext cx="1524000" cy="838200"/>
            <a:chOff x="5867400" y="3962400"/>
            <a:chExt cx="1524000" cy="838200"/>
          </a:xfrm>
        </p:grpSpPr>
        <p:cxnSp>
          <p:nvCxnSpPr>
            <p:cNvPr id="14" name="Straight Connector 13"/>
            <p:cNvCxnSpPr>
              <a:stCxn id="6" idx="2"/>
            </p:cNvCxnSpPr>
            <p:nvPr/>
          </p:nvCxnSpPr>
          <p:spPr>
            <a:xfrm>
              <a:off x="6629400" y="4419600"/>
              <a:ext cx="0" cy="381000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>
              <a:off x="5867400" y="3962400"/>
              <a:ext cx="1524000" cy="4572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 smtClean="0">
                  <a:solidFill>
                    <a:schemeClr val="accent1"/>
                  </a:solidFill>
                </a:rPr>
                <a:t>vethNFbr</a:t>
              </a:r>
              <a:endParaRPr lang="en-US" sz="24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5" name="Rectangle 34"/>
          <p:cNvSpPr/>
          <p:nvPr/>
        </p:nvSpPr>
        <p:spPr>
          <a:xfrm>
            <a:off x="2362200" y="3290455"/>
            <a:ext cx="15240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accent1"/>
                </a:solidFill>
              </a:rPr>
              <a:t>vethP2Pin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400800" y="3048000"/>
            <a:ext cx="381000" cy="381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400800" y="1828800"/>
            <a:ext cx="381000" cy="381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990600" y="3276600"/>
            <a:ext cx="381000" cy="3810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pat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3.33333E-6 0.27222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64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2.22222E-6 L 1.11022E-16 -0.20556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3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44444E-6 L -5.55556E-7 0.13959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4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23699E-6 L -0.42083 -0.2434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" y="-1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-3.33333E-6 0.59444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0" presetClass="pat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8.51852E-6 L 0.59184 -8.51852E-6 L 0.59184 0.38148 " pathEditMode="relative" ptsTypes="AAA">
                                      <p:cBhvr>
                                        <p:cTn id="61" dur="3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2" grpId="0" animBg="1"/>
      <p:bldP spid="35" grpId="0" animBg="1"/>
      <p:bldP spid="71" grpId="0" animBg="1"/>
      <p:bldP spid="71" grpId="1" animBg="1"/>
      <p:bldP spid="71" grpId="2" animBg="1"/>
      <p:bldP spid="72" grpId="0" animBg="1"/>
      <p:bldP spid="72" grpId="1" animBg="1"/>
      <p:bldP spid="72" grpId="2" animBg="1"/>
      <p:bldP spid="73" grpId="0" animBg="1"/>
      <p:bldP spid="73" grpId="1" animBg="1"/>
      <p:bldP spid="73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/>
          <p:cNvGraphicFramePr/>
          <p:nvPr/>
        </p:nvGraphicFramePr>
        <p:xfrm>
          <a:off x="533400" y="2514600"/>
          <a:ext cx="8001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P2P transfer (1)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477000" y="3733800"/>
            <a:ext cx="1981200" cy="1295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028700" y="1524000"/>
            <a:ext cx="7086600" cy="6858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State transfers occur over a direct connection </a:t>
            </a:r>
            <a:endParaRPr lang="en-US" sz="2800" dirty="0"/>
          </a:p>
        </p:txBody>
      </p:sp>
      <p:grpSp>
        <p:nvGrpSpPr>
          <p:cNvPr id="3" name="Group 12"/>
          <p:cNvGrpSpPr/>
          <p:nvPr/>
        </p:nvGrpSpPr>
        <p:grpSpPr>
          <a:xfrm>
            <a:off x="4267200" y="3048000"/>
            <a:ext cx="2956423" cy="1112520"/>
            <a:chOff x="4876800" y="2286000"/>
            <a:chExt cx="2956423" cy="1112520"/>
          </a:xfrm>
        </p:grpSpPr>
        <p:sp>
          <p:nvSpPr>
            <p:cNvPr id="10" name="Down Arrow 9"/>
            <p:cNvSpPr/>
            <p:nvPr/>
          </p:nvSpPr>
          <p:spPr>
            <a:xfrm>
              <a:off x="4876800" y="2636520"/>
              <a:ext cx="381000" cy="762000"/>
            </a:xfrm>
            <a:prstGeom prst="downArrow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 rot="20516767">
              <a:off x="5181600" y="2286000"/>
              <a:ext cx="26516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Up to 70% faster</a:t>
              </a:r>
              <a:endParaRPr lang="en-US" sz="2800" b="1" dirty="0"/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1" uiExpand="1">
        <p:bldSub>
          <a:bldChart bld="series"/>
        </p:bldSub>
      </p:bldGraphic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hart 13"/>
          <p:cNvGraphicFramePr/>
          <p:nvPr/>
        </p:nvGraphicFramePr>
        <p:xfrm>
          <a:off x="533400" y="2514600"/>
          <a:ext cx="8001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P2P transfer (2)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477000" y="3810000"/>
            <a:ext cx="19812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362200" y="1524000"/>
            <a:ext cx="4419600" cy="6858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Less work for the controller</a:t>
            </a:r>
            <a:endParaRPr lang="en-US" sz="2800" dirty="0"/>
          </a:p>
        </p:txBody>
      </p:sp>
      <p:grpSp>
        <p:nvGrpSpPr>
          <p:cNvPr id="3" name="Group 12"/>
          <p:cNvGrpSpPr/>
          <p:nvPr/>
        </p:nvGrpSpPr>
        <p:grpSpPr>
          <a:xfrm>
            <a:off x="3657600" y="4191000"/>
            <a:ext cx="2318583" cy="845820"/>
            <a:chOff x="4495800" y="2362200"/>
            <a:chExt cx="2318583" cy="845820"/>
          </a:xfrm>
        </p:grpSpPr>
        <p:sp>
          <p:nvSpPr>
            <p:cNvPr id="10" name="Down Arrow 9"/>
            <p:cNvSpPr/>
            <p:nvPr/>
          </p:nvSpPr>
          <p:spPr>
            <a:xfrm rot="16200000">
              <a:off x="5391150" y="2122170"/>
              <a:ext cx="381000" cy="1790700"/>
            </a:xfrm>
            <a:prstGeom prst="downArrow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95800" y="2362200"/>
              <a:ext cx="23185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Near Constant</a:t>
              </a:r>
              <a:endParaRPr lang="en-US" sz="2800" b="1" dirty="0"/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43B23-7201-43B1-8A45-2A111B314B0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 uiExpand="1">
        <p:bldSub>
          <a:bldChart bld="series" animBg="0"/>
        </p:bldSub>
      </p:bldGraphic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365125"/>
          </a:xfrm>
        </p:spPr>
        <p:txBody>
          <a:bodyPr/>
          <a:lstStyle/>
          <a:p>
            <a:fld id="{622C5A87-65DC-41FD-9E53-7EAC48455B9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8" name="Rounded Rectangular Callout 67"/>
          <p:cNvSpPr/>
          <p:nvPr/>
        </p:nvSpPr>
        <p:spPr>
          <a:xfrm>
            <a:off x="1143000" y="5105400"/>
            <a:ext cx="2286000" cy="1447800"/>
          </a:xfrm>
          <a:prstGeom prst="wedgeRoundRectCallout">
            <a:avLst>
              <a:gd name="adj1" fmla="val -34736"/>
              <a:gd name="adj2" fmla="val -73099"/>
              <a:gd name="adj3" fmla="val 16667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3) Scalability</a:t>
            </a:r>
            <a:br>
              <a:rPr lang="en-US" sz="2800" dirty="0" smtClean="0"/>
            </a:br>
            <a:r>
              <a:rPr lang="en-US" sz="2800" i="1" dirty="0" smtClean="0"/>
              <a:t>transfer via controller</a:t>
            </a:r>
            <a:endParaRPr lang="en-US" sz="2800" i="1" dirty="0"/>
          </a:p>
        </p:txBody>
      </p:sp>
      <p:sp>
        <p:nvSpPr>
          <p:cNvPr id="71" name="Rounded Rectangular Callout 70"/>
          <p:cNvSpPr/>
          <p:nvPr/>
        </p:nvSpPr>
        <p:spPr>
          <a:xfrm>
            <a:off x="533400" y="3124200"/>
            <a:ext cx="3276600" cy="1447800"/>
          </a:xfrm>
          <a:prstGeom prst="wedgeRoundRectCallout">
            <a:avLst>
              <a:gd name="adj1" fmla="val 28872"/>
              <a:gd name="adj2" fmla="val 67230"/>
              <a:gd name="adj3" fmla="val 16667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2) Safety</a:t>
            </a:r>
            <a:br>
              <a:rPr lang="en-US" sz="2800" dirty="0" smtClean="0"/>
            </a:br>
            <a:r>
              <a:rPr lang="en-US" sz="2800" i="1" dirty="0" smtClean="0"/>
              <a:t>overflow → loss → incomplete analysis</a:t>
            </a:r>
            <a:endParaRPr lang="en-US" sz="2800" i="1" dirty="0"/>
          </a:p>
        </p:txBody>
      </p:sp>
      <p:grpSp>
        <p:nvGrpSpPr>
          <p:cNvPr id="3" name="Group 80"/>
          <p:cNvGrpSpPr/>
          <p:nvPr/>
        </p:nvGrpSpPr>
        <p:grpSpPr>
          <a:xfrm>
            <a:off x="5445045" y="2209800"/>
            <a:ext cx="2936955" cy="3871913"/>
            <a:chOff x="5105400" y="2590800"/>
            <a:chExt cx="2936955" cy="3871913"/>
          </a:xfrm>
        </p:grpSpPr>
        <p:pic>
          <p:nvPicPr>
            <p:cNvPr id="75" name="Picture 74" descr="thinkingcap.gif"/>
            <p:cNvPicPr>
              <a:picLocks noChangeAspect="1"/>
            </p:cNvPicPr>
            <p:nvPr/>
          </p:nvPicPr>
          <p:blipFill>
            <a:blip r:embed="rId3" cstate="print"/>
            <a:srcRect l="6706" t="1930" r="17293"/>
            <a:stretch>
              <a:fillRect/>
            </a:stretch>
          </p:blipFill>
          <p:spPr>
            <a:xfrm>
              <a:off x="5105400" y="2590800"/>
              <a:ext cx="2590800" cy="3871913"/>
            </a:xfrm>
            <a:prstGeom prst="rect">
              <a:avLst/>
            </a:prstGeom>
          </p:spPr>
        </p:pic>
        <p:sp>
          <p:nvSpPr>
            <p:cNvPr id="77" name="Rounded Rectangle 76"/>
            <p:cNvSpPr/>
            <p:nvPr/>
          </p:nvSpPr>
          <p:spPr>
            <a:xfrm rot="18000000">
              <a:off x="7296127" y="5228589"/>
              <a:ext cx="838200" cy="65425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Rounded Rectangular Callout 82"/>
          <p:cNvSpPr/>
          <p:nvPr/>
        </p:nvSpPr>
        <p:spPr>
          <a:xfrm>
            <a:off x="990600" y="1143000"/>
            <a:ext cx="2590800" cy="1447800"/>
          </a:xfrm>
          <a:prstGeom prst="wedgeRoundRectCallout">
            <a:avLst>
              <a:gd name="adj1" fmla="val -42640"/>
              <a:gd name="adj2" fmla="val 74332"/>
              <a:gd name="adj3" fmla="val 16667"/>
            </a:avLst>
          </a:prstGeom>
          <a:ln w="76200"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1) Efficiency</a:t>
            </a:r>
            <a:br>
              <a:rPr lang="en-US" sz="2800" dirty="0" smtClean="0"/>
            </a:br>
            <a:r>
              <a:rPr lang="en-US" sz="2800" i="1" dirty="0" smtClean="0"/>
              <a:t>buffering → output delayed</a:t>
            </a:r>
            <a:endParaRPr lang="en-US" sz="2800" i="1" dirty="0"/>
          </a:p>
        </p:txBody>
      </p:sp>
      <p:sp>
        <p:nvSpPr>
          <p:cNvPr id="14" name="Rounded Rectangular Callout 13"/>
          <p:cNvSpPr/>
          <p:nvPr/>
        </p:nvSpPr>
        <p:spPr>
          <a:xfrm>
            <a:off x="990600" y="1143000"/>
            <a:ext cx="2590800" cy="1447800"/>
          </a:xfrm>
          <a:prstGeom prst="wedgeRoundRectCallout">
            <a:avLst>
              <a:gd name="adj1" fmla="val -42640"/>
              <a:gd name="adj2" fmla="val 74332"/>
              <a:gd name="adj3" fmla="val 16667"/>
            </a:avLst>
          </a:prstGeom>
          <a:ln w="76200"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1) Efficiency</a:t>
            </a:r>
            <a:br>
              <a:rPr lang="en-US" sz="2800" dirty="0" smtClean="0"/>
            </a:br>
            <a:r>
              <a:rPr lang="en-US" sz="2800" i="1" dirty="0" smtClean="0"/>
              <a:t>buffering → output delayed</a:t>
            </a:r>
            <a:endParaRPr lang="en-US" sz="2800" i="1" dirty="0"/>
          </a:p>
        </p:txBody>
      </p:sp>
      <p:sp>
        <p:nvSpPr>
          <p:cNvPr id="15" name="Rounded Rectangular Callout 14"/>
          <p:cNvSpPr/>
          <p:nvPr/>
        </p:nvSpPr>
        <p:spPr>
          <a:xfrm>
            <a:off x="533400" y="3124200"/>
            <a:ext cx="3276600" cy="1447800"/>
          </a:xfrm>
          <a:prstGeom prst="wedgeRoundRectCallout">
            <a:avLst>
              <a:gd name="adj1" fmla="val 28872"/>
              <a:gd name="adj2" fmla="val 67230"/>
              <a:gd name="adj3" fmla="val 16667"/>
            </a:avLst>
          </a:prstGeom>
          <a:ln w="76200"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2) Safety</a:t>
            </a:r>
            <a:br>
              <a:rPr lang="en-US" sz="2800" dirty="0" smtClean="0"/>
            </a:br>
            <a:r>
              <a:rPr lang="en-US" sz="2800" i="1" dirty="0" smtClean="0"/>
              <a:t>overflow → loss → incomplete analysis</a:t>
            </a:r>
            <a:endParaRPr lang="en-US" sz="2800" i="1" dirty="0"/>
          </a:p>
        </p:txBody>
      </p:sp>
      <p:sp>
        <p:nvSpPr>
          <p:cNvPr id="16" name="Rounded Rectangular Callout 15"/>
          <p:cNvSpPr/>
          <p:nvPr/>
        </p:nvSpPr>
        <p:spPr>
          <a:xfrm>
            <a:off x="1143000" y="5105400"/>
            <a:ext cx="2286000" cy="1447800"/>
          </a:xfrm>
          <a:prstGeom prst="wedgeRoundRectCallout">
            <a:avLst>
              <a:gd name="adj1" fmla="val -34736"/>
              <a:gd name="adj2" fmla="val -73099"/>
              <a:gd name="adj3" fmla="val 16667"/>
            </a:avLst>
          </a:prstGeom>
          <a:ln w="76200"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3) Scalability</a:t>
            </a:r>
            <a:br>
              <a:rPr lang="en-US" sz="2800" dirty="0" smtClean="0"/>
            </a:br>
            <a:r>
              <a:rPr lang="en-US" sz="2800" i="1" dirty="0" smtClean="0"/>
              <a:t>transfer via controller</a:t>
            </a:r>
            <a:endParaRPr lang="en-US" sz="2800" i="1" dirty="0"/>
          </a:p>
        </p:txBody>
      </p:sp>
      <p:grpSp>
        <p:nvGrpSpPr>
          <p:cNvPr id="5" name="Group 19"/>
          <p:cNvGrpSpPr/>
          <p:nvPr/>
        </p:nvGrpSpPr>
        <p:grpSpPr>
          <a:xfrm>
            <a:off x="4038600" y="1371600"/>
            <a:ext cx="2743200" cy="1219200"/>
            <a:chOff x="4038600" y="1371600"/>
            <a:chExt cx="2743200" cy="1219200"/>
          </a:xfrm>
        </p:grpSpPr>
        <p:sp>
          <p:nvSpPr>
            <p:cNvPr id="18" name="Cloud Callout 17"/>
            <p:cNvSpPr/>
            <p:nvPr/>
          </p:nvSpPr>
          <p:spPr>
            <a:xfrm flipV="1">
              <a:off x="4038600" y="1371600"/>
              <a:ext cx="2743200" cy="1219200"/>
            </a:xfrm>
            <a:prstGeom prst="cloudCallout">
              <a:avLst>
                <a:gd name="adj1" fmla="val 31805"/>
                <a:gd name="adj2" fmla="val -102961"/>
              </a:avLst>
            </a:prstGeom>
            <a:ln w="571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3200"/>
                </a:lnSpc>
              </a:pPr>
              <a:endParaRPr lang="en-US" sz="3200" dirty="0" smtClean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038600" y="1524000"/>
              <a:ext cx="2743200" cy="9188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ts val="3200"/>
                </a:lnSpc>
              </a:pPr>
              <a:r>
                <a:rPr lang="en-US" sz="3200" b="1" dirty="0" smtClean="0">
                  <a:solidFill>
                    <a:schemeClr val="accent6">
                      <a:lumMod val="75000"/>
                    </a:schemeClr>
                  </a:solidFill>
                </a:rPr>
                <a:t>Packet</a:t>
              </a:r>
              <a:br>
                <a:rPr lang="en-US" sz="3200" b="1" dirty="0" smtClean="0">
                  <a:solidFill>
                    <a:schemeClr val="accent6">
                      <a:lumMod val="75000"/>
                    </a:schemeClr>
                  </a:solidFill>
                </a:rPr>
              </a:br>
              <a:r>
                <a:rPr lang="en-US" sz="3200" b="1" dirty="0" smtClean="0">
                  <a:solidFill>
                    <a:schemeClr val="accent6">
                      <a:lumMod val="75000"/>
                    </a:schemeClr>
                  </a:solidFill>
                </a:rPr>
                <a:t>reprocessing</a:t>
              </a:r>
            </a:p>
          </p:txBody>
        </p:sp>
      </p:grpSp>
      <p:grpSp>
        <p:nvGrpSpPr>
          <p:cNvPr id="17" name="Group 19"/>
          <p:cNvGrpSpPr/>
          <p:nvPr/>
        </p:nvGrpSpPr>
        <p:grpSpPr>
          <a:xfrm flipH="1">
            <a:off x="7010400" y="1371600"/>
            <a:ext cx="1828800" cy="1219200"/>
            <a:chOff x="4648200" y="1371600"/>
            <a:chExt cx="1828800" cy="1219200"/>
          </a:xfrm>
        </p:grpSpPr>
        <p:sp>
          <p:nvSpPr>
            <p:cNvPr id="20" name="Cloud Callout 19"/>
            <p:cNvSpPr/>
            <p:nvPr/>
          </p:nvSpPr>
          <p:spPr>
            <a:xfrm flipV="1">
              <a:off x="4648200" y="1371600"/>
              <a:ext cx="1828800" cy="1219200"/>
            </a:xfrm>
            <a:prstGeom prst="cloudCallout">
              <a:avLst>
                <a:gd name="adj1" fmla="val 46654"/>
                <a:gd name="adj2" fmla="val -101597"/>
              </a:avLst>
            </a:prstGeom>
            <a:ln w="571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3200"/>
                </a:lnSpc>
              </a:pPr>
              <a:endParaRPr lang="en-US" sz="3200" dirty="0" smtClean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648200" y="1595759"/>
              <a:ext cx="1828800" cy="9188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ts val="3200"/>
                </a:lnSpc>
              </a:pPr>
              <a:r>
                <a:rPr lang="en-US" sz="3200" b="1" dirty="0" smtClean="0">
                  <a:solidFill>
                    <a:schemeClr val="accent6">
                      <a:lumMod val="75000"/>
                    </a:schemeClr>
                  </a:solidFill>
                </a:rPr>
                <a:t>P2P</a:t>
              </a:r>
              <a:r>
                <a:rPr lang="en-US" sz="3200" b="1" dirty="0" smtClean="0">
                  <a:solidFill>
                    <a:schemeClr val="accent6">
                      <a:lumMod val="75000"/>
                    </a:schemeClr>
                  </a:solidFill>
                </a:rPr>
                <a:t/>
              </a:r>
              <a:br>
                <a:rPr lang="en-US" sz="3200" b="1" dirty="0" smtClean="0">
                  <a:solidFill>
                    <a:schemeClr val="accent6">
                      <a:lumMod val="75000"/>
                    </a:schemeClr>
                  </a:solidFill>
                </a:rPr>
              </a:br>
              <a:r>
                <a:rPr lang="en-US" sz="3200" b="1" dirty="0" smtClean="0">
                  <a:solidFill>
                    <a:schemeClr val="accent6">
                      <a:lumMod val="75000"/>
                    </a:schemeClr>
                  </a:solidFill>
                </a:rPr>
                <a:t>transfer</a:t>
              </a:r>
              <a:endParaRPr lang="en-US" sz="3200" b="1" dirty="0" smtClean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23" name="Rounded Rectangle 22"/>
          <p:cNvSpPr/>
          <p:nvPr/>
        </p:nvSpPr>
        <p:spPr>
          <a:xfrm>
            <a:off x="4114800" y="5943600"/>
            <a:ext cx="4038600" cy="6096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http://opennf.cs.wisc.edu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2780</TotalTime>
  <Words>792</Words>
  <Application>Microsoft Office PowerPoint</Application>
  <PresentationFormat>On-screen Show (4:3)</PresentationFormat>
  <Paragraphs>210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Improving the  Safety, Scalability, and Efficiency of Network Function State Transfers</vt:lpstr>
      <vt:lpstr>Dynamic NF deployments</vt:lpstr>
      <vt:lpstr>What about NF state?</vt:lpstr>
      <vt:lpstr>State transfers in OpenNF</vt:lpstr>
      <vt:lpstr>Problems</vt:lpstr>
      <vt:lpstr>This talk</vt:lpstr>
      <vt:lpstr>Output delay</vt:lpstr>
      <vt:lpstr>Packet reprocessing</vt:lpstr>
      <vt:lpstr>Benefits of reprocessing (1)</vt:lpstr>
      <vt:lpstr>Benefits of reprocessing (2)</vt:lpstr>
      <vt:lpstr>This talk</vt:lpstr>
      <vt:lpstr>Minimizing controller overhead</vt:lpstr>
      <vt:lpstr>Challenge: injecting packets</vt:lpstr>
      <vt:lpstr>Benefits P2P transfer (1)</vt:lpstr>
      <vt:lpstr>Benefits P2P transfer (2)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Aaron Gember-Jacobson</dc:creator>
  <cp:lastModifiedBy>Aaron Gember-Jacobson</cp:lastModifiedBy>
  <cp:revision>183</cp:revision>
  <dcterms:created xsi:type="dcterms:W3CDTF">2015-08-01T00:27:51Z</dcterms:created>
  <dcterms:modified xsi:type="dcterms:W3CDTF">2015-08-20T22:44:56Z</dcterms:modified>
</cp:coreProperties>
</file>