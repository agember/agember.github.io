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86" r:id="rId3"/>
    <p:sldId id="287" r:id="rId4"/>
    <p:sldId id="257" r:id="rId5"/>
    <p:sldId id="261" r:id="rId6"/>
    <p:sldId id="272" r:id="rId7"/>
    <p:sldId id="258" r:id="rId8"/>
    <p:sldId id="273" r:id="rId9"/>
    <p:sldId id="274" r:id="rId10"/>
    <p:sldId id="262" r:id="rId11"/>
    <p:sldId id="278" r:id="rId12"/>
    <p:sldId id="263" r:id="rId13"/>
    <p:sldId id="264" r:id="rId14"/>
    <p:sldId id="265" r:id="rId15"/>
    <p:sldId id="266" r:id="rId16"/>
    <p:sldId id="279" r:id="rId17"/>
    <p:sldId id="280" r:id="rId18"/>
    <p:sldId id="281" r:id="rId19"/>
    <p:sldId id="282" r:id="rId20"/>
    <p:sldId id="283" r:id="rId21"/>
    <p:sldId id="268" r:id="rId22"/>
    <p:sldId id="270" r:id="rId23"/>
    <p:sldId id="284" r:id="rId24"/>
    <p:sldId id="271" r:id="rId25"/>
    <p:sldId id="267" r:id="rId26"/>
    <p:sldId id="285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663" autoAdjust="0"/>
  </p:normalViewPr>
  <p:slideViewPr>
    <p:cSldViewPr>
      <p:cViewPr varScale="1">
        <p:scale>
          <a:sx n="58" d="100"/>
          <a:sy n="58" d="100"/>
        </p:scale>
        <p:origin x="-162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96CF0E-E40F-4494-ADFC-39B22A201A85}" type="datetimeFigureOut">
              <a:rPr lang="en-US" smtClean="0"/>
              <a:pPr/>
              <a:t>7/24/2012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BBCAF-281B-4D5E-B8A2-7B07744B148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1BBCAF-281B-4D5E-B8A2-7B07744B148A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Humans</a:t>
            </a:r>
            <a:r>
              <a:rPr lang="en-US" baseline="0" dirty="0" smtClean="0"/>
              <a:t> – census, DVD queue, ratings</a:t>
            </a:r>
          </a:p>
          <a:p>
            <a:r>
              <a:rPr lang="en-US" baseline="0" dirty="0" smtClean="0"/>
              <a:t>Sensors – weather stations, radar</a:t>
            </a:r>
          </a:p>
          <a:p>
            <a:r>
              <a:rPr lang="en-US" baseline="0" dirty="0" smtClean="0"/>
              <a:t>Existing data sets – IMDB, NWS records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1BBCAF-281B-4D5E-B8A2-7B07744B148A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Relationships – movies staring same person</a:t>
            </a:r>
          </a:p>
          <a:p>
            <a:r>
              <a:rPr lang="en-US" baseline="0" dirty="0" smtClean="0"/>
              <a:t>Clean – thermometer readings of -1000F should be excluded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1BBCAF-281B-4D5E-B8A2-7B07744B148A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Efficient</a:t>
            </a:r>
            <a:r>
              <a:rPr lang="en-US" baseline="0" dirty="0" smtClean="0"/>
              <a:t> access – transport from storage location to servers, speed of storage medium (read/write ops per second)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1BBCAF-281B-4D5E-B8A2-7B07744B148A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Algorithms – text</a:t>
            </a:r>
            <a:r>
              <a:rPr lang="en-US" baseline="0" dirty="0" smtClean="0"/>
              <a:t> search, formulas, pattern matching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1BBCAF-281B-4D5E-B8A2-7B07744B148A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38CC8-E3D4-4982-9B2D-BCF4BBC77DBE}" type="datetime1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A6A6E-2442-4870-9FB2-5069243A8436}" type="datetime1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0D82A-47DA-4E1F-B0CC-9E1DEEB3421B}" type="datetime1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16C65-5868-4010-8A1E-8EB6017C8181}" type="datetime1">
              <a:rPr lang="en-US" smtClean="0"/>
              <a:t>7/24/2012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0B751-C6A6-4F17-90B5-6C9390F9E779}" type="datetime1">
              <a:rPr lang="en-US" smtClean="0"/>
              <a:t>7/24/2012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5DC6F-DBD4-4493-B366-15B7BB75FD55}" type="datetime1">
              <a:rPr lang="en-US" smtClean="0"/>
              <a:t>7/24/2012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4C38-1BE7-41FA-82CB-DDF2E147D2FD}" type="datetime1">
              <a:rPr lang="en-US" smtClean="0"/>
              <a:t>7/24/2012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8BB21-B617-43A4-80DD-DB4629C21987}" type="datetime1">
              <a:rPr lang="en-US" smtClean="0"/>
              <a:t>7/24/2012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5D37A-132F-4419-ACDC-50858870D5B0}" type="datetime1">
              <a:rPr lang="en-US" smtClean="0"/>
              <a:t>7/24/2012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E2B9-CAE5-4F01-B4AB-AF8E780BB7A4}" type="datetime1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E5B09-6CB6-40B6-9EE0-02D2EC4FAD87}" type="datetime1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accent5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12CA1-35C4-4CA2-A9F3-E4A64A5A3DE5}" type="datetime1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D7588-F004-4BEB-8503-A3772A42C2A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Berlin Sans FB Demi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wmf"/><Relationship Id="rId5" Type="http://schemas.openxmlformats.org/officeDocument/2006/relationships/image" Target="../media/image4.png"/><Relationship Id="rId4" Type="http://schemas.openxmlformats.org/officeDocument/2006/relationships/image" Target="../media/image1.gi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gif"/><Relationship Id="rId3" Type="http://schemas.openxmlformats.org/officeDocument/2006/relationships/image" Target="../media/image27.png"/><Relationship Id="rId7" Type="http://schemas.openxmlformats.org/officeDocument/2006/relationships/image" Target="../media/image30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://www-958.ibm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waikato.ac.nz/ml/weka" TargetMode="External"/><Relationship Id="rId7" Type="http://schemas.openxmlformats.org/officeDocument/2006/relationships/hyperlink" Target="http://aws.amazon.com/education/" TargetMode="External"/><Relationship Id="rId2" Type="http://schemas.openxmlformats.org/officeDocument/2006/relationships/hyperlink" Target="http://www-958.ibm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ebmapreduce.sourceforge.net/" TargetMode="External"/><Relationship Id="rId5" Type="http://schemas.openxmlformats.org/officeDocument/2006/relationships/hyperlink" Target="http://www.google.com/insights/search" TargetMode="External"/><Relationship Id="rId4" Type="http://schemas.openxmlformats.org/officeDocument/2006/relationships/hyperlink" Target="http://archive.ics.uci.edu/m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772400" cy="1470025"/>
          </a:xfrm>
        </p:spPr>
        <p:txBody>
          <a:bodyPr>
            <a:noAutofit/>
          </a:bodyPr>
          <a:lstStyle/>
          <a:p>
            <a:r>
              <a:rPr lang="en-US" sz="9600" b="1" dirty="0" smtClean="0">
                <a:latin typeface="Berlin Sans FB Demi" pitchFamily="34" charset="0"/>
              </a:rPr>
              <a:t>Big Data</a:t>
            </a:r>
            <a:endParaRPr lang="en-US" sz="9600" b="1" dirty="0">
              <a:latin typeface="Berlin Sans FB Demi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dirty="0" smtClean="0">
                <a:latin typeface="Berlin Sans FB" pitchFamily="34" charset="0"/>
              </a:rPr>
              <a:t>CS4HS @ MU, Session 6</a:t>
            </a:r>
          </a:p>
          <a:p>
            <a:r>
              <a:rPr lang="en-US" dirty="0" smtClean="0">
                <a:latin typeface="Berlin Sans FB" pitchFamily="34" charset="0"/>
              </a:rPr>
              <a:t>Aaron </a:t>
            </a:r>
            <a:r>
              <a:rPr lang="en-US" dirty="0" err="1" smtClean="0">
                <a:latin typeface="Berlin Sans FB" pitchFamily="34" charset="0"/>
              </a:rPr>
              <a:t>Gember</a:t>
            </a:r>
            <a:r>
              <a:rPr lang="en-US" dirty="0" smtClean="0">
                <a:latin typeface="Berlin Sans FB" pitchFamily="34" charset="0"/>
              </a:rPr>
              <a:t>, </a:t>
            </a:r>
            <a:r>
              <a:rPr lang="en-US" i="1" dirty="0" smtClean="0">
                <a:latin typeface="Berlin Sans FB" pitchFamily="34" charset="0"/>
              </a:rPr>
              <a:t>UW-Madison</a:t>
            </a:r>
          </a:p>
        </p:txBody>
      </p:sp>
      <p:pic>
        <p:nvPicPr>
          <p:cNvPr id="27654" name="Picture 6" descr="http://chromatism.net/current/images/fisheatfish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0" y="2746375"/>
            <a:ext cx="1876425" cy="847725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543800" cy="944562"/>
          </a:xfrm>
        </p:spPr>
        <p:txBody>
          <a:bodyPr/>
          <a:lstStyle/>
          <a:p>
            <a:r>
              <a:rPr lang="en-US" dirty="0" smtClean="0"/>
              <a:t>Big Idea #3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 smtClean="0"/>
              <a:t>Data and information facilitate </a:t>
            </a:r>
            <a:br>
              <a:rPr lang="en-US" b="1" dirty="0" smtClean="0"/>
            </a:br>
            <a:r>
              <a:rPr lang="en-US" b="1" dirty="0" smtClean="0"/>
              <a:t>the creation of knowledge. </a:t>
            </a:r>
          </a:p>
          <a:p>
            <a:r>
              <a:rPr lang="en-US" dirty="0" smtClean="0"/>
              <a:t>People use computer programs to process information to gain insight and knowledge. </a:t>
            </a:r>
          </a:p>
          <a:p>
            <a:r>
              <a:rPr lang="en-US" dirty="0" smtClean="0"/>
              <a:t>Computing facilitates exploration and the discovery of connections in information. </a:t>
            </a:r>
          </a:p>
          <a:p>
            <a:r>
              <a:rPr lang="en-US" dirty="0" smtClean="0"/>
              <a:t>Computational manipulation of information requires consideration of representation, storage, security, and transmission. 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3010" name="Picture 2" descr="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523875"/>
            <a:ext cx="2381250" cy="1000125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3257772" y="1600200"/>
            <a:ext cx="5343869" cy="1187340"/>
            <a:chOff x="3257772" y="1600200"/>
            <a:chExt cx="5343869" cy="1187340"/>
          </a:xfrm>
        </p:grpSpPr>
        <p:pic>
          <p:nvPicPr>
            <p:cNvPr id="8" name="Picture 7" descr="cloud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57772" y="1600200"/>
              <a:ext cx="2383222" cy="1187340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4800600" y="1873139"/>
              <a:ext cx="3801041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dirty="0" smtClean="0">
                  <a:latin typeface="Berlin Sans FB Demi" pitchFamily="34" charset="0"/>
                </a:rPr>
                <a:t>Cloud Computing</a:t>
              </a:r>
              <a:endParaRPr lang="en-US" sz="3600" dirty="0">
                <a:latin typeface="Berlin Sans FB Demi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09600" y="533400"/>
            <a:ext cx="4086225" cy="923925"/>
            <a:chOff x="609600" y="533400"/>
            <a:chExt cx="4086225" cy="923925"/>
          </a:xfrm>
        </p:grpSpPr>
        <p:sp>
          <p:nvSpPr>
            <p:cNvPr id="5" name="Rectangle 4"/>
            <p:cNvSpPr/>
            <p:nvPr/>
          </p:nvSpPr>
          <p:spPr>
            <a:xfrm>
              <a:off x="609600" y="533400"/>
              <a:ext cx="2029723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dirty="0" smtClean="0">
                  <a:latin typeface="Berlin Sans FB Demi" pitchFamily="34" charset="0"/>
                </a:rPr>
                <a:t>Big Data</a:t>
              </a:r>
              <a:endParaRPr lang="en-US" sz="3600" dirty="0">
                <a:latin typeface="Berlin Sans FB Demi" pitchFamily="34" charset="0"/>
              </a:endParaRPr>
            </a:p>
          </p:txBody>
        </p:sp>
        <p:pic>
          <p:nvPicPr>
            <p:cNvPr id="7" name="Picture 6" descr="http://chromatism.net/current/images/fisheatfish1.gif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819400" y="609600"/>
              <a:ext cx="1876425" cy="847725"/>
            </a:xfrm>
            <a:prstGeom prst="rect">
              <a:avLst/>
            </a:prstGeom>
            <a:noFill/>
          </p:spPr>
        </p:pic>
      </p:grpSp>
      <p:grpSp>
        <p:nvGrpSpPr>
          <p:cNvPr id="19" name="Group 18"/>
          <p:cNvGrpSpPr/>
          <p:nvPr/>
        </p:nvGrpSpPr>
        <p:grpSpPr>
          <a:xfrm>
            <a:off x="533400" y="3048000"/>
            <a:ext cx="4980768" cy="1630544"/>
            <a:chOff x="533400" y="3048000"/>
            <a:chExt cx="4980768" cy="1630544"/>
          </a:xfrm>
        </p:grpSpPr>
        <p:sp>
          <p:nvSpPr>
            <p:cNvPr id="9" name="Rectangle 8"/>
            <p:cNvSpPr/>
            <p:nvPr/>
          </p:nvSpPr>
          <p:spPr>
            <a:xfrm>
              <a:off x="533400" y="3505200"/>
              <a:ext cx="3865161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dirty="0" smtClean="0">
                  <a:latin typeface="Berlin Sans FB Demi" pitchFamily="34" charset="0"/>
                </a:rPr>
                <a:t>Machine Learning</a:t>
              </a:r>
              <a:endParaRPr lang="en-US" sz="3600" dirty="0">
                <a:latin typeface="Berlin Sans FB Demi" pitchFamily="34" charset="0"/>
              </a:endParaRP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4191000" y="3048000"/>
              <a:ext cx="1323168" cy="1630544"/>
              <a:chOff x="4419600" y="3093857"/>
              <a:chExt cx="1323168" cy="1630544"/>
            </a:xfrm>
          </p:grpSpPr>
          <p:pic>
            <p:nvPicPr>
              <p:cNvPr id="13" name="Picture 12" descr="desktop1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648200" y="3581401"/>
                <a:ext cx="1094568" cy="1143000"/>
              </a:xfrm>
              <a:prstGeom prst="rect">
                <a:avLst/>
              </a:prstGeom>
            </p:spPr>
          </p:pic>
          <p:pic>
            <p:nvPicPr>
              <p:cNvPr id="14" name="Picture 3" descr="C:\Users\agember\AppData\Local\Microsoft\Windows\Temporary Internet Files\Content.IE5\QZT0K7D8\MC900413710[1].wmf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4419600" y="3093857"/>
                <a:ext cx="1007515" cy="1020943"/>
              </a:xfrm>
              <a:prstGeom prst="rect">
                <a:avLst/>
              </a:prstGeom>
              <a:noFill/>
            </p:spPr>
          </p:pic>
        </p:grpSp>
      </p:grp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 cstate="print"/>
          <a:srcRect l="14641" t="46739" r="41435" b="35870"/>
          <a:stretch>
            <a:fillRect/>
          </a:stretch>
        </p:blipFill>
        <p:spPr bwMode="auto">
          <a:xfrm>
            <a:off x="990600" y="5029200"/>
            <a:ext cx="7086600" cy="1511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 Problems</a:t>
            </a:r>
          </a:p>
          <a:p>
            <a:r>
              <a:rPr lang="en-US" dirty="0" smtClean="0"/>
              <a:t>Challenges</a:t>
            </a:r>
          </a:p>
          <a:p>
            <a:r>
              <a:rPr lang="en-US" dirty="0" smtClean="0"/>
              <a:t>Big Data </a:t>
            </a:r>
            <a:r>
              <a:rPr lang="en-US" i="1" dirty="0" smtClean="0"/>
              <a:t>Unplugged</a:t>
            </a:r>
          </a:p>
          <a:p>
            <a:r>
              <a:rPr lang="en-US" dirty="0" smtClean="0"/>
              <a:t>Paradigms</a:t>
            </a:r>
          </a:p>
          <a:p>
            <a:r>
              <a:rPr lang="en-US" i="1" dirty="0" smtClean="0"/>
              <a:t>Hands-on</a:t>
            </a:r>
            <a:r>
              <a:rPr lang="en-US" dirty="0" smtClean="0"/>
              <a:t> Visualization &amp; Data Mining</a:t>
            </a:r>
          </a:p>
        </p:txBody>
      </p:sp>
      <p:pic>
        <p:nvPicPr>
          <p:cNvPr id="4" name="Picture 6" descr="http://chromatism.net/current/images/fisheatfish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5257800"/>
            <a:ext cx="1876425" cy="847725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Internet Search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Enormous amounts of content on the Internet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47 billion</a:t>
            </a:r>
            <a:r>
              <a:rPr lang="en-US" dirty="0"/>
              <a:t>	 </a:t>
            </a:r>
            <a:r>
              <a:rPr lang="en-US" dirty="0" smtClean="0"/>
              <a:t>    17 billion	        3.3 billion</a:t>
            </a:r>
          </a:p>
          <a:p>
            <a:r>
              <a:rPr lang="en-US" dirty="0" smtClean="0"/>
              <a:t>Seek relevant results in less than a second</a:t>
            </a:r>
          </a:p>
        </p:txBody>
      </p:sp>
      <p:pic>
        <p:nvPicPr>
          <p:cNvPr id="9" name="Content Placeholder 4" descr="bing1.jpg"/>
          <p:cNvPicPr>
            <a:picLocks noChangeAspect="1"/>
          </p:cNvPicPr>
          <p:nvPr/>
        </p:nvPicPr>
        <p:blipFill>
          <a:blip r:embed="rId2" cstate="print"/>
          <a:srcRect l="13023" t="31270" r="14419" b="19218"/>
          <a:stretch>
            <a:fillRect/>
          </a:stretch>
        </p:blipFill>
        <p:spPr>
          <a:xfrm>
            <a:off x="3505200" y="2233836"/>
            <a:ext cx="2057400" cy="1002323"/>
          </a:xfrm>
          <a:prstGeom prst="rect">
            <a:avLst/>
          </a:prstGeom>
        </p:spPr>
      </p:pic>
      <p:pic>
        <p:nvPicPr>
          <p:cNvPr id="11" name="Picture 10" descr="Yahoo-logo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172200" y="2386236"/>
            <a:ext cx="2560320" cy="670560"/>
          </a:xfrm>
          <a:prstGeom prst="rect">
            <a:avLst/>
          </a:prstGeom>
        </p:spPr>
      </p:pic>
      <p:pic>
        <p:nvPicPr>
          <p:cNvPr id="13" name="Picture 12" descr="Googl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57200" y="2310036"/>
            <a:ext cx="2667000" cy="966564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533399" y="4648200"/>
            <a:ext cx="8382001" cy="1524000"/>
            <a:chOff x="533399" y="4648200"/>
            <a:chExt cx="8382001" cy="152400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5" cstate="print"/>
            <a:srcRect l="839" t="26087" r="70611" b="57609"/>
            <a:stretch>
              <a:fillRect/>
            </a:stretch>
          </p:blipFill>
          <p:spPr bwMode="auto">
            <a:xfrm>
              <a:off x="533399" y="4648200"/>
              <a:ext cx="4953001" cy="1524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6" cstate="print"/>
            <a:srcRect l="1610" t="26087" r="80674" b="61957"/>
            <a:stretch>
              <a:fillRect/>
            </a:stretch>
          </p:blipFill>
          <p:spPr bwMode="auto">
            <a:xfrm>
              <a:off x="5562600" y="4800600"/>
              <a:ext cx="3352800" cy="1219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Internet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i="1" dirty="0" smtClean="0"/>
              <a:t>Prior to searches (happens continuously):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Crawl the web to locate pages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Create index of pages</a:t>
            </a:r>
          </a:p>
          <a:p>
            <a:pPr marL="514350" indent="-514350">
              <a:buFont typeface="+mj-lt"/>
              <a:buAutoNum type="arabicPeriod"/>
            </a:pPr>
            <a:endParaRPr lang="en-US" sz="1600" dirty="0" smtClean="0"/>
          </a:p>
          <a:p>
            <a:pPr marL="514350" indent="-514350">
              <a:buNone/>
            </a:pPr>
            <a:r>
              <a:rPr lang="en-US" i="1" dirty="0" smtClean="0"/>
              <a:t>For each search (in fraction of a second):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Locate pages with keywords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Rank pages by relevance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Return results to user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4" name="Picture 3" descr="glob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553200" y="2057400"/>
            <a:ext cx="1714500" cy="1714500"/>
          </a:xfrm>
          <a:prstGeom prst="rect">
            <a:avLst/>
          </a:prstGeom>
        </p:spPr>
      </p:pic>
      <p:pic>
        <p:nvPicPr>
          <p:cNvPr id="5" name="Picture 4" descr="monitor-and-user3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00800" y="4419600"/>
            <a:ext cx="1714500" cy="17145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Example: Climate Analysis</a:t>
            </a:r>
            <a:endParaRPr lang="en-US" dirty="0"/>
          </a:p>
        </p:txBody>
      </p:sp>
      <p:pic>
        <p:nvPicPr>
          <p:cNvPr id="14338" name="Picture 2" descr="6 to 10 Day Outlook - Precipitation Probabilit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63453" y="1447800"/>
            <a:ext cx="4475747" cy="4724400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Analyze current and </a:t>
            </a:r>
            <a:br>
              <a:rPr lang="en-US" dirty="0" smtClean="0"/>
            </a:br>
            <a:r>
              <a:rPr lang="en-US" dirty="0" smtClean="0"/>
              <a:t>historical weather data</a:t>
            </a:r>
          </a:p>
          <a:p>
            <a:pPr lvl="1"/>
            <a:r>
              <a:rPr lang="en-US" dirty="0" smtClean="0"/>
              <a:t>Sensor readings from </a:t>
            </a:r>
            <a:br>
              <a:rPr lang="en-US" dirty="0" smtClean="0"/>
            </a:br>
            <a:r>
              <a:rPr lang="en-US" dirty="0" smtClean="0"/>
              <a:t>1000s of locations</a:t>
            </a:r>
          </a:p>
          <a:p>
            <a:pPr lvl="1"/>
            <a:r>
              <a:rPr lang="en-US" dirty="0" smtClean="0"/>
              <a:t>Satellite/radar images</a:t>
            </a:r>
          </a:p>
          <a:p>
            <a:pPr lvl="1"/>
            <a:r>
              <a:rPr lang="en-US" dirty="0" smtClean="0"/>
              <a:t>Geographic features</a:t>
            </a:r>
          </a:p>
          <a:p>
            <a:r>
              <a:rPr lang="en-US" dirty="0" smtClean="0"/>
              <a:t>Visualize predictions</a:t>
            </a:r>
            <a:br>
              <a:rPr lang="en-US" dirty="0" smtClean="0"/>
            </a:br>
            <a:r>
              <a:rPr lang="en-US" dirty="0" smtClean="0"/>
              <a:t>for many audiences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Example: Netflix Recommendations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Recommend movies from Netflix’s collection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Accuracy of predictions impacts subscriptions</a:t>
            </a:r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 l="14641" t="22826" r="15666" b="35870"/>
          <a:stretch>
            <a:fillRect/>
          </a:stretch>
        </p:blipFill>
        <p:spPr bwMode="auto">
          <a:xfrm>
            <a:off x="914400" y="2419190"/>
            <a:ext cx="7696200" cy="2457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Example: Netflix Recommendations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Many factors can influence viewing behavior</a:t>
            </a:r>
          </a:p>
          <a:p>
            <a:pPr lvl="1"/>
            <a:r>
              <a:rPr lang="en-US" dirty="0" smtClean="0"/>
              <a:t>Movie characteristics: cast, year, genre, duration</a:t>
            </a:r>
          </a:p>
          <a:p>
            <a:pPr lvl="1"/>
            <a:r>
              <a:rPr lang="en-US" dirty="0" smtClean="0"/>
              <a:t>Personal history: movies watched, queue</a:t>
            </a:r>
          </a:p>
          <a:p>
            <a:pPr lvl="1"/>
            <a:r>
              <a:rPr lang="en-US" dirty="0" smtClean="0"/>
              <a:t>Social: ratings, reviews</a:t>
            </a:r>
          </a:p>
          <a:p>
            <a:pPr lvl="1"/>
            <a:endParaRPr lang="en-US" sz="1600" dirty="0" smtClean="0"/>
          </a:p>
          <a:p>
            <a:r>
              <a:rPr lang="en-US" dirty="0" smtClean="0"/>
              <a:t>Recommendations include categories and movies, presented in a specific order</a:t>
            </a:r>
          </a:p>
        </p:txBody>
      </p:sp>
      <p:pic>
        <p:nvPicPr>
          <p:cNvPr id="4" name="Picture 3" descr="film_reel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34200" y="4648200"/>
            <a:ext cx="1714500" cy="17145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Challenge: Collection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i="1" dirty="0" smtClean="0"/>
              <a:t>Where does the data come from?</a:t>
            </a:r>
          </a:p>
          <a:p>
            <a:endParaRPr lang="en-US" sz="1600" dirty="0" smtClean="0"/>
          </a:p>
          <a:p>
            <a:r>
              <a:rPr lang="en-US" dirty="0" smtClean="0"/>
              <a:t>Input from humans, instruments/sensors, existing datasets, etc.</a:t>
            </a:r>
          </a:p>
          <a:p>
            <a:r>
              <a:rPr lang="en-US" dirty="0" smtClean="0"/>
              <a:t>Potentially many sources</a:t>
            </a:r>
          </a:p>
          <a:p>
            <a:r>
              <a:rPr lang="en-US" dirty="0" smtClean="0"/>
              <a:t>Transport data from source to repository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838200" y="4648200"/>
            <a:ext cx="7277100" cy="1904772"/>
            <a:chOff x="838200" y="4648200"/>
            <a:chExt cx="7277100" cy="1904772"/>
          </a:xfrm>
        </p:grpSpPr>
        <p:pic>
          <p:nvPicPr>
            <p:cNvPr id="12290" name="Picture 2" descr="C:\Users\agember\AppData\Local\Microsoft\Windows\Temporary Internet Files\Content.IE5\QZT0K7D8\MC900434784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38200" y="4724400"/>
              <a:ext cx="1828572" cy="1828572"/>
            </a:xfrm>
            <a:prstGeom prst="rect">
              <a:avLst/>
            </a:prstGeom>
            <a:noFill/>
          </p:spPr>
        </p:pic>
        <p:pic>
          <p:nvPicPr>
            <p:cNvPr id="6" name="Picture 5" descr="blackberry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14800" y="4876800"/>
              <a:ext cx="759709" cy="1295400"/>
            </a:xfrm>
            <a:prstGeom prst="rect">
              <a:avLst/>
            </a:prstGeom>
          </p:spPr>
        </p:pic>
        <p:pic>
          <p:nvPicPr>
            <p:cNvPr id="8" name="Picture 7" descr="globe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0800" y="4648200"/>
              <a:ext cx="1714500" cy="1714500"/>
            </a:xfrm>
            <a:prstGeom prst="rect">
              <a:avLst/>
            </a:prstGeom>
          </p:spPr>
        </p:pic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Challenge: Organization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i="1" dirty="0" smtClean="0"/>
              <a:t>How is the data structured?</a:t>
            </a:r>
          </a:p>
          <a:p>
            <a:pPr algn="ctr">
              <a:buNone/>
            </a:pPr>
            <a:endParaRPr lang="en-US" sz="1600" i="1" dirty="0" smtClean="0"/>
          </a:p>
          <a:p>
            <a:r>
              <a:rPr lang="en-US" dirty="0" smtClean="0"/>
              <a:t>Data needs to be labeled, sorted, etc.</a:t>
            </a:r>
          </a:p>
          <a:p>
            <a:r>
              <a:rPr lang="en-US" dirty="0" smtClean="0"/>
              <a:t>Relationships may exist between pieces</a:t>
            </a:r>
          </a:p>
          <a:p>
            <a:r>
              <a:rPr lang="en-US" dirty="0" smtClean="0"/>
              <a:t>Exclude inaccurate or unknown data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552700" y="4267200"/>
            <a:ext cx="3619500" cy="2209800"/>
            <a:chOff x="2552700" y="4267200"/>
            <a:chExt cx="3619500" cy="2209800"/>
          </a:xfrm>
        </p:grpSpPr>
        <p:pic>
          <p:nvPicPr>
            <p:cNvPr id="33794" name="Picture 2" descr="C:\Users\agember\AppData\Local\Microsoft\Windows\Temporary Internet Files\Content.IE5\QZT0K7D8\MC900432636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457700" y="4267200"/>
              <a:ext cx="1714500" cy="1714500"/>
            </a:xfrm>
            <a:prstGeom prst="rect">
              <a:avLst/>
            </a:prstGeom>
            <a:noFill/>
          </p:spPr>
        </p:pic>
        <p:pic>
          <p:nvPicPr>
            <p:cNvPr id="33795" name="Picture 3" descr="C:\Users\agember\AppData\Local\Microsoft\Windows\Temporary Internet Files\Content.IE5\QZT0K7D8\MC900432636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543300" y="4495800"/>
              <a:ext cx="1714500" cy="1714500"/>
            </a:xfrm>
            <a:prstGeom prst="rect">
              <a:avLst/>
            </a:prstGeom>
            <a:noFill/>
          </p:spPr>
        </p:pic>
        <p:pic>
          <p:nvPicPr>
            <p:cNvPr id="7" name="Picture 3" descr="C:\Users\agember\AppData\Local\Microsoft\Windows\Temporary Internet Files\Content.IE5\QZT0K7D8\MC900432636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552700" y="4762500"/>
              <a:ext cx="1714500" cy="1714500"/>
            </a:xfrm>
            <a:prstGeom prst="rect">
              <a:avLst/>
            </a:prstGeom>
            <a:noFill/>
          </p:spPr>
        </p:pic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Challenge: Storage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i="1" dirty="0" smtClean="0"/>
              <a:t>How do we store large volumes of data?</a:t>
            </a:r>
          </a:p>
          <a:p>
            <a:pPr algn="ctr">
              <a:buNone/>
            </a:pPr>
            <a:endParaRPr lang="en-US" sz="1600" i="1" dirty="0" smtClean="0"/>
          </a:p>
          <a:p>
            <a:r>
              <a:rPr lang="en-US" dirty="0" smtClean="0"/>
              <a:t>Need space for 100s of Terabytes of data (modern hard drive holds 1 TB)</a:t>
            </a:r>
          </a:p>
          <a:p>
            <a:r>
              <a:rPr lang="en-US" dirty="0" smtClean="0"/>
              <a:t>Data needs to be </a:t>
            </a:r>
            <a:r>
              <a:rPr lang="en-US" i="1" dirty="0" smtClean="0"/>
              <a:t>efficiently</a:t>
            </a:r>
            <a:r>
              <a:rPr lang="en-US" dirty="0" smtClean="0"/>
              <a:t> accessed by servers doing computation </a:t>
            </a:r>
          </a:p>
          <a:p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1219200" y="4724400"/>
            <a:ext cx="6629400" cy="1447800"/>
            <a:chOff x="1219200" y="4724400"/>
            <a:chExt cx="6629400" cy="1447800"/>
          </a:xfrm>
        </p:grpSpPr>
        <p:pic>
          <p:nvPicPr>
            <p:cNvPr id="7" name="Picture 2" descr="C:\Users\agember\AppData\Local\Microsoft\Windows\Temporary Internet Files\Content.IE5\QZT0K7D8\MC900433880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19200" y="4724400"/>
              <a:ext cx="1447800" cy="1447800"/>
            </a:xfrm>
            <a:prstGeom prst="rect">
              <a:avLst/>
            </a:prstGeom>
            <a:noFill/>
          </p:spPr>
        </p:pic>
        <p:pic>
          <p:nvPicPr>
            <p:cNvPr id="8" name="Picture 2" descr="C:\Users\agember\AppData\Local\Microsoft\Windows\Temporary Internet Files\Content.IE5\QZT0K7D8\MC900433880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514600" y="4724400"/>
              <a:ext cx="1447800" cy="1447800"/>
            </a:xfrm>
            <a:prstGeom prst="rect">
              <a:avLst/>
            </a:prstGeom>
            <a:noFill/>
          </p:spPr>
        </p:pic>
        <p:pic>
          <p:nvPicPr>
            <p:cNvPr id="9" name="Picture 2" descr="C:\Users\agember\AppData\Local\Microsoft\Windows\Temporary Internet Files\Content.IE5\QZT0K7D8\MC900433880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810000" y="4724400"/>
              <a:ext cx="1447800" cy="1447800"/>
            </a:xfrm>
            <a:prstGeom prst="rect">
              <a:avLst/>
            </a:prstGeom>
            <a:noFill/>
          </p:spPr>
        </p:pic>
        <p:pic>
          <p:nvPicPr>
            <p:cNvPr id="10" name="Picture 2" descr="C:\Users\agember\AppData\Local\Microsoft\Windows\Temporary Internet Files\Content.IE5\QZT0K7D8\MC900433880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105400" y="4724400"/>
              <a:ext cx="1447800" cy="1447800"/>
            </a:xfrm>
            <a:prstGeom prst="rect">
              <a:avLst/>
            </a:prstGeom>
            <a:noFill/>
          </p:spPr>
        </p:pic>
        <p:pic>
          <p:nvPicPr>
            <p:cNvPr id="11" name="Picture 2" descr="C:\Users\agember\AppData\Local\Microsoft\Windows\Temporary Internet Files\Content.IE5\QZT0K7D8\MC900433880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400800" y="4724400"/>
              <a:ext cx="1447800" cy="1447800"/>
            </a:xfrm>
            <a:prstGeom prst="rect">
              <a:avLst/>
            </a:prstGeom>
            <a:noFill/>
          </p:spPr>
        </p:pic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Challenge: Computation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i="1" dirty="0" smtClean="0"/>
              <a:t>How is the data processed to </a:t>
            </a:r>
            <a:br>
              <a:rPr lang="en-US" i="1" dirty="0" smtClean="0"/>
            </a:br>
            <a:r>
              <a:rPr lang="en-US" i="1" dirty="0" smtClean="0"/>
              <a:t>obtain desired information?</a:t>
            </a:r>
          </a:p>
          <a:p>
            <a:endParaRPr lang="en-US" sz="1600" dirty="0" smtClean="0"/>
          </a:p>
          <a:p>
            <a:r>
              <a:rPr lang="en-US" dirty="0" smtClean="0"/>
              <a:t>Algorithms determine actions to perform</a:t>
            </a:r>
          </a:p>
          <a:p>
            <a:r>
              <a:rPr lang="en-US" dirty="0" smtClean="0"/>
              <a:t>Need computers to run the algorithms</a:t>
            </a:r>
          </a:p>
          <a:p>
            <a:r>
              <a:rPr lang="en-US" dirty="0" smtClean="0"/>
              <a:t>May be constrained by time, space, etc.</a:t>
            </a:r>
          </a:p>
          <a:p>
            <a:endParaRPr lang="en-US" dirty="0" smtClean="0"/>
          </a:p>
          <a:p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2133600" y="4938908"/>
            <a:ext cx="4800600" cy="1399784"/>
            <a:chOff x="2133600" y="4938908"/>
            <a:chExt cx="4800600" cy="1399784"/>
          </a:xfrm>
        </p:grpSpPr>
        <p:pic>
          <p:nvPicPr>
            <p:cNvPr id="4" name="Picture 3" descr="server_plain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33600" y="4953000"/>
              <a:ext cx="1143000" cy="1385692"/>
            </a:xfrm>
            <a:prstGeom prst="rect">
              <a:avLst/>
            </a:prstGeom>
          </p:spPr>
        </p:pic>
        <p:pic>
          <p:nvPicPr>
            <p:cNvPr id="5" name="Picture 4" descr="server_plain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0" y="4953000"/>
              <a:ext cx="1143000" cy="1385692"/>
            </a:xfrm>
            <a:prstGeom prst="rect">
              <a:avLst/>
            </a:prstGeom>
          </p:spPr>
        </p:pic>
        <p:pic>
          <p:nvPicPr>
            <p:cNvPr id="6" name="Picture 5" descr="server_plain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2400" y="4953000"/>
              <a:ext cx="1143000" cy="1385692"/>
            </a:xfrm>
            <a:prstGeom prst="rect">
              <a:avLst/>
            </a:prstGeom>
          </p:spPr>
        </p:pic>
        <p:pic>
          <p:nvPicPr>
            <p:cNvPr id="7" name="Picture 6" descr="server_plain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76800" y="4953000"/>
              <a:ext cx="1143000" cy="1385692"/>
            </a:xfrm>
            <a:prstGeom prst="rect">
              <a:avLst/>
            </a:prstGeom>
          </p:spPr>
        </p:pic>
        <p:pic>
          <p:nvPicPr>
            <p:cNvPr id="8" name="Picture 7" descr="server_plain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1200" y="4938908"/>
              <a:ext cx="1143000" cy="1385692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Challenge: Visualization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i="1" dirty="0" smtClean="0"/>
              <a:t>How is the data (or results) presented?</a:t>
            </a:r>
          </a:p>
          <a:p>
            <a:endParaRPr lang="en-US" sz="1600" dirty="0" smtClean="0"/>
          </a:p>
          <a:p>
            <a:r>
              <a:rPr lang="en-US" dirty="0" smtClean="0"/>
              <a:t>Seek clear, concise representation of the data</a:t>
            </a:r>
          </a:p>
          <a:p>
            <a:r>
              <a:rPr lang="en-US" dirty="0" smtClean="0"/>
              <a:t>Emphasize desired information</a:t>
            </a:r>
          </a:p>
          <a:p>
            <a:r>
              <a:rPr lang="en-US" dirty="0" smtClean="0"/>
              <a:t>May require many related visualizations</a:t>
            </a:r>
          </a:p>
          <a:p>
            <a:endParaRPr lang="en-US" dirty="0" smtClean="0"/>
          </a:p>
        </p:txBody>
      </p:sp>
      <p:grpSp>
        <p:nvGrpSpPr>
          <p:cNvPr id="7" name="Group 6"/>
          <p:cNvGrpSpPr/>
          <p:nvPr/>
        </p:nvGrpSpPr>
        <p:grpSpPr>
          <a:xfrm>
            <a:off x="762000" y="4572000"/>
            <a:ext cx="7429500" cy="1714500"/>
            <a:chOff x="762000" y="4572000"/>
            <a:chExt cx="7429500" cy="1714500"/>
          </a:xfrm>
        </p:grpSpPr>
        <p:pic>
          <p:nvPicPr>
            <p:cNvPr id="4" name="Picture 3" descr="trend_graph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00" y="4572000"/>
              <a:ext cx="1714500" cy="1714500"/>
            </a:xfrm>
            <a:prstGeom prst="rect">
              <a:avLst/>
            </a:prstGeom>
          </p:spPr>
        </p:pic>
        <p:pic>
          <p:nvPicPr>
            <p:cNvPr id="1026" name="Picture 2" descr="C:\Users\agember\AppData\Local\Microsoft\Windows\Temporary Internet Files\Content.IE5\2DGPU1UI\MC900439817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62000" y="4572000"/>
              <a:ext cx="1676172" cy="1676172"/>
            </a:xfrm>
            <a:prstGeom prst="rect">
              <a:avLst/>
            </a:prstGeom>
            <a:noFill/>
          </p:spPr>
        </p:pic>
        <p:pic>
          <p:nvPicPr>
            <p:cNvPr id="6" name="Picture 5" descr="globe3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7000" y="4572000"/>
              <a:ext cx="1714500" cy="1714500"/>
            </a:xfrm>
            <a:prstGeom prst="rect">
              <a:avLst/>
            </a:prstGeom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Big Data Unplugged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0292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Word count</a:t>
            </a:r>
          </a:p>
          <a:p>
            <a:pPr lvl="1"/>
            <a:r>
              <a:rPr lang="en-US" dirty="0" smtClean="0"/>
              <a:t>Conceptually simple</a:t>
            </a:r>
          </a:p>
          <a:p>
            <a:pPr lvl="1"/>
            <a:r>
              <a:rPr lang="en-US" dirty="0" smtClean="0"/>
              <a:t>Relevant for Internet search</a:t>
            </a:r>
          </a:p>
          <a:p>
            <a:pPr lvl="1"/>
            <a:endParaRPr lang="en-US" sz="1600" dirty="0" smtClean="0"/>
          </a:p>
          <a:p>
            <a:r>
              <a:rPr lang="en-US" dirty="0" smtClean="0"/>
              <a:t>Count how many times each unique word occurs</a:t>
            </a:r>
          </a:p>
          <a:p>
            <a:r>
              <a:rPr lang="en-US" dirty="0" smtClean="0"/>
              <a:t>Want </a:t>
            </a:r>
            <a:r>
              <a:rPr lang="en-US" i="1" dirty="0" smtClean="0"/>
              <a:t>speed</a:t>
            </a:r>
            <a:r>
              <a:rPr lang="en-US" dirty="0" smtClean="0"/>
              <a:t> and </a:t>
            </a:r>
            <a:r>
              <a:rPr lang="en-US" i="1" dirty="0" smtClean="0"/>
              <a:t>accuracy</a:t>
            </a:r>
          </a:p>
          <a:p>
            <a:endParaRPr lang="en-US" dirty="0" smtClean="0"/>
          </a:p>
        </p:txBody>
      </p:sp>
      <p:pic>
        <p:nvPicPr>
          <p:cNvPr id="6146" name="Picture 2" descr="http://2.bp.blogspot.com/_xZLZEszNcwU/THarvLyZx-I/AAAAAAAAA-k/AQUA_HXpGYc/s1600/dr-seuss-one-fish-two-fish-red-fish-blue-fis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3352" y="1600200"/>
            <a:ext cx="3355848" cy="4572000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Big Data Unplugged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0292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Who held what data?</a:t>
            </a:r>
          </a:p>
          <a:p>
            <a:r>
              <a:rPr lang="en-US" dirty="0" smtClean="0"/>
              <a:t>How was data passed?</a:t>
            </a:r>
          </a:p>
          <a:p>
            <a:r>
              <a:rPr lang="en-US" dirty="0" smtClean="0"/>
              <a:t>What algorithm did each person execute?</a:t>
            </a:r>
          </a:p>
          <a:p>
            <a:r>
              <a:rPr lang="en-US" dirty="0" smtClean="0"/>
              <a:t>How was the final result obtained?</a:t>
            </a:r>
          </a:p>
          <a:p>
            <a:r>
              <a:rPr lang="en-US" dirty="0" smtClean="0"/>
              <a:t>How did you present the final result?</a:t>
            </a:r>
          </a:p>
        </p:txBody>
      </p:sp>
      <p:pic>
        <p:nvPicPr>
          <p:cNvPr id="6146" name="Picture 2" descr="http://2.bp.blogspot.com/_xZLZEszNcwU/THarvLyZx-I/AAAAAAAAA-k/AQUA_HXpGYc/s1600/dr-seuss-one-fish-two-fish-red-fish-blue-fis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3352" y="1600200"/>
            <a:ext cx="3355848" cy="4572000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Paradigm: </a:t>
            </a:r>
            <a:r>
              <a:rPr lang="en-US" dirty="0" err="1" smtClean="0"/>
              <a:t>MapReduce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Leverage parallelization</a:t>
            </a:r>
          </a:p>
          <a:p>
            <a:r>
              <a:rPr lang="en-US" dirty="0" smtClean="0"/>
              <a:t>Divide analysis into two parts</a:t>
            </a:r>
          </a:p>
          <a:p>
            <a:pPr lvl="1"/>
            <a:r>
              <a:rPr lang="en-US" dirty="0" smtClean="0"/>
              <a:t>Map task: given a subset of the data; extract relevant data and obtain partial results</a:t>
            </a:r>
          </a:p>
          <a:p>
            <a:pPr lvl="1"/>
            <a:r>
              <a:rPr lang="en-US" dirty="0" smtClean="0"/>
              <a:t>Reduce task: receive partial results from each </a:t>
            </a:r>
            <a:br>
              <a:rPr lang="en-US" dirty="0" smtClean="0"/>
            </a:br>
            <a:r>
              <a:rPr lang="en-US" dirty="0" smtClean="0"/>
              <a:t>map task; combine into final result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2209800" y="4953000"/>
            <a:ext cx="4876800" cy="1385692"/>
            <a:chOff x="2209800" y="4953000"/>
            <a:chExt cx="4876800" cy="1385692"/>
          </a:xfrm>
        </p:grpSpPr>
        <p:grpSp>
          <p:nvGrpSpPr>
            <p:cNvPr id="8" name="Group 7"/>
            <p:cNvGrpSpPr/>
            <p:nvPr/>
          </p:nvGrpSpPr>
          <p:grpSpPr>
            <a:xfrm>
              <a:off x="2209800" y="4953000"/>
              <a:ext cx="1524000" cy="1385692"/>
              <a:chOff x="2133600" y="4953000"/>
              <a:chExt cx="1524000" cy="1385692"/>
            </a:xfrm>
          </p:grpSpPr>
          <p:pic>
            <p:nvPicPr>
              <p:cNvPr id="6" name="Picture 5" descr="server_plain.pn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133600" y="4953000"/>
                <a:ext cx="1143000" cy="1385692"/>
              </a:xfrm>
              <a:prstGeom prst="rect">
                <a:avLst/>
              </a:prstGeom>
            </p:spPr>
          </p:pic>
          <p:pic>
            <p:nvPicPr>
              <p:cNvPr id="7" name="Picture 2" descr="C:\Users\agember\AppData\Local\Microsoft\Windows\Temporary Internet Files\Content.IE5\QZT0K7D8\MC900433880[1]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2819400" y="5257800"/>
                <a:ext cx="838200" cy="838200"/>
              </a:xfrm>
              <a:prstGeom prst="rect">
                <a:avLst/>
              </a:prstGeom>
              <a:noFill/>
            </p:spPr>
          </p:pic>
        </p:grpSp>
        <p:grpSp>
          <p:nvGrpSpPr>
            <p:cNvPr id="9" name="Group 8"/>
            <p:cNvGrpSpPr/>
            <p:nvPr/>
          </p:nvGrpSpPr>
          <p:grpSpPr>
            <a:xfrm>
              <a:off x="3886200" y="4953000"/>
              <a:ext cx="1524000" cy="1385692"/>
              <a:chOff x="2133600" y="4953000"/>
              <a:chExt cx="1524000" cy="1385692"/>
            </a:xfrm>
          </p:grpSpPr>
          <p:pic>
            <p:nvPicPr>
              <p:cNvPr id="10" name="Picture 9" descr="server_plain.pn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133600" y="4953000"/>
                <a:ext cx="1143000" cy="1385692"/>
              </a:xfrm>
              <a:prstGeom prst="rect">
                <a:avLst/>
              </a:prstGeom>
            </p:spPr>
          </p:pic>
          <p:pic>
            <p:nvPicPr>
              <p:cNvPr id="11" name="Picture 2" descr="C:\Users\agember\AppData\Local\Microsoft\Windows\Temporary Internet Files\Content.IE5\QZT0K7D8\MC900433880[1]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2819400" y="5257800"/>
                <a:ext cx="838200" cy="838200"/>
              </a:xfrm>
              <a:prstGeom prst="rect">
                <a:avLst/>
              </a:prstGeom>
              <a:noFill/>
            </p:spPr>
          </p:pic>
        </p:grpSp>
        <p:grpSp>
          <p:nvGrpSpPr>
            <p:cNvPr id="12" name="Group 11"/>
            <p:cNvGrpSpPr/>
            <p:nvPr/>
          </p:nvGrpSpPr>
          <p:grpSpPr>
            <a:xfrm>
              <a:off x="5562600" y="4953000"/>
              <a:ext cx="1524000" cy="1385692"/>
              <a:chOff x="2133600" y="4953000"/>
              <a:chExt cx="1524000" cy="1385692"/>
            </a:xfrm>
          </p:grpSpPr>
          <p:pic>
            <p:nvPicPr>
              <p:cNvPr id="13" name="Picture 12" descr="server_plain.pn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133600" y="4953000"/>
                <a:ext cx="1143000" cy="1385692"/>
              </a:xfrm>
              <a:prstGeom prst="rect">
                <a:avLst/>
              </a:prstGeom>
            </p:spPr>
          </p:pic>
          <p:pic>
            <p:nvPicPr>
              <p:cNvPr id="14" name="Picture 2" descr="C:\Users\agember\AppData\Local\Microsoft\Windows\Temporary Internet Files\Content.IE5\QZT0K7D8\MC900433880[1]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2819400" y="5257800"/>
                <a:ext cx="838200" cy="838200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Paradigm: </a:t>
            </a:r>
            <a:r>
              <a:rPr lang="en-US" dirty="0" err="1" smtClean="0"/>
              <a:t>MapReduce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Used for Internet search</a:t>
            </a:r>
          </a:p>
          <a:p>
            <a:pPr lvl="1"/>
            <a:r>
              <a:rPr lang="en-US" dirty="0" smtClean="0"/>
              <a:t>Map task: given a part of the index; identify pages containing keywords and calculate relevance</a:t>
            </a:r>
          </a:p>
          <a:p>
            <a:pPr lvl="1"/>
            <a:r>
              <a:rPr lang="en-US" dirty="0" smtClean="0"/>
              <a:t>Reduce task: rank pages based on relevance</a:t>
            </a:r>
          </a:p>
          <a:p>
            <a:pPr lvl="1"/>
            <a:endParaRPr lang="en-US" sz="1600" dirty="0" smtClean="0"/>
          </a:p>
          <a:p>
            <a:r>
              <a:rPr lang="en-US" dirty="0" smtClean="0"/>
              <a:t>Infrastructure requirements</a:t>
            </a:r>
          </a:p>
          <a:p>
            <a:pPr lvl="1"/>
            <a:r>
              <a:rPr lang="en-US" dirty="0" smtClean="0"/>
              <a:t>Many machines to run map tasks in parallel</a:t>
            </a:r>
          </a:p>
          <a:p>
            <a:pPr lvl="1"/>
            <a:r>
              <a:rPr lang="en-US" dirty="0" smtClean="0"/>
              <a:t>Ability to retrieve and store data</a:t>
            </a:r>
          </a:p>
          <a:p>
            <a:pPr lvl="1"/>
            <a:r>
              <a:rPr lang="en-US" dirty="0" smtClean="0"/>
              <a:t>Coordination of who does what</a:t>
            </a:r>
          </a:p>
          <a:p>
            <a:endParaRPr lang="en-US" dirty="0"/>
          </a:p>
        </p:txBody>
      </p:sp>
      <p:pic>
        <p:nvPicPr>
          <p:cNvPr id="4" name="Picture 3" descr="Googl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943600" y="3657600"/>
            <a:ext cx="2667000" cy="966564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Paradigm: Cloud Computing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Large collections of processing and storage resources used on demand</a:t>
            </a:r>
          </a:p>
          <a:p>
            <a:r>
              <a:rPr lang="en-US" dirty="0" smtClean="0"/>
              <a:t>Sell resources (machines, GB of storage, etc.) for some period of time</a:t>
            </a:r>
          </a:p>
          <a:p>
            <a:pPr>
              <a:buNone/>
            </a:pPr>
            <a:endParaRPr lang="en-US" dirty="0" smtClean="0"/>
          </a:p>
        </p:txBody>
      </p:sp>
      <p:pic>
        <p:nvPicPr>
          <p:cNvPr id="4" name="Picture 3" descr="clou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07807" y="3886200"/>
            <a:ext cx="4366067" cy="2175208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Paradigm: Cloud Computing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/>
          <a:lstStyle/>
          <a:p>
            <a:r>
              <a:rPr lang="en-US" dirty="0" smtClean="0"/>
              <a:t>Infrastructure-as-a-service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Platform-as-a-service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Storage-as-a-service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838200" y="1828800"/>
            <a:ext cx="7051729" cy="1219200"/>
            <a:chOff x="838200" y="1828800"/>
            <a:chExt cx="7051729" cy="1219200"/>
          </a:xfrm>
        </p:grpSpPr>
        <p:pic>
          <p:nvPicPr>
            <p:cNvPr id="4" name="Picture 3" descr="aws_logo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1828800"/>
              <a:ext cx="2479729" cy="914400"/>
            </a:xfrm>
            <a:prstGeom prst="rect">
              <a:avLst/>
            </a:prstGeom>
          </p:spPr>
        </p:pic>
        <p:grpSp>
          <p:nvGrpSpPr>
            <p:cNvPr id="14" name="Group 13"/>
            <p:cNvGrpSpPr/>
            <p:nvPr/>
          </p:nvGrpSpPr>
          <p:grpSpPr>
            <a:xfrm>
              <a:off x="838200" y="1981200"/>
              <a:ext cx="4038600" cy="1066800"/>
              <a:chOff x="838200" y="2057400"/>
              <a:chExt cx="4038600" cy="1066800"/>
            </a:xfrm>
          </p:grpSpPr>
          <p:pic>
            <p:nvPicPr>
              <p:cNvPr id="5" name="Picture 4" descr="server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38200" y="2057400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6" name="Picture 5" descr="server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600200" y="2057400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7" name="Picture 6" descr="server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343150" y="2057400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8" name="Picture 7" descr="server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086100" y="2057400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9" name="Picture 8" descr="server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810000" y="2057400"/>
                <a:ext cx="1066800" cy="1066800"/>
              </a:xfrm>
              <a:prstGeom prst="rect">
                <a:avLst/>
              </a:prstGeom>
            </p:spPr>
          </p:pic>
        </p:grpSp>
      </p:grpSp>
      <p:grpSp>
        <p:nvGrpSpPr>
          <p:cNvPr id="16" name="Group 15"/>
          <p:cNvGrpSpPr/>
          <p:nvPr/>
        </p:nvGrpSpPr>
        <p:grpSpPr>
          <a:xfrm>
            <a:off x="2133600" y="3276600"/>
            <a:ext cx="5129784" cy="1524000"/>
            <a:chOff x="2133600" y="3276600"/>
            <a:chExt cx="5129784" cy="1524000"/>
          </a:xfrm>
        </p:grpSpPr>
        <p:pic>
          <p:nvPicPr>
            <p:cNvPr id="15" name="Picture 14" descr="desktop2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33600" y="3581400"/>
              <a:ext cx="1540163" cy="1219200"/>
            </a:xfrm>
            <a:prstGeom prst="rect">
              <a:avLst/>
            </a:prstGeom>
          </p:spPr>
        </p:pic>
        <p:pic>
          <p:nvPicPr>
            <p:cNvPr id="5122" name="Picture 2" descr="http://techgearz.com/wp-content/uploads/2011/06/google-app-engine-logo.pn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791200" y="3276600"/>
              <a:ext cx="1472184" cy="1371600"/>
            </a:xfrm>
            <a:prstGeom prst="rect">
              <a:avLst/>
            </a:prstGeom>
            <a:noFill/>
          </p:spPr>
        </p:pic>
      </p:grpSp>
      <p:grpSp>
        <p:nvGrpSpPr>
          <p:cNvPr id="17" name="Group 16"/>
          <p:cNvGrpSpPr/>
          <p:nvPr/>
        </p:nvGrpSpPr>
        <p:grpSpPr>
          <a:xfrm>
            <a:off x="2057400" y="5029200"/>
            <a:ext cx="5153024" cy="1447800"/>
            <a:chOff x="2057400" y="5029200"/>
            <a:chExt cx="5153024" cy="1447800"/>
          </a:xfrm>
        </p:grpSpPr>
        <p:pic>
          <p:nvPicPr>
            <p:cNvPr id="10" name="Picture 2" descr="C:\Users\agember\AppData\Local\Microsoft\Windows\Temporary Internet Files\Content.IE5\QZT0K7D8\MC900433880[1]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057400" y="5181600"/>
              <a:ext cx="1219200" cy="1219200"/>
            </a:xfrm>
            <a:prstGeom prst="rect">
              <a:avLst/>
            </a:prstGeom>
            <a:noFill/>
          </p:spPr>
        </p:pic>
        <p:pic>
          <p:nvPicPr>
            <p:cNvPr id="5126" name="Picture 6" descr="https://encrypted-tbn1.google.com/images?q=tbn:ANd9GcQNoYC1DCNcK6AIOeVE8OWn8Vs7X-QowhphtjJNw2CPRzRqLLAylQ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5943600" y="5029200"/>
              <a:ext cx="1266824" cy="1447800"/>
            </a:xfrm>
            <a:prstGeom prst="rect">
              <a:avLst/>
            </a:prstGeom>
            <a:noFill/>
          </p:spPr>
        </p:pic>
      </p:grpSp>
      <p:pic>
        <p:nvPicPr>
          <p:cNvPr id="5128" name="Picture 8" descr="http://wordspicturesweb.com/wp-content/uploads/2011/01/netflix-logosmred.gif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981200" y="2209800"/>
            <a:ext cx="1676400" cy="674823"/>
          </a:xfrm>
          <a:prstGeom prst="rect">
            <a:avLst/>
          </a:prstGeom>
          <a:noFill/>
        </p:spPr>
      </p:pic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Paradigm: Cloud Computing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Benefits for </a:t>
            </a:r>
            <a:r>
              <a:rPr lang="en-US" i="1" dirty="0" smtClean="0"/>
              <a:t>users</a:t>
            </a:r>
          </a:p>
          <a:p>
            <a:pPr lvl="1"/>
            <a:r>
              <a:rPr lang="en-US" dirty="0" smtClean="0"/>
              <a:t>Only pay for what you use</a:t>
            </a:r>
            <a:br>
              <a:rPr lang="en-US" dirty="0" smtClean="0"/>
            </a:br>
            <a:r>
              <a:rPr lang="en-US" dirty="0" smtClean="0"/>
              <a:t>100 servers at $1/hour for 1 hour = $100</a:t>
            </a:r>
            <a:br>
              <a:rPr lang="en-US" dirty="0" smtClean="0"/>
            </a:br>
            <a:r>
              <a:rPr lang="en-US" dirty="0" smtClean="0"/>
              <a:t>1 server at $1/hour for 100 hours = $100</a:t>
            </a:r>
          </a:p>
          <a:p>
            <a:pPr lvl="1"/>
            <a:r>
              <a:rPr lang="en-US" dirty="0" smtClean="0"/>
              <a:t>Externally managed</a:t>
            </a:r>
          </a:p>
          <a:p>
            <a:pPr lvl="1"/>
            <a:endParaRPr lang="en-US" sz="1600" dirty="0" smtClean="0"/>
          </a:p>
          <a:p>
            <a:r>
              <a:rPr lang="en-US" dirty="0" smtClean="0"/>
              <a:t>Benefits for </a:t>
            </a:r>
            <a:r>
              <a:rPr lang="en-US" i="1" dirty="0" smtClean="0"/>
              <a:t>cloud providers</a:t>
            </a:r>
          </a:p>
          <a:p>
            <a:pPr lvl="1"/>
            <a:r>
              <a:rPr lang="en-US" dirty="0" smtClean="0"/>
              <a:t>Economies of scale (space, equipment, etc.)</a:t>
            </a:r>
          </a:p>
        </p:txBody>
      </p:sp>
      <p:pic>
        <p:nvPicPr>
          <p:cNvPr id="4" name="Picture 3" descr="mone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91200" y="1295400"/>
            <a:ext cx="1543050" cy="154305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Paradigm: Data Mining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Identify patterns and relationships in data</a:t>
            </a:r>
          </a:p>
          <a:p>
            <a:r>
              <a:rPr lang="en-US" dirty="0" smtClean="0"/>
              <a:t>Used to rank, categorize, etc.</a:t>
            </a:r>
          </a:p>
          <a:p>
            <a:r>
              <a:rPr lang="en-US" dirty="0" smtClean="0"/>
              <a:t>Commonly associated with </a:t>
            </a:r>
            <a:r>
              <a:rPr lang="en-US" i="1" dirty="0" smtClean="0"/>
              <a:t>artificial intelligence</a:t>
            </a:r>
            <a:r>
              <a:rPr lang="en-US" dirty="0" smtClean="0"/>
              <a:t> and </a:t>
            </a:r>
            <a:r>
              <a:rPr lang="en-US" i="1" dirty="0" smtClean="0"/>
              <a:t>machine learning</a:t>
            </a:r>
          </a:p>
        </p:txBody>
      </p:sp>
      <p:pic>
        <p:nvPicPr>
          <p:cNvPr id="5" name="Picture 4" descr="magnifying_glas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77000" y="4114800"/>
            <a:ext cx="1714500" cy="17145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Paradigm: Data Mining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Categorization algorithms</a:t>
            </a:r>
          </a:p>
          <a:p>
            <a:pPr lvl="1"/>
            <a:r>
              <a:rPr lang="en-US" i="1" dirty="0" smtClean="0"/>
              <a:t>Rules &gt; </a:t>
            </a:r>
            <a:r>
              <a:rPr lang="en-US" i="1" dirty="0" err="1" smtClean="0"/>
              <a:t>ZeroR</a:t>
            </a:r>
            <a:r>
              <a:rPr lang="en-US" dirty="0" smtClean="0"/>
              <a:t>:  pick most common</a:t>
            </a:r>
          </a:p>
          <a:p>
            <a:pPr lvl="1"/>
            <a:r>
              <a:rPr lang="en-US" i="1" dirty="0" smtClean="0"/>
              <a:t>Trees &gt; J48</a:t>
            </a:r>
            <a:r>
              <a:rPr lang="en-US" dirty="0" smtClean="0"/>
              <a:t>: decision tree</a:t>
            </a:r>
          </a:p>
          <a:p>
            <a:pPr lvl="1"/>
            <a:r>
              <a:rPr lang="en-US" i="1" dirty="0" err="1" smtClean="0"/>
              <a:t>Bayes</a:t>
            </a:r>
            <a:r>
              <a:rPr lang="en-US" i="1" dirty="0" smtClean="0"/>
              <a:t> &gt; </a:t>
            </a:r>
            <a:r>
              <a:rPr lang="en-US" i="1" dirty="0" err="1" smtClean="0"/>
              <a:t>NaiveBayes</a:t>
            </a:r>
            <a:r>
              <a:rPr lang="en-US" dirty="0" smtClean="0"/>
              <a:t>:  based on probabilities</a:t>
            </a:r>
          </a:p>
          <a:p>
            <a:endParaRPr lang="en-US" sz="1600" dirty="0" smtClean="0"/>
          </a:p>
          <a:p>
            <a:r>
              <a:rPr lang="en-US" dirty="0" smtClean="0"/>
              <a:t>Clustering algorithms</a:t>
            </a:r>
          </a:p>
          <a:p>
            <a:endParaRPr lang="en-US" dirty="0"/>
          </a:p>
        </p:txBody>
      </p:sp>
      <p:pic>
        <p:nvPicPr>
          <p:cNvPr id="4" name="Picture 6" descr="http://upload.wikimedia.org/wikipedia/commons/0/07/Weka_%28software%29_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8254" y="4800600"/>
            <a:ext cx="2321166" cy="1219200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Paradigm: Visualization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Wide array of ways to view data (or results)</a:t>
            </a:r>
          </a:p>
          <a:p>
            <a:pPr lvl="1"/>
            <a:r>
              <a:rPr lang="en-US" dirty="0" smtClean="0"/>
              <a:t>Conventional: line, bar, pie charts</a:t>
            </a:r>
          </a:p>
          <a:p>
            <a:pPr lvl="1"/>
            <a:r>
              <a:rPr lang="en-US" dirty="0" smtClean="0"/>
              <a:t>Alternative: bubble chart, tree map, world map</a:t>
            </a:r>
          </a:p>
          <a:p>
            <a:pPr lvl="1"/>
            <a:r>
              <a:rPr lang="en-US" dirty="0" smtClean="0"/>
              <a:t>Text: tag cloud, word tree</a:t>
            </a:r>
            <a:endParaRPr lang="en-US" dirty="0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 cstate="print"/>
          <a:srcRect l="15227" t="25000" r="3367" b="6522"/>
          <a:stretch>
            <a:fillRect/>
          </a:stretch>
        </p:blipFill>
        <p:spPr bwMode="auto">
          <a:xfrm>
            <a:off x="1600200" y="3962400"/>
            <a:ext cx="5715000" cy="2590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Hands-On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Mining in </a:t>
            </a:r>
            <a:r>
              <a:rPr lang="en-US" dirty="0" err="1" smtClean="0"/>
              <a:t>Weka</a:t>
            </a:r>
            <a:endParaRPr lang="en-US" dirty="0" smtClean="0"/>
          </a:p>
          <a:p>
            <a:pPr lvl="1"/>
            <a:r>
              <a:rPr lang="en-US" dirty="0" smtClean="0"/>
              <a:t>Computer &gt; cshs2012 (Z:) &gt; </a:t>
            </a:r>
            <a:r>
              <a:rPr lang="en-US" dirty="0" err="1" smtClean="0"/>
              <a:t>launch_weka</a:t>
            </a:r>
            <a:endParaRPr lang="en-US" dirty="0" smtClean="0"/>
          </a:p>
          <a:p>
            <a:pPr lvl="1"/>
            <a:r>
              <a:rPr lang="en-US" dirty="0" smtClean="0"/>
              <a:t>Data in Z:/datasets</a:t>
            </a:r>
          </a:p>
          <a:p>
            <a:pPr lvl="1"/>
            <a:r>
              <a:rPr lang="en-US" dirty="0" smtClean="0"/>
              <a:t>Rules &gt; </a:t>
            </a:r>
            <a:r>
              <a:rPr lang="en-US" dirty="0" err="1" smtClean="0"/>
              <a:t>ZeroR</a:t>
            </a:r>
            <a:r>
              <a:rPr lang="en-US" dirty="0" smtClean="0"/>
              <a:t>, Trees &gt; J48, </a:t>
            </a:r>
            <a:r>
              <a:rPr lang="en-US" dirty="0" err="1" smtClean="0"/>
              <a:t>Bayes</a:t>
            </a:r>
            <a:r>
              <a:rPr lang="en-US" dirty="0" smtClean="0"/>
              <a:t> &gt; </a:t>
            </a:r>
            <a:r>
              <a:rPr lang="en-US" dirty="0" err="1" smtClean="0"/>
              <a:t>NaiveBayes</a:t>
            </a:r>
            <a:endParaRPr lang="en-US" dirty="0" smtClean="0"/>
          </a:p>
          <a:p>
            <a:pPr lvl="1"/>
            <a:endParaRPr lang="en-US" sz="1600" dirty="0" smtClean="0"/>
          </a:p>
          <a:p>
            <a:r>
              <a:rPr lang="en-US" dirty="0" smtClean="0"/>
              <a:t>Visualization using Many Eyes</a:t>
            </a:r>
          </a:p>
          <a:p>
            <a:pPr lvl="1"/>
            <a:r>
              <a:rPr lang="en-US" dirty="0" smtClean="0">
                <a:hlinkClick r:id="rId2"/>
              </a:rPr>
              <a:t>http://www-958.ibm.com</a:t>
            </a:r>
            <a:endParaRPr lang="en-US" dirty="0" smtClean="0"/>
          </a:p>
          <a:p>
            <a:pPr lvl="1"/>
            <a:r>
              <a:rPr lang="en-US" dirty="0" smtClean="0"/>
              <a:t>Search for “one fish” datasets</a:t>
            </a:r>
            <a:br>
              <a:rPr lang="en-US" dirty="0" smtClean="0"/>
            </a:br>
            <a:r>
              <a:rPr lang="en-US" dirty="0" smtClean="0"/>
              <a:t>or  play with any dataset</a:t>
            </a:r>
            <a:endParaRPr lang="en-US" dirty="0"/>
          </a:p>
        </p:txBody>
      </p:sp>
      <p:pic>
        <p:nvPicPr>
          <p:cNvPr id="1028" name="Picture 4" descr="http://www-958.ibm.com/software/data/cognos/manyeyes/images/Heads(838x220).png"/>
          <p:cNvPicPr>
            <a:picLocks noChangeAspect="1" noChangeArrowheads="1"/>
          </p:cNvPicPr>
          <p:nvPr/>
        </p:nvPicPr>
        <p:blipFill>
          <a:blip r:embed="rId3" cstate="print"/>
          <a:srcRect l="2864" r="74224"/>
          <a:stretch>
            <a:fillRect/>
          </a:stretch>
        </p:blipFill>
        <p:spPr bwMode="auto">
          <a:xfrm>
            <a:off x="6858000" y="4495800"/>
            <a:ext cx="1729046" cy="1981200"/>
          </a:xfrm>
          <a:prstGeom prst="rect">
            <a:avLst/>
          </a:prstGeom>
          <a:noFill/>
        </p:spPr>
      </p:pic>
      <p:pic>
        <p:nvPicPr>
          <p:cNvPr id="1030" name="Picture 6" descr="http://upload.wikimedia.org/wikipedia/commons/0/07/Weka_%28software%29_logo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05600" y="914400"/>
            <a:ext cx="2031020" cy="1066800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ManyEyes</a:t>
            </a:r>
            <a:r>
              <a:rPr lang="en-US" dirty="0" smtClean="0"/>
              <a:t> (</a:t>
            </a:r>
            <a:r>
              <a:rPr lang="en-US" dirty="0" smtClean="0">
                <a:hlinkClick r:id="rId2"/>
              </a:rPr>
              <a:t>http://www-958.ibm.com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Weka</a:t>
            </a:r>
            <a:r>
              <a:rPr lang="en-US" dirty="0" smtClean="0"/>
              <a:t> (</a:t>
            </a:r>
            <a:r>
              <a:rPr lang="en-US" dirty="0" smtClean="0">
                <a:hlinkClick r:id="rId3"/>
              </a:rPr>
              <a:t>http://www.cs.waikato.ac.nz/ml/weka</a:t>
            </a:r>
            <a:r>
              <a:rPr lang="en-US" dirty="0" smtClean="0"/>
              <a:t>)</a:t>
            </a:r>
          </a:p>
          <a:p>
            <a:r>
              <a:rPr lang="en-US" dirty="0" smtClean="0"/>
              <a:t>Datasets (</a:t>
            </a:r>
            <a:r>
              <a:rPr lang="en-US" dirty="0" smtClean="0">
                <a:hlinkClick r:id="rId4"/>
              </a:rPr>
              <a:t>http://archive.ics.uci.edu/ml/</a:t>
            </a:r>
            <a:r>
              <a:rPr lang="en-US" dirty="0" smtClean="0"/>
              <a:t>)</a:t>
            </a:r>
          </a:p>
          <a:p>
            <a:r>
              <a:rPr lang="en-US" dirty="0" smtClean="0"/>
              <a:t>Google Insights for Search (</a:t>
            </a:r>
            <a:r>
              <a:rPr lang="en-US" dirty="0" smtClean="0">
                <a:hlinkClick r:id="rId5"/>
              </a:rPr>
              <a:t>http://www.google.com/insights/search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WebMapReduce</a:t>
            </a:r>
            <a:r>
              <a:rPr lang="en-US" dirty="0" smtClean="0"/>
              <a:t> (</a:t>
            </a:r>
            <a:r>
              <a:rPr lang="en-US" dirty="0" smtClean="0">
                <a:hlinkClick r:id="rId6"/>
              </a:rPr>
              <a:t>http://webmapreduce.sourceforge.net/</a:t>
            </a:r>
            <a:r>
              <a:rPr lang="en-US" dirty="0" smtClean="0"/>
              <a:t>)</a:t>
            </a:r>
          </a:p>
          <a:p>
            <a:r>
              <a:rPr lang="en-US" dirty="0" smtClean="0"/>
              <a:t>Amazon Web Services in Education (</a:t>
            </a:r>
            <a:r>
              <a:rPr lang="en-US" dirty="0" smtClean="0">
                <a:hlinkClick r:id="rId7"/>
              </a:rPr>
              <a:t>http://aws.amazon.com/education/</a:t>
            </a:r>
            <a:r>
              <a:rPr lang="en-US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D7588-F004-4BEB-8503-A3772A42C2A3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766</Words>
  <Application>Microsoft Office PowerPoint</Application>
  <PresentationFormat>On-screen Show (4:3)</PresentationFormat>
  <Paragraphs>197</Paragraphs>
  <Slides>26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Big Data</vt:lpstr>
      <vt:lpstr>Big Idea #3</vt:lpstr>
      <vt:lpstr>Slide 3</vt:lpstr>
      <vt:lpstr>Outline</vt:lpstr>
      <vt:lpstr>Example: Internet Search</vt:lpstr>
      <vt:lpstr>Example: Internet Search</vt:lpstr>
      <vt:lpstr>Example: Climate Analysis</vt:lpstr>
      <vt:lpstr>Example: Netflix Recommendations</vt:lpstr>
      <vt:lpstr>Example: Netflix Recommendations</vt:lpstr>
      <vt:lpstr>Challenge: Collection</vt:lpstr>
      <vt:lpstr>Challenge: Organization</vt:lpstr>
      <vt:lpstr>Challenge: Storage</vt:lpstr>
      <vt:lpstr>Challenge: Computation</vt:lpstr>
      <vt:lpstr>Challenge: Visualization</vt:lpstr>
      <vt:lpstr>Big Data Unplugged</vt:lpstr>
      <vt:lpstr>Big Data Unplugged</vt:lpstr>
      <vt:lpstr>Paradigm: MapReduce</vt:lpstr>
      <vt:lpstr>Paradigm: MapReduce</vt:lpstr>
      <vt:lpstr>Paradigm: Cloud Computing</vt:lpstr>
      <vt:lpstr>Paradigm: Cloud Computing</vt:lpstr>
      <vt:lpstr>Paradigm: Cloud Computing</vt:lpstr>
      <vt:lpstr>Paradigm: Data Mining</vt:lpstr>
      <vt:lpstr>Paradigm: Data Mining</vt:lpstr>
      <vt:lpstr>Paradigm: Visualization </vt:lpstr>
      <vt:lpstr>Hands-On</vt:lpstr>
      <vt:lpstr>Resources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</dc:title>
  <dc:creator>Aaron Gember</dc:creator>
  <cp:lastModifiedBy>Aaron Gember</cp:lastModifiedBy>
  <cp:revision>164</cp:revision>
  <dcterms:created xsi:type="dcterms:W3CDTF">2012-07-12T18:03:57Z</dcterms:created>
  <dcterms:modified xsi:type="dcterms:W3CDTF">2012-07-24T17:10:26Z</dcterms:modified>
</cp:coreProperties>
</file>