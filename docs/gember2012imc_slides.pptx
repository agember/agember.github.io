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84" r:id="rId3"/>
    <p:sldId id="287" r:id="rId4"/>
    <p:sldId id="285" r:id="rId5"/>
    <p:sldId id="291" r:id="rId6"/>
    <p:sldId id="258" r:id="rId7"/>
    <p:sldId id="282" r:id="rId8"/>
    <p:sldId id="292" r:id="rId9"/>
    <p:sldId id="296" r:id="rId10"/>
    <p:sldId id="263" r:id="rId11"/>
    <p:sldId id="264" r:id="rId12"/>
    <p:sldId id="297" r:id="rId13"/>
    <p:sldId id="304" r:id="rId14"/>
    <p:sldId id="309" r:id="rId15"/>
    <p:sldId id="267" r:id="rId16"/>
    <p:sldId id="299" r:id="rId17"/>
    <p:sldId id="288" r:id="rId18"/>
    <p:sldId id="275" r:id="rId19"/>
    <p:sldId id="300" r:id="rId20"/>
    <p:sldId id="301" r:id="rId21"/>
    <p:sldId id="280" r:id="rId22"/>
    <p:sldId id="281" r:id="rId23"/>
    <p:sldId id="279" r:id="rId24"/>
    <p:sldId id="308" r:id="rId25"/>
    <p:sldId id="306" r:id="rId26"/>
    <p:sldId id="307" r:id="rId27"/>
    <p:sldId id="274" r:id="rId28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CB3D3A"/>
    <a:srgbClr val="DA0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74" autoAdjust="0"/>
    <p:restoredTop sz="82437" autoAdjust="0"/>
  </p:normalViewPr>
  <p:slideViewPr>
    <p:cSldViewPr>
      <p:cViewPr varScale="1">
        <p:scale>
          <a:sx n="56" d="100"/>
          <a:sy n="56" d="100"/>
        </p:scale>
        <p:origin x="-153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34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259D244-8502-4A78-9C32-45A517176537}" type="datetimeFigureOut">
              <a:rPr lang="en-US" smtClean="0"/>
              <a:pPr/>
              <a:t>11/18/2012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F6CE6889-28EC-4356-973F-6C4E7CE2B24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527709D-7F77-4273-BBE4-3778A919784B}" type="datetimeFigureOut">
              <a:rPr lang="en-US" smtClean="0"/>
              <a:pPr/>
              <a:t>11/18/2012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18387752-B772-4AE4-A586-5A800EE7C84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387752-B772-4AE4-A586-5A800EE7C84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3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387752-B772-4AE4-A586-5A800EE7C84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66612">
              <a:defRPr/>
            </a:pPr>
            <a:endParaRPr lang="en-US" sz="13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387752-B772-4AE4-A586-5A800EE7C847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387752-B772-4AE4-A586-5A800EE7C84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387752-B772-4AE4-A586-5A800EE7C84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66612">
              <a:defRPr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387752-B772-4AE4-A586-5A800EE7C847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387752-B772-4AE4-A586-5A800EE7C847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387752-B772-4AE4-A586-5A800EE7C847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If we account for differences geographic location, we see similar results: 30ms lower RTT on idle devices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387752-B772-4AE4-A586-5A800EE7C847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387752-B772-4AE4-A586-5A800EE7C847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Many</a:t>
            </a:r>
            <a:r>
              <a:rPr lang="en-US" baseline="0" dirty="0" smtClean="0"/>
              <a:t> low-level factors may affect the performance the network delivers to a device.  These factors include: signal fading and interference, handover rate, cell sector traffic load, and back-haul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387752-B772-4AE4-A586-5A800EE7C847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387752-B772-4AE4-A586-5A800EE7C847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387752-B772-4AE4-A586-5A800EE7C847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387752-B772-4AE4-A586-5A800EE7C847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 hours where average</a:t>
            </a:r>
            <a:r>
              <a:rPr lang="en-US" baseline="0" dirty="0" smtClean="0"/>
              <a:t> throughput differs between the two types of measurements, it was due to a single outlier or not enough measurements.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387752-B772-4AE4-A586-5A800EE7C847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387752-B772-4AE4-A586-5A800EE7C847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90493-2373-4FE5-87FF-2FB8A2BD0B30}" type="datetime1">
              <a:rPr lang="en-US" smtClean="0"/>
              <a:pPr/>
              <a:t>11/18/2012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D496-B5C8-4E20-9955-7836E0BF659C}" type="datetime1">
              <a:rPr lang="en-US" smtClean="0"/>
              <a:pPr/>
              <a:t>11/18/2012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856D4-B913-46AD-8DE4-E68A55DE2659}" type="datetime1">
              <a:rPr lang="en-US" smtClean="0"/>
              <a:pPr/>
              <a:t>11/18/2012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D832-8B30-4F40-AF4A-6B5D3A97C78E}" type="datetime1">
              <a:rPr lang="en-US" smtClean="0"/>
              <a:pPr/>
              <a:t>11/18/2012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5454-83A9-456D-A7F1-16D56266B941}" type="datetime1">
              <a:rPr lang="en-US" smtClean="0"/>
              <a:pPr/>
              <a:t>11/18/2012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7A34B-4AC2-4C3A-95A0-69D21C0E1444}" type="datetime1">
              <a:rPr lang="en-US" smtClean="0"/>
              <a:pPr/>
              <a:t>11/18/2012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0B7EB-D078-4F0D-848F-B40546015E1A}" type="datetime1">
              <a:rPr lang="en-US" smtClean="0"/>
              <a:pPr/>
              <a:t>11/18/2012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5157B-4571-4510-BE15-3D5F227B93FD}" type="datetime1">
              <a:rPr lang="en-US" smtClean="0"/>
              <a:pPr/>
              <a:t>11/18/2012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9BED-A25B-4814-9412-69E3EC60C81C}" type="datetime1">
              <a:rPr lang="en-US" smtClean="0"/>
              <a:pPr/>
              <a:t>11/18/2012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6B54-9CFE-416D-9588-33508BA7B37F}" type="datetime1">
              <a:rPr lang="en-US" smtClean="0"/>
              <a:pPr/>
              <a:t>11/18/2012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1E2E8-EC20-4777-8A8F-E476DE6D5FD6}" type="datetime1">
              <a:rPr lang="en-US" smtClean="0"/>
              <a:pPr/>
              <a:t>11/18/2012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19532-8DB1-4AB4-9D4B-5883AD645DC2}" type="datetime1">
              <a:rPr lang="en-US" smtClean="0"/>
              <a:pPr/>
              <a:t>11/18/2012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88AB0C-407B-47F8-BA5E-EF063E2B1E1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0" kern="1200">
          <a:solidFill>
            <a:srgbClr val="C00000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jpe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26.jpe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jpeg"/><Relationship Id="rId4" Type="http://schemas.openxmlformats.org/officeDocument/2006/relationships/image" Target="../media/image6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7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5.wmf"/><Relationship Id="rId5" Type="http://schemas.openxmlformats.org/officeDocument/2006/relationships/image" Target="../media/image16.png"/><Relationship Id="rId10" Type="http://schemas.openxmlformats.org/officeDocument/2006/relationships/image" Target="../media/image28.jpeg"/><Relationship Id="rId4" Type="http://schemas.openxmlformats.org/officeDocument/2006/relationships/image" Target="../media/image9.wmf"/><Relationship Id="rId9" Type="http://schemas.openxmlformats.org/officeDocument/2006/relationships/image" Target="../media/image2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6.png"/><Relationship Id="rId7" Type="http://schemas.openxmlformats.org/officeDocument/2006/relationships/image" Target="../media/image9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7" Type="http://schemas.openxmlformats.org/officeDocument/2006/relationships/image" Target="../media/image48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3" Type="http://schemas.openxmlformats.org/officeDocument/2006/relationships/image" Target="../media/image25.png"/><Relationship Id="rId21" Type="http://schemas.openxmlformats.org/officeDocument/2006/relationships/image" Target="../media/image29.png"/><Relationship Id="rId7" Type="http://schemas.openxmlformats.org/officeDocument/2006/relationships/image" Target="../media/image6.png"/><Relationship Id="rId12" Type="http://schemas.openxmlformats.org/officeDocument/2006/relationships/image" Target="../media/image27.png"/><Relationship Id="rId17" Type="http://schemas.openxmlformats.org/officeDocument/2006/relationships/image" Target="../media/image63.jpeg"/><Relationship Id="rId25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62.jpeg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58.png"/><Relationship Id="rId24" Type="http://schemas.openxmlformats.org/officeDocument/2006/relationships/image" Target="../media/image66.png"/><Relationship Id="rId5" Type="http://schemas.openxmlformats.org/officeDocument/2006/relationships/image" Target="../media/image56.png"/><Relationship Id="rId15" Type="http://schemas.openxmlformats.org/officeDocument/2006/relationships/image" Target="../media/image61.png"/><Relationship Id="rId23" Type="http://schemas.openxmlformats.org/officeDocument/2006/relationships/image" Target="../media/image26.jpeg"/><Relationship Id="rId10" Type="http://schemas.openxmlformats.org/officeDocument/2006/relationships/image" Target="../media/image57.png"/><Relationship Id="rId19" Type="http://schemas.openxmlformats.org/officeDocument/2006/relationships/image" Target="../media/image65.png"/><Relationship Id="rId4" Type="http://schemas.openxmlformats.org/officeDocument/2006/relationships/image" Target="../media/image55.png"/><Relationship Id="rId9" Type="http://schemas.openxmlformats.org/officeDocument/2006/relationships/image" Target="../media/image52.png"/><Relationship Id="rId14" Type="http://schemas.openxmlformats.org/officeDocument/2006/relationships/image" Target="../media/image60.png"/><Relationship Id="rId2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2305051"/>
          </a:xfrm>
        </p:spPr>
        <p:txBody>
          <a:bodyPr>
            <a:normAutofit/>
          </a:bodyPr>
          <a:lstStyle/>
          <a:p>
            <a:r>
              <a:rPr lang="en-US" b="1" dirty="0" smtClean="0"/>
              <a:t>Obtaining In-Context Measurements of Cellular Network Performance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810000"/>
            <a:ext cx="8229600" cy="2133600"/>
          </a:xfrm>
        </p:spPr>
        <p:txBody>
          <a:bodyPr>
            <a:normAutofit fontScale="92500"/>
          </a:bodyPr>
          <a:lstStyle/>
          <a:p>
            <a:r>
              <a:rPr lang="en-US" u="sng" dirty="0" smtClean="0">
                <a:solidFill>
                  <a:schemeClr val="tx1"/>
                </a:solidFill>
              </a:rPr>
              <a:t>Aaron </a:t>
            </a:r>
            <a:r>
              <a:rPr lang="en-US" u="sng" dirty="0" err="1" smtClean="0">
                <a:solidFill>
                  <a:schemeClr val="tx1"/>
                </a:solidFill>
              </a:rPr>
              <a:t>Gember</a:t>
            </a:r>
            <a:r>
              <a:rPr lang="en-US" dirty="0" smtClean="0">
                <a:solidFill>
                  <a:schemeClr val="tx1"/>
                </a:solidFill>
              </a:rPr>
              <a:t>, </a:t>
            </a:r>
            <a:r>
              <a:rPr lang="en-US" dirty="0" err="1" smtClean="0">
                <a:solidFill>
                  <a:schemeClr val="tx1"/>
                </a:solidFill>
              </a:rPr>
              <a:t>Aditya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Akella</a:t>
            </a:r>
            <a:r>
              <a:rPr lang="en-US" dirty="0" smtClean="0">
                <a:solidFill>
                  <a:schemeClr val="tx1"/>
                </a:solidFill>
              </a:rPr>
              <a:t/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i="1" dirty="0" smtClean="0">
                <a:solidFill>
                  <a:schemeClr val="tx1"/>
                </a:solidFill>
              </a:rPr>
              <a:t>University of Wisconsin-Madison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Jeffrey Pang, Alexander </a:t>
            </a:r>
            <a:r>
              <a:rPr lang="en-US" dirty="0" err="1" smtClean="0">
                <a:solidFill>
                  <a:schemeClr val="tx1"/>
                </a:solidFill>
              </a:rPr>
              <a:t>Varshavsky</a:t>
            </a:r>
            <a:r>
              <a:rPr lang="en-US" dirty="0" smtClean="0">
                <a:solidFill>
                  <a:schemeClr val="tx1"/>
                </a:solidFill>
              </a:rPr>
              <a:t>, Ramon Caceres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i="1" dirty="0" smtClean="0">
                <a:solidFill>
                  <a:schemeClr val="tx1"/>
                </a:solidFill>
              </a:rPr>
              <a:t>AT&amp;T Labs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roup 164"/>
          <p:cNvGrpSpPr/>
          <p:nvPr/>
        </p:nvGrpSpPr>
        <p:grpSpPr>
          <a:xfrm>
            <a:off x="1828800" y="2108200"/>
            <a:ext cx="683931" cy="700087"/>
            <a:chOff x="-68262" y="3186113"/>
            <a:chExt cx="806450" cy="825500"/>
          </a:xfrm>
        </p:grpSpPr>
        <p:sp>
          <p:nvSpPr>
            <p:cNvPr id="1052" name="Freeform 28"/>
            <p:cNvSpPr>
              <a:spLocks/>
            </p:cNvSpPr>
            <p:nvPr/>
          </p:nvSpPr>
          <p:spPr bwMode="auto">
            <a:xfrm>
              <a:off x="-68262" y="3186113"/>
              <a:ext cx="806450" cy="825500"/>
            </a:xfrm>
            <a:custGeom>
              <a:avLst/>
              <a:gdLst/>
              <a:ahLst/>
              <a:cxnLst>
                <a:cxn ang="0">
                  <a:pos x="558" y="3"/>
                </a:cxn>
                <a:cxn ang="0">
                  <a:pos x="657" y="24"/>
                </a:cxn>
                <a:cxn ang="0">
                  <a:pos x="749" y="64"/>
                </a:cxn>
                <a:cxn ang="0">
                  <a:pos x="831" y="119"/>
                </a:cxn>
                <a:cxn ang="0">
                  <a:pos x="900" y="190"/>
                </a:cxn>
                <a:cxn ang="0">
                  <a:pos x="954" y="273"/>
                </a:cxn>
                <a:cxn ang="0">
                  <a:pos x="994" y="367"/>
                </a:cxn>
                <a:cxn ang="0">
                  <a:pos x="1014" y="468"/>
                </a:cxn>
                <a:cxn ang="0">
                  <a:pos x="1014" y="574"/>
                </a:cxn>
                <a:cxn ang="0">
                  <a:pos x="994" y="675"/>
                </a:cxn>
                <a:cxn ang="0">
                  <a:pos x="954" y="769"/>
                </a:cxn>
                <a:cxn ang="0">
                  <a:pos x="900" y="851"/>
                </a:cxn>
                <a:cxn ang="0">
                  <a:pos x="831" y="923"/>
                </a:cxn>
                <a:cxn ang="0">
                  <a:pos x="749" y="978"/>
                </a:cxn>
                <a:cxn ang="0">
                  <a:pos x="657" y="1018"/>
                </a:cxn>
                <a:cxn ang="0">
                  <a:pos x="558" y="1039"/>
                </a:cxn>
                <a:cxn ang="0">
                  <a:pos x="455" y="1039"/>
                </a:cxn>
                <a:cxn ang="0">
                  <a:pos x="356" y="1018"/>
                </a:cxn>
                <a:cxn ang="0">
                  <a:pos x="265" y="978"/>
                </a:cxn>
                <a:cxn ang="0">
                  <a:pos x="184" y="923"/>
                </a:cxn>
                <a:cxn ang="0">
                  <a:pos x="115" y="851"/>
                </a:cxn>
                <a:cxn ang="0">
                  <a:pos x="61" y="769"/>
                </a:cxn>
                <a:cxn ang="0">
                  <a:pos x="23" y="675"/>
                </a:cxn>
                <a:cxn ang="0">
                  <a:pos x="2" y="574"/>
                </a:cxn>
                <a:cxn ang="0">
                  <a:pos x="2" y="468"/>
                </a:cxn>
                <a:cxn ang="0">
                  <a:pos x="23" y="367"/>
                </a:cxn>
                <a:cxn ang="0">
                  <a:pos x="61" y="273"/>
                </a:cxn>
                <a:cxn ang="0">
                  <a:pos x="115" y="190"/>
                </a:cxn>
                <a:cxn ang="0">
                  <a:pos x="184" y="119"/>
                </a:cxn>
                <a:cxn ang="0">
                  <a:pos x="265" y="64"/>
                </a:cxn>
                <a:cxn ang="0">
                  <a:pos x="356" y="24"/>
                </a:cxn>
                <a:cxn ang="0">
                  <a:pos x="455" y="3"/>
                </a:cxn>
              </a:cxnLst>
              <a:rect l="0" t="0" r="r" b="b"/>
              <a:pathLst>
                <a:path w="1017" h="1041">
                  <a:moveTo>
                    <a:pt x="506" y="0"/>
                  </a:moveTo>
                  <a:lnTo>
                    <a:pt x="558" y="3"/>
                  </a:lnTo>
                  <a:lnTo>
                    <a:pt x="609" y="11"/>
                  </a:lnTo>
                  <a:lnTo>
                    <a:pt x="657" y="24"/>
                  </a:lnTo>
                  <a:lnTo>
                    <a:pt x="705" y="42"/>
                  </a:lnTo>
                  <a:lnTo>
                    <a:pt x="749" y="64"/>
                  </a:lnTo>
                  <a:lnTo>
                    <a:pt x="791" y="89"/>
                  </a:lnTo>
                  <a:lnTo>
                    <a:pt x="831" y="119"/>
                  </a:lnTo>
                  <a:lnTo>
                    <a:pt x="867" y="154"/>
                  </a:lnTo>
                  <a:lnTo>
                    <a:pt x="900" y="190"/>
                  </a:lnTo>
                  <a:lnTo>
                    <a:pt x="929" y="231"/>
                  </a:lnTo>
                  <a:lnTo>
                    <a:pt x="954" y="273"/>
                  </a:lnTo>
                  <a:lnTo>
                    <a:pt x="976" y="318"/>
                  </a:lnTo>
                  <a:lnTo>
                    <a:pt x="994" y="367"/>
                  </a:lnTo>
                  <a:lnTo>
                    <a:pt x="1006" y="416"/>
                  </a:lnTo>
                  <a:lnTo>
                    <a:pt x="1014" y="468"/>
                  </a:lnTo>
                  <a:lnTo>
                    <a:pt x="1017" y="521"/>
                  </a:lnTo>
                  <a:lnTo>
                    <a:pt x="1014" y="574"/>
                  </a:lnTo>
                  <a:lnTo>
                    <a:pt x="1006" y="626"/>
                  </a:lnTo>
                  <a:lnTo>
                    <a:pt x="994" y="675"/>
                  </a:lnTo>
                  <a:lnTo>
                    <a:pt x="976" y="724"/>
                  </a:lnTo>
                  <a:lnTo>
                    <a:pt x="954" y="769"/>
                  </a:lnTo>
                  <a:lnTo>
                    <a:pt x="929" y="811"/>
                  </a:lnTo>
                  <a:lnTo>
                    <a:pt x="900" y="851"/>
                  </a:lnTo>
                  <a:lnTo>
                    <a:pt x="867" y="888"/>
                  </a:lnTo>
                  <a:lnTo>
                    <a:pt x="831" y="923"/>
                  </a:lnTo>
                  <a:lnTo>
                    <a:pt x="791" y="953"/>
                  </a:lnTo>
                  <a:lnTo>
                    <a:pt x="749" y="978"/>
                  </a:lnTo>
                  <a:lnTo>
                    <a:pt x="705" y="1000"/>
                  </a:lnTo>
                  <a:lnTo>
                    <a:pt x="657" y="1018"/>
                  </a:lnTo>
                  <a:lnTo>
                    <a:pt x="609" y="1031"/>
                  </a:lnTo>
                  <a:lnTo>
                    <a:pt x="558" y="1039"/>
                  </a:lnTo>
                  <a:lnTo>
                    <a:pt x="506" y="1041"/>
                  </a:lnTo>
                  <a:lnTo>
                    <a:pt x="455" y="1039"/>
                  </a:lnTo>
                  <a:lnTo>
                    <a:pt x="404" y="1031"/>
                  </a:lnTo>
                  <a:lnTo>
                    <a:pt x="356" y="1018"/>
                  </a:lnTo>
                  <a:lnTo>
                    <a:pt x="308" y="1000"/>
                  </a:lnTo>
                  <a:lnTo>
                    <a:pt x="265" y="978"/>
                  </a:lnTo>
                  <a:lnTo>
                    <a:pt x="223" y="953"/>
                  </a:lnTo>
                  <a:lnTo>
                    <a:pt x="184" y="923"/>
                  </a:lnTo>
                  <a:lnTo>
                    <a:pt x="148" y="888"/>
                  </a:lnTo>
                  <a:lnTo>
                    <a:pt x="115" y="851"/>
                  </a:lnTo>
                  <a:lnTo>
                    <a:pt x="86" y="811"/>
                  </a:lnTo>
                  <a:lnTo>
                    <a:pt x="61" y="769"/>
                  </a:lnTo>
                  <a:lnTo>
                    <a:pt x="39" y="724"/>
                  </a:lnTo>
                  <a:lnTo>
                    <a:pt x="23" y="675"/>
                  </a:lnTo>
                  <a:lnTo>
                    <a:pt x="10" y="626"/>
                  </a:lnTo>
                  <a:lnTo>
                    <a:pt x="2" y="574"/>
                  </a:lnTo>
                  <a:lnTo>
                    <a:pt x="0" y="521"/>
                  </a:lnTo>
                  <a:lnTo>
                    <a:pt x="2" y="468"/>
                  </a:lnTo>
                  <a:lnTo>
                    <a:pt x="10" y="416"/>
                  </a:lnTo>
                  <a:lnTo>
                    <a:pt x="23" y="367"/>
                  </a:lnTo>
                  <a:lnTo>
                    <a:pt x="39" y="318"/>
                  </a:lnTo>
                  <a:lnTo>
                    <a:pt x="61" y="273"/>
                  </a:lnTo>
                  <a:lnTo>
                    <a:pt x="86" y="231"/>
                  </a:lnTo>
                  <a:lnTo>
                    <a:pt x="115" y="190"/>
                  </a:lnTo>
                  <a:lnTo>
                    <a:pt x="148" y="154"/>
                  </a:lnTo>
                  <a:lnTo>
                    <a:pt x="184" y="119"/>
                  </a:lnTo>
                  <a:lnTo>
                    <a:pt x="223" y="89"/>
                  </a:lnTo>
                  <a:lnTo>
                    <a:pt x="265" y="64"/>
                  </a:lnTo>
                  <a:lnTo>
                    <a:pt x="308" y="42"/>
                  </a:lnTo>
                  <a:lnTo>
                    <a:pt x="356" y="24"/>
                  </a:lnTo>
                  <a:lnTo>
                    <a:pt x="404" y="11"/>
                  </a:lnTo>
                  <a:lnTo>
                    <a:pt x="455" y="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00339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3" name="Freeform 29"/>
            <p:cNvSpPr>
              <a:spLocks/>
            </p:cNvSpPr>
            <p:nvPr/>
          </p:nvSpPr>
          <p:spPr bwMode="auto">
            <a:xfrm>
              <a:off x="-63500" y="3190875"/>
              <a:ext cx="798513" cy="814388"/>
            </a:xfrm>
            <a:custGeom>
              <a:avLst/>
              <a:gdLst/>
              <a:ahLst/>
              <a:cxnLst>
                <a:cxn ang="0">
                  <a:pos x="553" y="3"/>
                </a:cxn>
                <a:cxn ang="0">
                  <a:pos x="651" y="23"/>
                </a:cxn>
                <a:cxn ang="0">
                  <a:pos x="741" y="62"/>
                </a:cxn>
                <a:cxn ang="0">
                  <a:pos x="822" y="118"/>
                </a:cxn>
                <a:cxn ang="0">
                  <a:pos x="891" y="188"/>
                </a:cxn>
                <a:cxn ang="0">
                  <a:pos x="945" y="270"/>
                </a:cxn>
                <a:cxn ang="0">
                  <a:pos x="983" y="362"/>
                </a:cxn>
                <a:cxn ang="0">
                  <a:pos x="1004" y="462"/>
                </a:cxn>
                <a:cxn ang="0">
                  <a:pos x="1004" y="566"/>
                </a:cxn>
                <a:cxn ang="0">
                  <a:pos x="983" y="666"/>
                </a:cxn>
                <a:cxn ang="0">
                  <a:pos x="945" y="758"/>
                </a:cxn>
                <a:cxn ang="0">
                  <a:pos x="891" y="840"/>
                </a:cxn>
                <a:cxn ang="0">
                  <a:pos x="822" y="909"/>
                </a:cxn>
                <a:cxn ang="0">
                  <a:pos x="741" y="964"/>
                </a:cxn>
                <a:cxn ang="0">
                  <a:pos x="651" y="1003"/>
                </a:cxn>
                <a:cxn ang="0">
                  <a:pos x="553" y="1024"/>
                </a:cxn>
                <a:cxn ang="0">
                  <a:pos x="450" y="1024"/>
                </a:cxn>
                <a:cxn ang="0">
                  <a:pos x="352" y="1003"/>
                </a:cxn>
                <a:cxn ang="0">
                  <a:pos x="262" y="964"/>
                </a:cxn>
                <a:cxn ang="0">
                  <a:pos x="181" y="909"/>
                </a:cxn>
                <a:cxn ang="0">
                  <a:pos x="114" y="840"/>
                </a:cxn>
                <a:cxn ang="0">
                  <a:pos x="59" y="758"/>
                </a:cxn>
                <a:cxn ang="0">
                  <a:pos x="21" y="666"/>
                </a:cxn>
                <a:cxn ang="0">
                  <a:pos x="2" y="566"/>
                </a:cxn>
                <a:cxn ang="0">
                  <a:pos x="2" y="462"/>
                </a:cxn>
                <a:cxn ang="0">
                  <a:pos x="21" y="362"/>
                </a:cxn>
                <a:cxn ang="0">
                  <a:pos x="59" y="270"/>
                </a:cxn>
                <a:cxn ang="0">
                  <a:pos x="114" y="188"/>
                </a:cxn>
                <a:cxn ang="0">
                  <a:pos x="181" y="118"/>
                </a:cxn>
                <a:cxn ang="0">
                  <a:pos x="262" y="62"/>
                </a:cxn>
                <a:cxn ang="0">
                  <a:pos x="352" y="23"/>
                </a:cxn>
                <a:cxn ang="0">
                  <a:pos x="450" y="3"/>
                </a:cxn>
              </a:cxnLst>
              <a:rect l="0" t="0" r="r" b="b"/>
              <a:pathLst>
                <a:path w="1006" h="1026">
                  <a:moveTo>
                    <a:pt x="502" y="0"/>
                  </a:moveTo>
                  <a:lnTo>
                    <a:pt x="553" y="3"/>
                  </a:lnTo>
                  <a:lnTo>
                    <a:pt x="603" y="11"/>
                  </a:lnTo>
                  <a:lnTo>
                    <a:pt x="651" y="23"/>
                  </a:lnTo>
                  <a:lnTo>
                    <a:pt x="697" y="41"/>
                  </a:lnTo>
                  <a:lnTo>
                    <a:pt x="741" y="62"/>
                  </a:lnTo>
                  <a:lnTo>
                    <a:pt x="783" y="89"/>
                  </a:lnTo>
                  <a:lnTo>
                    <a:pt x="822" y="118"/>
                  </a:lnTo>
                  <a:lnTo>
                    <a:pt x="857" y="151"/>
                  </a:lnTo>
                  <a:lnTo>
                    <a:pt x="891" y="188"/>
                  </a:lnTo>
                  <a:lnTo>
                    <a:pt x="920" y="227"/>
                  </a:lnTo>
                  <a:lnTo>
                    <a:pt x="945" y="270"/>
                  </a:lnTo>
                  <a:lnTo>
                    <a:pt x="966" y="315"/>
                  </a:lnTo>
                  <a:lnTo>
                    <a:pt x="983" y="362"/>
                  </a:lnTo>
                  <a:lnTo>
                    <a:pt x="996" y="410"/>
                  </a:lnTo>
                  <a:lnTo>
                    <a:pt x="1004" y="462"/>
                  </a:lnTo>
                  <a:lnTo>
                    <a:pt x="1006" y="514"/>
                  </a:lnTo>
                  <a:lnTo>
                    <a:pt x="1004" y="566"/>
                  </a:lnTo>
                  <a:lnTo>
                    <a:pt x="996" y="616"/>
                  </a:lnTo>
                  <a:lnTo>
                    <a:pt x="983" y="666"/>
                  </a:lnTo>
                  <a:lnTo>
                    <a:pt x="966" y="713"/>
                  </a:lnTo>
                  <a:lnTo>
                    <a:pt x="945" y="758"/>
                  </a:lnTo>
                  <a:lnTo>
                    <a:pt x="920" y="799"/>
                  </a:lnTo>
                  <a:lnTo>
                    <a:pt x="891" y="840"/>
                  </a:lnTo>
                  <a:lnTo>
                    <a:pt x="857" y="875"/>
                  </a:lnTo>
                  <a:lnTo>
                    <a:pt x="822" y="909"/>
                  </a:lnTo>
                  <a:lnTo>
                    <a:pt x="783" y="939"/>
                  </a:lnTo>
                  <a:lnTo>
                    <a:pt x="741" y="964"/>
                  </a:lnTo>
                  <a:lnTo>
                    <a:pt x="697" y="986"/>
                  </a:lnTo>
                  <a:lnTo>
                    <a:pt x="651" y="1003"/>
                  </a:lnTo>
                  <a:lnTo>
                    <a:pt x="603" y="1016"/>
                  </a:lnTo>
                  <a:lnTo>
                    <a:pt x="553" y="1024"/>
                  </a:lnTo>
                  <a:lnTo>
                    <a:pt x="502" y="1026"/>
                  </a:lnTo>
                  <a:lnTo>
                    <a:pt x="450" y="1024"/>
                  </a:lnTo>
                  <a:lnTo>
                    <a:pt x="400" y="1016"/>
                  </a:lnTo>
                  <a:lnTo>
                    <a:pt x="352" y="1003"/>
                  </a:lnTo>
                  <a:lnTo>
                    <a:pt x="306" y="986"/>
                  </a:lnTo>
                  <a:lnTo>
                    <a:pt x="262" y="964"/>
                  </a:lnTo>
                  <a:lnTo>
                    <a:pt x="221" y="939"/>
                  </a:lnTo>
                  <a:lnTo>
                    <a:pt x="181" y="909"/>
                  </a:lnTo>
                  <a:lnTo>
                    <a:pt x="146" y="875"/>
                  </a:lnTo>
                  <a:lnTo>
                    <a:pt x="114" y="840"/>
                  </a:lnTo>
                  <a:lnTo>
                    <a:pt x="85" y="799"/>
                  </a:lnTo>
                  <a:lnTo>
                    <a:pt x="59" y="758"/>
                  </a:lnTo>
                  <a:lnTo>
                    <a:pt x="39" y="713"/>
                  </a:lnTo>
                  <a:lnTo>
                    <a:pt x="21" y="666"/>
                  </a:lnTo>
                  <a:lnTo>
                    <a:pt x="10" y="616"/>
                  </a:lnTo>
                  <a:lnTo>
                    <a:pt x="2" y="566"/>
                  </a:lnTo>
                  <a:lnTo>
                    <a:pt x="0" y="514"/>
                  </a:lnTo>
                  <a:lnTo>
                    <a:pt x="2" y="462"/>
                  </a:lnTo>
                  <a:lnTo>
                    <a:pt x="10" y="410"/>
                  </a:lnTo>
                  <a:lnTo>
                    <a:pt x="21" y="362"/>
                  </a:lnTo>
                  <a:lnTo>
                    <a:pt x="39" y="315"/>
                  </a:lnTo>
                  <a:lnTo>
                    <a:pt x="59" y="270"/>
                  </a:lnTo>
                  <a:lnTo>
                    <a:pt x="85" y="227"/>
                  </a:lnTo>
                  <a:lnTo>
                    <a:pt x="114" y="188"/>
                  </a:lnTo>
                  <a:lnTo>
                    <a:pt x="146" y="151"/>
                  </a:lnTo>
                  <a:lnTo>
                    <a:pt x="181" y="118"/>
                  </a:lnTo>
                  <a:lnTo>
                    <a:pt x="221" y="89"/>
                  </a:lnTo>
                  <a:lnTo>
                    <a:pt x="262" y="62"/>
                  </a:lnTo>
                  <a:lnTo>
                    <a:pt x="306" y="41"/>
                  </a:lnTo>
                  <a:lnTo>
                    <a:pt x="352" y="23"/>
                  </a:lnTo>
                  <a:lnTo>
                    <a:pt x="400" y="11"/>
                  </a:lnTo>
                  <a:lnTo>
                    <a:pt x="450" y="3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rgbClr val="2B56A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4" name="Freeform 30"/>
            <p:cNvSpPr>
              <a:spLocks/>
            </p:cNvSpPr>
            <p:nvPr/>
          </p:nvSpPr>
          <p:spPr bwMode="auto">
            <a:xfrm>
              <a:off x="-58737" y="3197225"/>
              <a:ext cx="790575" cy="801688"/>
            </a:xfrm>
            <a:custGeom>
              <a:avLst/>
              <a:gdLst/>
              <a:ahLst/>
              <a:cxnLst>
                <a:cxn ang="0">
                  <a:pos x="547" y="3"/>
                </a:cxn>
                <a:cxn ang="0">
                  <a:pos x="645" y="23"/>
                </a:cxn>
                <a:cxn ang="0">
                  <a:pos x="735" y="61"/>
                </a:cxn>
                <a:cxn ang="0">
                  <a:pos x="814" y="115"/>
                </a:cxn>
                <a:cxn ang="0">
                  <a:pos x="882" y="185"/>
                </a:cxn>
                <a:cxn ang="0">
                  <a:pos x="935" y="265"/>
                </a:cxn>
                <a:cxn ang="0">
                  <a:pos x="973" y="355"/>
                </a:cxn>
                <a:cxn ang="0">
                  <a:pos x="994" y="453"/>
                </a:cxn>
                <a:cxn ang="0">
                  <a:pos x="994" y="557"/>
                </a:cxn>
                <a:cxn ang="0">
                  <a:pos x="973" y="654"/>
                </a:cxn>
                <a:cxn ang="0">
                  <a:pos x="935" y="745"/>
                </a:cxn>
                <a:cxn ang="0">
                  <a:pos x="882" y="826"/>
                </a:cxn>
                <a:cxn ang="0">
                  <a:pos x="814" y="895"/>
                </a:cxn>
                <a:cxn ang="0">
                  <a:pos x="735" y="949"/>
                </a:cxn>
                <a:cxn ang="0">
                  <a:pos x="645" y="987"/>
                </a:cxn>
                <a:cxn ang="0">
                  <a:pos x="547" y="1008"/>
                </a:cxn>
                <a:cxn ang="0">
                  <a:pos x="446" y="1008"/>
                </a:cxn>
                <a:cxn ang="0">
                  <a:pos x="348" y="987"/>
                </a:cxn>
                <a:cxn ang="0">
                  <a:pos x="259" y="949"/>
                </a:cxn>
                <a:cxn ang="0">
                  <a:pos x="180" y="895"/>
                </a:cxn>
                <a:cxn ang="0">
                  <a:pos x="113" y="826"/>
                </a:cxn>
                <a:cxn ang="0">
                  <a:pos x="60" y="745"/>
                </a:cxn>
                <a:cxn ang="0">
                  <a:pos x="22" y="654"/>
                </a:cxn>
                <a:cxn ang="0">
                  <a:pos x="3" y="557"/>
                </a:cxn>
                <a:cxn ang="0">
                  <a:pos x="3" y="453"/>
                </a:cxn>
                <a:cxn ang="0">
                  <a:pos x="22" y="355"/>
                </a:cxn>
                <a:cxn ang="0">
                  <a:pos x="60" y="265"/>
                </a:cxn>
                <a:cxn ang="0">
                  <a:pos x="113" y="185"/>
                </a:cxn>
                <a:cxn ang="0">
                  <a:pos x="180" y="115"/>
                </a:cxn>
                <a:cxn ang="0">
                  <a:pos x="259" y="61"/>
                </a:cxn>
                <a:cxn ang="0">
                  <a:pos x="348" y="23"/>
                </a:cxn>
                <a:cxn ang="0">
                  <a:pos x="446" y="3"/>
                </a:cxn>
              </a:cxnLst>
              <a:rect l="0" t="0" r="r" b="b"/>
              <a:pathLst>
                <a:path w="996" h="1010">
                  <a:moveTo>
                    <a:pt x="497" y="0"/>
                  </a:moveTo>
                  <a:lnTo>
                    <a:pt x="547" y="3"/>
                  </a:lnTo>
                  <a:lnTo>
                    <a:pt x="597" y="11"/>
                  </a:lnTo>
                  <a:lnTo>
                    <a:pt x="645" y="23"/>
                  </a:lnTo>
                  <a:lnTo>
                    <a:pt x="691" y="41"/>
                  </a:lnTo>
                  <a:lnTo>
                    <a:pt x="735" y="61"/>
                  </a:lnTo>
                  <a:lnTo>
                    <a:pt x="775" y="87"/>
                  </a:lnTo>
                  <a:lnTo>
                    <a:pt x="814" y="115"/>
                  </a:lnTo>
                  <a:lnTo>
                    <a:pt x="850" y="149"/>
                  </a:lnTo>
                  <a:lnTo>
                    <a:pt x="882" y="185"/>
                  </a:lnTo>
                  <a:lnTo>
                    <a:pt x="911" y="224"/>
                  </a:lnTo>
                  <a:lnTo>
                    <a:pt x="935" y="265"/>
                  </a:lnTo>
                  <a:lnTo>
                    <a:pt x="957" y="309"/>
                  </a:lnTo>
                  <a:lnTo>
                    <a:pt x="973" y="355"/>
                  </a:lnTo>
                  <a:lnTo>
                    <a:pt x="986" y="403"/>
                  </a:lnTo>
                  <a:lnTo>
                    <a:pt x="994" y="453"/>
                  </a:lnTo>
                  <a:lnTo>
                    <a:pt x="996" y="505"/>
                  </a:lnTo>
                  <a:lnTo>
                    <a:pt x="994" y="557"/>
                  </a:lnTo>
                  <a:lnTo>
                    <a:pt x="986" y="606"/>
                  </a:lnTo>
                  <a:lnTo>
                    <a:pt x="973" y="654"/>
                  </a:lnTo>
                  <a:lnTo>
                    <a:pt x="957" y="702"/>
                  </a:lnTo>
                  <a:lnTo>
                    <a:pt x="935" y="745"/>
                  </a:lnTo>
                  <a:lnTo>
                    <a:pt x="911" y="787"/>
                  </a:lnTo>
                  <a:lnTo>
                    <a:pt x="882" y="826"/>
                  </a:lnTo>
                  <a:lnTo>
                    <a:pt x="850" y="862"/>
                  </a:lnTo>
                  <a:lnTo>
                    <a:pt x="814" y="895"/>
                  </a:lnTo>
                  <a:lnTo>
                    <a:pt x="775" y="924"/>
                  </a:lnTo>
                  <a:lnTo>
                    <a:pt x="735" y="949"/>
                  </a:lnTo>
                  <a:lnTo>
                    <a:pt x="691" y="970"/>
                  </a:lnTo>
                  <a:lnTo>
                    <a:pt x="645" y="987"/>
                  </a:lnTo>
                  <a:lnTo>
                    <a:pt x="597" y="1000"/>
                  </a:lnTo>
                  <a:lnTo>
                    <a:pt x="547" y="1008"/>
                  </a:lnTo>
                  <a:lnTo>
                    <a:pt x="497" y="1010"/>
                  </a:lnTo>
                  <a:lnTo>
                    <a:pt x="446" y="1008"/>
                  </a:lnTo>
                  <a:lnTo>
                    <a:pt x="396" y="1000"/>
                  </a:lnTo>
                  <a:lnTo>
                    <a:pt x="348" y="987"/>
                  </a:lnTo>
                  <a:lnTo>
                    <a:pt x="303" y="970"/>
                  </a:lnTo>
                  <a:lnTo>
                    <a:pt x="259" y="949"/>
                  </a:lnTo>
                  <a:lnTo>
                    <a:pt x="219" y="924"/>
                  </a:lnTo>
                  <a:lnTo>
                    <a:pt x="180" y="895"/>
                  </a:lnTo>
                  <a:lnTo>
                    <a:pt x="145" y="862"/>
                  </a:lnTo>
                  <a:lnTo>
                    <a:pt x="113" y="826"/>
                  </a:lnTo>
                  <a:lnTo>
                    <a:pt x="84" y="787"/>
                  </a:lnTo>
                  <a:lnTo>
                    <a:pt x="60" y="745"/>
                  </a:lnTo>
                  <a:lnTo>
                    <a:pt x="39" y="702"/>
                  </a:lnTo>
                  <a:lnTo>
                    <a:pt x="22" y="654"/>
                  </a:lnTo>
                  <a:lnTo>
                    <a:pt x="11" y="606"/>
                  </a:lnTo>
                  <a:lnTo>
                    <a:pt x="3" y="557"/>
                  </a:lnTo>
                  <a:lnTo>
                    <a:pt x="0" y="505"/>
                  </a:lnTo>
                  <a:lnTo>
                    <a:pt x="3" y="453"/>
                  </a:lnTo>
                  <a:lnTo>
                    <a:pt x="11" y="403"/>
                  </a:lnTo>
                  <a:lnTo>
                    <a:pt x="22" y="355"/>
                  </a:lnTo>
                  <a:lnTo>
                    <a:pt x="39" y="309"/>
                  </a:lnTo>
                  <a:lnTo>
                    <a:pt x="60" y="265"/>
                  </a:lnTo>
                  <a:lnTo>
                    <a:pt x="84" y="224"/>
                  </a:lnTo>
                  <a:lnTo>
                    <a:pt x="113" y="185"/>
                  </a:lnTo>
                  <a:lnTo>
                    <a:pt x="145" y="149"/>
                  </a:lnTo>
                  <a:lnTo>
                    <a:pt x="180" y="115"/>
                  </a:lnTo>
                  <a:lnTo>
                    <a:pt x="219" y="87"/>
                  </a:lnTo>
                  <a:lnTo>
                    <a:pt x="259" y="61"/>
                  </a:lnTo>
                  <a:lnTo>
                    <a:pt x="303" y="41"/>
                  </a:lnTo>
                  <a:lnTo>
                    <a:pt x="348" y="23"/>
                  </a:lnTo>
                  <a:lnTo>
                    <a:pt x="396" y="11"/>
                  </a:lnTo>
                  <a:lnTo>
                    <a:pt x="446" y="3"/>
                  </a:lnTo>
                  <a:lnTo>
                    <a:pt x="497" y="0"/>
                  </a:lnTo>
                  <a:close/>
                </a:path>
              </a:pathLst>
            </a:custGeom>
            <a:solidFill>
              <a:srgbClr val="5475B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64" name="Group 163"/>
            <p:cNvGrpSpPr/>
            <p:nvPr/>
          </p:nvGrpSpPr>
          <p:grpSpPr>
            <a:xfrm>
              <a:off x="-55562" y="3201988"/>
              <a:ext cx="782638" cy="790575"/>
              <a:chOff x="-55562" y="3201988"/>
              <a:chExt cx="782638" cy="790575"/>
            </a:xfrm>
          </p:grpSpPr>
          <p:sp>
            <p:nvSpPr>
              <p:cNvPr id="1055" name="Freeform 31"/>
              <p:cNvSpPr>
                <a:spLocks/>
              </p:cNvSpPr>
              <p:nvPr/>
            </p:nvSpPr>
            <p:spPr bwMode="auto">
              <a:xfrm>
                <a:off x="-55562" y="3201988"/>
                <a:ext cx="782638" cy="790575"/>
              </a:xfrm>
              <a:custGeom>
                <a:avLst/>
                <a:gdLst/>
                <a:ahLst/>
                <a:cxnLst>
                  <a:cxn ang="0">
                    <a:pos x="543" y="2"/>
                  </a:cxn>
                  <a:cxn ang="0">
                    <a:pos x="639" y="23"/>
                  </a:cxn>
                  <a:cxn ang="0">
                    <a:pos x="728" y="60"/>
                  </a:cxn>
                  <a:cxn ang="0">
                    <a:pos x="806" y="114"/>
                  </a:cxn>
                  <a:cxn ang="0">
                    <a:pos x="874" y="182"/>
                  </a:cxn>
                  <a:cxn ang="0">
                    <a:pos x="927" y="261"/>
                  </a:cxn>
                  <a:cxn ang="0">
                    <a:pos x="965" y="351"/>
                  </a:cxn>
                  <a:cxn ang="0">
                    <a:pos x="984" y="448"/>
                  </a:cxn>
                  <a:cxn ang="0">
                    <a:pos x="984" y="549"/>
                  </a:cxn>
                  <a:cxn ang="0">
                    <a:pos x="965" y="646"/>
                  </a:cxn>
                  <a:cxn ang="0">
                    <a:pos x="927" y="736"/>
                  </a:cxn>
                  <a:cxn ang="0">
                    <a:pos x="874" y="815"/>
                  </a:cxn>
                  <a:cxn ang="0">
                    <a:pos x="806" y="882"/>
                  </a:cxn>
                  <a:cxn ang="0">
                    <a:pos x="728" y="936"/>
                  </a:cxn>
                  <a:cxn ang="0">
                    <a:pos x="639" y="974"/>
                  </a:cxn>
                  <a:cxn ang="0">
                    <a:pos x="543" y="994"/>
                  </a:cxn>
                  <a:cxn ang="0">
                    <a:pos x="442" y="994"/>
                  </a:cxn>
                  <a:cxn ang="0">
                    <a:pos x="345" y="974"/>
                  </a:cxn>
                  <a:cxn ang="0">
                    <a:pos x="258" y="936"/>
                  </a:cxn>
                  <a:cxn ang="0">
                    <a:pos x="178" y="882"/>
                  </a:cxn>
                  <a:cxn ang="0">
                    <a:pos x="113" y="815"/>
                  </a:cxn>
                  <a:cxn ang="0">
                    <a:pos x="60" y="736"/>
                  </a:cxn>
                  <a:cxn ang="0">
                    <a:pos x="22" y="646"/>
                  </a:cxn>
                  <a:cxn ang="0">
                    <a:pos x="2" y="549"/>
                  </a:cxn>
                  <a:cxn ang="0">
                    <a:pos x="2" y="448"/>
                  </a:cxn>
                  <a:cxn ang="0">
                    <a:pos x="22" y="351"/>
                  </a:cxn>
                  <a:cxn ang="0">
                    <a:pos x="60" y="261"/>
                  </a:cxn>
                  <a:cxn ang="0">
                    <a:pos x="113" y="182"/>
                  </a:cxn>
                  <a:cxn ang="0">
                    <a:pos x="178" y="114"/>
                  </a:cxn>
                  <a:cxn ang="0">
                    <a:pos x="258" y="60"/>
                  </a:cxn>
                  <a:cxn ang="0">
                    <a:pos x="345" y="23"/>
                  </a:cxn>
                  <a:cxn ang="0">
                    <a:pos x="442" y="2"/>
                  </a:cxn>
                </a:cxnLst>
                <a:rect l="0" t="0" r="r" b="b"/>
                <a:pathLst>
                  <a:path w="987" h="996">
                    <a:moveTo>
                      <a:pt x="493" y="0"/>
                    </a:moveTo>
                    <a:lnTo>
                      <a:pt x="543" y="2"/>
                    </a:lnTo>
                    <a:lnTo>
                      <a:pt x="592" y="10"/>
                    </a:lnTo>
                    <a:lnTo>
                      <a:pt x="639" y="23"/>
                    </a:lnTo>
                    <a:lnTo>
                      <a:pt x="685" y="39"/>
                    </a:lnTo>
                    <a:lnTo>
                      <a:pt x="728" y="60"/>
                    </a:lnTo>
                    <a:lnTo>
                      <a:pt x="768" y="85"/>
                    </a:lnTo>
                    <a:lnTo>
                      <a:pt x="806" y="114"/>
                    </a:lnTo>
                    <a:lnTo>
                      <a:pt x="842" y="146"/>
                    </a:lnTo>
                    <a:lnTo>
                      <a:pt x="874" y="182"/>
                    </a:lnTo>
                    <a:lnTo>
                      <a:pt x="902" y="220"/>
                    </a:lnTo>
                    <a:lnTo>
                      <a:pt x="927" y="261"/>
                    </a:lnTo>
                    <a:lnTo>
                      <a:pt x="948" y="305"/>
                    </a:lnTo>
                    <a:lnTo>
                      <a:pt x="965" y="351"/>
                    </a:lnTo>
                    <a:lnTo>
                      <a:pt x="976" y="398"/>
                    </a:lnTo>
                    <a:lnTo>
                      <a:pt x="984" y="448"/>
                    </a:lnTo>
                    <a:lnTo>
                      <a:pt x="987" y="499"/>
                    </a:lnTo>
                    <a:lnTo>
                      <a:pt x="984" y="549"/>
                    </a:lnTo>
                    <a:lnTo>
                      <a:pt x="976" y="599"/>
                    </a:lnTo>
                    <a:lnTo>
                      <a:pt x="965" y="646"/>
                    </a:lnTo>
                    <a:lnTo>
                      <a:pt x="948" y="692"/>
                    </a:lnTo>
                    <a:lnTo>
                      <a:pt x="927" y="736"/>
                    </a:lnTo>
                    <a:lnTo>
                      <a:pt x="902" y="776"/>
                    </a:lnTo>
                    <a:lnTo>
                      <a:pt x="874" y="815"/>
                    </a:lnTo>
                    <a:lnTo>
                      <a:pt x="842" y="850"/>
                    </a:lnTo>
                    <a:lnTo>
                      <a:pt x="806" y="882"/>
                    </a:lnTo>
                    <a:lnTo>
                      <a:pt x="768" y="911"/>
                    </a:lnTo>
                    <a:lnTo>
                      <a:pt x="728" y="936"/>
                    </a:lnTo>
                    <a:lnTo>
                      <a:pt x="685" y="957"/>
                    </a:lnTo>
                    <a:lnTo>
                      <a:pt x="639" y="974"/>
                    </a:lnTo>
                    <a:lnTo>
                      <a:pt x="592" y="986"/>
                    </a:lnTo>
                    <a:lnTo>
                      <a:pt x="543" y="994"/>
                    </a:lnTo>
                    <a:lnTo>
                      <a:pt x="493" y="996"/>
                    </a:lnTo>
                    <a:lnTo>
                      <a:pt x="442" y="994"/>
                    </a:lnTo>
                    <a:lnTo>
                      <a:pt x="394" y="986"/>
                    </a:lnTo>
                    <a:lnTo>
                      <a:pt x="345" y="974"/>
                    </a:lnTo>
                    <a:lnTo>
                      <a:pt x="300" y="957"/>
                    </a:lnTo>
                    <a:lnTo>
                      <a:pt x="258" y="936"/>
                    </a:lnTo>
                    <a:lnTo>
                      <a:pt x="216" y="911"/>
                    </a:lnTo>
                    <a:lnTo>
                      <a:pt x="178" y="882"/>
                    </a:lnTo>
                    <a:lnTo>
                      <a:pt x="144" y="850"/>
                    </a:lnTo>
                    <a:lnTo>
                      <a:pt x="113" y="815"/>
                    </a:lnTo>
                    <a:lnTo>
                      <a:pt x="84" y="776"/>
                    </a:lnTo>
                    <a:lnTo>
                      <a:pt x="60" y="736"/>
                    </a:lnTo>
                    <a:lnTo>
                      <a:pt x="39" y="692"/>
                    </a:lnTo>
                    <a:lnTo>
                      <a:pt x="22" y="646"/>
                    </a:lnTo>
                    <a:lnTo>
                      <a:pt x="10" y="599"/>
                    </a:lnTo>
                    <a:lnTo>
                      <a:pt x="2" y="549"/>
                    </a:lnTo>
                    <a:lnTo>
                      <a:pt x="0" y="499"/>
                    </a:lnTo>
                    <a:lnTo>
                      <a:pt x="2" y="448"/>
                    </a:lnTo>
                    <a:lnTo>
                      <a:pt x="10" y="398"/>
                    </a:lnTo>
                    <a:lnTo>
                      <a:pt x="22" y="351"/>
                    </a:lnTo>
                    <a:lnTo>
                      <a:pt x="39" y="305"/>
                    </a:lnTo>
                    <a:lnTo>
                      <a:pt x="60" y="261"/>
                    </a:lnTo>
                    <a:lnTo>
                      <a:pt x="84" y="220"/>
                    </a:lnTo>
                    <a:lnTo>
                      <a:pt x="113" y="182"/>
                    </a:lnTo>
                    <a:lnTo>
                      <a:pt x="144" y="146"/>
                    </a:lnTo>
                    <a:lnTo>
                      <a:pt x="178" y="114"/>
                    </a:lnTo>
                    <a:lnTo>
                      <a:pt x="216" y="85"/>
                    </a:lnTo>
                    <a:lnTo>
                      <a:pt x="258" y="60"/>
                    </a:lnTo>
                    <a:lnTo>
                      <a:pt x="300" y="39"/>
                    </a:lnTo>
                    <a:lnTo>
                      <a:pt x="345" y="23"/>
                    </a:lnTo>
                    <a:lnTo>
                      <a:pt x="394" y="10"/>
                    </a:lnTo>
                    <a:lnTo>
                      <a:pt x="442" y="2"/>
                    </a:lnTo>
                    <a:lnTo>
                      <a:pt x="493" y="0"/>
                    </a:lnTo>
                    <a:close/>
                  </a:path>
                </a:pathLst>
              </a:custGeom>
              <a:solidFill>
                <a:srgbClr val="7F99C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6" name="Freeform 32"/>
              <p:cNvSpPr>
                <a:spLocks/>
              </p:cNvSpPr>
              <p:nvPr/>
            </p:nvSpPr>
            <p:spPr bwMode="auto">
              <a:xfrm>
                <a:off x="-50800" y="3206750"/>
                <a:ext cx="774700" cy="777875"/>
              </a:xfrm>
              <a:custGeom>
                <a:avLst/>
                <a:gdLst/>
                <a:ahLst/>
                <a:cxnLst>
                  <a:cxn ang="0">
                    <a:pos x="535" y="2"/>
                  </a:cxn>
                  <a:cxn ang="0">
                    <a:pos x="631" y="22"/>
                  </a:cxn>
                  <a:cxn ang="0">
                    <a:pos x="718" y="60"/>
                  </a:cxn>
                  <a:cxn ang="0">
                    <a:pos x="797" y="113"/>
                  </a:cxn>
                  <a:cxn ang="0">
                    <a:pos x="863" y="180"/>
                  </a:cxn>
                  <a:cxn ang="0">
                    <a:pos x="916" y="258"/>
                  </a:cxn>
                  <a:cxn ang="0">
                    <a:pos x="953" y="345"/>
                  </a:cxn>
                  <a:cxn ang="0">
                    <a:pos x="973" y="441"/>
                  </a:cxn>
                  <a:cxn ang="0">
                    <a:pos x="973" y="540"/>
                  </a:cxn>
                  <a:cxn ang="0">
                    <a:pos x="953" y="636"/>
                  </a:cxn>
                  <a:cxn ang="0">
                    <a:pos x="916" y="723"/>
                  </a:cxn>
                  <a:cxn ang="0">
                    <a:pos x="863" y="801"/>
                  </a:cxn>
                  <a:cxn ang="0">
                    <a:pos x="797" y="868"/>
                  </a:cxn>
                  <a:cxn ang="0">
                    <a:pos x="718" y="921"/>
                  </a:cxn>
                  <a:cxn ang="0">
                    <a:pos x="631" y="958"/>
                  </a:cxn>
                  <a:cxn ang="0">
                    <a:pos x="535" y="978"/>
                  </a:cxn>
                  <a:cxn ang="0">
                    <a:pos x="436" y="978"/>
                  </a:cxn>
                  <a:cxn ang="0">
                    <a:pos x="341" y="958"/>
                  </a:cxn>
                  <a:cxn ang="0">
                    <a:pos x="253" y="921"/>
                  </a:cxn>
                  <a:cxn ang="0">
                    <a:pos x="176" y="868"/>
                  </a:cxn>
                  <a:cxn ang="0">
                    <a:pos x="110" y="801"/>
                  </a:cxn>
                  <a:cxn ang="0">
                    <a:pos x="59" y="723"/>
                  </a:cxn>
                  <a:cxn ang="0">
                    <a:pos x="22" y="636"/>
                  </a:cxn>
                  <a:cxn ang="0">
                    <a:pos x="2" y="540"/>
                  </a:cxn>
                  <a:cxn ang="0">
                    <a:pos x="2" y="441"/>
                  </a:cxn>
                  <a:cxn ang="0">
                    <a:pos x="22" y="345"/>
                  </a:cxn>
                  <a:cxn ang="0">
                    <a:pos x="59" y="258"/>
                  </a:cxn>
                  <a:cxn ang="0">
                    <a:pos x="110" y="180"/>
                  </a:cxn>
                  <a:cxn ang="0">
                    <a:pos x="176" y="113"/>
                  </a:cxn>
                  <a:cxn ang="0">
                    <a:pos x="253" y="60"/>
                  </a:cxn>
                  <a:cxn ang="0">
                    <a:pos x="341" y="22"/>
                  </a:cxn>
                  <a:cxn ang="0">
                    <a:pos x="436" y="2"/>
                  </a:cxn>
                </a:cxnLst>
                <a:rect l="0" t="0" r="r" b="b"/>
                <a:pathLst>
                  <a:path w="975" h="980">
                    <a:moveTo>
                      <a:pt x="486" y="0"/>
                    </a:moveTo>
                    <a:lnTo>
                      <a:pt x="535" y="2"/>
                    </a:lnTo>
                    <a:lnTo>
                      <a:pt x="584" y="10"/>
                    </a:lnTo>
                    <a:lnTo>
                      <a:pt x="631" y="22"/>
                    </a:lnTo>
                    <a:lnTo>
                      <a:pt x="676" y="39"/>
                    </a:lnTo>
                    <a:lnTo>
                      <a:pt x="718" y="60"/>
                    </a:lnTo>
                    <a:lnTo>
                      <a:pt x="759" y="84"/>
                    </a:lnTo>
                    <a:lnTo>
                      <a:pt x="797" y="113"/>
                    </a:lnTo>
                    <a:lnTo>
                      <a:pt x="831" y="144"/>
                    </a:lnTo>
                    <a:lnTo>
                      <a:pt x="863" y="180"/>
                    </a:lnTo>
                    <a:lnTo>
                      <a:pt x="891" y="216"/>
                    </a:lnTo>
                    <a:lnTo>
                      <a:pt x="916" y="258"/>
                    </a:lnTo>
                    <a:lnTo>
                      <a:pt x="937" y="301"/>
                    </a:lnTo>
                    <a:lnTo>
                      <a:pt x="953" y="345"/>
                    </a:lnTo>
                    <a:lnTo>
                      <a:pt x="965" y="393"/>
                    </a:lnTo>
                    <a:lnTo>
                      <a:pt x="973" y="441"/>
                    </a:lnTo>
                    <a:lnTo>
                      <a:pt x="975" y="491"/>
                    </a:lnTo>
                    <a:lnTo>
                      <a:pt x="973" y="540"/>
                    </a:lnTo>
                    <a:lnTo>
                      <a:pt x="965" y="588"/>
                    </a:lnTo>
                    <a:lnTo>
                      <a:pt x="953" y="636"/>
                    </a:lnTo>
                    <a:lnTo>
                      <a:pt x="937" y="681"/>
                    </a:lnTo>
                    <a:lnTo>
                      <a:pt x="916" y="723"/>
                    </a:lnTo>
                    <a:lnTo>
                      <a:pt x="891" y="763"/>
                    </a:lnTo>
                    <a:lnTo>
                      <a:pt x="863" y="801"/>
                    </a:lnTo>
                    <a:lnTo>
                      <a:pt x="831" y="836"/>
                    </a:lnTo>
                    <a:lnTo>
                      <a:pt x="797" y="868"/>
                    </a:lnTo>
                    <a:lnTo>
                      <a:pt x="759" y="896"/>
                    </a:lnTo>
                    <a:lnTo>
                      <a:pt x="718" y="921"/>
                    </a:lnTo>
                    <a:lnTo>
                      <a:pt x="676" y="941"/>
                    </a:lnTo>
                    <a:lnTo>
                      <a:pt x="631" y="958"/>
                    </a:lnTo>
                    <a:lnTo>
                      <a:pt x="584" y="970"/>
                    </a:lnTo>
                    <a:lnTo>
                      <a:pt x="535" y="978"/>
                    </a:lnTo>
                    <a:lnTo>
                      <a:pt x="486" y="980"/>
                    </a:lnTo>
                    <a:lnTo>
                      <a:pt x="436" y="978"/>
                    </a:lnTo>
                    <a:lnTo>
                      <a:pt x="388" y="970"/>
                    </a:lnTo>
                    <a:lnTo>
                      <a:pt x="341" y="958"/>
                    </a:lnTo>
                    <a:lnTo>
                      <a:pt x="296" y="941"/>
                    </a:lnTo>
                    <a:lnTo>
                      <a:pt x="253" y="921"/>
                    </a:lnTo>
                    <a:lnTo>
                      <a:pt x="214" y="896"/>
                    </a:lnTo>
                    <a:lnTo>
                      <a:pt x="176" y="868"/>
                    </a:lnTo>
                    <a:lnTo>
                      <a:pt x="141" y="836"/>
                    </a:lnTo>
                    <a:lnTo>
                      <a:pt x="110" y="801"/>
                    </a:lnTo>
                    <a:lnTo>
                      <a:pt x="83" y="763"/>
                    </a:lnTo>
                    <a:lnTo>
                      <a:pt x="59" y="723"/>
                    </a:lnTo>
                    <a:lnTo>
                      <a:pt x="38" y="681"/>
                    </a:lnTo>
                    <a:lnTo>
                      <a:pt x="22" y="636"/>
                    </a:lnTo>
                    <a:lnTo>
                      <a:pt x="10" y="588"/>
                    </a:lnTo>
                    <a:lnTo>
                      <a:pt x="2" y="540"/>
                    </a:lnTo>
                    <a:lnTo>
                      <a:pt x="0" y="491"/>
                    </a:lnTo>
                    <a:lnTo>
                      <a:pt x="2" y="441"/>
                    </a:lnTo>
                    <a:lnTo>
                      <a:pt x="10" y="393"/>
                    </a:lnTo>
                    <a:lnTo>
                      <a:pt x="22" y="345"/>
                    </a:lnTo>
                    <a:lnTo>
                      <a:pt x="38" y="301"/>
                    </a:lnTo>
                    <a:lnTo>
                      <a:pt x="59" y="258"/>
                    </a:lnTo>
                    <a:lnTo>
                      <a:pt x="83" y="216"/>
                    </a:lnTo>
                    <a:lnTo>
                      <a:pt x="110" y="180"/>
                    </a:lnTo>
                    <a:lnTo>
                      <a:pt x="141" y="144"/>
                    </a:lnTo>
                    <a:lnTo>
                      <a:pt x="176" y="113"/>
                    </a:lnTo>
                    <a:lnTo>
                      <a:pt x="214" y="84"/>
                    </a:lnTo>
                    <a:lnTo>
                      <a:pt x="253" y="60"/>
                    </a:lnTo>
                    <a:lnTo>
                      <a:pt x="296" y="39"/>
                    </a:lnTo>
                    <a:lnTo>
                      <a:pt x="341" y="22"/>
                    </a:lnTo>
                    <a:lnTo>
                      <a:pt x="388" y="10"/>
                    </a:lnTo>
                    <a:lnTo>
                      <a:pt x="436" y="2"/>
                    </a:lnTo>
                    <a:lnTo>
                      <a:pt x="486" y="0"/>
                    </a:lnTo>
                    <a:close/>
                  </a:path>
                </a:pathLst>
              </a:custGeom>
              <a:solidFill>
                <a:srgbClr val="AABCDD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7" name="Freeform 33"/>
              <p:cNvSpPr>
                <a:spLocks/>
              </p:cNvSpPr>
              <p:nvPr/>
            </p:nvSpPr>
            <p:spPr bwMode="auto">
              <a:xfrm>
                <a:off x="-46037" y="3211513"/>
                <a:ext cx="766763" cy="766763"/>
              </a:xfrm>
              <a:custGeom>
                <a:avLst/>
                <a:gdLst/>
                <a:ahLst/>
                <a:cxnLst>
                  <a:cxn ang="0">
                    <a:pos x="531" y="2"/>
                  </a:cxn>
                  <a:cxn ang="0">
                    <a:pos x="626" y="22"/>
                  </a:cxn>
                  <a:cxn ang="0">
                    <a:pos x="712" y="59"/>
                  </a:cxn>
                  <a:cxn ang="0">
                    <a:pos x="790" y="110"/>
                  </a:cxn>
                  <a:cxn ang="0">
                    <a:pos x="856" y="176"/>
                  </a:cxn>
                  <a:cxn ang="0">
                    <a:pos x="908" y="252"/>
                  </a:cxn>
                  <a:cxn ang="0">
                    <a:pos x="945" y="340"/>
                  </a:cxn>
                  <a:cxn ang="0">
                    <a:pos x="964" y="433"/>
                  </a:cxn>
                  <a:cxn ang="0">
                    <a:pos x="964" y="532"/>
                  </a:cxn>
                  <a:cxn ang="0">
                    <a:pos x="945" y="625"/>
                  </a:cxn>
                  <a:cxn ang="0">
                    <a:pos x="908" y="713"/>
                  </a:cxn>
                  <a:cxn ang="0">
                    <a:pos x="856" y="789"/>
                  </a:cxn>
                  <a:cxn ang="0">
                    <a:pos x="790" y="854"/>
                  </a:cxn>
                  <a:cxn ang="0">
                    <a:pos x="712" y="906"/>
                  </a:cxn>
                  <a:cxn ang="0">
                    <a:pos x="626" y="943"/>
                  </a:cxn>
                  <a:cxn ang="0">
                    <a:pos x="531" y="963"/>
                  </a:cxn>
                  <a:cxn ang="0">
                    <a:pos x="432" y="963"/>
                  </a:cxn>
                  <a:cxn ang="0">
                    <a:pos x="339" y="943"/>
                  </a:cxn>
                  <a:cxn ang="0">
                    <a:pos x="253" y="906"/>
                  </a:cxn>
                  <a:cxn ang="0">
                    <a:pos x="175" y="854"/>
                  </a:cxn>
                  <a:cxn ang="0">
                    <a:pos x="110" y="789"/>
                  </a:cxn>
                  <a:cxn ang="0">
                    <a:pos x="58" y="713"/>
                  </a:cxn>
                  <a:cxn ang="0">
                    <a:pos x="22" y="625"/>
                  </a:cxn>
                  <a:cxn ang="0">
                    <a:pos x="3" y="532"/>
                  </a:cxn>
                  <a:cxn ang="0">
                    <a:pos x="3" y="433"/>
                  </a:cxn>
                  <a:cxn ang="0">
                    <a:pos x="22" y="340"/>
                  </a:cxn>
                  <a:cxn ang="0">
                    <a:pos x="58" y="252"/>
                  </a:cxn>
                  <a:cxn ang="0">
                    <a:pos x="110" y="176"/>
                  </a:cxn>
                  <a:cxn ang="0">
                    <a:pos x="175" y="110"/>
                  </a:cxn>
                  <a:cxn ang="0">
                    <a:pos x="253" y="59"/>
                  </a:cxn>
                  <a:cxn ang="0">
                    <a:pos x="339" y="22"/>
                  </a:cxn>
                  <a:cxn ang="0">
                    <a:pos x="432" y="2"/>
                  </a:cxn>
                </a:cxnLst>
                <a:rect l="0" t="0" r="r" b="b"/>
                <a:pathLst>
                  <a:path w="967" h="965">
                    <a:moveTo>
                      <a:pt x="482" y="0"/>
                    </a:moveTo>
                    <a:lnTo>
                      <a:pt x="531" y="2"/>
                    </a:lnTo>
                    <a:lnTo>
                      <a:pt x="580" y="10"/>
                    </a:lnTo>
                    <a:lnTo>
                      <a:pt x="626" y="22"/>
                    </a:lnTo>
                    <a:lnTo>
                      <a:pt x="671" y="38"/>
                    </a:lnTo>
                    <a:lnTo>
                      <a:pt x="712" y="59"/>
                    </a:lnTo>
                    <a:lnTo>
                      <a:pt x="752" y="83"/>
                    </a:lnTo>
                    <a:lnTo>
                      <a:pt x="790" y="110"/>
                    </a:lnTo>
                    <a:lnTo>
                      <a:pt x="825" y="142"/>
                    </a:lnTo>
                    <a:lnTo>
                      <a:pt x="856" y="176"/>
                    </a:lnTo>
                    <a:lnTo>
                      <a:pt x="884" y="213"/>
                    </a:lnTo>
                    <a:lnTo>
                      <a:pt x="908" y="252"/>
                    </a:lnTo>
                    <a:lnTo>
                      <a:pt x="929" y="295"/>
                    </a:lnTo>
                    <a:lnTo>
                      <a:pt x="945" y="340"/>
                    </a:lnTo>
                    <a:lnTo>
                      <a:pt x="956" y="386"/>
                    </a:lnTo>
                    <a:lnTo>
                      <a:pt x="964" y="433"/>
                    </a:lnTo>
                    <a:lnTo>
                      <a:pt x="967" y="482"/>
                    </a:lnTo>
                    <a:lnTo>
                      <a:pt x="964" y="532"/>
                    </a:lnTo>
                    <a:lnTo>
                      <a:pt x="956" y="579"/>
                    </a:lnTo>
                    <a:lnTo>
                      <a:pt x="945" y="625"/>
                    </a:lnTo>
                    <a:lnTo>
                      <a:pt x="929" y="670"/>
                    </a:lnTo>
                    <a:lnTo>
                      <a:pt x="908" y="713"/>
                    </a:lnTo>
                    <a:lnTo>
                      <a:pt x="884" y="752"/>
                    </a:lnTo>
                    <a:lnTo>
                      <a:pt x="856" y="789"/>
                    </a:lnTo>
                    <a:lnTo>
                      <a:pt x="825" y="823"/>
                    </a:lnTo>
                    <a:lnTo>
                      <a:pt x="790" y="854"/>
                    </a:lnTo>
                    <a:lnTo>
                      <a:pt x="752" y="882"/>
                    </a:lnTo>
                    <a:lnTo>
                      <a:pt x="712" y="906"/>
                    </a:lnTo>
                    <a:lnTo>
                      <a:pt x="671" y="927"/>
                    </a:lnTo>
                    <a:lnTo>
                      <a:pt x="626" y="943"/>
                    </a:lnTo>
                    <a:lnTo>
                      <a:pt x="580" y="955"/>
                    </a:lnTo>
                    <a:lnTo>
                      <a:pt x="531" y="963"/>
                    </a:lnTo>
                    <a:lnTo>
                      <a:pt x="482" y="965"/>
                    </a:lnTo>
                    <a:lnTo>
                      <a:pt x="432" y="963"/>
                    </a:lnTo>
                    <a:lnTo>
                      <a:pt x="385" y="955"/>
                    </a:lnTo>
                    <a:lnTo>
                      <a:pt x="339" y="943"/>
                    </a:lnTo>
                    <a:lnTo>
                      <a:pt x="294" y="927"/>
                    </a:lnTo>
                    <a:lnTo>
                      <a:pt x="253" y="906"/>
                    </a:lnTo>
                    <a:lnTo>
                      <a:pt x="212" y="882"/>
                    </a:lnTo>
                    <a:lnTo>
                      <a:pt x="175" y="854"/>
                    </a:lnTo>
                    <a:lnTo>
                      <a:pt x="141" y="823"/>
                    </a:lnTo>
                    <a:lnTo>
                      <a:pt x="110" y="789"/>
                    </a:lnTo>
                    <a:lnTo>
                      <a:pt x="82" y="752"/>
                    </a:lnTo>
                    <a:lnTo>
                      <a:pt x="58" y="713"/>
                    </a:lnTo>
                    <a:lnTo>
                      <a:pt x="38" y="670"/>
                    </a:lnTo>
                    <a:lnTo>
                      <a:pt x="22" y="625"/>
                    </a:lnTo>
                    <a:lnTo>
                      <a:pt x="10" y="579"/>
                    </a:lnTo>
                    <a:lnTo>
                      <a:pt x="3" y="532"/>
                    </a:lnTo>
                    <a:lnTo>
                      <a:pt x="0" y="482"/>
                    </a:lnTo>
                    <a:lnTo>
                      <a:pt x="3" y="433"/>
                    </a:lnTo>
                    <a:lnTo>
                      <a:pt x="10" y="386"/>
                    </a:lnTo>
                    <a:lnTo>
                      <a:pt x="22" y="340"/>
                    </a:lnTo>
                    <a:lnTo>
                      <a:pt x="38" y="295"/>
                    </a:lnTo>
                    <a:lnTo>
                      <a:pt x="58" y="252"/>
                    </a:lnTo>
                    <a:lnTo>
                      <a:pt x="82" y="213"/>
                    </a:lnTo>
                    <a:lnTo>
                      <a:pt x="110" y="176"/>
                    </a:lnTo>
                    <a:lnTo>
                      <a:pt x="141" y="142"/>
                    </a:lnTo>
                    <a:lnTo>
                      <a:pt x="175" y="110"/>
                    </a:lnTo>
                    <a:lnTo>
                      <a:pt x="212" y="83"/>
                    </a:lnTo>
                    <a:lnTo>
                      <a:pt x="253" y="59"/>
                    </a:lnTo>
                    <a:lnTo>
                      <a:pt x="294" y="38"/>
                    </a:lnTo>
                    <a:lnTo>
                      <a:pt x="339" y="22"/>
                    </a:lnTo>
                    <a:lnTo>
                      <a:pt x="385" y="10"/>
                    </a:lnTo>
                    <a:lnTo>
                      <a:pt x="432" y="2"/>
                    </a:lnTo>
                    <a:lnTo>
                      <a:pt x="482" y="0"/>
                    </a:lnTo>
                    <a:close/>
                  </a:path>
                </a:pathLst>
              </a:custGeom>
              <a:solidFill>
                <a:srgbClr val="D3DBED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8" name="Freeform 34"/>
              <p:cNvSpPr>
                <a:spLocks/>
              </p:cNvSpPr>
              <p:nvPr/>
            </p:nvSpPr>
            <p:spPr bwMode="auto">
              <a:xfrm>
                <a:off x="-41275" y="3217863"/>
                <a:ext cx="757238" cy="754063"/>
              </a:xfrm>
              <a:custGeom>
                <a:avLst/>
                <a:gdLst/>
                <a:ahLst/>
                <a:cxnLst>
                  <a:cxn ang="0">
                    <a:pos x="525" y="2"/>
                  </a:cxn>
                  <a:cxn ang="0">
                    <a:pos x="619" y="22"/>
                  </a:cxn>
                  <a:cxn ang="0">
                    <a:pos x="705" y="57"/>
                  </a:cxn>
                  <a:cxn ang="0">
                    <a:pos x="781" y="108"/>
                  </a:cxn>
                  <a:cxn ang="0">
                    <a:pos x="845" y="173"/>
                  </a:cxn>
                  <a:cxn ang="0">
                    <a:pos x="897" y="249"/>
                  </a:cxn>
                  <a:cxn ang="0">
                    <a:pos x="933" y="334"/>
                  </a:cxn>
                  <a:cxn ang="0">
                    <a:pos x="953" y="426"/>
                  </a:cxn>
                  <a:cxn ang="0">
                    <a:pos x="953" y="523"/>
                  </a:cxn>
                  <a:cxn ang="0">
                    <a:pos x="933" y="616"/>
                  </a:cxn>
                  <a:cxn ang="0">
                    <a:pos x="897" y="701"/>
                  </a:cxn>
                  <a:cxn ang="0">
                    <a:pos x="845" y="777"/>
                  </a:cxn>
                  <a:cxn ang="0">
                    <a:pos x="781" y="842"/>
                  </a:cxn>
                  <a:cxn ang="0">
                    <a:pos x="705" y="892"/>
                  </a:cxn>
                  <a:cxn ang="0">
                    <a:pos x="619" y="928"/>
                  </a:cxn>
                  <a:cxn ang="0">
                    <a:pos x="525" y="948"/>
                  </a:cxn>
                  <a:cxn ang="0">
                    <a:pos x="429" y="948"/>
                  </a:cxn>
                  <a:cxn ang="0">
                    <a:pos x="335" y="928"/>
                  </a:cxn>
                  <a:cxn ang="0">
                    <a:pos x="250" y="892"/>
                  </a:cxn>
                  <a:cxn ang="0">
                    <a:pos x="174" y="842"/>
                  </a:cxn>
                  <a:cxn ang="0">
                    <a:pos x="108" y="777"/>
                  </a:cxn>
                  <a:cxn ang="0">
                    <a:pos x="58" y="701"/>
                  </a:cxn>
                  <a:cxn ang="0">
                    <a:pos x="22" y="616"/>
                  </a:cxn>
                  <a:cxn ang="0">
                    <a:pos x="2" y="523"/>
                  </a:cxn>
                  <a:cxn ang="0">
                    <a:pos x="2" y="426"/>
                  </a:cxn>
                  <a:cxn ang="0">
                    <a:pos x="22" y="334"/>
                  </a:cxn>
                  <a:cxn ang="0">
                    <a:pos x="58" y="249"/>
                  </a:cxn>
                  <a:cxn ang="0">
                    <a:pos x="108" y="173"/>
                  </a:cxn>
                  <a:cxn ang="0">
                    <a:pos x="174" y="108"/>
                  </a:cxn>
                  <a:cxn ang="0">
                    <a:pos x="250" y="57"/>
                  </a:cxn>
                  <a:cxn ang="0">
                    <a:pos x="335" y="22"/>
                  </a:cxn>
                  <a:cxn ang="0">
                    <a:pos x="429" y="2"/>
                  </a:cxn>
                </a:cxnLst>
                <a:rect l="0" t="0" r="r" b="b"/>
                <a:pathLst>
                  <a:path w="955" h="950">
                    <a:moveTo>
                      <a:pt x="477" y="0"/>
                    </a:moveTo>
                    <a:lnTo>
                      <a:pt x="525" y="2"/>
                    </a:lnTo>
                    <a:lnTo>
                      <a:pt x="574" y="9"/>
                    </a:lnTo>
                    <a:lnTo>
                      <a:pt x="619" y="22"/>
                    </a:lnTo>
                    <a:lnTo>
                      <a:pt x="662" y="37"/>
                    </a:lnTo>
                    <a:lnTo>
                      <a:pt x="705" y="57"/>
                    </a:lnTo>
                    <a:lnTo>
                      <a:pt x="744" y="82"/>
                    </a:lnTo>
                    <a:lnTo>
                      <a:pt x="781" y="108"/>
                    </a:lnTo>
                    <a:lnTo>
                      <a:pt x="814" y="139"/>
                    </a:lnTo>
                    <a:lnTo>
                      <a:pt x="845" y="173"/>
                    </a:lnTo>
                    <a:lnTo>
                      <a:pt x="873" y="209"/>
                    </a:lnTo>
                    <a:lnTo>
                      <a:pt x="897" y="249"/>
                    </a:lnTo>
                    <a:lnTo>
                      <a:pt x="917" y="290"/>
                    </a:lnTo>
                    <a:lnTo>
                      <a:pt x="933" y="334"/>
                    </a:lnTo>
                    <a:lnTo>
                      <a:pt x="946" y="379"/>
                    </a:lnTo>
                    <a:lnTo>
                      <a:pt x="953" y="426"/>
                    </a:lnTo>
                    <a:lnTo>
                      <a:pt x="955" y="474"/>
                    </a:lnTo>
                    <a:lnTo>
                      <a:pt x="953" y="523"/>
                    </a:lnTo>
                    <a:lnTo>
                      <a:pt x="946" y="570"/>
                    </a:lnTo>
                    <a:lnTo>
                      <a:pt x="933" y="616"/>
                    </a:lnTo>
                    <a:lnTo>
                      <a:pt x="917" y="660"/>
                    </a:lnTo>
                    <a:lnTo>
                      <a:pt x="897" y="701"/>
                    </a:lnTo>
                    <a:lnTo>
                      <a:pt x="873" y="740"/>
                    </a:lnTo>
                    <a:lnTo>
                      <a:pt x="845" y="777"/>
                    </a:lnTo>
                    <a:lnTo>
                      <a:pt x="814" y="810"/>
                    </a:lnTo>
                    <a:lnTo>
                      <a:pt x="781" y="842"/>
                    </a:lnTo>
                    <a:lnTo>
                      <a:pt x="744" y="868"/>
                    </a:lnTo>
                    <a:lnTo>
                      <a:pt x="705" y="892"/>
                    </a:lnTo>
                    <a:lnTo>
                      <a:pt x="662" y="913"/>
                    </a:lnTo>
                    <a:lnTo>
                      <a:pt x="619" y="928"/>
                    </a:lnTo>
                    <a:lnTo>
                      <a:pt x="574" y="941"/>
                    </a:lnTo>
                    <a:lnTo>
                      <a:pt x="525" y="948"/>
                    </a:lnTo>
                    <a:lnTo>
                      <a:pt x="477" y="950"/>
                    </a:lnTo>
                    <a:lnTo>
                      <a:pt x="429" y="948"/>
                    </a:lnTo>
                    <a:lnTo>
                      <a:pt x="380" y="941"/>
                    </a:lnTo>
                    <a:lnTo>
                      <a:pt x="335" y="928"/>
                    </a:lnTo>
                    <a:lnTo>
                      <a:pt x="292" y="913"/>
                    </a:lnTo>
                    <a:lnTo>
                      <a:pt x="250" y="892"/>
                    </a:lnTo>
                    <a:lnTo>
                      <a:pt x="210" y="868"/>
                    </a:lnTo>
                    <a:lnTo>
                      <a:pt x="174" y="842"/>
                    </a:lnTo>
                    <a:lnTo>
                      <a:pt x="139" y="810"/>
                    </a:lnTo>
                    <a:lnTo>
                      <a:pt x="108" y="777"/>
                    </a:lnTo>
                    <a:lnTo>
                      <a:pt x="82" y="740"/>
                    </a:lnTo>
                    <a:lnTo>
                      <a:pt x="58" y="701"/>
                    </a:lnTo>
                    <a:lnTo>
                      <a:pt x="37" y="660"/>
                    </a:lnTo>
                    <a:lnTo>
                      <a:pt x="22" y="616"/>
                    </a:lnTo>
                    <a:lnTo>
                      <a:pt x="9" y="570"/>
                    </a:lnTo>
                    <a:lnTo>
                      <a:pt x="2" y="523"/>
                    </a:lnTo>
                    <a:lnTo>
                      <a:pt x="0" y="474"/>
                    </a:lnTo>
                    <a:lnTo>
                      <a:pt x="2" y="426"/>
                    </a:lnTo>
                    <a:lnTo>
                      <a:pt x="9" y="379"/>
                    </a:lnTo>
                    <a:lnTo>
                      <a:pt x="22" y="334"/>
                    </a:lnTo>
                    <a:lnTo>
                      <a:pt x="37" y="290"/>
                    </a:lnTo>
                    <a:lnTo>
                      <a:pt x="58" y="249"/>
                    </a:lnTo>
                    <a:lnTo>
                      <a:pt x="82" y="209"/>
                    </a:lnTo>
                    <a:lnTo>
                      <a:pt x="108" y="173"/>
                    </a:lnTo>
                    <a:lnTo>
                      <a:pt x="139" y="139"/>
                    </a:lnTo>
                    <a:lnTo>
                      <a:pt x="174" y="108"/>
                    </a:lnTo>
                    <a:lnTo>
                      <a:pt x="210" y="82"/>
                    </a:lnTo>
                    <a:lnTo>
                      <a:pt x="250" y="57"/>
                    </a:lnTo>
                    <a:lnTo>
                      <a:pt x="292" y="37"/>
                    </a:lnTo>
                    <a:lnTo>
                      <a:pt x="335" y="22"/>
                    </a:lnTo>
                    <a:lnTo>
                      <a:pt x="380" y="9"/>
                    </a:lnTo>
                    <a:lnTo>
                      <a:pt x="429" y="2"/>
                    </a:lnTo>
                    <a:lnTo>
                      <a:pt x="47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9" name="Freeform 35"/>
              <p:cNvSpPr>
                <a:spLocks/>
              </p:cNvSpPr>
              <p:nvPr/>
            </p:nvSpPr>
            <p:spPr bwMode="auto">
              <a:xfrm>
                <a:off x="411163" y="3243263"/>
                <a:ext cx="244475" cy="277813"/>
              </a:xfrm>
              <a:custGeom>
                <a:avLst/>
                <a:gdLst/>
                <a:ahLst/>
                <a:cxnLst>
                  <a:cxn ang="0">
                    <a:pos x="283" y="350"/>
                  </a:cxn>
                  <a:cxn ang="0">
                    <a:pos x="262" y="265"/>
                  </a:cxn>
                  <a:cxn ang="0">
                    <a:pos x="235" y="230"/>
                  </a:cxn>
                  <a:cxn ang="0">
                    <a:pos x="236" y="204"/>
                  </a:cxn>
                  <a:cxn ang="0">
                    <a:pos x="201" y="207"/>
                  </a:cxn>
                  <a:cxn ang="0">
                    <a:pos x="167" y="205"/>
                  </a:cxn>
                  <a:cxn ang="0">
                    <a:pos x="144" y="184"/>
                  </a:cxn>
                  <a:cxn ang="0">
                    <a:pos x="125" y="176"/>
                  </a:cxn>
                  <a:cxn ang="0">
                    <a:pos x="112" y="160"/>
                  </a:cxn>
                  <a:cxn ang="0">
                    <a:pos x="102" y="132"/>
                  </a:cxn>
                  <a:cxn ang="0">
                    <a:pos x="93" y="117"/>
                  </a:cxn>
                  <a:cxn ang="0">
                    <a:pos x="74" y="141"/>
                  </a:cxn>
                  <a:cxn ang="0">
                    <a:pos x="24" y="126"/>
                  </a:cxn>
                  <a:cxn ang="0">
                    <a:pos x="0" y="74"/>
                  </a:cxn>
                  <a:cxn ang="0">
                    <a:pos x="35" y="52"/>
                  </a:cxn>
                  <a:cxn ang="0">
                    <a:pos x="11" y="25"/>
                  </a:cxn>
                  <a:cxn ang="0">
                    <a:pos x="31" y="0"/>
                  </a:cxn>
                  <a:cxn ang="0">
                    <a:pos x="75" y="16"/>
                  </a:cxn>
                  <a:cxn ang="0">
                    <a:pos x="142" y="50"/>
                  </a:cxn>
                  <a:cxn ang="0">
                    <a:pos x="164" y="79"/>
                  </a:cxn>
                  <a:cxn ang="0">
                    <a:pos x="197" y="122"/>
                  </a:cxn>
                  <a:cxn ang="0">
                    <a:pos x="252" y="139"/>
                  </a:cxn>
                  <a:cxn ang="0">
                    <a:pos x="292" y="212"/>
                  </a:cxn>
                  <a:cxn ang="0">
                    <a:pos x="309" y="280"/>
                  </a:cxn>
                  <a:cxn ang="0">
                    <a:pos x="283" y="350"/>
                  </a:cxn>
                </a:cxnLst>
                <a:rect l="0" t="0" r="r" b="b"/>
                <a:pathLst>
                  <a:path w="309" h="350">
                    <a:moveTo>
                      <a:pt x="283" y="350"/>
                    </a:moveTo>
                    <a:lnTo>
                      <a:pt x="262" y="265"/>
                    </a:lnTo>
                    <a:lnTo>
                      <a:pt x="235" y="230"/>
                    </a:lnTo>
                    <a:lnTo>
                      <a:pt x="236" y="204"/>
                    </a:lnTo>
                    <a:lnTo>
                      <a:pt x="201" y="207"/>
                    </a:lnTo>
                    <a:lnTo>
                      <a:pt x="167" y="205"/>
                    </a:lnTo>
                    <a:lnTo>
                      <a:pt x="144" y="184"/>
                    </a:lnTo>
                    <a:lnTo>
                      <a:pt x="125" y="176"/>
                    </a:lnTo>
                    <a:lnTo>
                      <a:pt x="112" y="160"/>
                    </a:lnTo>
                    <a:lnTo>
                      <a:pt x="102" y="132"/>
                    </a:lnTo>
                    <a:lnTo>
                      <a:pt x="93" y="117"/>
                    </a:lnTo>
                    <a:lnTo>
                      <a:pt x="74" y="141"/>
                    </a:lnTo>
                    <a:lnTo>
                      <a:pt x="24" y="126"/>
                    </a:lnTo>
                    <a:lnTo>
                      <a:pt x="0" y="74"/>
                    </a:lnTo>
                    <a:lnTo>
                      <a:pt x="35" y="52"/>
                    </a:lnTo>
                    <a:lnTo>
                      <a:pt x="11" y="25"/>
                    </a:lnTo>
                    <a:lnTo>
                      <a:pt x="31" y="0"/>
                    </a:lnTo>
                    <a:lnTo>
                      <a:pt x="75" y="16"/>
                    </a:lnTo>
                    <a:lnTo>
                      <a:pt x="142" y="50"/>
                    </a:lnTo>
                    <a:lnTo>
                      <a:pt x="164" y="79"/>
                    </a:lnTo>
                    <a:lnTo>
                      <a:pt x="197" y="122"/>
                    </a:lnTo>
                    <a:lnTo>
                      <a:pt x="252" y="139"/>
                    </a:lnTo>
                    <a:lnTo>
                      <a:pt x="292" y="212"/>
                    </a:lnTo>
                    <a:lnTo>
                      <a:pt x="309" y="280"/>
                    </a:lnTo>
                    <a:lnTo>
                      <a:pt x="283" y="35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0" name="Freeform 36"/>
              <p:cNvSpPr>
                <a:spLocks/>
              </p:cNvSpPr>
              <p:nvPr/>
            </p:nvSpPr>
            <p:spPr bwMode="auto">
              <a:xfrm>
                <a:off x="419100" y="3252788"/>
                <a:ext cx="234950" cy="265113"/>
              </a:xfrm>
              <a:custGeom>
                <a:avLst/>
                <a:gdLst/>
                <a:ahLst/>
                <a:cxnLst>
                  <a:cxn ang="0">
                    <a:pos x="268" y="314"/>
                  </a:cxn>
                  <a:cxn ang="0">
                    <a:pos x="259" y="275"/>
                  </a:cxn>
                  <a:cxn ang="0">
                    <a:pos x="248" y="247"/>
                  </a:cxn>
                  <a:cxn ang="0">
                    <a:pos x="238" y="230"/>
                  </a:cxn>
                  <a:cxn ang="0">
                    <a:pos x="231" y="214"/>
                  </a:cxn>
                  <a:cxn ang="0">
                    <a:pos x="229" y="200"/>
                  </a:cxn>
                  <a:cxn ang="0">
                    <a:pos x="220" y="193"/>
                  </a:cxn>
                  <a:cxn ang="0">
                    <a:pos x="203" y="192"/>
                  </a:cxn>
                  <a:cxn ang="0">
                    <a:pos x="187" y="190"/>
                  </a:cxn>
                  <a:cxn ang="0">
                    <a:pos x="170" y="187"/>
                  </a:cxn>
                  <a:cxn ang="0">
                    <a:pos x="156" y="181"/>
                  </a:cxn>
                  <a:cxn ang="0">
                    <a:pos x="144" y="173"/>
                  </a:cxn>
                  <a:cxn ang="0">
                    <a:pos x="134" y="168"/>
                  </a:cxn>
                  <a:cxn ang="0">
                    <a:pos x="126" y="162"/>
                  </a:cxn>
                  <a:cxn ang="0">
                    <a:pos x="117" y="156"/>
                  </a:cxn>
                  <a:cxn ang="0">
                    <a:pos x="109" y="149"/>
                  </a:cxn>
                  <a:cxn ang="0">
                    <a:pos x="102" y="139"/>
                  </a:cxn>
                  <a:cxn ang="0">
                    <a:pos x="96" y="126"/>
                  </a:cxn>
                  <a:cxn ang="0">
                    <a:pos x="92" y="116"/>
                  </a:cxn>
                  <a:cxn ang="0">
                    <a:pos x="89" y="107"/>
                  </a:cxn>
                  <a:cxn ang="0">
                    <a:pos x="84" y="105"/>
                  </a:cxn>
                  <a:cxn ang="0">
                    <a:pos x="73" y="114"/>
                  </a:cxn>
                  <a:cxn ang="0">
                    <a:pos x="62" y="117"/>
                  </a:cxn>
                  <a:cxn ang="0">
                    <a:pos x="51" y="114"/>
                  </a:cxn>
                  <a:cxn ang="0">
                    <a:pos x="40" y="111"/>
                  </a:cxn>
                  <a:cxn ang="0">
                    <a:pos x="29" y="110"/>
                  </a:cxn>
                  <a:cxn ang="0">
                    <a:pos x="16" y="97"/>
                  </a:cxn>
                  <a:cxn ang="0">
                    <a:pos x="4" y="73"/>
                  </a:cxn>
                  <a:cxn ang="0">
                    <a:pos x="8" y="56"/>
                  </a:cxn>
                  <a:cxn ang="0">
                    <a:pos x="21" y="46"/>
                  </a:cxn>
                  <a:cxn ang="0">
                    <a:pos x="21" y="33"/>
                  </a:cxn>
                  <a:cxn ang="0">
                    <a:pos x="13" y="23"/>
                  </a:cxn>
                  <a:cxn ang="0">
                    <a:pos x="17" y="13"/>
                  </a:cxn>
                  <a:cxn ang="0">
                    <a:pos x="28" y="4"/>
                  </a:cxn>
                  <a:cxn ang="0">
                    <a:pos x="40" y="2"/>
                  </a:cxn>
                  <a:cxn ang="0">
                    <a:pos x="50" y="6"/>
                  </a:cxn>
                  <a:cxn ang="0">
                    <a:pos x="61" y="11"/>
                  </a:cxn>
                  <a:cxn ang="0">
                    <a:pos x="71" y="17"/>
                  </a:cxn>
                  <a:cxn ang="0">
                    <a:pos x="84" y="24"/>
                  </a:cxn>
                  <a:cxn ang="0">
                    <a:pos x="99" y="32"/>
                  </a:cxn>
                  <a:cxn ang="0">
                    <a:pos x="115" y="40"/>
                  </a:cxn>
                  <a:cxn ang="0">
                    <a:pos x="130" y="48"/>
                  </a:cxn>
                  <a:cxn ang="0">
                    <a:pos x="144" y="59"/>
                  </a:cxn>
                  <a:cxn ang="0">
                    <a:pos x="156" y="74"/>
                  </a:cxn>
                  <a:cxn ang="0">
                    <a:pos x="170" y="92"/>
                  </a:cxn>
                  <a:cxn ang="0">
                    <a:pos x="187" y="112"/>
                  </a:cxn>
                  <a:cxn ang="0">
                    <a:pos x="202" y="124"/>
                  </a:cxn>
                  <a:cxn ang="0">
                    <a:pos x="215" y="129"/>
                  </a:cxn>
                  <a:cxn ang="0">
                    <a:pos x="228" y="133"/>
                  </a:cxn>
                  <a:cxn ang="0">
                    <a:pos x="240" y="138"/>
                  </a:cxn>
                  <a:cxn ang="0">
                    <a:pos x="251" y="148"/>
                  </a:cxn>
                  <a:cxn ang="0">
                    <a:pos x="260" y="165"/>
                  </a:cxn>
                  <a:cxn ang="0">
                    <a:pos x="268" y="181"/>
                  </a:cxn>
                  <a:cxn ang="0">
                    <a:pos x="277" y="198"/>
                  </a:cxn>
                  <a:cxn ang="0">
                    <a:pos x="284" y="221"/>
                  </a:cxn>
                  <a:cxn ang="0">
                    <a:pos x="292" y="252"/>
                  </a:cxn>
                  <a:cxn ang="0">
                    <a:pos x="290" y="284"/>
                  </a:cxn>
                  <a:cxn ang="0">
                    <a:pos x="278" y="317"/>
                  </a:cxn>
                </a:cxnLst>
                <a:rect l="0" t="0" r="r" b="b"/>
                <a:pathLst>
                  <a:path w="296" h="333">
                    <a:moveTo>
                      <a:pt x="272" y="333"/>
                    </a:moveTo>
                    <a:lnTo>
                      <a:pt x="268" y="314"/>
                    </a:lnTo>
                    <a:lnTo>
                      <a:pt x="263" y="294"/>
                    </a:lnTo>
                    <a:lnTo>
                      <a:pt x="259" y="275"/>
                    </a:lnTo>
                    <a:lnTo>
                      <a:pt x="254" y="255"/>
                    </a:lnTo>
                    <a:lnTo>
                      <a:pt x="248" y="247"/>
                    </a:lnTo>
                    <a:lnTo>
                      <a:pt x="244" y="239"/>
                    </a:lnTo>
                    <a:lnTo>
                      <a:pt x="238" y="230"/>
                    </a:lnTo>
                    <a:lnTo>
                      <a:pt x="232" y="221"/>
                    </a:lnTo>
                    <a:lnTo>
                      <a:pt x="231" y="214"/>
                    </a:lnTo>
                    <a:lnTo>
                      <a:pt x="230" y="207"/>
                    </a:lnTo>
                    <a:lnTo>
                      <a:pt x="229" y="200"/>
                    </a:lnTo>
                    <a:lnTo>
                      <a:pt x="228" y="193"/>
                    </a:lnTo>
                    <a:lnTo>
                      <a:pt x="220" y="193"/>
                    </a:lnTo>
                    <a:lnTo>
                      <a:pt x="211" y="192"/>
                    </a:lnTo>
                    <a:lnTo>
                      <a:pt x="203" y="192"/>
                    </a:lnTo>
                    <a:lnTo>
                      <a:pt x="195" y="191"/>
                    </a:lnTo>
                    <a:lnTo>
                      <a:pt x="187" y="190"/>
                    </a:lnTo>
                    <a:lnTo>
                      <a:pt x="179" y="188"/>
                    </a:lnTo>
                    <a:lnTo>
                      <a:pt x="170" y="187"/>
                    </a:lnTo>
                    <a:lnTo>
                      <a:pt x="162" y="186"/>
                    </a:lnTo>
                    <a:lnTo>
                      <a:pt x="156" y="181"/>
                    </a:lnTo>
                    <a:lnTo>
                      <a:pt x="150" y="178"/>
                    </a:lnTo>
                    <a:lnTo>
                      <a:pt x="144" y="173"/>
                    </a:lnTo>
                    <a:lnTo>
                      <a:pt x="138" y="170"/>
                    </a:lnTo>
                    <a:lnTo>
                      <a:pt x="134" y="168"/>
                    </a:lnTo>
                    <a:lnTo>
                      <a:pt x="130" y="164"/>
                    </a:lnTo>
                    <a:lnTo>
                      <a:pt x="126" y="162"/>
                    </a:lnTo>
                    <a:lnTo>
                      <a:pt x="122" y="160"/>
                    </a:lnTo>
                    <a:lnTo>
                      <a:pt x="117" y="156"/>
                    </a:lnTo>
                    <a:lnTo>
                      <a:pt x="114" y="153"/>
                    </a:lnTo>
                    <a:lnTo>
                      <a:pt x="109" y="149"/>
                    </a:lnTo>
                    <a:lnTo>
                      <a:pt x="106" y="146"/>
                    </a:lnTo>
                    <a:lnTo>
                      <a:pt x="102" y="139"/>
                    </a:lnTo>
                    <a:lnTo>
                      <a:pt x="100" y="133"/>
                    </a:lnTo>
                    <a:lnTo>
                      <a:pt x="96" y="126"/>
                    </a:lnTo>
                    <a:lnTo>
                      <a:pt x="93" y="120"/>
                    </a:lnTo>
                    <a:lnTo>
                      <a:pt x="92" y="116"/>
                    </a:lnTo>
                    <a:lnTo>
                      <a:pt x="91" y="111"/>
                    </a:lnTo>
                    <a:lnTo>
                      <a:pt x="89" y="107"/>
                    </a:lnTo>
                    <a:lnTo>
                      <a:pt x="88" y="102"/>
                    </a:lnTo>
                    <a:lnTo>
                      <a:pt x="84" y="105"/>
                    </a:lnTo>
                    <a:lnTo>
                      <a:pt x="78" y="109"/>
                    </a:lnTo>
                    <a:lnTo>
                      <a:pt x="73" y="114"/>
                    </a:lnTo>
                    <a:lnTo>
                      <a:pt x="68" y="118"/>
                    </a:lnTo>
                    <a:lnTo>
                      <a:pt x="62" y="117"/>
                    </a:lnTo>
                    <a:lnTo>
                      <a:pt x="57" y="115"/>
                    </a:lnTo>
                    <a:lnTo>
                      <a:pt x="51" y="114"/>
                    </a:lnTo>
                    <a:lnTo>
                      <a:pt x="46" y="112"/>
                    </a:lnTo>
                    <a:lnTo>
                      <a:pt x="40" y="111"/>
                    </a:lnTo>
                    <a:lnTo>
                      <a:pt x="34" y="111"/>
                    </a:lnTo>
                    <a:lnTo>
                      <a:pt x="29" y="110"/>
                    </a:lnTo>
                    <a:lnTo>
                      <a:pt x="24" y="109"/>
                    </a:lnTo>
                    <a:lnTo>
                      <a:pt x="16" y="97"/>
                    </a:lnTo>
                    <a:lnTo>
                      <a:pt x="10" y="85"/>
                    </a:lnTo>
                    <a:lnTo>
                      <a:pt x="4" y="73"/>
                    </a:lnTo>
                    <a:lnTo>
                      <a:pt x="0" y="62"/>
                    </a:lnTo>
                    <a:lnTo>
                      <a:pt x="8" y="56"/>
                    </a:lnTo>
                    <a:lnTo>
                      <a:pt x="16" y="51"/>
                    </a:lnTo>
                    <a:lnTo>
                      <a:pt x="21" y="46"/>
                    </a:lnTo>
                    <a:lnTo>
                      <a:pt x="25" y="39"/>
                    </a:lnTo>
                    <a:lnTo>
                      <a:pt x="21" y="33"/>
                    </a:lnTo>
                    <a:lnTo>
                      <a:pt x="18" y="28"/>
                    </a:lnTo>
                    <a:lnTo>
                      <a:pt x="13" y="23"/>
                    </a:lnTo>
                    <a:lnTo>
                      <a:pt x="10" y="18"/>
                    </a:lnTo>
                    <a:lnTo>
                      <a:pt x="17" y="13"/>
                    </a:lnTo>
                    <a:lnTo>
                      <a:pt x="24" y="9"/>
                    </a:lnTo>
                    <a:lnTo>
                      <a:pt x="28" y="4"/>
                    </a:lnTo>
                    <a:lnTo>
                      <a:pt x="34" y="0"/>
                    </a:lnTo>
                    <a:lnTo>
                      <a:pt x="40" y="2"/>
                    </a:lnTo>
                    <a:lnTo>
                      <a:pt x="44" y="4"/>
                    </a:lnTo>
                    <a:lnTo>
                      <a:pt x="50" y="6"/>
                    </a:lnTo>
                    <a:lnTo>
                      <a:pt x="55" y="9"/>
                    </a:lnTo>
                    <a:lnTo>
                      <a:pt x="61" y="11"/>
                    </a:lnTo>
                    <a:lnTo>
                      <a:pt x="65" y="15"/>
                    </a:lnTo>
                    <a:lnTo>
                      <a:pt x="71" y="17"/>
                    </a:lnTo>
                    <a:lnTo>
                      <a:pt x="76" y="19"/>
                    </a:lnTo>
                    <a:lnTo>
                      <a:pt x="84" y="24"/>
                    </a:lnTo>
                    <a:lnTo>
                      <a:pt x="92" y="27"/>
                    </a:lnTo>
                    <a:lnTo>
                      <a:pt x="99" y="32"/>
                    </a:lnTo>
                    <a:lnTo>
                      <a:pt x="107" y="35"/>
                    </a:lnTo>
                    <a:lnTo>
                      <a:pt x="115" y="40"/>
                    </a:lnTo>
                    <a:lnTo>
                      <a:pt x="123" y="43"/>
                    </a:lnTo>
                    <a:lnTo>
                      <a:pt x="130" y="48"/>
                    </a:lnTo>
                    <a:lnTo>
                      <a:pt x="138" y="51"/>
                    </a:lnTo>
                    <a:lnTo>
                      <a:pt x="144" y="59"/>
                    </a:lnTo>
                    <a:lnTo>
                      <a:pt x="150" y="66"/>
                    </a:lnTo>
                    <a:lnTo>
                      <a:pt x="156" y="74"/>
                    </a:lnTo>
                    <a:lnTo>
                      <a:pt x="162" y="81"/>
                    </a:lnTo>
                    <a:lnTo>
                      <a:pt x="170" y="92"/>
                    </a:lnTo>
                    <a:lnTo>
                      <a:pt x="179" y="102"/>
                    </a:lnTo>
                    <a:lnTo>
                      <a:pt x="187" y="112"/>
                    </a:lnTo>
                    <a:lnTo>
                      <a:pt x="195" y="122"/>
                    </a:lnTo>
                    <a:lnTo>
                      <a:pt x="202" y="124"/>
                    </a:lnTo>
                    <a:lnTo>
                      <a:pt x="208" y="126"/>
                    </a:lnTo>
                    <a:lnTo>
                      <a:pt x="215" y="129"/>
                    </a:lnTo>
                    <a:lnTo>
                      <a:pt x="221" y="131"/>
                    </a:lnTo>
                    <a:lnTo>
                      <a:pt x="228" y="133"/>
                    </a:lnTo>
                    <a:lnTo>
                      <a:pt x="233" y="135"/>
                    </a:lnTo>
                    <a:lnTo>
                      <a:pt x="240" y="138"/>
                    </a:lnTo>
                    <a:lnTo>
                      <a:pt x="246" y="140"/>
                    </a:lnTo>
                    <a:lnTo>
                      <a:pt x="251" y="148"/>
                    </a:lnTo>
                    <a:lnTo>
                      <a:pt x="255" y="156"/>
                    </a:lnTo>
                    <a:lnTo>
                      <a:pt x="260" y="165"/>
                    </a:lnTo>
                    <a:lnTo>
                      <a:pt x="263" y="173"/>
                    </a:lnTo>
                    <a:lnTo>
                      <a:pt x="268" y="181"/>
                    </a:lnTo>
                    <a:lnTo>
                      <a:pt x="272" y="190"/>
                    </a:lnTo>
                    <a:lnTo>
                      <a:pt x="277" y="198"/>
                    </a:lnTo>
                    <a:lnTo>
                      <a:pt x="281" y="206"/>
                    </a:lnTo>
                    <a:lnTo>
                      <a:pt x="284" y="221"/>
                    </a:lnTo>
                    <a:lnTo>
                      <a:pt x="289" y="237"/>
                    </a:lnTo>
                    <a:lnTo>
                      <a:pt x="292" y="252"/>
                    </a:lnTo>
                    <a:lnTo>
                      <a:pt x="296" y="268"/>
                    </a:lnTo>
                    <a:lnTo>
                      <a:pt x="290" y="284"/>
                    </a:lnTo>
                    <a:lnTo>
                      <a:pt x="284" y="300"/>
                    </a:lnTo>
                    <a:lnTo>
                      <a:pt x="278" y="317"/>
                    </a:lnTo>
                    <a:lnTo>
                      <a:pt x="272" y="333"/>
                    </a:lnTo>
                    <a:close/>
                  </a:path>
                </a:pathLst>
              </a:custGeom>
              <a:solidFill>
                <a:srgbClr val="EDED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1" name="Freeform 37"/>
              <p:cNvSpPr>
                <a:spLocks/>
              </p:cNvSpPr>
              <p:nvPr/>
            </p:nvSpPr>
            <p:spPr bwMode="auto">
              <a:xfrm>
                <a:off x="428625" y="3262313"/>
                <a:ext cx="223838" cy="250825"/>
              </a:xfrm>
              <a:custGeom>
                <a:avLst/>
                <a:gdLst/>
                <a:ahLst/>
                <a:cxnLst>
                  <a:cxn ang="0">
                    <a:pos x="258" y="301"/>
                  </a:cxn>
                  <a:cxn ang="0">
                    <a:pos x="251" y="266"/>
                  </a:cxn>
                  <a:cxn ang="0">
                    <a:pos x="242" y="240"/>
                  </a:cxn>
                  <a:cxn ang="0">
                    <a:pos x="233" y="222"/>
                  </a:cxn>
                  <a:cxn ang="0">
                    <a:pos x="226" y="206"/>
                  </a:cxn>
                  <a:cxn ang="0">
                    <a:pos x="221" y="191"/>
                  </a:cxn>
                  <a:cxn ang="0">
                    <a:pos x="211" y="181"/>
                  </a:cxn>
                  <a:cxn ang="0">
                    <a:pos x="197" y="177"/>
                  </a:cxn>
                  <a:cxn ang="0">
                    <a:pos x="182" y="174"/>
                  </a:cxn>
                  <a:cxn ang="0">
                    <a:pos x="166" y="170"/>
                  </a:cxn>
                  <a:cxn ang="0">
                    <a:pos x="151" y="166"/>
                  </a:cxn>
                  <a:cxn ang="0">
                    <a:pos x="138" y="159"/>
                  </a:cxn>
                  <a:cxn ang="0">
                    <a:pos x="129" y="153"/>
                  </a:cxn>
                  <a:cxn ang="0">
                    <a:pos x="122" y="147"/>
                  </a:cxn>
                  <a:cxn ang="0">
                    <a:pos x="114" y="142"/>
                  </a:cxn>
                  <a:cxn ang="0">
                    <a:pos x="104" y="135"/>
                  </a:cxn>
                  <a:cxn ang="0">
                    <a:pos x="96" y="127"/>
                  </a:cxn>
                  <a:cxn ang="0">
                    <a:pos x="89" y="114"/>
                  </a:cxn>
                  <a:cxn ang="0">
                    <a:pos x="85" y="103"/>
                  </a:cxn>
                  <a:cxn ang="0">
                    <a:pos x="84" y="92"/>
                  </a:cxn>
                  <a:cxn ang="0">
                    <a:pos x="77" y="89"/>
                  </a:cxn>
                  <a:cxn ang="0">
                    <a:pos x="66" y="94"/>
                  </a:cxn>
                  <a:cxn ang="0">
                    <a:pos x="55" y="97"/>
                  </a:cxn>
                  <a:cxn ang="0">
                    <a:pos x="46" y="96"/>
                  </a:cxn>
                  <a:cxn ang="0">
                    <a:pos x="36" y="94"/>
                  </a:cxn>
                  <a:cxn ang="0">
                    <a:pos x="27" y="93"/>
                  </a:cxn>
                  <a:cxn ang="0">
                    <a:pos x="12" y="83"/>
                  </a:cxn>
                  <a:cxn ang="0">
                    <a:pos x="2" y="61"/>
                  </a:cxn>
                  <a:cxn ang="0">
                    <a:pos x="8" y="46"/>
                  </a:cxn>
                  <a:cxn ang="0">
                    <a:pos x="16" y="33"/>
                  </a:cxn>
                  <a:cxn ang="0">
                    <a:pos x="14" y="22"/>
                  </a:cxn>
                  <a:cxn ang="0">
                    <a:pos x="10" y="15"/>
                  </a:cxn>
                  <a:cxn ang="0">
                    <a:pos x="18" y="9"/>
                  </a:cxn>
                  <a:cxn ang="0">
                    <a:pos x="32" y="2"/>
                  </a:cxn>
                  <a:cxn ang="0">
                    <a:pos x="43" y="2"/>
                  </a:cxn>
                  <a:cxn ang="0">
                    <a:pos x="52" y="8"/>
                  </a:cxn>
                  <a:cxn ang="0">
                    <a:pos x="61" y="14"/>
                  </a:cxn>
                  <a:cxn ang="0">
                    <a:pos x="71" y="21"/>
                  </a:cxn>
                  <a:cxn ang="0">
                    <a:pos x="83" y="28"/>
                  </a:cxn>
                  <a:cxn ang="0">
                    <a:pos x="98" y="35"/>
                  </a:cxn>
                  <a:cxn ang="0">
                    <a:pos x="112" y="43"/>
                  </a:cxn>
                  <a:cxn ang="0">
                    <a:pos x="126" y="50"/>
                  </a:cxn>
                  <a:cxn ang="0">
                    <a:pos x="139" y="61"/>
                  </a:cxn>
                  <a:cxn ang="0">
                    <a:pos x="154" y="76"/>
                  </a:cxn>
                  <a:cxn ang="0">
                    <a:pos x="169" y="93"/>
                  </a:cxn>
                  <a:cxn ang="0">
                    <a:pos x="185" y="113"/>
                  </a:cxn>
                  <a:cxn ang="0">
                    <a:pos x="199" y="124"/>
                  </a:cxn>
                  <a:cxn ang="0">
                    <a:pos x="211" y="130"/>
                  </a:cxn>
                  <a:cxn ang="0">
                    <a:pos x="222" y="135"/>
                  </a:cxn>
                  <a:cxn ang="0">
                    <a:pos x="234" y="141"/>
                  </a:cxn>
                  <a:cxn ang="0">
                    <a:pos x="248" y="158"/>
                  </a:cxn>
                  <a:cxn ang="0">
                    <a:pos x="261" y="187"/>
                  </a:cxn>
                  <a:cxn ang="0">
                    <a:pos x="272" y="215"/>
                  </a:cxn>
                  <a:cxn ang="0">
                    <a:pos x="279" y="243"/>
                  </a:cxn>
                  <a:cxn ang="0">
                    <a:pos x="278" y="272"/>
                  </a:cxn>
                  <a:cxn ang="0">
                    <a:pos x="267" y="303"/>
                  </a:cxn>
                </a:cxnLst>
                <a:rect l="0" t="0" r="r" b="b"/>
                <a:pathLst>
                  <a:path w="282" h="318">
                    <a:moveTo>
                      <a:pt x="263" y="318"/>
                    </a:moveTo>
                    <a:lnTo>
                      <a:pt x="258" y="301"/>
                    </a:lnTo>
                    <a:lnTo>
                      <a:pt x="255" y="283"/>
                    </a:lnTo>
                    <a:lnTo>
                      <a:pt x="251" y="266"/>
                    </a:lnTo>
                    <a:lnTo>
                      <a:pt x="247" y="248"/>
                    </a:lnTo>
                    <a:lnTo>
                      <a:pt x="242" y="240"/>
                    </a:lnTo>
                    <a:lnTo>
                      <a:pt x="237" y="230"/>
                    </a:lnTo>
                    <a:lnTo>
                      <a:pt x="233" y="222"/>
                    </a:lnTo>
                    <a:lnTo>
                      <a:pt x="228" y="213"/>
                    </a:lnTo>
                    <a:lnTo>
                      <a:pt x="226" y="206"/>
                    </a:lnTo>
                    <a:lnTo>
                      <a:pt x="223" y="198"/>
                    </a:lnTo>
                    <a:lnTo>
                      <a:pt x="221" y="191"/>
                    </a:lnTo>
                    <a:lnTo>
                      <a:pt x="219" y="183"/>
                    </a:lnTo>
                    <a:lnTo>
                      <a:pt x="211" y="181"/>
                    </a:lnTo>
                    <a:lnTo>
                      <a:pt x="204" y="180"/>
                    </a:lnTo>
                    <a:lnTo>
                      <a:pt x="197" y="177"/>
                    </a:lnTo>
                    <a:lnTo>
                      <a:pt x="190" y="176"/>
                    </a:lnTo>
                    <a:lnTo>
                      <a:pt x="182" y="174"/>
                    </a:lnTo>
                    <a:lnTo>
                      <a:pt x="174" y="173"/>
                    </a:lnTo>
                    <a:lnTo>
                      <a:pt x="166" y="170"/>
                    </a:lnTo>
                    <a:lnTo>
                      <a:pt x="158" y="169"/>
                    </a:lnTo>
                    <a:lnTo>
                      <a:pt x="151" y="166"/>
                    </a:lnTo>
                    <a:lnTo>
                      <a:pt x="145" y="162"/>
                    </a:lnTo>
                    <a:lnTo>
                      <a:pt x="138" y="159"/>
                    </a:lnTo>
                    <a:lnTo>
                      <a:pt x="133" y="156"/>
                    </a:lnTo>
                    <a:lnTo>
                      <a:pt x="129" y="153"/>
                    </a:lnTo>
                    <a:lnTo>
                      <a:pt x="126" y="150"/>
                    </a:lnTo>
                    <a:lnTo>
                      <a:pt x="122" y="147"/>
                    </a:lnTo>
                    <a:lnTo>
                      <a:pt x="119" y="144"/>
                    </a:lnTo>
                    <a:lnTo>
                      <a:pt x="114" y="142"/>
                    </a:lnTo>
                    <a:lnTo>
                      <a:pt x="108" y="138"/>
                    </a:lnTo>
                    <a:lnTo>
                      <a:pt x="104" y="135"/>
                    </a:lnTo>
                    <a:lnTo>
                      <a:pt x="98" y="132"/>
                    </a:lnTo>
                    <a:lnTo>
                      <a:pt x="96" y="127"/>
                    </a:lnTo>
                    <a:lnTo>
                      <a:pt x="92" y="120"/>
                    </a:lnTo>
                    <a:lnTo>
                      <a:pt x="89" y="114"/>
                    </a:lnTo>
                    <a:lnTo>
                      <a:pt x="85" y="108"/>
                    </a:lnTo>
                    <a:lnTo>
                      <a:pt x="85" y="103"/>
                    </a:lnTo>
                    <a:lnTo>
                      <a:pt x="84" y="97"/>
                    </a:lnTo>
                    <a:lnTo>
                      <a:pt x="84" y="92"/>
                    </a:lnTo>
                    <a:lnTo>
                      <a:pt x="83" y="86"/>
                    </a:lnTo>
                    <a:lnTo>
                      <a:pt x="77" y="89"/>
                    </a:lnTo>
                    <a:lnTo>
                      <a:pt x="71" y="91"/>
                    </a:lnTo>
                    <a:lnTo>
                      <a:pt x="66" y="94"/>
                    </a:lnTo>
                    <a:lnTo>
                      <a:pt x="60" y="97"/>
                    </a:lnTo>
                    <a:lnTo>
                      <a:pt x="55" y="97"/>
                    </a:lnTo>
                    <a:lnTo>
                      <a:pt x="51" y="96"/>
                    </a:lnTo>
                    <a:lnTo>
                      <a:pt x="46" y="96"/>
                    </a:lnTo>
                    <a:lnTo>
                      <a:pt x="42" y="94"/>
                    </a:lnTo>
                    <a:lnTo>
                      <a:pt x="36" y="94"/>
                    </a:lnTo>
                    <a:lnTo>
                      <a:pt x="31" y="94"/>
                    </a:lnTo>
                    <a:lnTo>
                      <a:pt x="27" y="93"/>
                    </a:lnTo>
                    <a:lnTo>
                      <a:pt x="22" y="93"/>
                    </a:lnTo>
                    <a:lnTo>
                      <a:pt x="12" y="83"/>
                    </a:lnTo>
                    <a:lnTo>
                      <a:pt x="6" y="71"/>
                    </a:lnTo>
                    <a:lnTo>
                      <a:pt x="2" y="61"/>
                    </a:lnTo>
                    <a:lnTo>
                      <a:pt x="0" y="51"/>
                    </a:lnTo>
                    <a:lnTo>
                      <a:pt x="8" y="46"/>
                    </a:lnTo>
                    <a:lnTo>
                      <a:pt x="14" y="40"/>
                    </a:lnTo>
                    <a:lnTo>
                      <a:pt x="16" y="33"/>
                    </a:lnTo>
                    <a:lnTo>
                      <a:pt x="15" y="25"/>
                    </a:lnTo>
                    <a:lnTo>
                      <a:pt x="14" y="22"/>
                    </a:lnTo>
                    <a:lnTo>
                      <a:pt x="13" y="18"/>
                    </a:lnTo>
                    <a:lnTo>
                      <a:pt x="10" y="15"/>
                    </a:lnTo>
                    <a:lnTo>
                      <a:pt x="9" y="12"/>
                    </a:lnTo>
                    <a:lnTo>
                      <a:pt x="18" y="9"/>
                    </a:lnTo>
                    <a:lnTo>
                      <a:pt x="27" y="6"/>
                    </a:lnTo>
                    <a:lnTo>
                      <a:pt x="32" y="2"/>
                    </a:lnTo>
                    <a:lnTo>
                      <a:pt x="38" y="0"/>
                    </a:lnTo>
                    <a:lnTo>
                      <a:pt x="43" y="2"/>
                    </a:lnTo>
                    <a:lnTo>
                      <a:pt x="47" y="6"/>
                    </a:lnTo>
                    <a:lnTo>
                      <a:pt x="52" y="8"/>
                    </a:lnTo>
                    <a:lnTo>
                      <a:pt x="57" y="10"/>
                    </a:lnTo>
                    <a:lnTo>
                      <a:pt x="61" y="14"/>
                    </a:lnTo>
                    <a:lnTo>
                      <a:pt x="66" y="17"/>
                    </a:lnTo>
                    <a:lnTo>
                      <a:pt x="71" y="21"/>
                    </a:lnTo>
                    <a:lnTo>
                      <a:pt x="76" y="24"/>
                    </a:lnTo>
                    <a:lnTo>
                      <a:pt x="83" y="28"/>
                    </a:lnTo>
                    <a:lnTo>
                      <a:pt x="91" y="31"/>
                    </a:lnTo>
                    <a:lnTo>
                      <a:pt x="98" y="35"/>
                    </a:lnTo>
                    <a:lnTo>
                      <a:pt x="105" y="38"/>
                    </a:lnTo>
                    <a:lnTo>
                      <a:pt x="112" y="43"/>
                    </a:lnTo>
                    <a:lnTo>
                      <a:pt x="119" y="46"/>
                    </a:lnTo>
                    <a:lnTo>
                      <a:pt x="126" y="50"/>
                    </a:lnTo>
                    <a:lnTo>
                      <a:pt x="133" y="53"/>
                    </a:lnTo>
                    <a:lnTo>
                      <a:pt x="139" y="61"/>
                    </a:lnTo>
                    <a:lnTo>
                      <a:pt x="147" y="69"/>
                    </a:lnTo>
                    <a:lnTo>
                      <a:pt x="154" y="76"/>
                    </a:lnTo>
                    <a:lnTo>
                      <a:pt x="161" y="84"/>
                    </a:lnTo>
                    <a:lnTo>
                      <a:pt x="169" y="93"/>
                    </a:lnTo>
                    <a:lnTo>
                      <a:pt x="177" y="103"/>
                    </a:lnTo>
                    <a:lnTo>
                      <a:pt x="185" y="113"/>
                    </a:lnTo>
                    <a:lnTo>
                      <a:pt x="194" y="122"/>
                    </a:lnTo>
                    <a:lnTo>
                      <a:pt x="199" y="124"/>
                    </a:lnTo>
                    <a:lnTo>
                      <a:pt x="205" y="127"/>
                    </a:lnTo>
                    <a:lnTo>
                      <a:pt x="211" y="130"/>
                    </a:lnTo>
                    <a:lnTo>
                      <a:pt x="217" y="132"/>
                    </a:lnTo>
                    <a:lnTo>
                      <a:pt x="222" y="135"/>
                    </a:lnTo>
                    <a:lnTo>
                      <a:pt x="228" y="137"/>
                    </a:lnTo>
                    <a:lnTo>
                      <a:pt x="234" y="141"/>
                    </a:lnTo>
                    <a:lnTo>
                      <a:pt x="240" y="143"/>
                    </a:lnTo>
                    <a:lnTo>
                      <a:pt x="248" y="158"/>
                    </a:lnTo>
                    <a:lnTo>
                      <a:pt x="255" y="172"/>
                    </a:lnTo>
                    <a:lnTo>
                      <a:pt x="261" y="187"/>
                    </a:lnTo>
                    <a:lnTo>
                      <a:pt x="268" y="202"/>
                    </a:lnTo>
                    <a:lnTo>
                      <a:pt x="272" y="215"/>
                    </a:lnTo>
                    <a:lnTo>
                      <a:pt x="275" y="229"/>
                    </a:lnTo>
                    <a:lnTo>
                      <a:pt x="279" y="243"/>
                    </a:lnTo>
                    <a:lnTo>
                      <a:pt x="282" y="257"/>
                    </a:lnTo>
                    <a:lnTo>
                      <a:pt x="278" y="272"/>
                    </a:lnTo>
                    <a:lnTo>
                      <a:pt x="273" y="288"/>
                    </a:lnTo>
                    <a:lnTo>
                      <a:pt x="267" y="303"/>
                    </a:lnTo>
                    <a:lnTo>
                      <a:pt x="263" y="318"/>
                    </a:lnTo>
                    <a:close/>
                  </a:path>
                </a:pathLst>
              </a:custGeom>
              <a:solidFill>
                <a:srgbClr val="DDDD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2" name="Freeform 38"/>
              <p:cNvSpPr>
                <a:spLocks/>
              </p:cNvSpPr>
              <p:nvPr/>
            </p:nvSpPr>
            <p:spPr bwMode="auto">
              <a:xfrm>
                <a:off x="436563" y="3271838"/>
                <a:ext cx="214313" cy="239713"/>
              </a:xfrm>
              <a:custGeom>
                <a:avLst/>
                <a:gdLst/>
                <a:ahLst/>
                <a:cxnLst>
                  <a:cxn ang="0">
                    <a:pos x="250" y="285"/>
                  </a:cxn>
                  <a:cxn ang="0">
                    <a:pos x="243" y="254"/>
                  </a:cxn>
                  <a:cxn ang="0">
                    <a:pos x="237" y="230"/>
                  </a:cxn>
                  <a:cxn ang="0">
                    <a:pos x="230" y="213"/>
                  </a:cxn>
                  <a:cxn ang="0">
                    <a:pos x="222" y="195"/>
                  </a:cxn>
                  <a:cxn ang="0">
                    <a:pos x="215" y="179"/>
                  </a:cxn>
                  <a:cxn ang="0">
                    <a:pos x="204" y="169"/>
                  </a:cxn>
                  <a:cxn ang="0">
                    <a:pos x="192" y="162"/>
                  </a:cxn>
                  <a:cxn ang="0">
                    <a:pos x="179" y="156"/>
                  </a:cxn>
                  <a:cxn ang="0">
                    <a:pos x="162" y="152"/>
                  </a:cxn>
                  <a:cxn ang="0">
                    <a:pos x="147" y="147"/>
                  </a:cxn>
                  <a:cxn ang="0">
                    <a:pos x="133" y="143"/>
                  </a:cxn>
                  <a:cxn ang="0">
                    <a:pos x="125" y="137"/>
                  </a:cxn>
                  <a:cxn ang="0">
                    <a:pos x="119" y="131"/>
                  </a:cxn>
                  <a:cxn ang="0">
                    <a:pos x="111" y="125"/>
                  </a:cxn>
                  <a:cxn ang="0">
                    <a:pos x="98" y="119"/>
                  </a:cxn>
                  <a:cxn ang="0">
                    <a:pos x="89" y="111"/>
                  </a:cxn>
                  <a:cxn ang="0">
                    <a:pos x="82" y="101"/>
                  </a:cxn>
                  <a:cxn ang="0">
                    <a:pos x="79" y="88"/>
                  </a:cxn>
                  <a:cxn ang="0">
                    <a:pos x="79" y="76"/>
                  </a:cxn>
                  <a:cxn ang="0">
                    <a:pos x="73" y="71"/>
                  </a:cxn>
                  <a:cxn ang="0">
                    <a:pos x="60" y="72"/>
                  </a:cxn>
                  <a:cxn ang="0">
                    <a:pos x="47" y="73"/>
                  </a:cxn>
                  <a:cxn ang="0">
                    <a:pos x="29" y="75"/>
                  </a:cxn>
                  <a:cxn ang="0">
                    <a:pos x="10" y="65"/>
                  </a:cxn>
                  <a:cxn ang="0">
                    <a:pos x="0" y="48"/>
                  </a:cxn>
                  <a:cxn ang="0">
                    <a:pos x="7" y="34"/>
                  </a:cxn>
                  <a:cxn ang="0">
                    <a:pos x="12" y="20"/>
                  </a:cxn>
                  <a:cxn ang="0">
                    <a:pos x="6" y="8"/>
                  </a:cxn>
                  <a:cxn ang="0">
                    <a:pos x="8" y="4"/>
                  </a:cxn>
                  <a:cxn ang="0">
                    <a:pos x="21" y="2"/>
                  </a:cxn>
                  <a:cxn ang="0">
                    <a:pos x="37" y="0"/>
                  </a:cxn>
                  <a:cxn ang="0">
                    <a:pos x="48" y="2"/>
                  </a:cxn>
                  <a:cxn ang="0">
                    <a:pos x="56" y="8"/>
                  </a:cxn>
                  <a:cxn ang="0">
                    <a:pos x="64" y="14"/>
                  </a:cxn>
                  <a:cxn ang="0">
                    <a:pos x="73" y="22"/>
                  </a:cxn>
                  <a:cxn ang="0">
                    <a:pos x="85" y="30"/>
                  </a:cxn>
                  <a:cxn ang="0">
                    <a:pos x="97" y="37"/>
                  </a:cxn>
                  <a:cxn ang="0">
                    <a:pos x="110" y="43"/>
                  </a:cxn>
                  <a:cxn ang="0">
                    <a:pos x="123" y="52"/>
                  </a:cxn>
                  <a:cxn ang="0">
                    <a:pos x="137" y="62"/>
                  </a:cxn>
                  <a:cxn ang="0">
                    <a:pos x="152" y="77"/>
                  </a:cxn>
                  <a:cxn ang="0">
                    <a:pos x="169" y="94"/>
                  </a:cxn>
                  <a:cxn ang="0">
                    <a:pos x="185" y="111"/>
                  </a:cxn>
                  <a:cxn ang="0">
                    <a:pos x="199" y="123"/>
                  </a:cxn>
                  <a:cxn ang="0">
                    <a:pos x="209" y="129"/>
                  </a:cxn>
                  <a:cxn ang="0">
                    <a:pos x="219" y="133"/>
                  </a:cxn>
                  <a:cxn ang="0">
                    <a:pos x="230" y="139"/>
                  </a:cxn>
                  <a:cxn ang="0">
                    <a:pos x="241" y="155"/>
                  </a:cxn>
                  <a:cxn ang="0">
                    <a:pos x="253" y="182"/>
                  </a:cxn>
                  <a:cxn ang="0">
                    <a:pos x="261" y="207"/>
                  </a:cxn>
                  <a:cxn ang="0">
                    <a:pos x="268" y="231"/>
                  </a:cxn>
                  <a:cxn ang="0">
                    <a:pos x="266" y="259"/>
                  </a:cxn>
                  <a:cxn ang="0">
                    <a:pos x="257" y="286"/>
                  </a:cxn>
                </a:cxnLst>
                <a:rect l="0" t="0" r="r" b="b"/>
                <a:pathLst>
                  <a:path w="271" h="301">
                    <a:moveTo>
                      <a:pt x="253" y="301"/>
                    </a:moveTo>
                    <a:lnTo>
                      <a:pt x="250" y="285"/>
                    </a:lnTo>
                    <a:lnTo>
                      <a:pt x="247" y="270"/>
                    </a:lnTo>
                    <a:lnTo>
                      <a:pt x="243" y="254"/>
                    </a:lnTo>
                    <a:lnTo>
                      <a:pt x="241" y="239"/>
                    </a:lnTo>
                    <a:lnTo>
                      <a:pt x="237" y="230"/>
                    </a:lnTo>
                    <a:lnTo>
                      <a:pt x="233" y="221"/>
                    </a:lnTo>
                    <a:lnTo>
                      <a:pt x="230" y="213"/>
                    </a:lnTo>
                    <a:lnTo>
                      <a:pt x="226" y="204"/>
                    </a:lnTo>
                    <a:lnTo>
                      <a:pt x="222" y="195"/>
                    </a:lnTo>
                    <a:lnTo>
                      <a:pt x="218" y="187"/>
                    </a:lnTo>
                    <a:lnTo>
                      <a:pt x="215" y="179"/>
                    </a:lnTo>
                    <a:lnTo>
                      <a:pt x="211" y="171"/>
                    </a:lnTo>
                    <a:lnTo>
                      <a:pt x="204" y="169"/>
                    </a:lnTo>
                    <a:lnTo>
                      <a:pt x="199" y="166"/>
                    </a:lnTo>
                    <a:lnTo>
                      <a:pt x="192" y="162"/>
                    </a:lnTo>
                    <a:lnTo>
                      <a:pt x="186" y="159"/>
                    </a:lnTo>
                    <a:lnTo>
                      <a:pt x="179" y="156"/>
                    </a:lnTo>
                    <a:lnTo>
                      <a:pt x="170" y="154"/>
                    </a:lnTo>
                    <a:lnTo>
                      <a:pt x="162" y="152"/>
                    </a:lnTo>
                    <a:lnTo>
                      <a:pt x="154" y="149"/>
                    </a:lnTo>
                    <a:lnTo>
                      <a:pt x="147" y="147"/>
                    </a:lnTo>
                    <a:lnTo>
                      <a:pt x="140" y="145"/>
                    </a:lnTo>
                    <a:lnTo>
                      <a:pt x="133" y="143"/>
                    </a:lnTo>
                    <a:lnTo>
                      <a:pt x="127" y="140"/>
                    </a:lnTo>
                    <a:lnTo>
                      <a:pt x="125" y="137"/>
                    </a:lnTo>
                    <a:lnTo>
                      <a:pt x="123" y="133"/>
                    </a:lnTo>
                    <a:lnTo>
                      <a:pt x="119" y="131"/>
                    </a:lnTo>
                    <a:lnTo>
                      <a:pt x="117" y="128"/>
                    </a:lnTo>
                    <a:lnTo>
                      <a:pt x="111" y="125"/>
                    </a:lnTo>
                    <a:lnTo>
                      <a:pt x="105" y="122"/>
                    </a:lnTo>
                    <a:lnTo>
                      <a:pt x="98" y="119"/>
                    </a:lnTo>
                    <a:lnTo>
                      <a:pt x="93" y="117"/>
                    </a:lnTo>
                    <a:lnTo>
                      <a:pt x="89" y="111"/>
                    </a:lnTo>
                    <a:lnTo>
                      <a:pt x="86" y="107"/>
                    </a:lnTo>
                    <a:lnTo>
                      <a:pt x="82" y="101"/>
                    </a:lnTo>
                    <a:lnTo>
                      <a:pt x="79" y="95"/>
                    </a:lnTo>
                    <a:lnTo>
                      <a:pt x="79" y="88"/>
                    </a:lnTo>
                    <a:lnTo>
                      <a:pt x="79" y="83"/>
                    </a:lnTo>
                    <a:lnTo>
                      <a:pt x="79" y="76"/>
                    </a:lnTo>
                    <a:lnTo>
                      <a:pt x="79" y="70"/>
                    </a:lnTo>
                    <a:lnTo>
                      <a:pt x="73" y="71"/>
                    </a:lnTo>
                    <a:lnTo>
                      <a:pt x="67" y="71"/>
                    </a:lnTo>
                    <a:lnTo>
                      <a:pt x="60" y="72"/>
                    </a:lnTo>
                    <a:lnTo>
                      <a:pt x="55" y="73"/>
                    </a:lnTo>
                    <a:lnTo>
                      <a:pt x="47" y="73"/>
                    </a:lnTo>
                    <a:lnTo>
                      <a:pt x="38" y="73"/>
                    </a:lnTo>
                    <a:lnTo>
                      <a:pt x="29" y="75"/>
                    </a:lnTo>
                    <a:lnTo>
                      <a:pt x="21" y="75"/>
                    </a:lnTo>
                    <a:lnTo>
                      <a:pt x="10" y="65"/>
                    </a:lnTo>
                    <a:lnTo>
                      <a:pt x="3" y="57"/>
                    </a:lnTo>
                    <a:lnTo>
                      <a:pt x="0" y="48"/>
                    </a:lnTo>
                    <a:lnTo>
                      <a:pt x="0" y="40"/>
                    </a:lnTo>
                    <a:lnTo>
                      <a:pt x="7" y="34"/>
                    </a:lnTo>
                    <a:lnTo>
                      <a:pt x="12" y="29"/>
                    </a:lnTo>
                    <a:lnTo>
                      <a:pt x="12" y="20"/>
                    </a:lnTo>
                    <a:lnTo>
                      <a:pt x="5" y="10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8" y="4"/>
                    </a:lnTo>
                    <a:lnTo>
                      <a:pt x="10" y="3"/>
                    </a:lnTo>
                    <a:lnTo>
                      <a:pt x="21" y="2"/>
                    </a:lnTo>
                    <a:lnTo>
                      <a:pt x="30" y="1"/>
                    </a:lnTo>
                    <a:lnTo>
                      <a:pt x="37" y="0"/>
                    </a:lnTo>
                    <a:lnTo>
                      <a:pt x="43" y="0"/>
                    </a:lnTo>
                    <a:lnTo>
                      <a:pt x="48" y="2"/>
                    </a:lnTo>
                    <a:lnTo>
                      <a:pt x="51" y="4"/>
                    </a:lnTo>
                    <a:lnTo>
                      <a:pt x="56" y="8"/>
                    </a:lnTo>
                    <a:lnTo>
                      <a:pt x="59" y="10"/>
                    </a:lnTo>
                    <a:lnTo>
                      <a:pt x="64" y="14"/>
                    </a:lnTo>
                    <a:lnTo>
                      <a:pt x="68" y="17"/>
                    </a:lnTo>
                    <a:lnTo>
                      <a:pt x="73" y="22"/>
                    </a:lnTo>
                    <a:lnTo>
                      <a:pt x="78" y="26"/>
                    </a:lnTo>
                    <a:lnTo>
                      <a:pt x="85" y="30"/>
                    </a:lnTo>
                    <a:lnTo>
                      <a:pt x="90" y="33"/>
                    </a:lnTo>
                    <a:lnTo>
                      <a:pt x="97" y="37"/>
                    </a:lnTo>
                    <a:lnTo>
                      <a:pt x="104" y="40"/>
                    </a:lnTo>
                    <a:lnTo>
                      <a:pt x="110" y="43"/>
                    </a:lnTo>
                    <a:lnTo>
                      <a:pt x="117" y="47"/>
                    </a:lnTo>
                    <a:lnTo>
                      <a:pt x="123" y="52"/>
                    </a:lnTo>
                    <a:lnTo>
                      <a:pt x="129" y="55"/>
                    </a:lnTo>
                    <a:lnTo>
                      <a:pt x="137" y="62"/>
                    </a:lnTo>
                    <a:lnTo>
                      <a:pt x="146" y="70"/>
                    </a:lnTo>
                    <a:lnTo>
                      <a:pt x="152" y="77"/>
                    </a:lnTo>
                    <a:lnTo>
                      <a:pt x="161" y="85"/>
                    </a:lnTo>
                    <a:lnTo>
                      <a:pt x="169" y="94"/>
                    </a:lnTo>
                    <a:lnTo>
                      <a:pt x="177" y="102"/>
                    </a:lnTo>
                    <a:lnTo>
                      <a:pt x="185" y="111"/>
                    </a:lnTo>
                    <a:lnTo>
                      <a:pt x="193" y="121"/>
                    </a:lnTo>
                    <a:lnTo>
                      <a:pt x="199" y="123"/>
                    </a:lnTo>
                    <a:lnTo>
                      <a:pt x="203" y="126"/>
                    </a:lnTo>
                    <a:lnTo>
                      <a:pt x="209" y="129"/>
                    </a:lnTo>
                    <a:lnTo>
                      <a:pt x="213" y="131"/>
                    </a:lnTo>
                    <a:lnTo>
                      <a:pt x="219" y="133"/>
                    </a:lnTo>
                    <a:lnTo>
                      <a:pt x="224" y="137"/>
                    </a:lnTo>
                    <a:lnTo>
                      <a:pt x="230" y="139"/>
                    </a:lnTo>
                    <a:lnTo>
                      <a:pt x="235" y="143"/>
                    </a:lnTo>
                    <a:lnTo>
                      <a:pt x="241" y="155"/>
                    </a:lnTo>
                    <a:lnTo>
                      <a:pt x="247" y="168"/>
                    </a:lnTo>
                    <a:lnTo>
                      <a:pt x="253" y="182"/>
                    </a:lnTo>
                    <a:lnTo>
                      <a:pt x="258" y="194"/>
                    </a:lnTo>
                    <a:lnTo>
                      <a:pt x="261" y="207"/>
                    </a:lnTo>
                    <a:lnTo>
                      <a:pt x="264" y="220"/>
                    </a:lnTo>
                    <a:lnTo>
                      <a:pt x="268" y="231"/>
                    </a:lnTo>
                    <a:lnTo>
                      <a:pt x="271" y="244"/>
                    </a:lnTo>
                    <a:lnTo>
                      <a:pt x="266" y="259"/>
                    </a:lnTo>
                    <a:lnTo>
                      <a:pt x="262" y="273"/>
                    </a:lnTo>
                    <a:lnTo>
                      <a:pt x="257" y="286"/>
                    </a:lnTo>
                    <a:lnTo>
                      <a:pt x="253" y="301"/>
                    </a:lnTo>
                    <a:close/>
                  </a:path>
                </a:pathLst>
              </a:custGeom>
              <a:solidFill>
                <a:srgbClr val="CCCC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3" name="Freeform 39"/>
              <p:cNvSpPr>
                <a:spLocks/>
              </p:cNvSpPr>
              <p:nvPr/>
            </p:nvSpPr>
            <p:spPr bwMode="auto">
              <a:xfrm>
                <a:off x="441325" y="3278188"/>
                <a:ext cx="207963" cy="228600"/>
              </a:xfrm>
              <a:custGeom>
                <a:avLst/>
                <a:gdLst/>
                <a:ahLst/>
                <a:cxnLst>
                  <a:cxn ang="0">
                    <a:pos x="244" y="275"/>
                  </a:cxn>
                  <a:cxn ang="0">
                    <a:pos x="241" y="249"/>
                  </a:cxn>
                  <a:cxn ang="0">
                    <a:pos x="236" y="225"/>
                  </a:cxn>
                  <a:cxn ang="0">
                    <a:pos x="231" y="208"/>
                  </a:cxn>
                  <a:cxn ang="0">
                    <a:pos x="222" y="191"/>
                  </a:cxn>
                  <a:cxn ang="0">
                    <a:pos x="212" y="174"/>
                  </a:cxn>
                  <a:cxn ang="0">
                    <a:pos x="202" y="161"/>
                  </a:cxn>
                  <a:cxn ang="0">
                    <a:pos x="191" y="151"/>
                  </a:cxn>
                  <a:cxn ang="0">
                    <a:pos x="178" y="144"/>
                  </a:cxn>
                  <a:cxn ang="0">
                    <a:pos x="161" y="137"/>
                  </a:cxn>
                  <a:cxn ang="0">
                    <a:pos x="146" y="133"/>
                  </a:cxn>
                  <a:cxn ang="0">
                    <a:pos x="133" y="131"/>
                  </a:cxn>
                  <a:cxn ang="0">
                    <a:pos x="125" y="126"/>
                  </a:cxn>
                  <a:cxn ang="0">
                    <a:pos x="121" y="118"/>
                  </a:cxn>
                  <a:cxn ang="0">
                    <a:pos x="112" y="113"/>
                  </a:cxn>
                  <a:cxn ang="0">
                    <a:pos x="98" y="109"/>
                  </a:cxn>
                  <a:cxn ang="0">
                    <a:pos x="88" y="102"/>
                  </a:cxn>
                  <a:cxn ang="0">
                    <a:pos x="80" y="92"/>
                  </a:cxn>
                  <a:cxn ang="0">
                    <a:pos x="77" y="79"/>
                  </a:cxn>
                  <a:cxn ang="0">
                    <a:pos x="77" y="65"/>
                  </a:cxn>
                  <a:cxn ang="0">
                    <a:pos x="72" y="56"/>
                  </a:cxn>
                  <a:cxn ang="0">
                    <a:pos x="59" y="55"/>
                  </a:cxn>
                  <a:cxn ang="0">
                    <a:pos x="46" y="55"/>
                  </a:cxn>
                  <a:cxn ang="0">
                    <a:pos x="32" y="59"/>
                  </a:cxn>
                  <a:cxn ang="0">
                    <a:pos x="12" y="54"/>
                  </a:cxn>
                  <a:cxn ang="0">
                    <a:pos x="4" y="39"/>
                  </a:cxn>
                  <a:cxn ang="0">
                    <a:pos x="12" y="27"/>
                  </a:cxn>
                  <a:cxn ang="0">
                    <a:pos x="12" y="11"/>
                  </a:cxn>
                  <a:cxn ang="0">
                    <a:pos x="4" y="0"/>
                  </a:cxn>
                  <a:cxn ang="0">
                    <a:pos x="11" y="0"/>
                  </a:cxn>
                  <a:cxn ang="0">
                    <a:pos x="21" y="0"/>
                  </a:cxn>
                  <a:cxn ang="0">
                    <a:pos x="34" y="1"/>
                  </a:cxn>
                  <a:cxn ang="0">
                    <a:pos x="42" y="1"/>
                  </a:cxn>
                  <a:cxn ang="0">
                    <a:pos x="49" y="2"/>
                  </a:cxn>
                  <a:cxn ang="0">
                    <a:pos x="59" y="9"/>
                  </a:cxn>
                  <a:cxn ang="0">
                    <a:pos x="74" y="23"/>
                  </a:cxn>
                  <a:cxn ang="0">
                    <a:pos x="89" y="35"/>
                  </a:cxn>
                  <a:cxn ang="0">
                    <a:pos x="100" y="44"/>
                  </a:cxn>
                  <a:cxn ang="0">
                    <a:pos x="113" y="50"/>
                  </a:cxn>
                  <a:cxn ang="0">
                    <a:pos x="125" y="56"/>
                  </a:cxn>
                  <a:cxn ang="0">
                    <a:pos x="135" y="63"/>
                  </a:cxn>
                  <a:cxn ang="0">
                    <a:pos x="143" y="71"/>
                  </a:cxn>
                  <a:cxn ang="0">
                    <a:pos x="152" y="78"/>
                  </a:cxn>
                  <a:cxn ang="0">
                    <a:pos x="160" y="86"/>
                  </a:cxn>
                  <a:cxn ang="0">
                    <a:pos x="173" y="99"/>
                  </a:cxn>
                  <a:cxn ang="0">
                    <a:pos x="188" y="115"/>
                  </a:cxn>
                  <a:cxn ang="0">
                    <a:pos x="199" y="126"/>
                  </a:cxn>
                  <a:cxn ang="0">
                    <a:pos x="210" y="132"/>
                  </a:cxn>
                  <a:cxn ang="0">
                    <a:pos x="220" y="138"/>
                  </a:cxn>
                  <a:cxn ang="0">
                    <a:pos x="229" y="144"/>
                  </a:cxn>
                  <a:cxn ang="0">
                    <a:pos x="239" y="159"/>
                  </a:cxn>
                  <a:cxn ang="0">
                    <a:pos x="247" y="181"/>
                  </a:cxn>
                  <a:cxn ang="0">
                    <a:pos x="255" y="204"/>
                  </a:cxn>
                  <a:cxn ang="0">
                    <a:pos x="260" y="225"/>
                  </a:cxn>
                  <a:cxn ang="0">
                    <a:pos x="258" y="250"/>
                  </a:cxn>
                  <a:cxn ang="0">
                    <a:pos x="251" y="276"/>
                  </a:cxn>
                </a:cxnLst>
                <a:rect l="0" t="0" r="r" b="b"/>
                <a:pathLst>
                  <a:path w="263" h="289">
                    <a:moveTo>
                      <a:pt x="247" y="289"/>
                    </a:moveTo>
                    <a:lnTo>
                      <a:pt x="244" y="275"/>
                    </a:lnTo>
                    <a:lnTo>
                      <a:pt x="243" y="261"/>
                    </a:lnTo>
                    <a:lnTo>
                      <a:pt x="241" y="249"/>
                    </a:lnTo>
                    <a:lnTo>
                      <a:pt x="239" y="235"/>
                    </a:lnTo>
                    <a:lnTo>
                      <a:pt x="236" y="225"/>
                    </a:lnTo>
                    <a:lnTo>
                      <a:pt x="233" y="216"/>
                    </a:lnTo>
                    <a:lnTo>
                      <a:pt x="231" y="208"/>
                    </a:lnTo>
                    <a:lnTo>
                      <a:pt x="227" y="199"/>
                    </a:lnTo>
                    <a:lnTo>
                      <a:pt x="222" y="191"/>
                    </a:lnTo>
                    <a:lnTo>
                      <a:pt x="217" y="182"/>
                    </a:lnTo>
                    <a:lnTo>
                      <a:pt x="212" y="174"/>
                    </a:lnTo>
                    <a:lnTo>
                      <a:pt x="206" y="166"/>
                    </a:lnTo>
                    <a:lnTo>
                      <a:pt x="202" y="161"/>
                    </a:lnTo>
                    <a:lnTo>
                      <a:pt x="196" y="155"/>
                    </a:lnTo>
                    <a:lnTo>
                      <a:pt x="191" y="151"/>
                    </a:lnTo>
                    <a:lnTo>
                      <a:pt x="186" y="146"/>
                    </a:lnTo>
                    <a:lnTo>
                      <a:pt x="178" y="144"/>
                    </a:lnTo>
                    <a:lnTo>
                      <a:pt x="169" y="140"/>
                    </a:lnTo>
                    <a:lnTo>
                      <a:pt x="161" y="137"/>
                    </a:lnTo>
                    <a:lnTo>
                      <a:pt x="153" y="135"/>
                    </a:lnTo>
                    <a:lnTo>
                      <a:pt x="146" y="133"/>
                    </a:lnTo>
                    <a:lnTo>
                      <a:pt x="140" y="132"/>
                    </a:lnTo>
                    <a:lnTo>
                      <a:pt x="133" y="131"/>
                    </a:lnTo>
                    <a:lnTo>
                      <a:pt x="126" y="130"/>
                    </a:lnTo>
                    <a:lnTo>
                      <a:pt x="125" y="126"/>
                    </a:lnTo>
                    <a:lnTo>
                      <a:pt x="122" y="122"/>
                    </a:lnTo>
                    <a:lnTo>
                      <a:pt x="121" y="118"/>
                    </a:lnTo>
                    <a:lnTo>
                      <a:pt x="119" y="115"/>
                    </a:lnTo>
                    <a:lnTo>
                      <a:pt x="112" y="113"/>
                    </a:lnTo>
                    <a:lnTo>
                      <a:pt x="105" y="111"/>
                    </a:lnTo>
                    <a:lnTo>
                      <a:pt x="98" y="109"/>
                    </a:lnTo>
                    <a:lnTo>
                      <a:pt x="91" y="107"/>
                    </a:lnTo>
                    <a:lnTo>
                      <a:pt x="88" y="102"/>
                    </a:lnTo>
                    <a:lnTo>
                      <a:pt x="84" y="98"/>
                    </a:lnTo>
                    <a:lnTo>
                      <a:pt x="80" y="92"/>
                    </a:lnTo>
                    <a:lnTo>
                      <a:pt x="76" y="87"/>
                    </a:lnTo>
                    <a:lnTo>
                      <a:pt x="77" y="79"/>
                    </a:lnTo>
                    <a:lnTo>
                      <a:pt x="77" y="72"/>
                    </a:lnTo>
                    <a:lnTo>
                      <a:pt x="77" y="65"/>
                    </a:lnTo>
                    <a:lnTo>
                      <a:pt x="77" y="57"/>
                    </a:lnTo>
                    <a:lnTo>
                      <a:pt x="72" y="56"/>
                    </a:lnTo>
                    <a:lnTo>
                      <a:pt x="66" y="55"/>
                    </a:lnTo>
                    <a:lnTo>
                      <a:pt x="59" y="55"/>
                    </a:lnTo>
                    <a:lnTo>
                      <a:pt x="53" y="54"/>
                    </a:lnTo>
                    <a:lnTo>
                      <a:pt x="46" y="55"/>
                    </a:lnTo>
                    <a:lnTo>
                      <a:pt x="39" y="57"/>
                    </a:lnTo>
                    <a:lnTo>
                      <a:pt x="32" y="59"/>
                    </a:lnTo>
                    <a:lnTo>
                      <a:pt x="27" y="61"/>
                    </a:lnTo>
                    <a:lnTo>
                      <a:pt x="12" y="54"/>
                    </a:lnTo>
                    <a:lnTo>
                      <a:pt x="5" y="46"/>
                    </a:lnTo>
                    <a:lnTo>
                      <a:pt x="4" y="39"/>
                    </a:lnTo>
                    <a:lnTo>
                      <a:pt x="5" y="32"/>
                    </a:lnTo>
                    <a:lnTo>
                      <a:pt x="12" y="27"/>
                    </a:lnTo>
                    <a:lnTo>
                      <a:pt x="15" y="21"/>
                    </a:lnTo>
                    <a:lnTo>
                      <a:pt x="12" y="11"/>
                    </a:lnTo>
                    <a:lnTo>
                      <a:pt x="0" y="0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1" y="0"/>
                    </a:lnTo>
                    <a:lnTo>
                      <a:pt x="14" y="0"/>
                    </a:lnTo>
                    <a:lnTo>
                      <a:pt x="21" y="0"/>
                    </a:lnTo>
                    <a:lnTo>
                      <a:pt x="28" y="1"/>
                    </a:lnTo>
                    <a:lnTo>
                      <a:pt x="34" y="1"/>
                    </a:lnTo>
                    <a:lnTo>
                      <a:pt x="38" y="1"/>
                    </a:lnTo>
                    <a:lnTo>
                      <a:pt x="42" y="1"/>
                    </a:lnTo>
                    <a:lnTo>
                      <a:pt x="45" y="2"/>
                    </a:lnTo>
                    <a:lnTo>
                      <a:pt x="49" y="2"/>
                    </a:lnTo>
                    <a:lnTo>
                      <a:pt x="52" y="3"/>
                    </a:lnTo>
                    <a:lnTo>
                      <a:pt x="59" y="9"/>
                    </a:lnTo>
                    <a:lnTo>
                      <a:pt x="66" y="16"/>
                    </a:lnTo>
                    <a:lnTo>
                      <a:pt x="74" y="23"/>
                    </a:lnTo>
                    <a:lnTo>
                      <a:pt x="83" y="32"/>
                    </a:lnTo>
                    <a:lnTo>
                      <a:pt x="89" y="35"/>
                    </a:lnTo>
                    <a:lnTo>
                      <a:pt x="95" y="40"/>
                    </a:lnTo>
                    <a:lnTo>
                      <a:pt x="100" y="44"/>
                    </a:lnTo>
                    <a:lnTo>
                      <a:pt x="107" y="47"/>
                    </a:lnTo>
                    <a:lnTo>
                      <a:pt x="113" y="50"/>
                    </a:lnTo>
                    <a:lnTo>
                      <a:pt x="119" y="54"/>
                    </a:lnTo>
                    <a:lnTo>
                      <a:pt x="125" y="56"/>
                    </a:lnTo>
                    <a:lnTo>
                      <a:pt x="130" y="60"/>
                    </a:lnTo>
                    <a:lnTo>
                      <a:pt x="135" y="63"/>
                    </a:lnTo>
                    <a:lnTo>
                      <a:pt x="140" y="68"/>
                    </a:lnTo>
                    <a:lnTo>
                      <a:pt x="143" y="71"/>
                    </a:lnTo>
                    <a:lnTo>
                      <a:pt x="148" y="75"/>
                    </a:lnTo>
                    <a:lnTo>
                      <a:pt x="152" y="78"/>
                    </a:lnTo>
                    <a:lnTo>
                      <a:pt x="157" y="83"/>
                    </a:lnTo>
                    <a:lnTo>
                      <a:pt x="160" y="86"/>
                    </a:lnTo>
                    <a:lnTo>
                      <a:pt x="165" y="91"/>
                    </a:lnTo>
                    <a:lnTo>
                      <a:pt x="173" y="99"/>
                    </a:lnTo>
                    <a:lnTo>
                      <a:pt x="180" y="107"/>
                    </a:lnTo>
                    <a:lnTo>
                      <a:pt x="188" y="115"/>
                    </a:lnTo>
                    <a:lnTo>
                      <a:pt x="195" y="123"/>
                    </a:lnTo>
                    <a:lnTo>
                      <a:pt x="199" y="126"/>
                    </a:lnTo>
                    <a:lnTo>
                      <a:pt x="205" y="129"/>
                    </a:lnTo>
                    <a:lnTo>
                      <a:pt x="210" y="132"/>
                    </a:lnTo>
                    <a:lnTo>
                      <a:pt x="214" y="135"/>
                    </a:lnTo>
                    <a:lnTo>
                      <a:pt x="220" y="138"/>
                    </a:lnTo>
                    <a:lnTo>
                      <a:pt x="225" y="141"/>
                    </a:lnTo>
                    <a:lnTo>
                      <a:pt x="229" y="144"/>
                    </a:lnTo>
                    <a:lnTo>
                      <a:pt x="234" y="147"/>
                    </a:lnTo>
                    <a:lnTo>
                      <a:pt x="239" y="159"/>
                    </a:lnTo>
                    <a:lnTo>
                      <a:pt x="243" y="169"/>
                    </a:lnTo>
                    <a:lnTo>
                      <a:pt x="247" y="181"/>
                    </a:lnTo>
                    <a:lnTo>
                      <a:pt x="251" y="193"/>
                    </a:lnTo>
                    <a:lnTo>
                      <a:pt x="255" y="204"/>
                    </a:lnTo>
                    <a:lnTo>
                      <a:pt x="257" y="215"/>
                    </a:lnTo>
                    <a:lnTo>
                      <a:pt x="260" y="225"/>
                    </a:lnTo>
                    <a:lnTo>
                      <a:pt x="263" y="237"/>
                    </a:lnTo>
                    <a:lnTo>
                      <a:pt x="258" y="250"/>
                    </a:lnTo>
                    <a:lnTo>
                      <a:pt x="255" y="262"/>
                    </a:lnTo>
                    <a:lnTo>
                      <a:pt x="251" y="276"/>
                    </a:lnTo>
                    <a:lnTo>
                      <a:pt x="247" y="289"/>
                    </a:lnTo>
                    <a:close/>
                  </a:path>
                </a:pathLst>
              </a:custGeom>
              <a:solidFill>
                <a:srgbClr val="BABA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4" name="Freeform 40"/>
              <p:cNvSpPr>
                <a:spLocks/>
              </p:cNvSpPr>
              <p:nvPr/>
            </p:nvSpPr>
            <p:spPr bwMode="auto">
              <a:xfrm>
                <a:off x="201613" y="3235325"/>
                <a:ext cx="95250" cy="66675"/>
              </a:xfrm>
              <a:custGeom>
                <a:avLst/>
                <a:gdLst/>
                <a:ahLst/>
                <a:cxnLst>
                  <a:cxn ang="0">
                    <a:pos x="0" y="57"/>
                  </a:cxn>
                  <a:cxn ang="0">
                    <a:pos x="4" y="34"/>
                  </a:cxn>
                  <a:cxn ang="0">
                    <a:pos x="16" y="17"/>
                  </a:cxn>
                  <a:cxn ang="0">
                    <a:pos x="32" y="5"/>
                  </a:cxn>
                  <a:cxn ang="0">
                    <a:pos x="53" y="0"/>
                  </a:cxn>
                  <a:cxn ang="0">
                    <a:pos x="72" y="2"/>
                  </a:cxn>
                  <a:cxn ang="0">
                    <a:pos x="92" y="10"/>
                  </a:cxn>
                  <a:cxn ang="0">
                    <a:pos x="108" y="26"/>
                  </a:cxn>
                  <a:cxn ang="0">
                    <a:pos x="118" y="49"/>
                  </a:cxn>
                  <a:cxn ang="0">
                    <a:pos x="83" y="84"/>
                  </a:cxn>
                  <a:cxn ang="0">
                    <a:pos x="0" y="57"/>
                  </a:cxn>
                </a:cxnLst>
                <a:rect l="0" t="0" r="r" b="b"/>
                <a:pathLst>
                  <a:path w="118" h="84">
                    <a:moveTo>
                      <a:pt x="0" y="57"/>
                    </a:moveTo>
                    <a:lnTo>
                      <a:pt x="4" y="34"/>
                    </a:lnTo>
                    <a:lnTo>
                      <a:pt x="16" y="17"/>
                    </a:lnTo>
                    <a:lnTo>
                      <a:pt x="32" y="5"/>
                    </a:lnTo>
                    <a:lnTo>
                      <a:pt x="53" y="0"/>
                    </a:lnTo>
                    <a:lnTo>
                      <a:pt x="72" y="2"/>
                    </a:lnTo>
                    <a:lnTo>
                      <a:pt x="92" y="10"/>
                    </a:lnTo>
                    <a:lnTo>
                      <a:pt x="108" y="26"/>
                    </a:lnTo>
                    <a:lnTo>
                      <a:pt x="118" y="49"/>
                    </a:lnTo>
                    <a:lnTo>
                      <a:pt x="83" y="84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5" name="Freeform 41"/>
              <p:cNvSpPr>
                <a:spLocks/>
              </p:cNvSpPr>
              <p:nvPr/>
            </p:nvSpPr>
            <p:spPr bwMode="auto">
              <a:xfrm>
                <a:off x="203200" y="3235325"/>
                <a:ext cx="90488" cy="65088"/>
              </a:xfrm>
              <a:custGeom>
                <a:avLst/>
                <a:gdLst/>
                <a:ahLst/>
                <a:cxnLst>
                  <a:cxn ang="0">
                    <a:pos x="0" y="56"/>
                  </a:cxn>
                  <a:cxn ang="0">
                    <a:pos x="5" y="33"/>
                  </a:cxn>
                  <a:cxn ang="0">
                    <a:pos x="15" y="16"/>
                  </a:cxn>
                  <a:cxn ang="0">
                    <a:pos x="31" y="4"/>
                  </a:cxn>
                  <a:cxn ang="0">
                    <a:pos x="51" y="0"/>
                  </a:cxn>
                  <a:cxn ang="0">
                    <a:pos x="70" y="2"/>
                  </a:cxn>
                  <a:cxn ang="0">
                    <a:pos x="89" y="11"/>
                  </a:cxn>
                  <a:cxn ang="0">
                    <a:pos x="104" y="27"/>
                  </a:cxn>
                  <a:cxn ang="0">
                    <a:pos x="114" y="50"/>
                  </a:cxn>
                  <a:cxn ang="0">
                    <a:pos x="109" y="54"/>
                  </a:cxn>
                  <a:cxn ang="0">
                    <a:pos x="106" y="59"/>
                  </a:cxn>
                  <a:cxn ang="0">
                    <a:pos x="101" y="62"/>
                  </a:cxn>
                  <a:cxn ang="0">
                    <a:pos x="97" y="65"/>
                  </a:cxn>
                  <a:cxn ang="0">
                    <a:pos x="92" y="69"/>
                  </a:cxn>
                  <a:cxn ang="0">
                    <a:pos x="89" y="72"/>
                  </a:cxn>
                  <a:cxn ang="0">
                    <a:pos x="84" y="77"/>
                  </a:cxn>
                  <a:cxn ang="0">
                    <a:pos x="79" y="80"/>
                  </a:cxn>
                  <a:cxn ang="0">
                    <a:pos x="69" y="77"/>
                  </a:cxn>
                  <a:cxn ang="0">
                    <a:pos x="60" y="75"/>
                  </a:cxn>
                  <a:cxn ang="0">
                    <a:pos x="49" y="71"/>
                  </a:cxn>
                  <a:cxn ang="0">
                    <a:pos x="40" y="68"/>
                  </a:cxn>
                  <a:cxn ang="0">
                    <a:pos x="30" y="65"/>
                  </a:cxn>
                  <a:cxn ang="0">
                    <a:pos x="20" y="62"/>
                  </a:cxn>
                  <a:cxn ang="0">
                    <a:pos x="10" y="60"/>
                  </a:cxn>
                  <a:cxn ang="0">
                    <a:pos x="0" y="56"/>
                  </a:cxn>
                </a:cxnLst>
                <a:rect l="0" t="0" r="r" b="b"/>
                <a:pathLst>
                  <a:path w="114" h="80">
                    <a:moveTo>
                      <a:pt x="0" y="56"/>
                    </a:moveTo>
                    <a:lnTo>
                      <a:pt x="5" y="33"/>
                    </a:lnTo>
                    <a:lnTo>
                      <a:pt x="15" y="16"/>
                    </a:lnTo>
                    <a:lnTo>
                      <a:pt x="31" y="4"/>
                    </a:lnTo>
                    <a:lnTo>
                      <a:pt x="51" y="0"/>
                    </a:lnTo>
                    <a:lnTo>
                      <a:pt x="70" y="2"/>
                    </a:lnTo>
                    <a:lnTo>
                      <a:pt x="89" y="11"/>
                    </a:lnTo>
                    <a:lnTo>
                      <a:pt x="104" y="27"/>
                    </a:lnTo>
                    <a:lnTo>
                      <a:pt x="114" y="50"/>
                    </a:lnTo>
                    <a:lnTo>
                      <a:pt x="109" y="54"/>
                    </a:lnTo>
                    <a:lnTo>
                      <a:pt x="106" y="59"/>
                    </a:lnTo>
                    <a:lnTo>
                      <a:pt x="101" y="62"/>
                    </a:lnTo>
                    <a:lnTo>
                      <a:pt x="97" y="65"/>
                    </a:lnTo>
                    <a:lnTo>
                      <a:pt x="92" y="69"/>
                    </a:lnTo>
                    <a:lnTo>
                      <a:pt x="89" y="72"/>
                    </a:lnTo>
                    <a:lnTo>
                      <a:pt x="84" y="77"/>
                    </a:lnTo>
                    <a:lnTo>
                      <a:pt x="79" y="80"/>
                    </a:lnTo>
                    <a:lnTo>
                      <a:pt x="69" y="77"/>
                    </a:lnTo>
                    <a:lnTo>
                      <a:pt x="60" y="75"/>
                    </a:lnTo>
                    <a:lnTo>
                      <a:pt x="49" y="71"/>
                    </a:lnTo>
                    <a:lnTo>
                      <a:pt x="40" y="68"/>
                    </a:lnTo>
                    <a:lnTo>
                      <a:pt x="30" y="65"/>
                    </a:lnTo>
                    <a:lnTo>
                      <a:pt x="20" y="62"/>
                    </a:lnTo>
                    <a:lnTo>
                      <a:pt x="10" y="6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F7F7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6" name="Freeform 42"/>
              <p:cNvSpPr>
                <a:spLocks/>
              </p:cNvSpPr>
              <p:nvPr/>
            </p:nvSpPr>
            <p:spPr bwMode="auto">
              <a:xfrm>
                <a:off x="206375" y="3236913"/>
                <a:ext cx="87313" cy="61913"/>
              </a:xfrm>
              <a:custGeom>
                <a:avLst/>
                <a:gdLst/>
                <a:ahLst/>
                <a:cxnLst>
                  <a:cxn ang="0">
                    <a:pos x="0" y="55"/>
                  </a:cxn>
                  <a:cxn ang="0">
                    <a:pos x="4" y="32"/>
                  </a:cxn>
                  <a:cxn ang="0">
                    <a:pos x="15" y="15"/>
                  </a:cxn>
                  <a:cxn ang="0">
                    <a:pos x="30" y="5"/>
                  </a:cxn>
                  <a:cxn ang="0">
                    <a:pos x="49" y="0"/>
                  </a:cxn>
                  <a:cxn ang="0">
                    <a:pos x="67" y="2"/>
                  </a:cxn>
                  <a:cxn ang="0">
                    <a:pos x="84" y="11"/>
                  </a:cxn>
                  <a:cxn ang="0">
                    <a:pos x="99" y="29"/>
                  </a:cxn>
                  <a:cxn ang="0">
                    <a:pos x="110" y="52"/>
                  </a:cxn>
                  <a:cxn ang="0">
                    <a:pos x="105" y="55"/>
                  </a:cxn>
                  <a:cxn ang="0">
                    <a:pos x="102" y="58"/>
                  </a:cxn>
                  <a:cxn ang="0">
                    <a:pos x="97" y="61"/>
                  </a:cxn>
                  <a:cxn ang="0">
                    <a:pos x="93" y="64"/>
                  </a:cxn>
                  <a:cxn ang="0">
                    <a:pos x="88" y="68"/>
                  </a:cxn>
                  <a:cxn ang="0">
                    <a:pos x="84" y="71"/>
                  </a:cxn>
                  <a:cxn ang="0">
                    <a:pos x="80" y="74"/>
                  </a:cxn>
                  <a:cxn ang="0">
                    <a:pos x="75" y="77"/>
                  </a:cxn>
                  <a:cxn ang="0">
                    <a:pos x="66" y="75"/>
                  </a:cxn>
                  <a:cxn ang="0">
                    <a:pos x="57" y="71"/>
                  </a:cxn>
                  <a:cxn ang="0">
                    <a:pos x="46" y="69"/>
                  </a:cxn>
                  <a:cxn ang="0">
                    <a:pos x="37" y="66"/>
                  </a:cxn>
                  <a:cxn ang="0">
                    <a:pos x="28" y="63"/>
                  </a:cxn>
                  <a:cxn ang="0">
                    <a:pos x="19" y="61"/>
                  </a:cxn>
                  <a:cxn ang="0">
                    <a:pos x="10" y="58"/>
                  </a:cxn>
                  <a:cxn ang="0">
                    <a:pos x="0" y="55"/>
                  </a:cxn>
                </a:cxnLst>
                <a:rect l="0" t="0" r="r" b="b"/>
                <a:pathLst>
                  <a:path w="110" h="77">
                    <a:moveTo>
                      <a:pt x="0" y="55"/>
                    </a:moveTo>
                    <a:lnTo>
                      <a:pt x="4" y="32"/>
                    </a:lnTo>
                    <a:lnTo>
                      <a:pt x="15" y="15"/>
                    </a:lnTo>
                    <a:lnTo>
                      <a:pt x="30" y="5"/>
                    </a:lnTo>
                    <a:lnTo>
                      <a:pt x="49" y="0"/>
                    </a:lnTo>
                    <a:lnTo>
                      <a:pt x="67" y="2"/>
                    </a:lnTo>
                    <a:lnTo>
                      <a:pt x="84" y="11"/>
                    </a:lnTo>
                    <a:lnTo>
                      <a:pt x="99" y="29"/>
                    </a:lnTo>
                    <a:lnTo>
                      <a:pt x="110" y="52"/>
                    </a:lnTo>
                    <a:lnTo>
                      <a:pt x="105" y="55"/>
                    </a:lnTo>
                    <a:lnTo>
                      <a:pt x="102" y="58"/>
                    </a:lnTo>
                    <a:lnTo>
                      <a:pt x="97" y="61"/>
                    </a:lnTo>
                    <a:lnTo>
                      <a:pt x="93" y="64"/>
                    </a:lnTo>
                    <a:lnTo>
                      <a:pt x="88" y="68"/>
                    </a:lnTo>
                    <a:lnTo>
                      <a:pt x="84" y="71"/>
                    </a:lnTo>
                    <a:lnTo>
                      <a:pt x="80" y="74"/>
                    </a:lnTo>
                    <a:lnTo>
                      <a:pt x="75" y="77"/>
                    </a:lnTo>
                    <a:lnTo>
                      <a:pt x="66" y="75"/>
                    </a:lnTo>
                    <a:lnTo>
                      <a:pt x="57" y="71"/>
                    </a:lnTo>
                    <a:lnTo>
                      <a:pt x="46" y="69"/>
                    </a:lnTo>
                    <a:lnTo>
                      <a:pt x="37" y="66"/>
                    </a:lnTo>
                    <a:lnTo>
                      <a:pt x="28" y="63"/>
                    </a:lnTo>
                    <a:lnTo>
                      <a:pt x="19" y="61"/>
                    </a:lnTo>
                    <a:lnTo>
                      <a:pt x="10" y="58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EDED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7" name="Freeform 43"/>
              <p:cNvSpPr>
                <a:spLocks/>
              </p:cNvSpPr>
              <p:nvPr/>
            </p:nvSpPr>
            <p:spPr bwMode="auto">
              <a:xfrm>
                <a:off x="207963" y="3238500"/>
                <a:ext cx="84138" cy="57150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3" y="30"/>
                  </a:cxn>
                  <a:cxn ang="0">
                    <a:pos x="14" y="14"/>
                  </a:cxn>
                  <a:cxn ang="0">
                    <a:pos x="28" y="4"/>
                  </a:cxn>
                  <a:cxn ang="0">
                    <a:pos x="46" y="0"/>
                  </a:cxn>
                  <a:cxn ang="0">
                    <a:pos x="64" y="4"/>
                  </a:cxn>
                  <a:cxn ang="0">
                    <a:pos x="80" y="13"/>
                  </a:cxn>
                  <a:cxn ang="0">
                    <a:pos x="95" y="29"/>
                  </a:cxn>
                  <a:cxn ang="0">
                    <a:pos x="104" y="52"/>
                  </a:cxn>
                  <a:cxn ang="0">
                    <a:pos x="96" y="58"/>
                  </a:cxn>
                  <a:cxn ang="0">
                    <a:pos x="87" y="63"/>
                  </a:cxn>
                  <a:cxn ang="0">
                    <a:pos x="79" y="68"/>
                  </a:cxn>
                  <a:cxn ang="0">
                    <a:pos x="71" y="74"/>
                  </a:cxn>
                  <a:cxn ang="0">
                    <a:pos x="62" y="72"/>
                  </a:cxn>
                  <a:cxn ang="0">
                    <a:pos x="53" y="68"/>
                  </a:cxn>
                  <a:cxn ang="0">
                    <a:pos x="45" y="66"/>
                  </a:cxn>
                  <a:cxn ang="0">
                    <a:pos x="35" y="63"/>
                  </a:cxn>
                  <a:cxn ang="0">
                    <a:pos x="26" y="61"/>
                  </a:cxn>
                  <a:cxn ang="0">
                    <a:pos x="18" y="58"/>
                  </a:cxn>
                  <a:cxn ang="0">
                    <a:pos x="9" y="55"/>
                  </a:cxn>
                  <a:cxn ang="0">
                    <a:pos x="0" y="53"/>
                  </a:cxn>
                </a:cxnLst>
                <a:rect l="0" t="0" r="r" b="b"/>
                <a:pathLst>
                  <a:path w="104" h="74">
                    <a:moveTo>
                      <a:pt x="0" y="53"/>
                    </a:moveTo>
                    <a:lnTo>
                      <a:pt x="3" y="30"/>
                    </a:lnTo>
                    <a:lnTo>
                      <a:pt x="14" y="14"/>
                    </a:lnTo>
                    <a:lnTo>
                      <a:pt x="28" y="4"/>
                    </a:lnTo>
                    <a:lnTo>
                      <a:pt x="46" y="0"/>
                    </a:lnTo>
                    <a:lnTo>
                      <a:pt x="64" y="4"/>
                    </a:lnTo>
                    <a:lnTo>
                      <a:pt x="80" y="13"/>
                    </a:lnTo>
                    <a:lnTo>
                      <a:pt x="95" y="29"/>
                    </a:lnTo>
                    <a:lnTo>
                      <a:pt x="104" y="52"/>
                    </a:lnTo>
                    <a:lnTo>
                      <a:pt x="96" y="58"/>
                    </a:lnTo>
                    <a:lnTo>
                      <a:pt x="87" y="63"/>
                    </a:lnTo>
                    <a:lnTo>
                      <a:pt x="79" y="68"/>
                    </a:lnTo>
                    <a:lnTo>
                      <a:pt x="71" y="74"/>
                    </a:lnTo>
                    <a:lnTo>
                      <a:pt x="62" y="72"/>
                    </a:lnTo>
                    <a:lnTo>
                      <a:pt x="53" y="68"/>
                    </a:lnTo>
                    <a:lnTo>
                      <a:pt x="45" y="66"/>
                    </a:lnTo>
                    <a:lnTo>
                      <a:pt x="35" y="63"/>
                    </a:lnTo>
                    <a:lnTo>
                      <a:pt x="26" y="61"/>
                    </a:lnTo>
                    <a:lnTo>
                      <a:pt x="18" y="58"/>
                    </a:lnTo>
                    <a:lnTo>
                      <a:pt x="9" y="55"/>
                    </a:ln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E5E5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8" name="Freeform 44"/>
              <p:cNvSpPr>
                <a:spLocks/>
              </p:cNvSpPr>
              <p:nvPr/>
            </p:nvSpPr>
            <p:spPr bwMode="auto">
              <a:xfrm>
                <a:off x="211138" y="3238500"/>
                <a:ext cx="79375" cy="57150"/>
              </a:xfrm>
              <a:custGeom>
                <a:avLst/>
                <a:gdLst/>
                <a:ahLst/>
                <a:cxnLst>
                  <a:cxn ang="0">
                    <a:pos x="0" y="52"/>
                  </a:cxn>
                  <a:cxn ang="0">
                    <a:pos x="4" y="30"/>
                  </a:cxn>
                  <a:cxn ang="0">
                    <a:pos x="13" y="14"/>
                  </a:cxn>
                  <a:cxn ang="0">
                    <a:pos x="27" y="4"/>
                  </a:cxn>
                  <a:cxn ang="0">
                    <a:pos x="44" y="0"/>
                  </a:cxn>
                  <a:cxn ang="0">
                    <a:pos x="60" y="4"/>
                  </a:cxn>
                  <a:cxn ang="0">
                    <a:pos x="77" y="13"/>
                  </a:cxn>
                  <a:cxn ang="0">
                    <a:pos x="91" y="30"/>
                  </a:cxn>
                  <a:cxn ang="0">
                    <a:pos x="100" y="53"/>
                  </a:cxn>
                  <a:cxn ang="0">
                    <a:pos x="92" y="58"/>
                  </a:cxn>
                  <a:cxn ang="0">
                    <a:pos x="83" y="62"/>
                  </a:cxn>
                  <a:cxn ang="0">
                    <a:pos x="75" y="67"/>
                  </a:cxn>
                  <a:cxn ang="0">
                    <a:pos x="67" y="72"/>
                  </a:cxn>
                  <a:cxn ang="0">
                    <a:pos x="59" y="69"/>
                  </a:cxn>
                  <a:cxn ang="0">
                    <a:pos x="50" y="67"/>
                  </a:cxn>
                  <a:cxn ang="0">
                    <a:pos x="42" y="65"/>
                  </a:cxn>
                  <a:cxn ang="0">
                    <a:pos x="34" y="61"/>
                  </a:cxn>
                  <a:cxn ang="0">
                    <a:pos x="24" y="59"/>
                  </a:cxn>
                  <a:cxn ang="0">
                    <a:pos x="16" y="57"/>
                  </a:cxn>
                  <a:cxn ang="0">
                    <a:pos x="8" y="54"/>
                  </a:cxn>
                  <a:cxn ang="0">
                    <a:pos x="0" y="52"/>
                  </a:cxn>
                </a:cxnLst>
                <a:rect l="0" t="0" r="r" b="b"/>
                <a:pathLst>
                  <a:path w="100" h="72">
                    <a:moveTo>
                      <a:pt x="0" y="52"/>
                    </a:moveTo>
                    <a:lnTo>
                      <a:pt x="4" y="30"/>
                    </a:lnTo>
                    <a:lnTo>
                      <a:pt x="13" y="14"/>
                    </a:lnTo>
                    <a:lnTo>
                      <a:pt x="27" y="4"/>
                    </a:lnTo>
                    <a:lnTo>
                      <a:pt x="44" y="0"/>
                    </a:lnTo>
                    <a:lnTo>
                      <a:pt x="60" y="4"/>
                    </a:lnTo>
                    <a:lnTo>
                      <a:pt x="77" y="13"/>
                    </a:lnTo>
                    <a:lnTo>
                      <a:pt x="91" y="30"/>
                    </a:lnTo>
                    <a:lnTo>
                      <a:pt x="100" y="53"/>
                    </a:lnTo>
                    <a:lnTo>
                      <a:pt x="92" y="58"/>
                    </a:lnTo>
                    <a:lnTo>
                      <a:pt x="83" y="62"/>
                    </a:lnTo>
                    <a:lnTo>
                      <a:pt x="75" y="67"/>
                    </a:lnTo>
                    <a:lnTo>
                      <a:pt x="67" y="72"/>
                    </a:lnTo>
                    <a:lnTo>
                      <a:pt x="59" y="69"/>
                    </a:lnTo>
                    <a:lnTo>
                      <a:pt x="50" y="67"/>
                    </a:lnTo>
                    <a:lnTo>
                      <a:pt x="42" y="65"/>
                    </a:lnTo>
                    <a:lnTo>
                      <a:pt x="34" y="61"/>
                    </a:lnTo>
                    <a:lnTo>
                      <a:pt x="24" y="59"/>
                    </a:lnTo>
                    <a:lnTo>
                      <a:pt x="16" y="57"/>
                    </a:lnTo>
                    <a:lnTo>
                      <a:pt x="8" y="54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DDDD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9" name="Freeform 45"/>
              <p:cNvSpPr>
                <a:spLocks/>
              </p:cNvSpPr>
              <p:nvPr/>
            </p:nvSpPr>
            <p:spPr bwMode="auto">
              <a:xfrm>
                <a:off x="212725" y="3240088"/>
                <a:ext cx="76200" cy="53975"/>
              </a:xfrm>
              <a:custGeom>
                <a:avLst/>
                <a:gdLst/>
                <a:ahLst/>
                <a:cxnLst>
                  <a:cxn ang="0">
                    <a:pos x="0" y="51"/>
                  </a:cxn>
                  <a:cxn ang="0">
                    <a:pos x="4" y="29"/>
                  </a:cxn>
                  <a:cxn ang="0">
                    <a:pos x="13" y="13"/>
                  </a:cxn>
                  <a:cxn ang="0">
                    <a:pos x="26" y="4"/>
                  </a:cxn>
                  <a:cxn ang="0">
                    <a:pos x="42" y="0"/>
                  </a:cxn>
                  <a:cxn ang="0">
                    <a:pos x="58" y="4"/>
                  </a:cxn>
                  <a:cxn ang="0">
                    <a:pos x="73" y="14"/>
                  </a:cxn>
                  <a:cxn ang="0">
                    <a:pos x="87" y="30"/>
                  </a:cxn>
                  <a:cxn ang="0">
                    <a:pos x="96" y="53"/>
                  </a:cxn>
                  <a:cxn ang="0">
                    <a:pos x="88" y="58"/>
                  </a:cxn>
                  <a:cxn ang="0">
                    <a:pos x="80" y="61"/>
                  </a:cxn>
                  <a:cxn ang="0">
                    <a:pos x="72" y="65"/>
                  </a:cxn>
                  <a:cxn ang="0">
                    <a:pos x="63" y="68"/>
                  </a:cxn>
                  <a:cxn ang="0">
                    <a:pos x="55" y="66"/>
                  </a:cxn>
                  <a:cxn ang="0">
                    <a:pos x="48" y="64"/>
                  </a:cxn>
                  <a:cxn ang="0">
                    <a:pos x="40" y="61"/>
                  </a:cxn>
                  <a:cxn ang="0">
                    <a:pos x="32" y="59"/>
                  </a:cxn>
                  <a:cxn ang="0">
                    <a:pos x="23" y="58"/>
                  </a:cxn>
                  <a:cxn ang="0">
                    <a:pos x="17" y="56"/>
                  </a:cxn>
                  <a:cxn ang="0">
                    <a:pos x="9" y="53"/>
                  </a:cxn>
                  <a:cxn ang="0">
                    <a:pos x="0" y="51"/>
                  </a:cxn>
                </a:cxnLst>
                <a:rect l="0" t="0" r="r" b="b"/>
                <a:pathLst>
                  <a:path w="96" h="68">
                    <a:moveTo>
                      <a:pt x="0" y="51"/>
                    </a:moveTo>
                    <a:lnTo>
                      <a:pt x="4" y="29"/>
                    </a:lnTo>
                    <a:lnTo>
                      <a:pt x="13" y="13"/>
                    </a:lnTo>
                    <a:lnTo>
                      <a:pt x="26" y="4"/>
                    </a:lnTo>
                    <a:lnTo>
                      <a:pt x="42" y="0"/>
                    </a:lnTo>
                    <a:lnTo>
                      <a:pt x="58" y="4"/>
                    </a:lnTo>
                    <a:lnTo>
                      <a:pt x="73" y="14"/>
                    </a:lnTo>
                    <a:lnTo>
                      <a:pt x="87" y="30"/>
                    </a:lnTo>
                    <a:lnTo>
                      <a:pt x="96" y="53"/>
                    </a:lnTo>
                    <a:lnTo>
                      <a:pt x="88" y="58"/>
                    </a:lnTo>
                    <a:lnTo>
                      <a:pt x="80" y="61"/>
                    </a:lnTo>
                    <a:lnTo>
                      <a:pt x="72" y="65"/>
                    </a:lnTo>
                    <a:lnTo>
                      <a:pt x="63" y="68"/>
                    </a:lnTo>
                    <a:lnTo>
                      <a:pt x="55" y="66"/>
                    </a:lnTo>
                    <a:lnTo>
                      <a:pt x="48" y="64"/>
                    </a:lnTo>
                    <a:lnTo>
                      <a:pt x="40" y="61"/>
                    </a:lnTo>
                    <a:lnTo>
                      <a:pt x="32" y="59"/>
                    </a:lnTo>
                    <a:lnTo>
                      <a:pt x="23" y="58"/>
                    </a:lnTo>
                    <a:lnTo>
                      <a:pt x="17" y="56"/>
                    </a:lnTo>
                    <a:lnTo>
                      <a:pt x="9" y="53"/>
                    </a:lnTo>
                    <a:lnTo>
                      <a:pt x="0" y="51"/>
                    </a:lnTo>
                    <a:close/>
                  </a:path>
                </a:pathLst>
              </a:custGeom>
              <a:solidFill>
                <a:srgbClr val="D3D3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0" name="Freeform 46"/>
              <p:cNvSpPr>
                <a:spLocks/>
              </p:cNvSpPr>
              <p:nvPr/>
            </p:nvSpPr>
            <p:spPr bwMode="auto">
              <a:xfrm>
                <a:off x="1588" y="3279775"/>
                <a:ext cx="709613" cy="630238"/>
              </a:xfrm>
              <a:custGeom>
                <a:avLst/>
                <a:gdLst/>
                <a:ahLst/>
                <a:cxnLst>
                  <a:cxn ang="0">
                    <a:pos x="68" y="66"/>
                  </a:cxn>
                  <a:cxn ang="0">
                    <a:pos x="31" y="129"/>
                  </a:cxn>
                  <a:cxn ang="0">
                    <a:pos x="0" y="204"/>
                  </a:cxn>
                  <a:cxn ang="0">
                    <a:pos x="99" y="209"/>
                  </a:cxn>
                  <a:cxn ang="0">
                    <a:pos x="105" y="256"/>
                  </a:cxn>
                  <a:cxn ang="0">
                    <a:pos x="134" y="267"/>
                  </a:cxn>
                  <a:cxn ang="0">
                    <a:pos x="179" y="264"/>
                  </a:cxn>
                  <a:cxn ang="0">
                    <a:pos x="233" y="276"/>
                  </a:cxn>
                  <a:cxn ang="0">
                    <a:pos x="290" y="233"/>
                  </a:cxn>
                  <a:cxn ang="0">
                    <a:pos x="305" y="280"/>
                  </a:cxn>
                  <a:cxn ang="0">
                    <a:pos x="274" y="298"/>
                  </a:cxn>
                  <a:cxn ang="0">
                    <a:pos x="227" y="276"/>
                  </a:cxn>
                  <a:cxn ang="0">
                    <a:pos x="191" y="410"/>
                  </a:cxn>
                  <a:cxn ang="0">
                    <a:pos x="302" y="367"/>
                  </a:cxn>
                  <a:cxn ang="0">
                    <a:pos x="400" y="363"/>
                  </a:cxn>
                  <a:cxn ang="0">
                    <a:pos x="423" y="404"/>
                  </a:cxn>
                  <a:cxn ang="0">
                    <a:pos x="449" y="415"/>
                  </a:cxn>
                  <a:cxn ang="0">
                    <a:pos x="540" y="348"/>
                  </a:cxn>
                  <a:cxn ang="0">
                    <a:pos x="535" y="427"/>
                  </a:cxn>
                  <a:cxn ang="0">
                    <a:pos x="528" y="458"/>
                  </a:cxn>
                  <a:cxn ang="0">
                    <a:pos x="584" y="483"/>
                  </a:cxn>
                  <a:cxn ang="0">
                    <a:pos x="521" y="449"/>
                  </a:cxn>
                  <a:cxn ang="0">
                    <a:pos x="482" y="473"/>
                  </a:cxn>
                  <a:cxn ang="0">
                    <a:pos x="509" y="557"/>
                  </a:cxn>
                  <a:cxn ang="0">
                    <a:pos x="475" y="601"/>
                  </a:cxn>
                  <a:cxn ang="0">
                    <a:pos x="453" y="642"/>
                  </a:cxn>
                  <a:cxn ang="0">
                    <a:pos x="441" y="682"/>
                  </a:cxn>
                  <a:cxn ang="0">
                    <a:pos x="442" y="732"/>
                  </a:cxn>
                  <a:cxn ang="0">
                    <a:pos x="494" y="767"/>
                  </a:cxn>
                  <a:cxn ang="0">
                    <a:pos x="570" y="766"/>
                  </a:cxn>
                  <a:cxn ang="0">
                    <a:pos x="605" y="794"/>
                  </a:cxn>
                  <a:cxn ang="0">
                    <a:pos x="668" y="790"/>
                  </a:cxn>
                  <a:cxn ang="0">
                    <a:pos x="719" y="767"/>
                  </a:cxn>
                  <a:cxn ang="0">
                    <a:pos x="772" y="719"/>
                  </a:cxn>
                  <a:cxn ang="0">
                    <a:pos x="812" y="661"/>
                  </a:cxn>
                  <a:cxn ang="0">
                    <a:pos x="843" y="602"/>
                  </a:cxn>
                  <a:cxn ang="0">
                    <a:pos x="879" y="510"/>
                  </a:cxn>
                  <a:cxn ang="0">
                    <a:pos x="895" y="407"/>
                  </a:cxn>
                  <a:cxn ang="0">
                    <a:pos x="879" y="296"/>
                  </a:cxn>
                  <a:cxn ang="0">
                    <a:pos x="829" y="270"/>
                  </a:cxn>
                  <a:cxn ang="0">
                    <a:pos x="818" y="303"/>
                  </a:cxn>
                  <a:cxn ang="0">
                    <a:pos x="782" y="358"/>
                  </a:cxn>
                  <a:cxn ang="0">
                    <a:pos x="780" y="301"/>
                  </a:cxn>
                  <a:cxn ang="0">
                    <a:pos x="726" y="321"/>
                  </a:cxn>
                  <a:cxn ang="0">
                    <a:pos x="744" y="303"/>
                  </a:cxn>
                  <a:cxn ang="0">
                    <a:pos x="772" y="229"/>
                  </a:cxn>
                  <a:cxn ang="0">
                    <a:pos x="715" y="181"/>
                  </a:cxn>
                  <a:cxn ang="0">
                    <a:pos x="636" y="145"/>
                  </a:cxn>
                  <a:cxn ang="0">
                    <a:pos x="575" y="180"/>
                  </a:cxn>
                  <a:cxn ang="0">
                    <a:pos x="586" y="129"/>
                  </a:cxn>
                  <a:cxn ang="0">
                    <a:pos x="538" y="109"/>
                  </a:cxn>
                  <a:cxn ang="0">
                    <a:pos x="522" y="40"/>
                  </a:cxn>
                  <a:cxn ang="0">
                    <a:pos x="493" y="0"/>
                  </a:cxn>
                  <a:cxn ang="0">
                    <a:pos x="425" y="30"/>
                  </a:cxn>
                  <a:cxn ang="0">
                    <a:pos x="399" y="142"/>
                  </a:cxn>
                  <a:cxn ang="0">
                    <a:pos x="345" y="66"/>
                  </a:cxn>
                  <a:cxn ang="0">
                    <a:pos x="338" y="33"/>
                  </a:cxn>
                  <a:cxn ang="0">
                    <a:pos x="295" y="23"/>
                  </a:cxn>
                  <a:cxn ang="0">
                    <a:pos x="265" y="20"/>
                  </a:cxn>
                  <a:cxn ang="0">
                    <a:pos x="240" y="25"/>
                  </a:cxn>
                  <a:cxn ang="0">
                    <a:pos x="212" y="44"/>
                  </a:cxn>
                  <a:cxn ang="0">
                    <a:pos x="174" y="81"/>
                  </a:cxn>
                  <a:cxn ang="0">
                    <a:pos x="103" y="28"/>
                  </a:cxn>
                </a:cxnLst>
                <a:rect l="0" t="0" r="r" b="b"/>
                <a:pathLst>
                  <a:path w="895" h="794">
                    <a:moveTo>
                      <a:pt x="103" y="28"/>
                    </a:moveTo>
                    <a:lnTo>
                      <a:pt x="83" y="46"/>
                    </a:lnTo>
                    <a:lnTo>
                      <a:pt x="68" y="66"/>
                    </a:lnTo>
                    <a:lnTo>
                      <a:pt x="54" y="85"/>
                    </a:lnTo>
                    <a:lnTo>
                      <a:pt x="42" y="106"/>
                    </a:lnTo>
                    <a:lnTo>
                      <a:pt x="31" y="129"/>
                    </a:lnTo>
                    <a:lnTo>
                      <a:pt x="21" y="152"/>
                    </a:lnTo>
                    <a:lnTo>
                      <a:pt x="11" y="177"/>
                    </a:lnTo>
                    <a:lnTo>
                      <a:pt x="0" y="204"/>
                    </a:lnTo>
                    <a:lnTo>
                      <a:pt x="50" y="233"/>
                    </a:lnTo>
                    <a:lnTo>
                      <a:pt x="79" y="223"/>
                    </a:lnTo>
                    <a:lnTo>
                      <a:pt x="99" y="209"/>
                    </a:lnTo>
                    <a:lnTo>
                      <a:pt x="97" y="227"/>
                    </a:lnTo>
                    <a:lnTo>
                      <a:pt x="99" y="243"/>
                    </a:lnTo>
                    <a:lnTo>
                      <a:pt x="105" y="256"/>
                    </a:lnTo>
                    <a:lnTo>
                      <a:pt x="113" y="265"/>
                    </a:lnTo>
                    <a:lnTo>
                      <a:pt x="123" y="268"/>
                    </a:lnTo>
                    <a:lnTo>
                      <a:pt x="134" y="267"/>
                    </a:lnTo>
                    <a:lnTo>
                      <a:pt x="144" y="258"/>
                    </a:lnTo>
                    <a:lnTo>
                      <a:pt x="153" y="241"/>
                    </a:lnTo>
                    <a:lnTo>
                      <a:pt x="179" y="264"/>
                    </a:lnTo>
                    <a:lnTo>
                      <a:pt x="200" y="276"/>
                    </a:lnTo>
                    <a:lnTo>
                      <a:pt x="217" y="281"/>
                    </a:lnTo>
                    <a:lnTo>
                      <a:pt x="233" y="276"/>
                    </a:lnTo>
                    <a:lnTo>
                      <a:pt x="250" y="266"/>
                    </a:lnTo>
                    <a:lnTo>
                      <a:pt x="269" y="251"/>
                    </a:lnTo>
                    <a:lnTo>
                      <a:pt x="290" y="233"/>
                    </a:lnTo>
                    <a:lnTo>
                      <a:pt x="318" y="211"/>
                    </a:lnTo>
                    <a:lnTo>
                      <a:pt x="322" y="258"/>
                    </a:lnTo>
                    <a:lnTo>
                      <a:pt x="305" y="280"/>
                    </a:lnTo>
                    <a:lnTo>
                      <a:pt x="294" y="294"/>
                    </a:lnTo>
                    <a:lnTo>
                      <a:pt x="284" y="299"/>
                    </a:lnTo>
                    <a:lnTo>
                      <a:pt x="274" y="298"/>
                    </a:lnTo>
                    <a:lnTo>
                      <a:pt x="263" y="294"/>
                    </a:lnTo>
                    <a:lnTo>
                      <a:pt x="248" y="286"/>
                    </a:lnTo>
                    <a:lnTo>
                      <a:pt x="227" y="276"/>
                    </a:lnTo>
                    <a:lnTo>
                      <a:pt x="201" y="266"/>
                    </a:lnTo>
                    <a:lnTo>
                      <a:pt x="167" y="362"/>
                    </a:lnTo>
                    <a:lnTo>
                      <a:pt x="191" y="410"/>
                    </a:lnTo>
                    <a:lnTo>
                      <a:pt x="233" y="440"/>
                    </a:lnTo>
                    <a:lnTo>
                      <a:pt x="309" y="397"/>
                    </a:lnTo>
                    <a:lnTo>
                      <a:pt x="302" y="367"/>
                    </a:lnTo>
                    <a:lnTo>
                      <a:pt x="334" y="369"/>
                    </a:lnTo>
                    <a:lnTo>
                      <a:pt x="379" y="346"/>
                    </a:lnTo>
                    <a:lnTo>
                      <a:pt x="400" y="363"/>
                    </a:lnTo>
                    <a:lnTo>
                      <a:pt x="413" y="379"/>
                    </a:lnTo>
                    <a:lnTo>
                      <a:pt x="418" y="393"/>
                    </a:lnTo>
                    <a:lnTo>
                      <a:pt x="423" y="404"/>
                    </a:lnTo>
                    <a:lnTo>
                      <a:pt x="426" y="412"/>
                    </a:lnTo>
                    <a:lnTo>
                      <a:pt x="434" y="416"/>
                    </a:lnTo>
                    <a:lnTo>
                      <a:pt x="449" y="415"/>
                    </a:lnTo>
                    <a:lnTo>
                      <a:pt x="474" y="408"/>
                    </a:lnTo>
                    <a:lnTo>
                      <a:pt x="501" y="332"/>
                    </a:lnTo>
                    <a:lnTo>
                      <a:pt x="540" y="348"/>
                    </a:lnTo>
                    <a:lnTo>
                      <a:pt x="560" y="399"/>
                    </a:lnTo>
                    <a:lnTo>
                      <a:pt x="546" y="415"/>
                    </a:lnTo>
                    <a:lnTo>
                      <a:pt x="535" y="427"/>
                    </a:lnTo>
                    <a:lnTo>
                      <a:pt x="527" y="439"/>
                    </a:lnTo>
                    <a:lnTo>
                      <a:pt x="524" y="449"/>
                    </a:lnTo>
                    <a:lnTo>
                      <a:pt x="528" y="458"/>
                    </a:lnTo>
                    <a:lnTo>
                      <a:pt x="538" y="466"/>
                    </a:lnTo>
                    <a:lnTo>
                      <a:pt x="556" y="475"/>
                    </a:lnTo>
                    <a:lnTo>
                      <a:pt x="584" y="483"/>
                    </a:lnTo>
                    <a:lnTo>
                      <a:pt x="590" y="500"/>
                    </a:lnTo>
                    <a:lnTo>
                      <a:pt x="542" y="475"/>
                    </a:lnTo>
                    <a:lnTo>
                      <a:pt x="521" y="449"/>
                    </a:lnTo>
                    <a:lnTo>
                      <a:pt x="504" y="443"/>
                    </a:lnTo>
                    <a:lnTo>
                      <a:pt x="490" y="453"/>
                    </a:lnTo>
                    <a:lnTo>
                      <a:pt x="482" y="473"/>
                    </a:lnTo>
                    <a:lnTo>
                      <a:pt x="480" y="501"/>
                    </a:lnTo>
                    <a:lnTo>
                      <a:pt x="490" y="530"/>
                    </a:lnTo>
                    <a:lnTo>
                      <a:pt x="509" y="557"/>
                    </a:lnTo>
                    <a:lnTo>
                      <a:pt x="542" y="578"/>
                    </a:lnTo>
                    <a:lnTo>
                      <a:pt x="509" y="598"/>
                    </a:lnTo>
                    <a:lnTo>
                      <a:pt x="475" y="601"/>
                    </a:lnTo>
                    <a:lnTo>
                      <a:pt x="457" y="612"/>
                    </a:lnTo>
                    <a:lnTo>
                      <a:pt x="452" y="625"/>
                    </a:lnTo>
                    <a:lnTo>
                      <a:pt x="453" y="642"/>
                    </a:lnTo>
                    <a:lnTo>
                      <a:pt x="455" y="658"/>
                    </a:lnTo>
                    <a:lnTo>
                      <a:pt x="453" y="671"/>
                    </a:lnTo>
                    <a:lnTo>
                      <a:pt x="441" y="682"/>
                    </a:lnTo>
                    <a:lnTo>
                      <a:pt x="416" y="685"/>
                    </a:lnTo>
                    <a:lnTo>
                      <a:pt x="429" y="712"/>
                    </a:lnTo>
                    <a:lnTo>
                      <a:pt x="442" y="732"/>
                    </a:lnTo>
                    <a:lnTo>
                      <a:pt x="459" y="749"/>
                    </a:lnTo>
                    <a:lnTo>
                      <a:pt x="476" y="760"/>
                    </a:lnTo>
                    <a:lnTo>
                      <a:pt x="494" y="767"/>
                    </a:lnTo>
                    <a:lnTo>
                      <a:pt x="517" y="769"/>
                    </a:lnTo>
                    <a:lnTo>
                      <a:pt x="542" y="769"/>
                    </a:lnTo>
                    <a:lnTo>
                      <a:pt x="570" y="766"/>
                    </a:lnTo>
                    <a:lnTo>
                      <a:pt x="598" y="731"/>
                    </a:lnTo>
                    <a:lnTo>
                      <a:pt x="565" y="794"/>
                    </a:lnTo>
                    <a:lnTo>
                      <a:pt x="605" y="794"/>
                    </a:lnTo>
                    <a:lnTo>
                      <a:pt x="628" y="794"/>
                    </a:lnTo>
                    <a:lnTo>
                      <a:pt x="650" y="794"/>
                    </a:lnTo>
                    <a:lnTo>
                      <a:pt x="668" y="790"/>
                    </a:lnTo>
                    <a:lnTo>
                      <a:pt x="687" y="785"/>
                    </a:lnTo>
                    <a:lnTo>
                      <a:pt x="703" y="777"/>
                    </a:lnTo>
                    <a:lnTo>
                      <a:pt x="719" y="767"/>
                    </a:lnTo>
                    <a:lnTo>
                      <a:pt x="734" y="752"/>
                    </a:lnTo>
                    <a:lnTo>
                      <a:pt x="750" y="732"/>
                    </a:lnTo>
                    <a:lnTo>
                      <a:pt x="772" y="719"/>
                    </a:lnTo>
                    <a:lnTo>
                      <a:pt x="789" y="701"/>
                    </a:lnTo>
                    <a:lnTo>
                      <a:pt x="802" y="682"/>
                    </a:lnTo>
                    <a:lnTo>
                      <a:pt x="812" y="661"/>
                    </a:lnTo>
                    <a:lnTo>
                      <a:pt x="821" y="640"/>
                    </a:lnTo>
                    <a:lnTo>
                      <a:pt x="831" y="620"/>
                    </a:lnTo>
                    <a:lnTo>
                      <a:pt x="843" y="602"/>
                    </a:lnTo>
                    <a:lnTo>
                      <a:pt x="859" y="587"/>
                    </a:lnTo>
                    <a:lnTo>
                      <a:pt x="870" y="547"/>
                    </a:lnTo>
                    <a:lnTo>
                      <a:pt x="879" y="510"/>
                    </a:lnTo>
                    <a:lnTo>
                      <a:pt x="887" y="476"/>
                    </a:lnTo>
                    <a:lnTo>
                      <a:pt x="893" y="441"/>
                    </a:lnTo>
                    <a:lnTo>
                      <a:pt x="895" y="407"/>
                    </a:lnTo>
                    <a:lnTo>
                      <a:pt x="895" y="372"/>
                    </a:lnTo>
                    <a:lnTo>
                      <a:pt x="889" y="335"/>
                    </a:lnTo>
                    <a:lnTo>
                      <a:pt x="879" y="296"/>
                    </a:lnTo>
                    <a:lnTo>
                      <a:pt x="833" y="219"/>
                    </a:lnTo>
                    <a:lnTo>
                      <a:pt x="831" y="249"/>
                    </a:lnTo>
                    <a:lnTo>
                      <a:pt x="829" y="270"/>
                    </a:lnTo>
                    <a:lnTo>
                      <a:pt x="827" y="283"/>
                    </a:lnTo>
                    <a:lnTo>
                      <a:pt x="824" y="294"/>
                    </a:lnTo>
                    <a:lnTo>
                      <a:pt x="818" y="303"/>
                    </a:lnTo>
                    <a:lnTo>
                      <a:pt x="810" y="316"/>
                    </a:lnTo>
                    <a:lnTo>
                      <a:pt x="798" y="333"/>
                    </a:lnTo>
                    <a:lnTo>
                      <a:pt x="782" y="358"/>
                    </a:lnTo>
                    <a:lnTo>
                      <a:pt x="789" y="336"/>
                    </a:lnTo>
                    <a:lnTo>
                      <a:pt x="795" y="299"/>
                    </a:lnTo>
                    <a:lnTo>
                      <a:pt x="780" y="301"/>
                    </a:lnTo>
                    <a:lnTo>
                      <a:pt x="760" y="306"/>
                    </a:lnTo>
                    <a:lnTo>
                      <a:pt x="741" y="314"/>
                    </a:lnTo>
                    <a:lnTo>
                      <a:pt x="726" y="321"/>
                    </a:lnTo>
                    <a:lnTo>
                      <a:pt x="719" y="324"/>
                    </a:lnTo>
                    <a:lnTo>
                      <a:pt x="723" y="319"/>
                    </a:lnTo>
                    <a:lnTo>
                      <a:pt x="744" y="303"/>
                    </a:lnTo>
                    <a:lnTo>
                      <a:pt x="786" y="274"/>
                    </a:lnTo>
                    <a:lnTo>
                      <a:pt x="782" y="250"/>
                    </a:lnTo>
                    <a:lnTo>
                      <a:pt x="772" y="229"/>
                    </a:lnTo>
                    <a:lnTo>
                      <a:pt x="757" y="211"/>
                    </a:lnTo>
                    <a:lnTo>
                      <a:pt x="737" y="195"/>
                    </a:lnTo>
                    <a:lnTo>
                      <a:pt x="715" y="181"/>
                    </a:lnTo>
                    <a:lnTo>
                      <a:pt x="690" y="168"/>
                    </a:lnTo>
                    <a:lnTo>
                      <a:pt x="664" y="157"/>
                    </a:lnTo>
                    <a:lnTo>
                      <a:pt x="636" y="145"/>
                    </a:lnTo>
                    <a:lnTo>
                      <a:pt x="595" y="197"/>
                    </a:lnTo>
                    <a:lnTo>
                      <a:pt x="569" y="209"/>
                    </a:lnTo>
                    <a:lnTo>
                      <a:pt x="575" y="180"/>
                    </a:lnTo>
                    <a:lnTo>
                      <a:pt x="581" y="157"/>
                    </a:lnTo>
                    <a:lnTo>
                      <a:pt x="585" y="141"/>
                    </a:lnTo>
                    <a:lnTo>
                      <a:pt x="586" y="129"/>
                    </a:lnTo>
                    <a:lnTo>
                      <a:pt x="580" y="121"/>
                    </a:lnTo>
                    <a:lnTo>
                      <a:pt x="565" y="115"/>
                    </a:lnTo>
                    <a:lnTo>
                      <a:pt x="538" y="109"/>
                    </a:lnTo>
                    <a:lnTo>
                      <a:pt x="498" y="104"/>
                    </a:lnTo>
                    <a:lnTo>
                      <a:pt x="544" y="61"/>
                    </a:lnTo>
                    <a:lnTo>
                      <a:pt x="522" y="40"/>
                    </a:lnTo>
                    <a:lnTo>
                      <a:pt x="509" y="22"/>
                    </a:lnTo>
                    <a:lnTo>
                      <a:pt x="501" y="8"/>
                    </a:lnTo>
                    <a:lnTo>
                      <a:pt x="493" y="0"/>
                    </a:lnTo>
                    <a:lnTo>
                      <a:pt x="482" y="0"/>
                    </a:lnTo>
                    <a:lnTo>
                      <a:pt x="460" y="9"/>
                    </a:lnTo>
                    <a:lnTo>
                      <a:pt x="425" y="30"/>
                    </a:lnTo>
                    <a:lnTo>
                      <a:pt x="371" y="65"/>
                    </a:lnTo>
                    <a:lnTo>
                      <a:pt x="393" y="116"/>
                    </a:lnTo>
                    <a:lnTo>
                      <a:pt x="399" y="142"/>
                    </a:lnTo>
                    <a:lnTo>
                      <a:pt x="383" y="122"/>
                    </a:lnTo>
                    <a:lnTo>
                      <a:pt x="370" y="88"/>
                    </a:lnTo>
                    <a:lnTo>
                      <a:pt x="345" y="66"/>
                    </a:lnTo>
                    <a:lnTo>
                      <a:pt x="376" y="43"/>
                    </a:lnTo>
                    <a:lnTo>
                      <a:pt x="355" y="38"/>
                    </a:lnTo>
                    <a:lnTo>
                      <a:pt x="338" y="33"/>
                    </a:lnTo>
                    <a:lnTo>
                      <a:pt x="322" y="30"/>
                    </a:lnTo>
                    <a:lnTo>
                      <a:pt x="308" y="27"/>
                    </a:lnTo>
                    <a:lnTo>
                      <a:pt x="295" y="23"/>
                    </a:lnTo>
                    <a:lnTo>
                      <a:pt x="285" y="22"/>
                    </a:lnTo>
                    <a:lnTo>
                      <a:pt x="274" y="21"/>
                    </a:lnTo>
                    <a:lnTo>
                      <a:pt x="265" y="20"/>
                    </a:lnTo>
                    <a:lnTo>
                      <a:pt x="257" y="21"/>
                    </a:lnTo>
                    <a:lnTo>
                      <a:pt x="249" y="23"/>
                    </a:lnTo>
                    <a:lnTo>
                      <a:pt x="240" y="25"/>
                    </a:lnTo>
                    <a:lnTo>
                      <a:pt x="232" y="30"/>
                    </a:lnTo>
                    <a:lnTo>
                      <a:pt x="223" y="37"/>
                    </a:lnTo>
                    <a:lnTo>
                      <a:pt x="212" y="44"/>
                    </a:lnTo>
                    <a:lnTo>
                      <a:pt x="201" y="53"/>
                    </a:lnTo>
                    <a:lnTo>
                      <a:pt x="188" y="65"/>
                    </a:lnTo>
                    <a:lnTo>
                      <a:pt x="174" y="81"/>
                    </a:lnTo>
                    <a:lnTo>
                      <a:pt x="219" y="43"/>
                    </a:lnTo>
                    <a:lnTo>
                      <a:pt x="163" y="20"/>
                    </a:lnTo>
                    <a:lnTo>
                      <a:pt x="103" y="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1" name="Freeform 47"/>
              <p:cNvSpPr>
                <a:spLocks/>
              </p:cNvSpPr>
              <p:nvPr/>
            </p:nvSpPr>
            <p:spPr bwMode="auto">
              <a:xfrm>
                <a:off x="6350" y="3286125"/>
                <a:ext cx="700088" cy="617538"/>
              </a:xfrm>
              <a:custGeom>
                <a:avLst/>
                <a:gdLst/>
                <a:ahLst/>
                <a:cxnLst>
                  <a:cxn ang="0">
                    <a:pos x="29" y="120"/>
                  </a:cxn>
                  <a:cxn ang="0">
                    <a:pos x="18" y="203"/>
                  </a:cxn>
                  <a:cxn ang="0">
                    <a:pos x="55" y="217"/>
                  </a:cxn>
                  <a:cxn ang="0">
                    <a:pos x="91" y="199"/>
                  </a:cxn>
                  <a:cxn ang="0">
                    <a:pos x="120" y="252"/>
                  </a:cxn>
                  <a:cxn ang="0">
                    <a:pos x="213" y="263"/>
                  </a:cxn>
                  <a:cxn ang="0">
                    <a:pos x="316" y="207"/>
                  </a:cxn>
                  <a:cxn ang="0">
                    <a:pos x="286" y="291"/>
                  </a:cxn>
                  <a:cxn ang="0">
                    <a:pos x="195" y="273"/>
                  </a:cxn>
                  <a:cxn ang="0">
                    <a:pos x="168" y="340"/>
                  </a:cxn>
                  <a:cxn ang="0">
                    <a:pos x="194" y="403"/>
                  </a:cxn>
                  <a:cxn ang="0">
                    <a:pos x="225" y="426"/>
                  </a:cxn>
                  <a:cxn ang="0">
                    <a:pos x="273" y="403"/>
                  </a:cxn>
                  <a:cxn ang="0">
                    <a:pos x="294" y="365"/>
                  </a:cxn>
                  <a:cxn ang="0">
                    <a:pos x="316" y="356"/>
                  </a:cxn>
                  <a:cxn ang="0">
                    <a:pos x="346" y="347"/>
                  </a:cxn>
                  <a:cxn ang="0">
                    <a:pos x="394" y="349"/>
                  </a:cxn>
                  <a:cxn ang="0">
                    <a:pos x="445" y="401"/>
                  </a:cxn>
                  <a:cxn ang="0">
                    <a:pos x="496" y="319"/>
                  </a:cxn>
                  <a:cxn ang="0">
                    <a:pos x="529" y="332"/>
                  </a:cxn>
                  <a:cxn ang="0">
                    <a:pos x="548" y="403"/>
                  </a:cxn>
                  <a:cxn ang="0">
                    <a:pos x="561" y="462"/>
                  </a:cxn>
                  <a:cxn ang="0">
                    <a:pos x="584" y="495"/>
                  </a:cxn>
                  <a:cxn ang="0">
                    <a:pos x="546" y="478"/>
                  </a:cxn>
                  <a:cxn ang="0">
                    <a:pos x="480" y="496"/>
                  </a:cxn>
                  <a:cxn ang="0">
                    <a:pos x="518" y="585"/>
                  </a:cxn>
                  <a:cxn ang="0">
                    <a:pos x="456" y="650"/>
                  </a:cxn>
                  <a:cxn ang="0">
                    <a:pos x="457" y="737"/>
                  </a:cxn>
                  <a:cxn ang="0">
                    <a:pos x="569" y="741"/>
                  </a:cxn>
                  <a:cxn ang="0">
                    <a:pos x="576" y="751"/>
                  </a:cxn>
                  <a:cxn ang="0">
                    <a:pos x="621" y="777"/>
                  </a:cxn>
                  <a:cxn ang="0">
                    <a:pos x="711" y="742"/>
                  </a:cxn>
                  <a:cxn ang="0">
                    <a:pos x="793" y="643"/>
                  </a:cxn>
                  <a:cxn ang="0">
                    <a:pos x="852" y="531"/>
                  </a:cxn>
                  <a:cxn ang="0">
                    <a:pos x="879" y="411"/>
                  </a:cxn>
                  <a:cxn ang="0">
                    <a:pos x="855" y="263"/>
                  </a:cxn>
                  <a:cxn ang="0">
                    <a:pos x="826" y="249"/>
                  </a:cxn>
                  <a:cxn ang="0">
                    <a:pos x="789" y="335"/>
                  </a:cxn>
                  <a:cxn ang="0">
                    <a:pos x="776" y="326"/>
                  </a:cxn>
                  <a:cxn ang="0">
                    <a:pos x="726" y="315"/>
                  </a:cxn>
                  <a:cxn ang="0">
                    <a:pos x="762" y="244"/>
                  </a:cxn>
                  <a:cxn ang="0">
                    <a:pos x="659" y="158"/>
                  </a:cxn>
                  <a:cxn ang="0">
                    <a:pos x="607" y="181"/>
                  </a:cxn>
                  <a:cxn ang="0">
                    <a:pos x="578" y="203"/>
                  </a:cxn>
                  <a:cxn ang="0">
                    <a:pos x="562" y="176"/>
                  </a:cxn>
                  <a:cxn ang="0">
                    <a:pos x="524" y="106"/>
                  </a:cxn>
                  <a:cxn ang="0">
                    <a:pos x="511" y="72"/>
                  </a:cxn>
                  <a:cxn ang="0">
                    <a:pos x="485" y="7"/>
                  </a:cxn>
                  <a:cxn ang="0">
                    <a:pos x="375" y="72"/>
                  </a:cxn>
                  <a:cxn ang="0">
                    <a:pos x="395" y="133"/>
                  </a:cxn>
                  <a:cxn ang="0">
                    <a:pos x="371" y="110"/>
                  </a:cxn>
                  <a:cxn ang="0">
                    <a:pos x="346" y="77"/>
                  </a:cxn>
                  <a:cxn ang="0">
                    <a:pos x="326" y="61"/>
                  </a:cxn>
                  <a:cxn ang="0">
                    <a:pos x="355" y="40"/>
                  </a:cxn>
                  <a:cxn ang="0">
                    <a:pos x="282" y="22"/>
                  </a:cxn>
                  <a:cxn ang="0">
                    <a:pos x="228" y="28"/>
                  </a:cxn>
                  <a:cxn ang="0">
                    <a:pos x="172" y="68"/>
                  </a:cxn>
                  <a:cxn ang="0">
                    <a:pos x="179" y="59"/>
                  </a:cxn>
                  <a:cxn ang="0">
                    <a:pos x="199" y="35"/>
                  </a:cxn>
                  <a:cxn ang="0">
                    <a:pos x="162" y="19"/>
                  </a:cxn>
                  <a:cxn ang="0">
                    <a:pos x="120" y="22"/>
                  </a:cxn>
                </a:cxnLst>
                <a:rect l="0" t="0" r="r" b="b"/>
                <a:pathLst>
                  <a:path w="882" h="777">
                    <a:moveTo>
                      <a:pt x="99" y="25"/>
                    </a:moveTo>
                    <a:lnTo>
                      <a:pt x="81" y="44"/>
                    </a:lnTo>
                    <a:lnTo>
                      <a:pt x="65" y="62"/>
                    </a:lnTo>
                    <a:lnTo>
                      <a:pt x="51" y="81"/>
                    </a:lnTo>
                    <a:lnTo>
                      <a:pt x="39" y="99"/>
                    </a:lnTo>
                    <a:lnTo>
                      <a:pt x="29" y="120"/>
                    </a:lnTo>
                    <a:lnTo>
                      <a:pt x="20" y="142"/>
                    </a:lnTo>
                    <a:lnTo>
                      <a:pt x="10" y="166"/>
                    </a:lnTo>
                    <a:lnTo>
                      <a:pt x="0" y="192"/>
                    </a:lnTo>
                    <a:lnTo>
                      <a:pt x="6" y="196"/>
                    </a:lnTo>
                    <a:lnTo>
                      <a:pt x="13" y="199"/>
                    </a:lnTo>
                    <a:lnTo>
                      <a:pt x="18" y="203"/>
                    </a:lnTo>
                    <a:lnTo>
                      <a:pt x="24" y="206"/>
                    </a:lnTo>
                    <a:lnTo>
                      <a:pt x="30" y="210"/>
                    </a:lnTo>
                    <a:lnTo>
                      <a:pt x="37" y="213"/>
                    </a:lnTo>
                    <a:lnTo>
                      <a:pt x="43" y="217"/>
                    </a:lnTo>
                    <a:lnTo>
                      <a:pt x="50" y="220"/>
                    </a:lnTo>
                    <a:lnTo>
                      <a:pt x="55" y="217"/>
                    </a:lnTo>
                    <a:lnTo>
                      <a:pt x="62" y="213"/>
                    </a:lnTo>
                    <a:lnTo>
                      <a:pt x="69" y="210"/>
                    </a:lnTo>
                    <a:lnTo>
                      <a:pt x="75" y="207"/>
                    </a:lnTo>
                    <a:lnTo>
                      <a:pt x="81" y="205"/>
                    </a:lnTo>
                    <a:lnTo>
                      <a:pt x="85" y="202"/>
                    </a:lnTo>
                    <a:lnTo>
                      <a:pt x="91" y="199"/>
                    </a:lnTo>
                    <a:lnTo>
                      <a:pt x="96" y="197"/>
                    </a:lnTo>
                    <a:lnTo>
                      <a:pt x="93" y="214"/>
                    </a:lnTo>
                    <a:lnTo>
                      <a:pt x="96" y="229"/>
                    </a:lnTo>
                    <a:lnTo>
                      <a:pt x="101" y="242"/>
                    </a:lnTo>
                    <a:lnTo>
                      <a:pt x="109" y="249"/>
                    </a:lnTo>
                    <a:lnTo>
                      <a:pt x="120" y="252"/>
                    </a:lnTo>
                    <a:lnTo>
                      <a:pt x="130" y="250"/>
                    </a:lnTo>
                    <a:lnTo>
                      <a:pt x="141" y="240"/>
                    </a:lnTo>
                    <a:lnTo>
                      <a:pt x="150" y="222"/>
                    </a:lnTo>
                    <a:lnTo>
                      <a:pt x="175" y="245"/>
                    </a:lnTo>
                    <a:lnTo>
                      <a:pt x="196" y="259"/>
                    </a:lnTo>
                    <a:lnTo>
                      <a:pt x="213" y="263"/>
                    </a:lnTo>
                    <a:lnTo>
                      <a:pt x="229" y="259"/>
                    </a:lnTo>
                    <a:lnTo>
                      <a:pt x="245" y="249"/>
                    </a:lnTo>
                    <a:lnTo>
                      <a:pt x="264" y="233"/>
                    </a:lnTo>
                    <a:lnTo>
                      <a:pt x="286" y="214"/>
                    </a:lnTo>
                    <a:lnTo>
                      <a:pt x="313" y="192"/>
                    </a:lnTo>
                    <a:lnTo>
                      <a:pt x="316" y="207"/>
                    </a:lnTo>
                    <a:lnTo>
                      <a:pt x="319" y="221"/>
                    </a:lnTo>
                    <a:lnTo>
                      <a:pt x="321" y="235"/>
                    </a:lnTo>
                    <a:lnTo>
                      <a:pt x="324" y="249"/>
                    </a:lnTo>
                    <a:lnTo>
                      <a:pt x="309" y="271"/>
                    </a:lnTo>
                    <a:lnTo>
                      <a:pt x="296" y="285"/>
                    </a:lnTo>
                    <a:lnTo>
                      <a:pt x="286" y="291"/>
                    </a:lnTo>
                    <a:lnTo>
                      <a:pt x="274" y="291"/>
                    </a:lnTo>
                    <a:lnTo>
                      <a:pt x="263" y="288"/>
                    </a:lnTo>
                    <a:lnTo>
                      <a:pt x="246" y="280"/>
                    </a:lnTo>
                    <a:lnTo>
                      <a:pt x="226" y="271"/>
                    </a:lnTo>
                    <a:lnTo>
                      <a:pt x="199" y="262"/>
                    </a:lnTo>
                    <a:lnTo>
                      <a:pt x="195" y="273"/>
                    </a:lnTo>
                    <a:lnTo>
                      <a:pt x="190" y="285"/>
                    </a:lnTo>
                    <a:lnTo>
                      <a:pt x="185" y="296"/>
                    </a:lnTo>
                    <a:lnTo>
                      <a:pt x="182" y="306"/>
                    </a:lnTo>
                    <a:lnTo>
                      <a:pt x="177" y="318"/>
                    </a:lnTo>
                    <a:lnTo>
                      <a:pt x="173" y="329"/>
                    </a:lnTo>
                    <a:lnTo>
                      <a:pt x="168" y="340"/>
                    </a:lnTo>
                    <a:lnTo>
                      <a:pt x="164" y="351"/>
                    </a:lnTo>
                    <a:lnTo>
                      <a:pt x="169" y="363"/>
                    </a:lnTo>
                    <a:lnTo>
                      <a:pt x="176" y="376"/>
                    </a:lnTo>
                    <a:lnTo>
                      <a:pt x="182" y="387"/>
                    </a:lnTo>
                    <a:lnTo>
                      <a:pt x="188" y="400"/>
                    </a:lnTo>
                    <a:lnTo>
                      <a:pt x="194" y="403"/>
                    </a:lnTo>
                    <a:lnTo>
                      <a:pt x="198" y="408"/>
                    </a:lnTo>
                    <a:lnTo>
                      <a:pt x="204" y="411"/>
                    </a:lnTo>
                    <a:lnTo>
                      <a:pt x="208" y="415"/>
                    </a:lnTo>
                    <a:lnTo>
                      <a:pt x="214" y="418"/>
                    </a:lnTo>
                    <a:lnTo>
                      <a:pt x="219" y="422"/>
                    </a:lnTo>
                    <a:lnTo>
                      <a:pt x="225" y="426"/>
                    </a:lnTo>
                    <a:lnTo>
                      <a:pt x="229" y="430"/>
                    </a:lnTo>
                    <a:lnTo>
                      <a:pt x="238" y="424"/>
                    </a:lnTo>
                    <a:lnTo>
                      <a:pt x="248" y="419"/>
                    </a:lnTo>
                    <a:lnTo>
                      <a:pt x="256" y="414"/>
                    </a:lnTo>
                    <a:lnTo>
                      <a:pt x="265" y="409"/>
                    </a:lnTo>
                    <a:lnTo>
                      <a:pt x="273" y="403"/>
                    </a:lnTo>
                    <a:lnTo>
                      <a:pt x="282" y="399"/>
                    </a:lnTo>
                    <a:lnTo>
                      <a:pt x="290" y="393"/>
                    </a:lnTo>
                    <a:lnTo>
                      <a:pt x="299" y="388"/>
                    </a:lnTo>
                    <a:lnTo>
                      <a:pt x="297" y="380"/>
                    </a:lnTo>
                    <a:lnTo>
                      <a:pt x="296" y="373"/>
                    </a:lnTo>
                    <a:lnTo>
                      <a:pt x="294" y="365"/>
                    </a:lnTo>
                    <a:lnTo>
                      <a:pt x="291" y="357"/>
                    </a:lnTo>
                    <a:lnTo>
                      <a:pt x="296" y="357"/>
                    </a:lnTo>
                    <a:lnTo>
                      <a:pt x="301" y="356"/>
                    </a:lnTo>
                    <a:lnTo>
                      <a:pt x="305" y="356"/>
                    </a:lnTo>
                    <a:lnTo>
                      <a:pt x="311" y="356"/>
                    </a:lnTo>
                    <a:lnTo>
                      <a:pt x="316" y="356"/>
                    </a:lnTo>
                    <a:lnTo>
                      <a:pt x="320" y="356"/>
                    </a:lnTo>
                    <a:lnTo>
                      <a:pt x="325" y="356"/>
                    </a:lnTo>
                    <a:lnTo>
                      <a:pt x="329" y="356"/>
                    </a:lnTo>
                    <a:lnTo>
                      <a:pt x="335" y="353"/>
                    </a:lnTo>
                    <a:lnTo>
                      <a:pt x="340" y="350"/>
                    </a:lnTo>
                    <a:lnTo>
                      <a:pt x="346" y="347"/>
                    </a:lnTo>
                    <a:lnTo>
                      <a:pt x="351" y="343"/>
                    </a:lnTo>
                    <a:lnTo>
                      <a:pt x="357" y="341"/>
                    </a:lnTo>
                    <a:lnTo>
                      <a:pt x="363" y="338"/>
                    </a:lnTo>
                    <a:lnTo>
                      <a:pt x="367" y="335"/>
                    </a:lnTo>
                    <a:lnTo>
                      <a:pt x="373" y="332"/>
                    </a:lnTo>
                    <a:lnTo>
                      <a:pt x="394" y="349"/>
                    </a:lnTo>
                    <a:lnTo>
                      <a:pt x="407" y="364"/>
                    </a:lnTo>
                    <a:lnTo>
                      <a:pt x="413" y="379"/>
                    </a:lnTo>
                    <a:lnTo>
                      <a:pt x="418" y="391"/>
                    </a:lnTo>
                    <a:lnTo>
                      <a:pt x="422" y="399"/>
                    </a:lnTo>
                    <a:lnTo>
                      <a:pt x="430" y="402"/>
                    </a:lnTo>
                    <a:lnTo>
                      <a:pt x="445" y="401"/>
                    </a:lnTo>
                    <a:lnTo>
                      <a:pt x="469" y="394"/>
                    </a:lnTo>
                    <a:lnTo>
                      <a:pt x="474" y="374"/>
                    </a:lnTo>
                    <a:lnTo>
                      <a:pt x="480" y="356"/>
                    </a:lnTo>
                    <a:lnTo>
                      <a:pt x="485" y="336"/>
                    </a:lnTo>
                    <a:lnTo>
                      <a:pt x="491" y="317"/>
                    </a:lnTo>
                    <a:lnTo>
                      <a:pt x="496" y="319"/>
                    </a:lnTo>
                    <a:lnTo>
                      <a:pt x="502" y="321"/>
                    </a:lnTo>
                    <a:lnTo>
                      <a:pt x="508" y="324"/>
                    </a:lnTo>
                    <a:lnTo>
                      <a:pt x="512" y="325"/>
                    </a:lnTo>
                    <a:lnTo>
                      <a:pt x="518" y="327"/>
                    </a:lnTo>
                    <a:lnTo>
                      <a:pt x="524" y="329"/>
                    </a:lnTo>
                    <a:lnTo>
                      <a:pt x="529" y="332"/>
                    </a:lnTo>
                    <a:lnTo>
                      <a:pt x="534" y="334"/>
                    </a:lnTo>
                    <a:lnTo>
                      <a:pt x="541" y="347"/>
                    </a:lnTo>
                    <a:lnTo>
                      <a:pt x="548" y="361"/>
                    </a:lnTo>
                    <a:lnTo>
                      <a:pt x="555" y="374"/>
                    </a:lnTo>
                    <a:lnTo>
                      <a:pt x="562" y="387"/>
                    </a:lnTo>
                    <a:lnTo>
                      <a:pt x="548" y="403"/>
                    </a:lnTo>
                    <a:lnTo>
                      <a:pt x="538" y="417"/>
                    </a:lnTo>
                    <a:lnTo>
                      <a:pt x="531" y="430"/>
                    </a:lnTo>
                    <a:lnTo>
                      <a:pt x="529" y="439"/>
                    </a:lnTo>
                    <a:lnTo>
                      <a:pt x="532" y="448"/>
                    </a:lnTo>
                    <a:lnTo>
                      <a:pt x="542" y="455"/>
                    </a:lnTo>
                    <a:lnTo>
                      <a:pt x="561" y="462"/>
                    </a:lnTo>
                    <a:lnTo>
                      <a:pt x="587" y="467"/>
                    </a:lnTo>
                    <a:lnTo>
                      <a:pt x="589" y="475"/>
                    </a:lnTo>
                    <a:lnTo>
                      <a:pt x="589" y="482"/>
                    </a:lnTo>
                    <a:lnTo>
                      <a:pt x="589" y="490"/>
                    </a:lnTo>
                    <a:lnTo>
                      <a:pt x="590" y="498"/>
                    </a:lnTo>
                    <a:lnTo>
                      <a:pt x="584" y="495"/>
                    </a:lnTo>
                    <a:lnTo>
                      <a:pt x="578" y="492"/>
                    </a:lnTo>
                    <a:lnTo>
                      <a:pt x="571" y="490"/>
                    </a:lnTo>
                    <a:lnTo>
                      <a:pt x="565" y="486"/>
                    </a:lnTo>
                    <a:lnTo>
                      <a:pt x="559" y="484"/>
                    </a:lnTo>
                    <a:lnTo>
                      <a:pt x="553" y="482"/>
                    </a:lnTo>
                    <a:lnTo>
                      <a:pt x="546" y="478"/>
                    </a:lnTo>
                    <a:lnTo>
                      <a:pt x="540" y="476"/>
                    </a:lnTo>
                    <a:lnTo>
                      <a:pt x="521" y="449"/>
                    </a:lnTo>
                    <a:lnTo>
                      <a:pt x="502" y="444"/>
                    </a:lnTo>
                    <a:lnTo>
                      <a:pt x="488" y="452"/>
                    </a:lnTo>
                    <a:lnTo>
                      <a:pt x="481" y="470"/>
                    </a:lnTo>
                    <a:lnTo>
                      <a:pt x="480" y="496"/>
                    </a:lnTo>
                    <a:lnTo>
                      <a:pt x="489" y="524"/>
                    </a:lnTo>
                    <a:lnTo>
                      <a:pt x="509" y="549"/>
                    </a:lnTo>
                    <a:lnTo>
                      <a:pt x="541" y="569"/>
                    </a:lnTo>
                    <a:lnTo>
                      <a:pt x="533" y="575"/>
                    </a:lnTo>
                    <a:lnTo>
                      <a:pt x="526" y="579"/>
                    </a:lnTo>
                    <a:lnTo>
                      <a:pt x="518" y="585"/>
                    </a:lnTo>
                    <a:lnTo>
                      <a:pt x="510" y="591"/>
                    </a:lnTo>
                    <a:lnTo>
                      <a:pt x="476" y="594"/>
                    </a:lnTo>
                    <a:lnTo>
                      <a:pt x="458" y="605"/>
                    </a:lnTo>
                    <a:lnTo>
                      <a:pt x="454" y="617"/>
                    </a:lnTo>
                    <a:lnTo>
                      <a:pt x="454" y="634"/>
                    </a:lnTo>
                    <a:lnTo>
                      <a:pt x="456" y="650"/>
                    </a:lnTo>
                    <a:lnTo>
                      <a:pt x="455" y="662"/>
                    </a:lnTo>
                    <a:lnTo>
                      <a:pt x="443" y="673"/>
                    </a:lnTo>
                    <a:lnTo>
                      <a:pt x="418" y="676"/>
                    </a:lnTo>
                    <a:lnTo>
                      <a:pt x="431" y="703"/>
                    </a:lnTo>
                    <a:lnTo>
                      <a:pt x="443" y="722"/>
                    </a:lnTo>
                    <a:lnTo>
                      <a:pt x="457" y="737"/>
                    </a:lnTo>
                    <a:lnTo>
                      <a:pt x="473" y="748"/>
                    </a:lnTo>
                    <a:lnTo>
                      <a:pt x="491" y="753"/>
                    </a:lnTo>
                    <a:lnTo>
                      <a:pt x="510" y="756"/>
                    </a:lnTo>
                    <a:lnTo>
                      <a:pt x="534" y="754"/>
                    </a:lnTo>
                    <a:lnTo>
                      <a:pt x="562" y="751"/>
                    </a:lnTo>
                    <a:lnTo>
                      <a:pt x="569" y="741"/>
                    </a:lnTo>
                    <a:lnTo>
                      <a:pt x="576" y="730"/>
                    </a:lnTo>
                    <a:lnTo>
                      <a:pt x="583" y="720"/>
                    </a:lnTo>
                    <a:lnTo>
                      <a:pt x="590" y="711"/>
                    </a:lnTo>
                    <a:lnTo>
                      <a:pt x="585" y="723"/>
                    </a:lnTo>
                    <a:lnTo>
                      <a:pt x="580" y="737"/>
                    </a:lnTo>
                    <a:lnTo>
                      <a:pt x="576" y="751"/>
                    </a:lnTo>
                    <a:lnTo>
                      <a:pt x="571" y="764"/>
                    </a:lnTo>
                    <a:lnTo>
                      <a:pt x="579" y="767"/>
                    </a:lnTo>
                    <a:lnTo>
                      <a:pt x="586" y="771"/>
                    </a:lnTo>
                    <a:lnTo>
                      <a:pt x="593" y="774"/>
                    </a:lnTo>
                    <a:lnTo>
                      <a:pt x="601" y="777"/>
                    </a:lnTo>
                    <a:lnTo>
                      <a:pt x="621" y="777"/>
                    </a:lnTo>
                    <a:lnTo>
                      <a:pt x="639" y="776"/>
                    </a:lnTo>
                    <a:lnTo>
                      <a:pt x="655" y="774"/>
                    </a:lnTo>
                    <a:lnTo>
                      <a:pt x="670" y="771"/>
                    </a:lnTo>
                    <a:lnTo>
                      <a:pt x="684" y="764"/>
                    </a:lnTo>
                    <a:lnTo>
                      <a:pt x="698" y="754"/>
                    </a:lnTo>
                    <a:lnTo>
                      <a:pt x="711" y="742"/>
                    </a:lnTo>
                    <a:lnTo>
                      <a:pt x="724" y="726"/>
                    </a:lnTo>
                    <a:lnTo>
                      <a:pt x="746" y="714"/>
                    </a:lnTo>
                    <a:lnTo>
                      <a:pt x="762" y="699"/>
                    </a:lnTo>
                    <a:lnTo>
                      <a:pt x="775" y="682"/>
                    </a:lnTo>
                    <a:lnTo>
                      <a:pt x="784" y="662"/>
                    </a:lnTo>
                    <a:lnTo>
                      <a:pt x="793" y="643"/>
                    </a:lnTo>
                    <a:lnTo>
                      <a:pt x="803" y="624"/>
                    </a:lnTo>
                    <a:lnTo>
                      <a:pt x="814" y="606"/>
                    </a:lnTo>
                    <a:lnTo>
                      <a:pt x="830" y="589"/>
                    </a:lnTo>
                    <a:lnTo>
                      <a:pt x="840" y="568"/>
                    </a:lnTo>
                    <a:lnTo>
                      <a:pt x="846" y="548"/>
                    </a:lnTo>
                    <a:lnTo>
                      <a:pt x="852" y="531"/>
                    </a:lnTo>
                    <a:lnTo>
                      <a:pt x="857" y="515"/>
                    </a:lnTo>
                    <a:lnTo>
                      <a:pt x="861" y="499"/>
                    </a:lnTo>
                    <a:lnTo>
                      <a:pt x="865" y="483"/>
                    </a:lnTo>
                    <a:lnTo>
                      <a:pt x="868" y="468"/>
                    </a:lnTo>
                    <a:lnTo>
                      <a:pt x="873" y="452"/>
                    </a:lnTo>
                    <a:lnTo>
                      <a:pt x="879" y="411"/>
                    </a:lnTo>
                    <a:lnTo>
                      <a:pt x="882" y="373"/>
                    </a:lnTo>
                    <a:lnTo>
                      <a:pt x="880" y="333"/>
                    </a:lnTo>
                    <a:lnTo>
                      <a:pt x="869" y="289"/>
                    </a:lnTo>
                    <a:lnTo>
                      <a:pt x="865" y="280"/>
                    </a:lnTo>
                    <a:lnTo>
                      <a:pt x="859" y="272"/>
                    </a:lnTo>
                    <a:lnTo>
                      <a:pt x="855" y="263"/>
                    </a:lnTo>
                    <a:lnTo>
                      <a:pt x="849" y="255"/>
                    </a:lnTo>
                    <a:lnTo>
                      <a:pt x="844" y="245"/>
                    </a:lnTo>
                    <a:lnTo>
                      <a:pt x="838" y="237"/>
                    </a:lnTo>
                    <a:lnTo>
                      <a:pt x="834" y="228"/>
                    </a:lnTo>
                    <a:lnTo>
                      <a:pt x="828" y="219"/>
                    </a:lnTo>
                    <a:lnTo>
                      <a:pt x="826" y="249"/>
                    </a:lnTo>
                    <a:lnTo>
                      <a:pt x="823" y="270"/>
                    </a:lnTo>
                    <a:lnTo>
                      <a:pt x="821" y="283"/>
                    </a:lnTo>
                    <a:lnTo>
                      <a:pt x="817" y="295"/>
                    </a:lnTo>
                    <a:lnTo>
                      <a:pt x="811" y="305"/>
                    </a:lnTo>
                    <a:lnTo>
                      <a:pt x="802" y="318"/>
                    </a:lnTo>
                    <a:lnTo>
                      <a:pt x="789" y="335"/>
                    </a:lnTo>
                    <a:lnTo>
                      <a:pt x="772" y="359"/>
                    </a:lnTo>
                    <a:lnTo>
                      <a:pt x="773" y="354"/>
                    </a:lnTo>
                    <a:lnTo>
                      <a:pt x="774" y="347"/>
                    </a:lnTo>
                    <a:lnTo>
                      <a:pt x="774" y="341"/>
                    </a:lnTo>
                    <a:lnTo>
                      <a:pt x="775" y="335"/>
                    </a:lnTo>
                    <a:lnTo>
                      <a:pt x="776" y="326"/>
                    </a:lnTo>
                    <a:lnTo>
                      <a:pt x="779" y="316"/>
                    </a:lnTo>
                    <a:lnTo>
                      <a:pt x="780" y="306"/>
                    </a:lnTo>
                    <a:lnTo>
                      <a:pt x="781" y="297"/>
                    </a:lnTo>
                    <a:lnTo>
                      <a:pt x="765" y="301"/>
                    </a:lnTo>
                    <a:lnTo>
                      <a:pt x="745" y="306"/>
                    </a:lnTo>
                    <a:lnTo>
                      <a:pt x="726" y="315"/>
                    </a:lnTo>
                    <a:lnTo>
                      <a:pt x="709" y="320"/>
                    </a:lnTo>
                    <a:lnTo>
                      <a:pt x="701" y="320"/>
                    </a:lnTo>
                    <a:lnTo>
                      <a:pt x="705" y="313"/>
                    </a:lnTo>
                    <a:lnTo>
                      <a:pt x="726" y="297"/>
                    </a:lnTo>
                    <a:lnTo>
                      <a:pt x="766" y="267"/>
                    </a:lnTo>
                    <a:lnTo>
                      <a:pt x="762" y="244"/>
                    </a:lnTo>
                    <a:lnTo>
                      <a:pt x="754" y="225"/>
                    </a:lnTo>
                    <a:lnTo>
                      <a:pt x="742" y="207"/>
                    </a:lnTo>
                    <a:lnTo>
                      <a:pt x="726" y="192"/>
                    </a:lnTo>
                    <a:lnTo>
                      <a:pt x="706" y="180"/>
                    </a:lnTo>
                    <a:lnTo>
                      <a:pt x="683" y="168"/>
                    </a:lnTo>
                    <a:lnTo>
                      <a:pt x="659" y="158"/>
                    </a:lnTo>
                    <a:lnTo>
                      <a:pt x="632" y="146"/>
                    </a:lnTo>
                    <a:lnTo>
                      <a:pt x="628" y="153"/>
                    </a:lnTo>
                    <a:lnTo>
                      <a:pt x="622" y="160"/>
                    </a:lnTo>
                    <a:lnTo>
                      <a:pt x="617" y="167"/>
                    </a:lnTo>
                    <a:lnTo>
                      <a:pt x="612" y="174"/>
                    </a:lnTo>
                    <a:lnTo>
                      <a:pt x="607" y="181"/>
                    </a:lnTo>
                    <a:lnTo>
                      <a:pt x="601" y="188"/>
                    </a:lnTo>
                    <a:lnTo>
                      <a:pt x="597" y="195"/>
                    </a:lnTo>
                    <a:lnTo>
                      <a:pt x="591" y="202"/>
                    </a:lnTo>
                    <a:lnTo>
                      <a:pt x="586" y="202"/>
                    </a:lnTo>
                    <a:lnTo>
                      <a:pt x="583" y="203"/>
                    </a:lnTo>
                    <a:lnTo>
                      <a:pt x="578" y="203"/>
                    </a:lnTo>
                    <a:lnTo>
                      <a:pt x="574" y="203"/>
                    </a:lnTo>
                    <a:lnTo>
                      <a:pt x="569" y="204"/>
                    </a:lnTo>
                    <a:lnTo>
                      <a:pt x="565" y="204"/>
                    </a:lnTo>
                    <a:lnTo>
                      <a:pt x="561" y="205"/>
                    </a:lnTo>
                    <a:lnTo>
                      <a:pt x="556" y="205"/>
                    </a:lnTo>
                    <a:lnTo>
                      <a:pt x="562" y="176"/>
                    </a:lnTo>
                    <a:lnTo>
                      <a:pt x="569" y="153"/>
                    </a:lnTo>
                    <a:lnTo>
                      <a:pt x="572" y="137"/>
                    </a:lnTo>
                    <a:lnTo>
                      <a:pt x="574" y="126"/>
                    </a:lnTo>
                    <a:lnTo>
                      <a:pt x="567" y="118"/>
                    </a:lnTo>
                    <a:lnTo>
                      <a:pt x="552" y="111"/>
                    </a:lnTo>
                    <a:lnTo>
                      <a:pt x="524" y="106"/>
                    </a:lnTo>
                    <a:lnTo>
                      <a:pt x="484" y="100"/>
                    </a:lnTo>
                    <a:lnTo>
                      <a:pt x="489" y="95"/>
                    </a:lnTo>
                    <a:lnTo>
                      <a:pt x="495" y="89"/>
                    </a:lnTo>
                    <a:lnTo>
                      <a:pt x="501" y="83"/>
                    </a:lnTo>
                    <a:lnTo>
                      <a:pt x="507" y="77"/>
                    </a:lnTo>
                    <a:lnTo>
                      <a:pt x="511" y="72"/>
                    </a:lnTo>
                    <a:lnTo>
                      <a:pt x="517" y="66"/>
                    </a:lnTo>
                    <a:lnTo>
                      <a:pt x="523" y="61"/>
                    </a:lnTo>
                    <a:lnTo>
                      <a:pt x="529" y="55"/>
                    </a:lnTo>
                    <a:lnTo>
                      <a:pt x="506" y="36"/>
                    </a:lnTo>
                    <a:lnTo>
                      <a:pt x="492" y="19"/>
                    </a:lnTo>
                    <a:lnTo>
                      <a:pt x="485" y="7"/>
                    </a:lnTo>
                    <a:lnTo>
                      <a:pt x="477" y="0"/>
                    </a:lnTo>
                    <a:lnTo>
                      <a:pt x="466" y="0"/>
                    </a:lnTo>
                    <a:lnTo>
                      <a:pt x="448" y="9"/>
                    </a:lnTo>
                    <a:lnTo>
                      <a:pt x="417" y="29"/>
                    </a:lnTo>
                    <a:lnTo>
                      <a:pt x="370" y="59"/>
                    </a:lnTo>
                    <a:lnTo>
                      <a:pt x="375" y="72"/>
                    </a:lnTo>
                    <a:lnTo>
                      <a:pt x="382" y="84"/>
                    </a:lnTo>
                    <a:lnTo>
                      <a:pt x="388" y="97"/>
                    </a:lnTo>
                    <a:lnTo>
                      <a:pt x="394" y="110"/>
                    </a:lnTo>
                    <a:lnTo>
                      <a:pt x="394" y="118"/>
                    </a:lnTo>
                    <a:lnTo>
                      <a:pt x="395" y="125"/>
                    </a:lnTo>
                    <a:lnTo>
                      <a:pt x="395" y="133"/>
                    </a:lnTo>
                    <a:lnTo>
                      <a:pt x="395" y="141"/>
                    </a:lnTo>
                    <a:lnTo>
                      <a:pt x="390" y="135"/>
                    </a:lnTo>
                    <a:lnTo>
                      <a:pt x="385" y="130"/>
                    </a:lnTo>
                    <a:lnTo>
                      <a:pt x="380" y="125"/>
                    </a:lnTo>
                    <a:lnTo>
                      <a:pt x="374" y="118"/>
                    </a:lnTo>
                    <a:lnTo>
                      <a:pt x="371" y="110"/>
                    </a:lnTo>
                    <a:lnTo>
                      <a:pt x="367" y="101"/>
                    </a:lnTo>
                    <a:lnTo>
                      <a:pt x="364" y="93"/>
                    </a:lnTo>
                    <a:lnTo>
                      <a:pt x="360" y="85"/>
                    </a:lnTo>
                    <a:lnTo>
                      <a:pt x="356" y="83"/>
                    </a:lnTo>
                    <a:lnTo>
                      <a:pt x="350" y="80"/>
                    </a:lnTo>
                    <a:lnTo>
                      <a:pt x="346" y="77"/>
                    </a:lnTo>
                    <a:lnTo>
                      <a:pt x="341" y="75"/>
                    </a:lnTo>
                    <a:lnTo>
                      <a:pt x="335" y="73"/>
                    </a:lnTo>
                    <a:lnTo>
                      <a:pt x="331" y="69"/>
                    </a:lnTo>
                    <a:lnTo>
                      <a:pt x="326" y="67"/>
                    </a:lnTo>
                    <a:lnTo>
                      <a:pt x="321" y="65"/>
                    </a:lnTo>
                    <a:lnTo>
                      <a:pt x="326" y="61"/>
                    </a:lnTo>
                    <a:lnTo>
                      <a:pt x="331" y="58"/>
                    </a:lnTo>
                    <a:lnTo>
                      <a:pt x="335" y="54"/>
                    </a:lnTo>
                    <a:lnTo>
                      <a:pt x="341" y="51"/>
                    </a:lnTo>
                    <a:lnTo>
                      <a:pt x="346" y="47"/>
                    </a:lnTo>
                    <a:lnTo>
                      <a:pt x="350" y="44"/>
                    </a:lnTo>
                    <a:lnTo>
                      <a:pt x="355" y="40"/>
                    </a:lnTo>
                    <a:lnTo>
                      <a:pt x="359" y="37"/>
                    </a:lnTo>
                    <a:lnTo>
                      <a:pt x="340" y="34"/>
                    </a:lnTo>
                    <a:lnTo>
                      <a:pt x="322" y="30"/>
                    </a:lnTo>
                    <a:lnTo>
                      <a:pt x="308" y="27"/>
                    </a:lnTo>
                    <a:lnTo>
                      <a:pt x="295" y="24"/>
                    </a:lnTo>
                    <a:lnTo>
                      <a:pt x="282" y="22"/>
                    </a:lnTo>
                    <a:lnTo>
                      <a:pt x="272" y="21"/>
                    </a:lnTo>
                    <a:lnTo>
                      <a:pt x="263" y="20"/>
                    </a:lnTo>
                    <a:lnTo>
                      <a:pt x="253" y="21"/>
                    </a:lnTo>
                    <a:lnTo>
                      <a:pt x="245" y="22"/>
                    </a:lnTo>
                    <a:lnTo>
                      <a:pt x="236" y="24"/>
                    </a:lnTo>
                    <a:lnTo>
                      <a:pt x="228" y="28"/>
                    </a:lnTo>
                    <a:lnTo>
                      <a:pt x="219" y="34"/>
                    </a:lnTo>
                    <a:lnTo>
                      <a:pt x="210" y="39"/>
                    </a:lnTo>
                    <a:lnTo>
                      <a:pt x="199" y="47"/>
                    </a:lnTo>
                    <a:lnTo>
                      <a:pt x="188" y="57"/>
                    </a:lnTo>
                    <a:lnTo>
                      <a:pt x="175" y="68"/>
                    </a:lnTo>
                    <a:lnTo>
                      <a:pt x="172" y="68"/>
                    </a:lnTo>
                    <a:lnTo>
                      <a:pt x="168" y="69"/>
                    </a:lnTo>
                    <a:lnTo>
                      <a:pt x="165" y="70"/>
                    </a:lnTo>
                    <a:lnTo>
                      <a:pt x="161" y="72"/>
                    </a:lnTo>
                    <a:lnTo>
                      <a:pt x="167" y="67"/>
                    </a:lnTo>
                    <a:lnTo>
                      <a:pt x="173" y="62"/>
                    </a:lnTo>
                    <a:lnTo>
                      <a:pt x="179" y="59"/>
                    </a:lnTo>
                    <a:lnTo>
                      <a:pt x="184" y="54"/>
                    </a:lnTo>
                    <a:lnTo>
                      <a:pt x="190" y="50"/>
                    </a:lnTo>
                    <a:lnTo>
                      <a:pt x="196" y="45"/>
                    </a:lnTo>
                    <a:lnTo>
                      <a:pt x="200" y="42"/>
                    </a:lnTo>
                    <a:lnTo>
                      <a:pt x="206" y="37"/>
                    </a:lnTo>
                    <a:lnTo>
                      <a:pt x="199" y="35"/>
                    </a:lnTo>
                    <a:lnTo>
                      <a:pt x="194" y="31"/>
                    </a:lnTo>
                    <a:lnTo>
                      <a:pt x="187" y="29"/>
                    </a:lnTo>
                    <a:lnTo>
                      <a:pt x="181" y="27"/>
                    </a:lnTo>
                    <a:lnTo>
                      <a:pt x="175" y="23"/>
                    </a:lnTo>
                    <a:lnTo>
                      <a:pt x="168" y="21"/>
                    </a:lnTo>
                    <a:lnTo>
                      <a:pt x="162" y="19"/>
                    </a:lnTo>
                    <a:lnTo>
                      <a:pt x="155" y="16"/>
                    </a:lnTo>
                    <a:lnTo>
                      <a:pt x="149" y="17"/>
                    </a:lnTo>
                    <a:lnTo>
                      <a:pt x="141" y="19"/>
                    </a:lnTo>
                    <a:lnTo>
                      <a:pt x="134" y="20"/>
                    </a:lnTo>
                    <a:lnTo>
                      <a:pt x="127" y="21"/>
                    </a:lnTo>
                    <a:lnTo>
                      <a:pt x="120" y="22"/>
                    </a:lnTo>
                    <a:lnTo>
                      <a:pt x="113" y="23"/>
                    </a:lnTo>
                    <a:lnTo>
                      <a:pt x="106" y="24"/>
                    </a:lnTo>
                    <a:lnTo>
                      <a:pt x="99" y="25"/>
                    </a:lnTo>
                    <a:close/>
                  </a:path>
                </a:pathLst>
              </a:custGeom>
              <a:solidFill>
                <a:srgbClr val="EDED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2" name="Freeform 48"/>
              <p:cNvSpPr>
                <a:spLocks/>
              </p:cNvSpPr>
              <p:nvPr/>
            </p:nvSpPr>
            <p:spPr bwMode="auto">
              <a:xfrm>
                <a:off x="11113" y="3292475"/>
                <a:ext cx="688975" cy="604838"/>
              </a:xfrm>
              <a:custGeom>
                <a:avLst/>
                <a:gdLst/>
                <a:ahLst/>
                <a:cxnLst>
                  <a:cxn ang="0">
                    <a:pos x="26" y="112"/>
                  </a:cxn>
                  <a:cxn ang="0">
                    <a:pos x="18" y="191"/>
                  </a:cxn>
                  <a:cxn ang="0">
                    <a:pos x="53" y="203"/>
                  </a:cxn>
                  <a:cxn ang="0">
                    <a:pos x="87" y="187"/>
                  </a:cxn>
                  <a:cxn ang="0">
                    <a:pos x="115" y="236"/>
                  </a:cxn>
                  <a:cxn ang="0">
                    <a:pos x="208" y="244"/>
                  </a:cxn>
                  <a:cxn ang="0">
                    <a:pos x="312" y="191"/>
                  </a:cxn>
                  <a:cxn ang="0">
                    <a:pos x="286" y="283"/>
                  </a:cxn>
                  <a:cxn ang="0">
                    <a:pos x="192" y="270"/>
                  </a:cxn>
                  <a:cxn ang="0">
                    <a:pos x="166" y="331"/>
                  </a:cxn>
                  <a:cxn ang="0">
                    <a:pos x="190" y="393"/>
                  </a:cxn>
                  <a:cxn ang="0">
                    <a:pos x="221" y="416"/>
                  </a:cxn>
                  <a:cxn ang="0">
                    <a:pos x="266" y="393"/>
                  </a:cxn>
                  <a:cxn ang="0">
                    <a:pos x="282" y="356"/>
                  </a:cxn>
                  <a:cxn ang="0">
                    <a:pos x="306" y="345"/>
                  </a:cxn>
                  <a:cxn ang="0">
                    <a:pos x="339" y="333"/>
                  </a:cxn>
                  <a:cxn ang="0">
                    <a:pos x="387" y="334"/>
                  </a:cxn>
                  <a:cxn ang="0">
                    <a:pos x="439" y="387"/>
                  </a:cxn>
                  <a:cxn ang="0">
                    <a:pos x="486" y="304"/>
                  </a:cxn>
                  <a:cxn ang="0">
                    <a:pos x="523" y="318"/>
                  </a:cxn>
                  <a:cxn ang="0">
                    <a:pos x="550" y="355"/>
                  </a:cxn>
                  <a:cxn ang="0">
                    <a:pos x="533" y="418"/>
                  </a:cxn>
                  <a:cxn ang="0">
                    <a:pos x="588" y="462"/>
                  </a:cxn>
                  <a:cxn ang="0">
                    <a:pos x="569" y="488"/>
                  </a:cxn>
                  <a:cxn ang="0">
                    <a:pos x="517" y="450"/>
                  </a:cxn>
                  <a:cxn ang="0">
                    <a:pos x="508" y="543"/>
                  </a:cxn>
                  <a:cxn ang="0">
                    <a:pos x="476" y="588"/>
                  </a:cxn>
                  <a:cxn ang="0">
                    <a:pos x="444" y="665"/>
                  </a:cxn>
                  <a:cxn ang="0">
                    <a:pos x="485" y="741"/>
                  </a:cxn>
                  <a:cxn ang="0">
                    <a:pos x="573" y="700"/>
                  </a:cxn>
                  <a:cxn ang="0">
                    <a:pos x="582" y="741"/>
                  </a:cxn>
                  <a:cxn ang="0">
                    <a:pos x="641" y="759"/>
                  </a:cxn>
                  <a:cxn ang="0">
                    <a:pos x="720" y="710"/>
                  </a:cxn>
                  <a:cxn ang="0">
                    <a:pos x="785" y="608"/>
                  </a:cxn>
                  <a:cxn ang="0">
                    <a:pos x="838" y="506"/>
                  </a:cxn>
                  <a:cxn ang="0">
                    <a:pos x="868" y="331"/>
                  </a:cxn>
                  <a:cxn ang="0">
                    <a:pos x="836" y="243"/>
                  </a:cxn>
                  <a:cxn ang="0">
                    <a:pos x="813" y="287"/>
                  </a:cxn>
                  <a:cxn ang="0">
                    <a:pos x="761" y="355"/>
                  </a:cxn>
                  <a:cxn ang="0">
                    <a:pos x="766" y="305"/>
                  </a:cxn>
                  <a:cxn ang="0">
                    <a:pos x="684" y="317"/>
                  </a:cxn>
                  <a:cxn ang="0">
                    <a:pos x="727" y="203"/>
                  </a:cxn>
                  <a:cxn ang="0">
                    <a:pos x="622" y="155"/>
                  </a:cxn>
                  <a:cxn ang="0">
                    <a:pos x="591" y="198"/>
                  </a:cxn>
                  <a:cxn ang="0">
                    <a:pos x="560" y="203"/>
                  </a:cxn>
                  <a:cxn ang="0">
                    <a:pos x="558" y="134"/>
                  </a:cxn>
                  <a:cxn ang="0">
                    <a:pos x="476" y="90"/>
                  </a:cxn>
                  <a:cxn ang="0">
                    <a:pos x="507" y="54"/>
                  </a:cxn>
                  <a:cxn ang="0">
                    <a:pos x="451" y="1"/>
                  </a:cxn>
                  <a:cxn ang="0">
                    <a:pos x="387" y="89"/>
                  </a:cxn>
                  <a:cxn ang="0">
                    <a:pos x="383" y="135"/>
                  </a:cxn>
                  <a:cxn ang="0">
                    <a:pos x="353" y="90"/>
                  </a:cxn>
                  <a:cxn ang="0">
                    <a:pos x="317" y="70"/>
                  </a:cxn>
                  <a:cxn ang="0">
                    <a:pos x="314" y="52"/>
                  </a:cxn>
                  <a:cxn ang="0">
                    <a:pos x="307" y="27"/>
                  </a:cxn>
                  <a:cxn ang="0">
                    <a:pos x="185" y="50"/>
                  </a:cxn>
                  <a:cxn ang="0">
                    <a:pos x="154" y="59"/>
                  </a:cxn>
                  <a:cxn ang="0">
                    <a:pos x="187" y="35"/>
                  </a:cxn>
                  <a:cxn ang="0">
                    <a:pos x="163" y="19"/>
                  </a:cxn>
                  <a:cxn ang="0">
                    <a:pos x="127" y="16"/>
                  </a:cxn>
                </a:cxnLst>
                <a:rect l="0" t="0" r="r" b="b"/>
                <a:pathLst>
                  <a:path w="868" h="761">
                    <a:moveTo>
                      <a:pt x="94" y="24"/>
                    </a:moveTo>
                    <a:lnTo>
                      <a:pt x="76" y="42"/>
                    </a:lnTo>
                    <a:lnTo>
                      <a:pt x="60" y="59"/>
                    </a:lnTo>
                    <a:lnTo>
                      <a:pt x="46" y="76"/>
                    </a:lnTo>
                    <a:lnTo>
                      <a:pt x="36" y="93"/>
                    </a:lnTo>
                    <a:lnTo>
                      <a:pt x="26" y="112"/>
                    </a:lnTo>
                    <a:lnTo>
                      <a:pt x="17" y="133"/>
                    </a:lnTo>
                    <a:lnTo>
                      <a:pt x="9" y="156"/>
                    </a:lnTo>
                    <a:lnTo>
                      <a:pt x="0" y="182"/>
                    </a:lnTo>
                    <a:lnTo>
                      <a:pt x="7" y="186"/>
                    </a:lnTo>
                    <a:lnTo>
                      <a:pt x="13" y="188"/>
                    </a:lnTo>
                    <a:lnTo>
                      <a:pt x="18" y="191"/>
                    </a:lnTo>
                    <a:lnTo>
                      <a:pt x="24" y="195"/>
                    </a:lnTo>
                    <a:lnTo>
                      <a:pt x="30" y="197"/>
                    </a:lnTo>
                    <a:lnTo>
                      <a:pt x="36" y="201"/>
                    </a:lnTo>
                    <a:lnTo>
                      <a:pt x="41" y="204"/>
                    </a:lnTo>
                    <a:lnTo>
                      <a:pt x="47" y="207"/>
                    </a:lnTo>
                    <a:lnTo>
                      <a:pt x="53" y="203"/>
                    </a:lnTo>
                    <a:lnTo>
                      <a:pt x="60" y="198"/>
                    </a:lnTo>
                    <a:lnTo>
                      <a:pt x="66" y="195"/>
                    </a:lnTo>
                    <a:lnTo>
                      <a:pt x="71" y="190"/>
                    </a:lnTo>
                    <a:lnTo>
                      <a:pt x="77" y="189"/>
                    </a:lnTo>
                    <a:lnTo>
                      <a:pt x="82" y="188"/>
                    </a:lnTo>
                    <a:lnTo>
                      <a:pt x="87" y="187"/>
                    </a:lnTo>
                    <a:lnTo>
                      <a:pt x="92" y="186"/>
                    </a:lnTo>
                    <a:lnTo>
                      <a:pt x="90" y="203"/>
                    </a:lnTo>
                    <a:lnTo>
                      <a:pt x="91" y="217"/>
                    </a:lnTo>
                    <a:lnTo>
                      <a:pt x="97" y="227"/>
                    </a:lnTo>
                    <a:lnTo>
                      <a:pt x="106" y="234"/>
                    </a:lnTo>
                    <a:lnTo>
                      <a:pt x="115" y="236"/>
                    </a:lnTo>
                    <a:lnTo>
                      <a:pt x="127" y="232"/>
                    </a:lnTo>
                    <a:lnTo>
                      <a:pt x="137" y="221"/>
                    </a:lnTo>
                    <a:lnTo>
                      <a:pt x="146" y="204"/>
                    </a:lnTo>
                    <a:lnTo>
                      <a:pt x="172" y="227"/>
                    </a:lnTo>
                    <a:lnTo>
                      <a:pt x="191" y="240"/>
                    </a:lnTo>
                    <a:lnTo>
                      <a:pt x="208" y="244"/>
                    </a:lnTo>
                    <a:lnTo>
                      <a:pt x="225" y="241"/>
                    </a:lnTo>
                    <a:lnTo>
                      <a:pt x="241" y="231"/>
                    </a:lnTo>
                    <a:lnTo>
                      <a:pt x="259" y="216"/>
                    </a:lnTo>
                    <a:lnTo>
                      <a:pt x="281" y="197"/>
                    </a:lnTo>
                    <a:lnTo>
                      <a:pt x="307" y="175"/>
                    </a:lnTo>
                    <a:lnTo>
                      <a:pt x="312" y="191"/>
                    </a:lnTo>
                    <a:lnTo>
                      <a:pt x="317" y="207"/>
                    </a:lnTo>
                    <a:lnTo>
                      <a:pt x="321" y="224"/>
                    </a:lnTo>
                    <a:lnTo>
                      <a:pt x="326" y="240"/>
                    </a:lnTo>
                    <a:lnTo>
                      <a:pt x="310" y="262"/>
                    </a:lnTo>
                    <a:lnTo>
                      <a:pt x="297" y="277"/>
                    </a:lnTo>
                    <a:lnTo>
                      <a:pt x="286" y="283"/>
                    </a:lnTo>
                    <a:lnTo>
                      <a:pt x="273" y="286"/>
                    </a:lnTo>
                    <a:lnTo>
                      <a:pt x="260" y="282"/>
                    </a:lnTo>
                    <a:lnTo>
                      <a:pt x="244" y="277"/>
                    </a:lnTo>
                    <a:lnTo>
                      <a:pt x="223" y="269"/>
                    </a:lnTo>
                    <a:lnTo>
                      <a:pt x="196" y="259"/>
                    </a:lnTo>
                    <a:lnTo>
                      <a:pt x="192" y="270"/>
                    </a:lnTo>
                    <a:lnTo>
                      <a:pt x="188" y="280"/>
                    </a:lnTo>
                    <a:lnTo>
                      <a:pt x="183" y="290"/>
                    </a:lnTo>
                    <a:lnTo>
                      <a:pt x="178" y="300"/>
                    </a:lnTo>
                    <a:lnTo>
                      <a:pt x="175" y="310"/>
                    </a:lnTo>
                    <a:lnTo>
                      <a:pt x="170" y="320"/>
                    </a:lnTo>
                    <a:lnTo>
                      <a:pt x="166" y="331"/>
                    </a:lnTo>
                    <a:lnTo>
                      <a:pt x="161" y="341"/>
                    </a:lnTo>
                    <a:lnTo>
                      <a:pt x="167" y="353"/>
                    </a:lnTo>
                    <a:lnTo>
                      <a:pt x="173" y="365"/>
                    </a:lnTo>
                    <a:lnTo>
                      <a:pt x="178" y="377"/>
                    </a:lnTo>
                    <a:lnTo>
                      <a:pt x="185" y="389"/>
                    </a:lnTo>
                    <a:lnTo>
                      <a:pt x="190" y="393"/>
                    </a:lnTo>
                    <a:lnTo>
                      <a:pt x="195" y="397"/>
                    </a:lnTo>
                    <a:lnTo>
                      <a:pt x="200" y="401"/>
                    </a:lnTo>
                    <a:lnTo>
                      <a:pt x="205" y="404"/>
                    </a:lnTo>
                    <a:lnTo>
                      <a:pt x="211" y="408"/>
                    </a:lnTo>
                    <a:lnTo>
                      <a:pt x="215" y="411"/>
                    </a:lnTo>
                    <a:lnTo>
                      <a:pt x="221" y="416"/>
                    </a:lnTo>
                    <a:lnTo>
                      <a:pt x="226" y="419"/>
                    </a:lnTo>
                    <a:lnTo>
                      <a:pt x="234" y="414"/>
                    </a:lnTo>
                    <a:lnTo>
                      <a:pt x="242" y="409"/>
                    </a:lnTo>
                    <a:lnTo>
                      <a:pt x="250" y="403"/>
                    </a:lnTo>
                    <a:lnTo>
                      <a:pt x="258" y="399"/>
                    </a:lnTo>
                    <a:lnTo>
                      <a:pt x="266" y="393"/>
                    </a:lnTo>
                    <a:lnTo>
                      <a:pt x="274" y="388"/>
                    </a:lnTo>
                    <a:lnTo>
                      <a:pt x="282" y="383"/>
                    </a:lnTo>
                    <a:lnTo>
                      <a:pt x="290" y="378"/>
                    </a:lnTo>
                    <a:lnTo>
                      <a:pt x="288" y="370"/>
                    </a:lnTo>
                    <a:lnTo>
                      <a:pt x="286" y="363"/>
                    </a:lnTo>
                    <a:lnTo>
                      <a:pt x="282" y="356"/>
                    </a:lnTo>
                    <a:lnTo>
                      <a:pt x="280" y="348"/>
                    </a:lnTo>
                    <a:lnTo>
                      <a:pt x="286" y="348"/>
                    </a:lnTo>
                    <a:lnTo>
                      <a:pt x="290" y="347"/>
                    </a:lnTo>
                    <a:lnTo>
                      <a:pt x="296" y="347"/>
                    </a:lnTo>
                    <a:lnTo>
                      <a:pt x="301" y="346"/>
                    </a:lnTo>
                    <a:lnTo>
                      <a:pt x="306" y="345"/>
                    </a:lnTo>
                    <a:lnTo>
                      <a:pt x="311" y="345"/>
                    </a:lnTo>
                    <a:lnTo>
                      <a:pt x="317" y="343"/>
                    </a:lnTo>
                    <a:lnTo>
                      <a:pt x="322" y="343"/>
                    </a:lnTo>
                    <a:lnTo>
                      <a:pt x="328" y="340"/>
                    </a:lnTo>
                    <a:lnTo>
                      <a:pt x="333" y="336"/>
                    </a:lnTo>
                    <a:lnTo>
                      <a:pt x="339" y="333"/>
                    </a:lnTo>
                    <a:lnTo>
                      <a:pt x="344" y="330"/>
                    </a:lnTo>
                    <a:lnTo>
                      <a:pt x="350" y="327"/>
                    </a:lnTo>
                    <a:lnTo>
                      <a:pt x="356" y="324"/>
                    </a:lnTo>
                    <a:lnTo>
                      <a:pt x="360" y="320"/>
                    </a:lnTo>
                    <a:lnTo>
                      <a:pt x="366" y="317"/>
                    </a:lnTo>
                    <a:lnTo>
                      <a:pt x="387" y="334"/>
                    </a:lnTo>
                    <a:lnTo>
                      <a:pt x="400" y="349"/>
                    </a:lnTo>
                    <a:lnTo>
                      <a:pt x="406" y="364"/>
                    </a:lnTo>
                    <a:lnTo>
                      <a:pt x="411" y="376"/>
                    </a:lnTo>
                    <a:lnTo>
                      <a:pt x="416" y="384"/>
                    </a:lnTo>
                    <a:lnTo>
                      <a:pt x="424" y="388"/>
                    </a:lnTo>
                    <a:lnTo>
                      <a:pt x="439" y="387"/>
                    </a:lnTo>
                    <a:lnTo>
                      <a:pt x="463" y="380"/>
                    </a:lnTo>
                    <a:lnTo>
                      <a:pt x="467" y="361"/>
                    </a:lnTo>
                    <a:lnTo>
                      <a:pt x="472" y="341"/>
                    </a:lnTo>
                    <a:lnTo>
                      <a:pt x="476" y="321"/>
                    </a:lnTo>
                    <a:lnTo>
                      <a:pt x="480" y="302"/>
                    </a:lnTo>
                    <a:lnTo>
                      <a:pt x="486" y="304"/>
                    </a:lnTo>
                    <a:lnTo>
                      <a:pt x="493" y="307"/>
                    </a:lnTo>
                    <a:lnTo>
                      <a:pt x="499" y="309"/>
                    </a:lnTo>
                    <a:lnTo>
                      <a:pt x="504" y="311"/>
                    </a:lnTo>
                    <a:lnTo>
                      <a:pt x="510" y="313"/>
                    </a:lnTo>
                    <a:lnTo>
                      <a:pt x="517" y="316"/>
                    </a:lnTo>
                    <a:lnTo>
                      <a:pt x="523" y="318"/>
                    </a:lnTo>
                    <a:lnTo>
                      <a:pt x="529" y="320"/>
                    </a:lnTo>
                    <a:lnTo>
                      <a:pt x="533" y="327"/>
                    </a:lnTo>
                    <a:lnTo>
                      <a:pt x="538" y="334"/>
                    </a:lnTo>
                    <a:lnTo>
                      <a:pt x="541" y="341"/>
                    </a:lnTo>
                    <a:lnTo>
                      <a:pt x="546" y="348"/>
                    </a:lnTo>
                    <a:lnTo>
                      <a:pt x="550" y="355"/>
                    </a:lnTo>
                    <a:lnTo>
                      <a:pt x="555" y="362"/>
                    </a:lnTo>
                    <a:lnTo>
                      <a:pt x="560" y="369"/>
                    </a:lnTo>
                    <a:lnTo>
                      <a:pt x="564" y="376"/>
                    </a:lnTo>
                    <a:lnTo>
                      <a:pt x="550" y="392"/>
                    </a:lnTo>
                    <a:lnTo>
                      <a:pt x="540" y="406"/>
                    </a:lnTo>
                    <a:lnTo>
                      <a:pt x="533" y="418"/>
                    </a:lnTo>
                    <a:lnTo>
                      <a:pt x="531" y="429"/>
                    </a:lnTo>
                    <a:lnTo>
                      <a:pt x="534" y="437"/>
                    </a:lnTo>
                    <a:lnTo>
                      <a:pt x="545" y="444"/>
                    </a:lnTo>
                    <a:lnTo>
                      <a:pt x="563" y="448"/>
                    </a:lnTo>
                    <a:lnTo>
                      <a:pt x="590" y="452"/>
                    </a:lnTo>
                    <a:lnTo>
                      <a:pt x="588" y="462"/>
                    </a:lnTo>
                    <a:lnTo>
                      <a:pt x="588" y="474"/>
                    </a:lnTo>
                    <a:lnTo>
                      <a:pt x="588" y="484"/>
                    </a:lnTo>
                    <a:lnTo>
                      <a:pt x="588" y="495"/>
                    </a:lnTo>
                    <a:lnTo>
                      <a:pt x="582" y="493"/>
                    </a:lnTo>
                    <a:lnTo>
                      <a:pt x="576" y="491"/>
                    </a:lnTo>
                    <a:lnTo>
                      <a:pt x="569" y="488"/>
                    </a:lnTo>
                    <a:lnTo>
                      <a:pt x="563" y="486"/>
                    </a:lnTo>
                    <a:lnTo>
                      <a:pt x="556" y="484"/>
                    </a:lnTo>
                    <a:lnTo>
                      <a:pt x="549" y="482"/>
                    </a:lnTo>
                    <a:lnTo>
                      <a:pt x="543" y="479"/>
                    </a:lnTo>
                    <a:lnTo>
                      <a:pt x="537" y="477"/>
                    </a:lnTo>
                    <a:lnTo>
                      <a:pt x="517" y="450"/>
                    </a:lnTo>
                    <a:lnTo>
                      <a:pt x="500" y="444"/>
                    </a:lnTo>
                    <a:lnTo>
                      <a:pt x="487" y="452"/>
                    </a:lnTo>
                    <a:lnTo>
                      <a:pt x="480" y="469"/>
                    </a:lnTo>
                    <a:lnTo>
                      <a:pt x="480" y="493"/>
                    </a:lnTo>
                    <a:lnTo>
                      <a:pt x="488" y="518"/>
                    </a:lnTo>
                    <a:lnTo>
                      <a:pt x="508" y="543"/>
                    </a:lnTo>
                    <a:lnTo>
                      <a:pt x="539" y="560"/>
                    </a:lnTo>
                    <a:lnTo>
                      <a:pt x="532" y="566"/>
                    </a:lnTo>
                    <a:lnTo>
                      <a:pt x="525" y="571"/>
                    </a:lnTo>
                    <a:lnTo>
                      <a:pt x="518" y="578"/>
                    </a:lnTo>
                    <a:lnTo>
                      <a:pt x="510" y="584"/>
                    </a:lnTo>
                    <a:lnTo>
                      <a:pt x="476" y="588"/>
                    </a:lnTo>
                    <a:lnTo>
                      <a:pt x="458" y="597"/>
                    </a:lnTo>
                    <a:lnTo>
                      <a:pt x="454" y="611"/>
                    </a:lnTo>
                    <a:lnTo>
                      <a:pt x="455" y="626"/>
                    </a:lnTo>
                    <a:lnTo>
                      <a:pt x="457" y="642"/>
                    </a:lnTo>
                    <a:lnTo>
                      <a:pt x="456" y="655"/>
                    </a:lnTo>
                    <a:lnTo>
                      <a:pt x="444" y="665"/>
                    </a:lnTo>
                    <a:lnTo>
                      <a:pt x="419" y="668"/>
                    </a:lnTo>
                    <a:lnTo>
                      <a:pt x="431" y="693"/>
                    </a:lnTo>
                    <a:lnTo>
                      <a:pt x="442" y="713"/>
                    </a:lnTo>
                    <a:lnTo>
                      <a:pt x="455" y="727"/>
                    </a:lnTo>
                    <a:lnTo>
                      <a:pt x="469" y="736"/>
                    </a:lnTo>
                    <a:lnTo>
                      <a:pt x="485" y="741"/>
                    </a:lnTo>
                    <a:lnTo>
                      <a:pt x="503" y="741"/>
                    </a:lnTo>
                    <a:lnTo>
                      <a:pt x="526" y="740"/>
                    </a:lnTo>
                    <a:lnTo>
                      <a:pt x="553" y="735"/>
                    </a:lnTo>
                    <a:lnTo>
                      <a:pt x="560" y="723"/>
                    </a:lnTo>
                    <a:lnTo>
                      <a:pt x="567" y="712"/>
                    </a:lnTo>
                    <a:lnTo>
                      <a:pt x="573" y="700"/>
                    </a:lnTo>
                    <a:lnTo>
                      <a:pt x="580" y="689"/>
                    </a:lnTo>
                    <a:lnTo>
                      <a:pt x="579" y="700"/>
                    </a:lnTo>
                    <a:lnTo>
                      <a:pt x="579" y="711"/>
                    </a:lnTo>
                    <a:lnTo>
                      <a:pt x="578" y="722"/>
                    </a:lnTo>
                    <a:lnTo>
                      <a:pt x="577" y="734"/>
                    </a:lnTo>
                    <a:lnTo>
                      <a:pt x="582" y="741"/>
                    </a:lnTo>
                    <a:lnTo>
                      <a:pt x="587" y="748"/>
                    </a:lnTo>
                    <a:lnTo>
                      <a:pt x="592" y="754"/>
                    </a:lnTo>
                    <a:lnTo>
                      <a:pt x="596" y="761"/>
                    </a:lnTo>
                    <a:lnTo>
                      <a:pt x="613" y="761"/>
                    </a:lnTo>
                    <a:lnTo>
                      <a:pt x="628" y="760"/>
                    </a:lnTo>
                    <a:lnTo>
                      <a:pt x="641" y="759"/>
                    </a:lnTo>
                    <a:lnTo>
                      <a:pt x="653" y="756"/>
                    </a:lnTo>
                    <a:lnTo>
                      <a:pt x="666" y="750"/>
                    </a:lnTo>
                    <a:lnTo>
                      <a:pt x="676" y="742"/>
                    </a:lnTo>
                    <a:lnTo>
                      <a:pt x="687" y="731"/>
                    </a:lnTo>
                    <a:lnTo>
                      <a:pt x="699" y="719"/>
                    </a:lnTo>
                    <a:lnTo>
                      <a:pt x="720" y="710"/>
                    </a:lnTo>
                    <a:lnTo>
                      <a:pt x="736" y="697"/>
                    </a:lnTo>
                    <a:lnTo>
                      <a:pt x="747" y="681"/>
                    </a:lnTo>
                    <a:lnTo>
                      <a:pt x="757" y="664"/>
                    </a:lnTo>
                    <a:lnTo>
                      <a:pt x="765" y="645"/>
                    </a:lnTo>
                    <a:lnTo>
                      <a:pt x="774" y="627"/>
                    </a:lnTo>
                    <a:lnTo>
                      <a:pt x="785" y="608"/>
                    </a:lnTo>
                    <a:lnTo>
                      <a:pt x="800" y="590"/>
                    </a:lnTo>
                    <a:lnTo>
                      <a:pt x="813" y="569"/>
                    </a:lnTo>
                    <a:lnTo>
                      <a:pt x="822" y="551"/>
                    </a:lnTo>
                    <a:lnTo>
                      <a:pt x="829" y="533"/>
                    </a:lnTo>
                    <a:lnTo>
                      <a:pt x="834" y="520"/>
                    </a:lnTo>
                    <a:lnTo>
                      <a:pt x="838" y="506"/>
                    </a:lnTo>
                    <a:lnTo>
                      <a:pt x="842" y="492"/>
                    </a:lnTo>
                    <a:lnTo>
                      <a:pt x="846" y="478"/>
                    </a:lnTo>
                    <a:lnTo>
                      <a:pt x="852" y="463"/>
                    </a:lnTo>
                    <a:lnTo>
                      <a:pt x="861" y="417"/>
                    </a:lnTo>
                    <a:lnTo>
                      <a:pt x="868" y="374"/>
                    </a:lnTo>
                    <a:lnTo>
                      <a:pt x="868" y="331"/>
                    </a:lnTo>
                    <a:lnTo>
                      <a:pt x="858" y="282"/>
                    </a:lnTo>
                    <a:lnTo>
                      <a:pt x="853" y="274"/>
                    </a:lnTo>
                    <a:lnTo>
                      <a:pt x="849" y="266"/>
                    </a:lnTo>
                    <a:lnTo>
                      <a:pt x="844" y="259"/>
                    </a:lnTo>
                    <a:lnTo>
                      <a:pt x="841" y="251"/>
                    </a:lnTo>
                    <a:lnTo>
                      <a:pt x="836" y="243"/>
                    </a:lnTo>
                    <a:lnTo>
                      <a:pt x="831" y="235"/>
                    </a:lnTo>
                    <a:lnTo>
                      <a:pt x="827" y="228"/>
                    </a:lnTo>
                    <a:lnTo>
                      <a:pt x="822" y="220"/>
                    </a:lnTo>
                    <a:lnTo>
                      <a:pt x="820" y="250"/>
                    </a:lnTo>
                    <a:lnTo>
                      <a:pt x="816" y="271"/>
                    </a:lnTo>
                    <a:lnTo>
                      <a:pt x="813" y="287"/>
                    </a:lnTo>
                    <a:lnTo>
                      <a:pt x="808" y="298"/>
                    </a:lnTo>
                    <a:lnTo>
                      <a:pt x="801" y="310"/>
                    </a:lnTo>
                    <a:lnTo>
                      <a:pt x="792" y="323"/>
                    </a:lnTo>
                    <a:lnTo>
                      <a:pt x="778" y="339"/>
                    </a:lnTo>
                    <a:lnTo>
                      <a:pt x="760" y="362"/>
                    </a:lnTo>
                    <a:lnTo>
                      <a:pt x="761" y="355"/>
                    </a:lnTo>
                    <a:lnTo>
                      <a:pt x="761" y="348"/>
                    </a:lnTo>
                    <a:lnTo>
                      <a:pt x="761" y="341"/>
                    </a:lnTo>
                    <a:lnTo>
                      <a:pt x="761" y="334"/>
                    </a:lnTo>
                    <a:lnTo>
                      <a:pt x="762" y="325"/>
                    </a:lnTo>
                    <a:lnTo>
                      <a:pt x="765" y="315"/>
                    </a:lnTo>
                    <a:lnTo>
                      <a:pt x="766" y="305"/>
                    </a:lnTo>
                    <a:lnTo>
                      <a:pt x="767" y="296"/>
                    </a:lnTo>
                    <a:lnTo>
                      <a:pt x="751" y="301"/>
                    </a:lnTo>
                    <a:lnTo>
                      <a:pt x="730" y="308"/>
                    </a:lnTo>
                    <a:lnTo>
                      <a:pt x="709" y="315"/>
                    </a:lnTo>
                    <a:lnTo>
                      <a:pt x="693" y="318"/>
                    </a:lnTo>
                    <a:lnTo>
                      <a:pt x="684" y="317"/>
                    </a:lnTo>
                    <a:lnTo>
                      <a:pt x="687" y="309"/>
                    </a:lnTo>
                    <a:lnTo>
                      <a:pt x="706" y="290"/>
                    </a:lnTo>
                    <a:lnTo>
                      <a:pt x="746" y="260"/>
                    </a:lnTo>
                    <a:lnTo>
                      <a:pt x="744" y="237"/>
                    </a:lnTo>
                    <a:lnTo>
                      <a:pt x="737" y="219"/>
                    </a:lnTo>
                    <a:lnTo>
                      <a:pt x="727" y="203"/>
                    </a:lnTo>
                    <a:lnTo>
                      <a:pt x="713" y="190"/>
                    </a:lnTo>
                    <a:lnTo>
                      <a:pt x="696" y="179"/>
                    </a:lnTo>
                    <a:lnTo>
                      <a:pt x="675" y="168"/>
                    </a:lnTo>
                    <a:lnTo>
                      <a:pt x="652" y="158"/>
                    </a:lnTo>
                    <a:lnTo>
                      <a:pt x="626" y="148"/>
                    </a:lnTo>
                    <a:lnTo>
                      <a:pt x="622" y="155"/>
                    </a:lnTo>
                    <a:lnTo>
                      <a:pt x="616" y="163"/>
                    </a:lnTo>
                    <a:lnTo>
                      <a:pt x="611" y="169"/>
                    </a:lnTo>
                    <a:lnTo>
                      <a:pt x="607" y="176"/>
                    </a:lnTo>
                    <a:lnTo>
                      <a:pt x="601" y="184"/>
                    </a:lnTo>
                    <a:lnTo>
                      <a:pt x="596" y="191"/>
                    </a:lnTo>
                    <a:lnTo>
                      <a:pt x="591" y="198"/>
                    </a:lnTo>
                    <a:lnTo>
                      <a:pt x="586" y="205"/>
                    </a:lnTo>
                    <a:lnTo>
                      <a:pt x="580" y="205"/>
                    </a:lnTo>
                    <a:lnTo>
                      <a:pt x="576" y="204"/>
                    </a:lnTo>
                    <a:lnTo>
                      <a:pt x="570" y="204"/>
                    </a:lnTo>
                    <a:lnTo>
                      <a:pt x="565" y="203"/>
                    </a:lnTo>
                    <a:lnTo>
                      <a:pt x="560" y="203"/>
                    </a:lnTo>
                    <a:lnTo>
                      <a:pt x="554" y="202"/>
                    </a:lnTo>
                    <a:lnTo>
                      <a:pt x="549" y="202"/>
                    </a:lnTo>
                    <a:lnTo>
                      <a:pt x="543" y="201"/>
                    </a:lnTo>
                    <a:lnTo>
                      <a:pt x="549" y="172"/>
                    </a:lnTo>
                    <a:lnTo>
                      <a:pt x="555" y="150"/>
                    </a:lnTo>
                    <a:lnTo>
                      <a:pt x="558" y="134"/>
                    </a:lnTo>
                    <a:lnTo>
                      <a:pt x="558" y="122"/>
                    </a:lnTo>
                    <a:lnTo>
                      <a:pt x="552" y="113"/>
                    </a:lnTo>
                    <a:lnTo>
                      <a:pt x="537" y="107"/>
                    </a:lnTo>
                    <a:lnTo>
                      <a:pt x="510" y="102"/>
                    </a:lnTo>
                    <a:lnTo>
                      <a:pt x="470" y="96"/>
                    </a:lnTo>
                    <a:lnTo>
                      <a:pt x="476" y="90"/>
                    </a:lnTo>
                    <a:lnTo>
                      <a:pt x="480" y="84"/>
                    </a:lnTo>
                    <a:lnTo>
                      <a:pt x="486" y="79"/>
                    </a:lnTo>
                    <a:lnTo>
                      <a:pt x="491" y="72"/>
                    </a:lnTo>
                    <a:lnTo>
                      <a:pt x="496" y="66"/>
                    </a:lnTo>
                    <a:lnTo>
                      <a:pt x="501" y="60"/>
                    </a:lnTo>
                    <a:lnTo>
                      <a:pt x="507" y="54"/>
                    </a:lnTo>
                    <a:lnTo>
                      <a:pt x="511" y="49"/>
                    </a:lnTo>
                    <a:lnTo>
                      <a:pt x="488" y="30"/>
                    </a:lnTo>
                    <a:lnTo>
                      <a:pt x="474" y="15"/>
                    </a:lnTo>
                    <a:lnTo>
                      <a:pt x="467" y="5"/>
                    </a:lnTo>
                    <a:lnTo>
                      <a:pt x="461" y="0"/>
                    </a:lnTo>
                    <a:lnTo>
                      <a:pt x="451" y="1"/>
                    </a:lnTo>
                    <a:lnTo>
                      <a:pt x="436" y="11"/>
                    </a:lnTo>
                    <a:lnTo>
                      <a:pt x="409" y="27"/>
                    </a:lnTo>
                    <a:lnTo>
                      <a:pt x="367" y="53"/>
                    </a:lnTo>
                    <a:lnTo>
                      <a:pt x="374" y="65"/>
                    </a:lnTo>
                    <a:lnTo>
                      <a:pt x="381" y="77"/>
                    </a:lnTo>
                    <a:lnTo>
                      <a:pt x="387" y="89"/>
                    </a:lnTo>
                    <a:lnTo>
                      <a:pt x="394" y="102"/>
                    </a:lnTo>
                    <a:lnTo>
                      <a:pt x="393" y="112"/>
                    </a:lnTo>
                    <a:lnTo>
                      <a:pt x="393" y="121"/>
                    </a:lnTo>
                    <a:lnTo>
                      <a:pt x="391" y="131"/>
                    </a:lnTo>
                    <a:lnTo>
                      <a:pt x="390" y="141"/>
                    </a:lnTo>
                    <a:lnTo>
                      <a:pt x="383" y="135"/>
                    </a:lnTo>
                    <a:lnTo>
                      <a:pt x="378" y="128"/>
                    </a:lnTo>
                    <a:lnTo>
                      <a:pt x="371" y="121"/>
                    </a:lnTo>
                    <a:lnTo>
                      <a:pt x="365" y="115"/>
                    </a:lnTo>
                    <a:lnTo>
                      <a:pt x="360" y="107"/>
                    </a:lnTo>
                    <a:lnTo>
                      <a:pt x="357" y="98"/>
                    </a:lnTo>
                    <a:lnTo>
                      <a:pt x="353" y="90"/>
                    </a:lnTo>
                    <a:lnTo>
                      <a:pt x="349" y="82"/>
                    </a:lnTo>
                    <a:lnTo>
                      <a:pt x="342" y="80"/>
                    </a:lnTo>
                    <a:lnTo>
                      <a:pt x="336" y="77"/>
                    </a:lnTo>
                    <a:lnTo>
                      <a:pt x="329" y="75"/>
                    </a:lnTo>
                    <a:lnTo>
                      <a:pt x="324" y="73"/>
                    </a:lnTo>
                    <a:lnTo>
                      <a:pt x="317" y="70"/>
                    </a:lnTo>
                    <a:lnTo>
                      <a:pt x="310" y="68"/>
                    </a:lnTo>
                    <a:lnTo>
                      <a:pt x="304" y="66"/>
                    </a:lnTo>
                    <a:lnTo>
                      <a:pt x="297" y="64"/>
                    </a:lnTo>
                    <a:lnTo>
                      <a:pt x="303" y="60"/>
                    </a:lnTo>
                    <a:lnTo>
                      <a:pt x="309" y="55"/>
                    </a:lnTo>
                    <a:lnTo>
                      <a:pt x="314" y="52"/>
                    </a:lnTo>
                    <a:lnTo>
                      <a:pt x="320" y="47"/>
                    </a:lnTo>
                    <a:lnTo>
                      <a:pt x="325" y="44"/>
                    </a:lnTo>
                    <a:lnTo>
                      <a:pt x="330" y="41"/>
                    </a:lnTo>
                    <a:lnTo>
                      <a:pt x="336" y="36"/>
                    </a:lnTo>
                    <a:lnTo>
                      <a:pt x="342" y="32"/>
                    </a:lnTo>
                    <a:lnTo>
                      <a:pt x="307" y="27"/>
                    </a:lnTo>
                    <a:lnTo>
                      <a:pt x="281" y="22"/>
                    </a:lnTo>
                    <a:lnTo>
                      <a:pt x="259" y="20"/>
                    </a:lnTo>
                    <a:lnTo>
                      <a:pt x="241" y="21"/>
                    </a:lnTo>
                    <a:lnTo>
                      <a:pt x="223" y="26"/>
                    </a:lnTo>
                    <a:lnTo>
                      <a:pt x="206" y="35"/>
                    </a:lnTo>
                    <a:lnTo>
                      <a:pt x="185" y="50"/>
                    </a:lnTo>
                    <a:lnTo>
                      <a:pt x="161" y="70"/>
                    </a:lnTo>
                    <a:lnTo>
                      <a:pt x="159" y="68"/>
                    </a:lnTo>
                    <a:lnTo>
                      <a:pt x="155" y="67"/>
                    </a:lnTo>
                    <a:lnTo>
                      <a:pt x="152" y="65"/>
                    </a:lnTo>
                    <a:lnTo>
                      <a:pt x="148" y="64"/>
                    </a:lnTo>
                    <a:lnTo>
                      <a:pt x="154" y="59"/>
                    </a:lnTo>
                    <a:lnTo>
                      <a:pt x="160" y="55"/>
                    </a:lnTo>
                    <a:lnTo>
                      <a:pt x="166" y="51"/>
                    </a:lnTo>
                    <a:lnTo>
                      <a:pt x="170" y="46"/>
                    </a:lnTo>
                    <a:lnTo>
                      <a:pt x="176" y="43"/>
                    </a:lnTo>
                    <a:lnTo>
                      <a:pt x="182" y="38"/>
                    </a:lnTo>
                    <a:lnTo>
                      <a:pt x="187" y="35"/>
                    </a:lnTo>
                    <a:lnTo>
                      <a:pt x="192" y="30"/>
                    </a:lnTo>
                    <a:lnTo>
                      <a:pt x="187" y="28"/>
                    </a:lnTo>
                    <a:lnTo>
                      <a:pt x="181" y="26"/>
                    </a:lnTo>
                    <a:lnTo>
                      <a:pt x="175" y="23"/>
                    </a:lnTo>
                    <a:lnTo>
                      <a:pt x="169" y="21"/>
                    </a:lnTo>
                    <a:lnTo>
                      <a:pt x="163" y="19"/>
                    </a:lnTo>
                    <a:lnTo>
                      <a:pt x="158" y="16"/>
                    </a:lnTo>
                    <a:lnTo>
                      <a:pt x="152" y="14"/>
                    </a:lnTo>
                    <a:lnTo>
                      <a:pt x="146" y="12"/>
                    </a:lnTo>
                    <a:lnTo>
                      <a:pt x="139" y="13"/>
                    </a:lnTo>
                    <a:lnTo>
                      <a:pt x="134" y="15"/>
                    </a:lnTo>
                    <a:lnTo>
                      <a:pt x="127" y="16"/>
                    </a:lnTo>
                    <a:lnTo>
                      <a:pt x="121" y="17"/>
                    </a:lnTo>
                    <a:lnTo>
                      <a:pt x="114" y="20"/>
                    </a:lnTo>
                    <a:lnTo>
                      <a:pt x="107" y="21"/>
                    </a:lnTo>
                    <a:lnTo>
                      <a:pt x="101" y="23"/>
                    </a:lnTo>
                    <a:lnTo>
                      <a:pt x="94" y="24"/>
                    </a:lnTo>
                    <a:close/>
                  </a:path>
                </a:pathLst>
              </a:custGeom>
              <a:solidFill>
                <a:srgbClr val="DDDD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3" name="Freeform 49"/>
              <p:cNvSpPr>
                <a:spLocks/>
              </p:cNvSpPr>
              <p:nvPr/>
            </p:nvSpPr>
            <p:spPr bwMode="auto">
              <a:xfrm>
                <a:off x="15875" y="3298825"/>
                <a:ext cx="682625" cy="592138"/>
              </a:xfrm>
              <a:custGeom>
                <a:avLst/>
                <a:gdLst/>
                <a:ahLst/>
                <a:cxnLst>
                  <a:cxn ang="0">
                    <a:pos x="23" y="104"/>
                  </a:cxn>
                  <a:cxn ang="0">
                    <a:pos x="17" y="180"/>
                  </a:cxn>
                  <a:cxn ang="0">
                    <a:pos x="52" y="188"/>
                  </a:cxn>
                  <a:cxn ang="0">
                    <a:pos x="83" y="173"/>
                  </a:cxn>
                  <a:cxn ang="0">
                    <a:pos x="112" y="219"/>
                  </a:cxn>
                  <a:cxn ang="0">
                    <a:pos x="204" y="226"/>
                  </a:cxn>
                  <a:cxn ang="0">
                    <a:pos x="308" y="175"/>
                  </a:cxn>
                  <a:cxn ang="0">
                    <a:pos x="285" y="275"/>
                  </a:cxn>
                  <a:cxn ang="0">
                    <a:pos x="189" y="264"/>
                  </a:cxn>
                  <a:cxn ang="0">
                    <a:pos x="161" y="323"/>
                  </a:cxn>
                  <a:cxn ang="0">
                    <a:pos x="185" y="383"/>
                  </a:cxn>
                  <a:cxn ang="0">
                    <a:pos x="216" y="406"/>
                  </a:cxn>
                  <a:cxn ang="0">
                    <a:pos x="258" y="383"/>
                  </a:cxn>
                  <a:cxn ang="0">
                    <a:pos x="270" y="346"/>
                  </a:cxn>
                  <a:cxn ang="0">
                    <a:pos x="297" y="333"/>
                  </a:cxn>
                  <a:cxn ang="0">
                    <a:pos x="332" y="319"/>
                  </a:cxn>
                  <a:cxn ang="0">
                    <a:pos x="380" y="319"/>
                  </a:cxn>
                  <a:cxn ang="0">
                    <a:pos x="433" y="373"/>
                  </a:cxn>
                  <a:cxn ang="0">
                    <a:pos x="475" y="290"/>
                  </a:cxn>
                  <a:cxn ang="0">
                    <a:pos x="515" y="305"/>
                  </a:cxn>
                  <a:cxn ang="0">
                    <a:pos x="549" y="342"/>
                  </a:cxn>
                  <a:cxn ang="0">
                    <a:pos x="535" y="408"/>
                  </a:cxn>
                  <a:cxn ang="0">
                    <a:pos x="589" y="451"/>
                  </a:cxn>
                  <a:cxn ang="0">
                    <a:pos x="568" y="487"/>
                  </a:cxn>
                  <a:cxn ang="0">
                    <a:pos x="515" y="452"/>
                  </a:cxn>
                  <a:cxn ang="0">
                    <a:pos x="508" y="535"/>
                  </a:cxn>
                  <a:cxn ang="0">
                    <a:pos x="477" y="582"/>
                  </a:cxn>
                  <a:cxn ang="0">
                    <a:pos x="444" y="657"/>
                  </a:cxn>
                  <a:cxn ang="0">
                    <a:pos x="479" y="727"/>
                  </a:cxn>
                  <a:cxn ang="0">
                    <a:pos x="565" y="681"/>
                  </a:cxn>
                  <a:cxn ang="0">
                    <a:pos x="585" y="714"/>
                  </a:cxn>
                  <a:cxn ang="0">
                    <a:pos x="626" y="743"/>
                  </a:cxn>
                  <a:cxn ang="0">
                    <a:pos x="694" y="705"/>
                  </a:cxn>
                  <a:cxn ang="0">
                    <a:pos x="755" y="612"/>
                  </a:cxn>
                  <a:cxn ang="0">
                    <a:pos x="814" y="512"/>
                  </a:cxn>
                  <a:cxn ang="0">
                    <a:pos x="851" y="399"/>
                  </a:cxn>
                  <a:cxn ang="0">
                    <a:pos x="841" y="262"/>
                  </a:cxn>
                  <a:cxn ang="0">
                    <a:pos x="806" y="288"/>
                  </a:cxn>
                  <a:cxn ang="0">
                    <a:pos x="748" y="355"/>
                  </a:cxn>
                  <a:cxn ang="0">
                    <a:pos x="752" y="303"/>
                  </a:cxn>
                  <a:cxn ang="0">
                    <a:pos x="665" y="313"/>
                  </a:cxn>
                  <a:cxn ang="0">
                    <a:pos x="710" y="198"/>
                  </a:cxn>
                  <a:cxn ang="0">
                    <a:pos x="616" y="156"/>
                  </a:cxn>
                  <a:cxn ang="0">
                    <a:pos x="586" y="203"/>
                  </a:cxn>
                  <a:cxn ang="0">
                    <a:pos x="549" y="202"/>
                  </a:cxn>
                  <a:cxn ang="0">
                    <a:pos x="545" y="130"/>
                  </a:cxn>
                  <a:cxn ang="0">
                    <a:pos x="459" y="87"/>
                  </a:cxn>
                  <a:cxn ang="0">
                    <a:pos x="489" y="50"/>
                  </a:cxn>
                  <a:cxn ang="0">
                    <a:pos x="437" y="3"/>
                  </a:cxn>
                  <a:cxn ang="0">
                    <a:pos x="387" y="83"/>
                  </a:cxn>
                  <a:cxn ang="0">
                    <a:pos x="378" y="134"/>
                  </a:cxn>
                  <a:cxn ang="0">
                    <a:pos x="343" y="88"/>
                  </a:cxn>
                  <a:cxn ang="0">
                    <a:pos x="297" y="69"/>
                  </a:cxn>
                  <a:cxn ang="0">
                    <a:pos x="292" y="50"/>
                  </a:cxn>
                  <a:cxn ang="0">
                    <a:pos x="292" y="22"/>
                  </a:cxn>
                  <a:cxn ang="0">
                    <a:pos x="171" y="53"/>
                  </a:cxn>
                  <a:cxn ang="0">
                    <a:pos x="141" y="50"/>
                  </a:cxn>
                  <a:cxn ang="0">
                    <a:pos x="173" y="27"/>
                  </a:cxn>
                  <a:cxn ang="0">
                    <a:pos x="153" y="14"/>
                  </a:cxn>
                  <a:cxn ang="0">
                    <a:pos x="120" y="14"/>
                  </a:cxn>
                </a:cxnLst>
                <a:rect l="0" t="0" r="r" b="b"/>
                <a:pathLst>
                  <a:path w="859" h="745">
                    <a:moveTo>
                      <a:pt x="90" y="23"/>
                    </a:moveTo>
                    <a:lnTo>
                      <a:pt x="71" y="41"/>
                    </a:lnTo>
                    <a:lnTo>
                      <a:pt x="56" y="56"/>
                    </a:lnTo>
                    <a:lnTo>
                      <a:pt x="42" y="71"/>
                    </a:lnTo>
                    <a:lnTo>
                      <a:pt x="32" y="87"/>
                    </a:lnTo>
                    <a:lnTo>
                      <a:pt x="23" y="104"/>
                    </a:lnTo>
                    <a:lnTo>
                      <a:pt x="15" y="122"/>
                    </a:lnTo>
                    <a:lnTo>
                      <a:pt x="8" y="145"/>
                    </a:lnTo>
                    <a:lnTo>
                      <a:pt x="0" y="171"/>
                    </a:lnTo>
                    <a:lnTo>
                      <a:pt x="6" y="174"/>
                    </a:lnTo>
                    <a:lnTo>
                      <a:pt x="11" y="176"/>
                    </a:lnTo>
                    <a:lnTo>
                      <a:pt x="17" y="180"/>
                    </a:lnTo>
                    <a:lnTo>
                      <a:pt x="23" y="182"/>
                    </a:lnTo>
                    <a:lnTo>
                      <a:pt x="29" y="186"/>
                    </a:lnTo>
                    <a:lnTo>
                      <a:pt x="34" y="188"/>
                    </a:lnTo>
                    <a:lnTo>
                      <a:pt x="40" y="191"/>
                    </a:lnTo>
                    <a:lnTo>
                      <a:pt x="46" y="194"/>
                    </a:lnTo>
                    <a:lnTo>
                      <a:pt x="52" y="188"/>
                    </a:lnTo>
                    <a:lnTo>
                      <a:pt x="56" y="183"/>
                    </a:lnTo>
                    <a:lnTo>
                      <a:pt x="62" y="178"/>
                    </a:lnTo>
                    <a:lnTo>
                      <a:pt x="67" y="173"/>
                    </a:lnTo>
                    <a:lnTo>
                      <a:pt x="72" y="173"/>
                    </a:lnTo>
                    <a:lnTo>
                      <a:pt x="77" y="173"/>
                    </a:lnTo>
                    <a:lnTo>
                      <a:pt x="83" y="173"/>
                    </a:lnTo>
                    <a:lnTo>
                      <a:pt x="87" y="174"/>
                    </a:lnTo>
                    <a:lnTo>
                      <a:pt x="85" y="190"/>
                    </a:lnTo>
                    <a:lnTo>
                      <a:pt x="87" y="204"/>
                    </a:lnTo>
                    <a:lnTo>
                      <a:pt x="93" y="213"/>
                    </a:lnTo>
                    <a:lnTo>
                      <a:pt x="101" y="219"/>
                    </a:lnTo>
                    <a:lnTo>
                      <a:pt x="112" y="219"/>
                    </a:lnTo>
                    <a:lnTo>
                      <a:pt x="122" y="214"/>
                    </a:lnTo>
                    <a:lnTo>
                      <a:pt x="132" y="203"/>
                    </a:lnTo>
                    <a:lnTo>
                      <a:pt x="141" y="186"/>
                    </a:lnTo>
                    <a:lnTo>
                      <a:pt x="167" y="209"/>
                    </a:lnTo>
                    <a:lnTo>
                      <a:pt x="186" y="221"/>
                    </a:lnTo>
                    <a:lnTo>
                      <a:pt x="204" y="226"/>
                    </a:lnTo>
                    <a:lnTo>
                      <a:pt x="220" y="223"/>
                    </a:lnTo>
                    <a:lnTo>
                      <a:pt x="236" y="212"/>
                    </a:lnTo>
                    <a:lnTo>
                      <a:pt x="254" y="197"/>
                    </a:lnTo>
                    <a:lnTo>
                      <a:pt x="276" y="179"/>
                    </a:lnTo>
                    <a:lnTo>
                      <a:pt x="303" y="157"/>
                    </a:lnTo>
                    <a:lnTo>
                      <a:pt x="308" y="175"/>
                    </a:lnTo>
                    <a:lnTo>
                      <a:pt x="315" y="194"/>
                    </a:lnTo>
                    <a:lnTo>
                      <a:pt x="321" y="212"/>
                    </a:lnTo>
                    <a:lnTo>
                      <a:pt x="327" y="231"/>
                    </a:lnTo>
                    <a:lnTo>
                      <a:pt x="311" y="254"/>
                    </a:lnTo>
                    <a:lnTo>
                      <a:pt x="297" y="267"/>
                    </a:lnTo>
                    <a:lnTo>
                      <a:pt x="285" y="275"/>
                    </a:lnTo>
                    <a:lnTo>
                      <a:pt x="273" y="279"/>
                    </a:lnTo>
                    <a:lnTo>
                      <a:pt x="259" y="277"/>
                    </a:lnTo>
                    <a:lnTo>
                      <a:pt x="242" y="271"/>
                    </a:lnTo>
                    <a:lnTo>
                      <a:pt x="220" y="264"/>
                    </a:lnTo>
                    <a:lnTo>
                      <a:pt x="193" y="255"/>
                    </a:lnTo>
                    <a:lnTo>
                      <a:pt x="189" y="264"/>
                    </a:lnTo>
                    <a:lnTo>
                      <a:pt x="184" y="274"/>
                    </a:lnTo>
                    <a:lnTo>
                      <a:pt x="180" y="284"/>
                    </a:lnTo>
                    <a:lnTo>
                      <a:pt x="175" y="293"/>
                    </a:lnTo>
                    <a:lnTo>
                      <a:pt x="170" y="303"/>
                    </a:lnTo>
                    <a:lnTo>
                      <a:pt x="166" y="312"/>
                    </a:lnTo>
                    <a:lnTo>
                      <a:pt x="161" y="323"/>
                    </a:lnTo>
                    <a:lnTo>
                      <a:pt x="156" y="332"/>
                    </a:lnTo>
                    <a:lnTo>
                      <a:pt x="162" y="343"/>
                    </a:lnTo>
                    <a:lnTo>
                      <a:pt x="168" y="355"/>
                    </a:lnTo>
                    <a:lnTo>
                      <a:pt x="174" y="368"/>
                    </a:lnTo>
                    <a:lnTo>
                      <a:pt x="180" y="379"/>
                    </a:lnTo>
                    <a:lnTo>
                      <a:pt x="185" y="383"/>
                    </a:lnTo>
                    <a:lnTo>
                      <a:pt x="190" y="387"/>
                    </a:lnTo>
                    <a:lnTo>
                      <a:pt x="196" y="391"/>
                    </a:lnTo>
                    <a:lnTo>
                      <a:pt x="200" y="394"/>
                    </a:lnTo>
                    <a:lnTo>
                      <a:pt x="206" y="398"/>
                    </a:lnTo>
                    <a:lnTo>
                      <a:pt x="211" y="401"/>
                    </a:lnTo>
                    <a:lnTo>
                      <a:pt x="216" y="406"/>
                    </a:lnTo>
                    <a:lnTo>
                      <a:pt x="221" y="409"/>
                    </a:lnTo>
                    <a:lnTo>
                      <a:pt x="228" y="403"/>
                    </a:lnTo>
                    <a:lnTo>
                      <a:pt x="236" y="399"/>
                    </a:lnTo>
                    <a:lnTo>
                      <a:pt x="243" y="393"/>
                    </a:lnTo>
                    <a:lnTo>
                      <a:pt x="251" y="388"/>
                    </a:lnTo>
                    <a:lnTo>
                      <a:pt x="258" y="383"/>
                    </a:lnTo>
                    <a:lnTo>
                      <a:pt x="265" y="378"/>
                    </a:lnTo>
                    <a:lnTo>
                      <a:pt x="273" y="372"/>
                    </a:lnTo>
                    <a:lnTo>
                      <a:pt x="280" y="368"/>
                    </a:lnTo>
                    <a:lnTo>
                      <a:pt x="276" y="360"/>
                    </a:lnTo>
                    <a:lnTo>
                      <a:pt x="274" y="353"/>
                    </a:lnTo>
                    <a:lnTo>
                      <a:pt x="270" y="346"/>
                    </a:lnTo>
                    <a:lnTo>
                      <a:pt x="267" y="338"/>
                    </a:lnTo>
                    <a:lnTo>
                      <a:pt x="273" y="337"/>
                    </a:lnTo>
                    <a:lnTo>
                      <a:pt x="280" y="335"/>
                    </a:lnTo>
                    <a:lnTo>
                      <a:pt x="285" y="334"/>
                    </a:lnTo>
                    <a:lnTo>
                      <a:pt x="291" y="333"/>
                    </a:lnTo>
                    <a:lnTo>
                      <a:pt x="297" y="333"/>
                    </a:lnTo>
                    <a:lnTo>
                      <a:pt x="304" y="332"/>
                    </a:lnTo>
                    <a:lnTo>
                      <a:pt x="310" y="331"/>
                    </a:lnTo>
                    <a:lnTo>
                      <a:pt x="315" y="330"/>
                    </a:lnTo>
                    <a:lnTo>
                      <a:pt x="321" y="326"/>
                    </a:lnTo>
                    <a:lnTo>
                      <a:pt x="326" y="323"/>
                    </a:lnTo>
                    <a:lnTo>
                      <a:pt x="332" y="319"/>
                    </a:lnTo>
                    <a:lnTo>
                      <a:pt x="337" y="316"/>
                    </a:lnTo>
                    <a:lnTo>
                      <a:pt x="343" y="313"/>
                    </a:lnTo>
                    <a:lnTo>
                      <a:pt x="349" y="310"/>
                    </a:lnTo>
                    <a:lnTo>
                      <a:pt x="353" y="307"/>
                    </a:lnTo>
                    <a:lnTo>
                      <a:pt x="359" y="303"/>
                    </a:lnTo>
                    <a:lnTo>
                      <a:pt x="380" y="319"/>
                    </a:lnTo>
                    <a:lnTo>
                      <a:pt x="393" y="335"/>
                    </a:lnTo>
                    <a:lnTo>
                      <a:pt x="399" y="349"/>
                    </a:lnTo>
                    <a:lnTo>
                      <a:pt x="404" y="361"/>
                    </a:lnTo>
                    <a:lnTo>
                      <a:pt x="409" y="370"/>
                    </a:lnTo>
                    <a:lnTo>
                      <a:pt x="418" y="373"/>
                    </a:lnTo>
                    <a:lnTo>
                      <a:pt x="433" y="373"/>
                    </a:lnTo>
                    <a:lnTo>
                      <a:pt x="457" y="366"/>
                    </a:lnTo>
                    <a:lnTo>
                      <a:pt x="459" y="347"/>
                    </a:lnTo>
                    <a:lnTo>
                      <a:pt x="463" y="327"/>
                    </a:lnTo>
                    <a:lnTo>
                      <a:pt x="465" y="308"/>
                    </a:lnTo>
                    <a:lnTo>
                      <a:pt x="469" y="288"/>
                    </a:lnTo>
                    <a:lnTo>
                      <a:pt x="475" y="290"/>
                    </a:lnTo>
                    <a:lnTo>
                      <a:pt x="481" y="293"/>
                    </a:lnTo>
                    <a:lnTo>
                      <a:pt x="488" y="295"/>
                    </a:lnTo>
                    <a:lnTo>
                      <a:pt x="495" y="297"/>
                    </a:lnTo>
                    <a:lnTo>
                      <a:pt x="502" y="300"/>
                    </a:lnTo>
                    <a:lnTo>
                      <a:pt x="509" y="303"/>
                    </a:lnTo>
                    <a:lnTo>
                      <a:pt x="515" y="305"/>
                    </a:lnTo>
                    <a:lnTo>
                      <a:pt x="522" y="308"/>
                    </a:lnTo>
                    <a:lnTo>
                      <a:pt x="527" y="315"/>
                    </a:lnTo>
                    <a:lnTo>
                      <a:pt x="533" y="322"/>
                    </a:lnTo>
                    <a:lnTo>
                      <a:pt x="539" y="328"/>
                    </a:lnTo>
                    <a:lnTo>
                      <a:pt x="543" y="335"/>
                    </a:lnTo>
                    <a:lnTo>
                      <a:pt x="549" y="342"/>
                    </a:lnTo>
                    <a:lnTo>
                      <a:pt x="555" y="349"/>
                    </a:lnTo>
                    <a:lnTo>
                      <a:pt x="560" y="357"/>
                    </a:lnTo>
                    <a:lnTo>
                      <a:pt x="565" y="364"/>
                    </a:lnTo>
                    <a:lnTo>
                      <a:pt x="551" y="380"/>
                    </a:lnTo>
                    <a:lnTo>
                      <a:pt x="541" y="395"/>
                    </a:lnTo>
                    <a:lnTo>
                      <a:pt x="535" y="408"/>
                    </a:lnTo>
                    <a:lnTo>
                      <a:pt x="533" y="418"/>
                    </a:lnTo>
                    <a:lnTo>
                      <a:pt x="536" y="426"/>
                    </a:lnTo>
                    <a:lnTo>
                      <a:pt x="547" y="432"/>
                    </a:lnTo>
                    <a:lnTo>
                      <a:pt x="565" y="436"/>
                    </a:lnTo>
                    <a:lnTo>
                      <a:pt x="591" y="436"/>
                    </a:lnTo>
                    <a:lnTo>
                      <a:pt x="589" y="451"/>
                    </a:lnTo>
                    <a:lnTo>
                      <a:pt x="589" y="464"/>
                    </a:lnTo>
                    <a:lnTo>
                      <a:pt x="588" y="478"/>
                    </a:lnTo>
                    <a:lnTo>
                      <a:pt x="587" y="493"/>
                    </a:lnTo>
                    <a:lnTo>
                      <a:pt x="580" y="491"/>
                    </a:lnTo>
                    <a:lnTo>
                      <a:pt x="575" y="489"/>
                    </a:lnTo>
                    <a:lnTo>
                      <a:pt x="568" y="487"/>
                    </a:lnTo>
                    <a:lnTo>
                      <a:pt x="561" y="485"/>
                    </a:lnTo>
                    <a:lnTo>
                      <a:pt x="554" y="483"/>
                    </a:lnTo>
                    <a:lnTo>
                      <a:pt x="547" y="482"/>
                    </a:lnTo>
                    <a:lnTo>
                      <a:pt x="541" y="479"/>
                    </a:lnTo>
                    <a:lnTo>
                      <a:pt x="534" y="477"/>
                    </a:lnTo>
                    <a:lnTo>
                      <a:pt x="515" y="452"/>
                    </a:lnTo>
                    <a:lnTo>
                      <a:pt x="498" y="444"/>
                    </a:lnTo>
                    <a:lnTo>
                      <a:pt x="486" y="451"/>
                    </a:lnTo>
                    <a:lnTo>
                      <a:pt x="479" y="467"/>
                    </a:lnTo>
                    <a:lnTo>
                      <a:pt x="479" y="489"/>
                    </a:lnTo>
                    <a:lnTo>
                      <a:pt x="488" y="513"/>
                    </a:lnTo>
                    <a:lnTo>
                      <a:pt x="508" y="535"/>
                    </a:lnTo>
                    <a:lnTo>
                      <a:pt x="538" y="551"/>
                    </a:lnTo>
                    <a:lnTo>
                      <a:pt x="531" y="558"/>
                    </a:lnTo>
                    <a:lnTo>
                      <a:pt x="524" y="565"/>
                    </a:lnTo>
                    <a:lnTo>
                      <a:pt x="517" y="571"/>
                    </a:lnTo>
                    <a:lnTo>
                      <a:pt x="510" y="578"/>
                    </a:lnTo>
                    <a:lnTo>
                      <a:pt x="477" y="582"/>
                    </a:lnTo>
                    <a:lnTo>
                      <a:pt x="459" y="591"/>
                    </a:lnTo>
                    <a:lnTo>
                      <a:pt x="454" y="604"/>
                    </a:lnTo>
                    <a:lnTo>
                      <a:pt x="455" y="619"/>
                    </a:lnTo>
                    <a:lnTo>
                      <a:pt x="457" y="635"/>
                    </a:lnTo>
                    <a:lnTo>
                      <a:pt x="456" y="647"/>
                    </a:lnTo>
                    <a:lnTo>
                      <a:pt x="444" y="657"/>
                    </a:lnTo>
                    <a:lnTo>
                      <a:pt x="419" y="660"/>
                    </a:lnTo>
                    <a:lnTo>
                      <a:pt x="431" y="685"/>
                    </a:lnTo>
                    <a:lnTo>
                      <a:pt x="442" y="704"/>
                    </a:lnTo>
                    <a:lnTo>
                      <a:pt x="452" y="717"/>
                    </a:lnTo>
                    <a:lnTo>
                      <a:pt x="465" y="723"/>
                    </a:lnTo>
                    <a:lnTo>
                      <a:pt x="479" y="727"/>
                    </a:lnTo>
                    <a:lnTo>
                      <a:pt x="496" y="728"/>
                    </a:lnTo>
                    <a:lnTo>
                      <a:pt x="518" y="726"/>
                    </a:lnTo>
                    <a:lnTo>
                      <a:pt x="545" y="721"/>
                    </a:lnTo>
                    <a:lnTo>
                      <a:pt x="551" y="708"/>
                    </a:lnTo>
                    <a:lnTo>
                      <a:pt x="558" y="695"/>
                    </a:lnTo>
                    <a:lnTo>
                      <a:pt x="565" y="681"/>
                    </a:lnTo>
                    <a:lnTo>
                      <a:pt x="571" y="667"/>
                    </a:lnTo>
                    <a:lnTo>
                      <a:pt x="575" y="676"/>
                    </a:lnTo>
                    <a:lnTo>
                      <a:pt x="577" y="685"/>
                    </a:lnTo>
                    <a:lnTo>
                      <a:pt x="580" y="695"/>
                    </a:lnTo>
                    <a:lnTo>
                      <a:pt x="583" y="704"/>
                    </a:lnTo>
                    <a:lnTo>
                      <a:pt x="585" y="714"/>
                    </a:lnTo>
                    <a:lnTo>
                      <a:pt x="587" y="725"/>
                    </a:lnTo>
                    <a:lnTo>
                      <a:pt x="589" y="735"/>
                    </a:lnTo>
                    <a:lnTo>
                      <a:pt x="592" y="745"/>
                    </a:lnTo>
                    <a:lnTo>
                      <a:pt x="604" y="745"/>
                    </a:lnTo>
                    <a:lnTo>
                      <a:pt x="616" y="744"/>
                    </a:lnTo>
                    <a:lnTo>
                      <a:pt x="626" y="743"/>
                    </a:lnTo>
                    <a:lnTo>
                      <a:pt x="637" y="740"/>
                    </a:lnTo>
                    <a:lnTo>
                      <a:pt x="646" y="736"/>
                    </a:lnTo>
                    <a:lnTo>
                      <a:pt x="655" y="729"/>
                    </a:lnTo>
                    <a:lnTo>
                      <a:pt x="664" y="722"/>
                    </a:lnTo>
                    <a:lnTo>
                      <a:pt x="674" y="712"/>
                    </a:lnTo>
                    <a:lnTo>
                      <a:pt x="694" y="705"/>
                    </a:lnTo>
                    <a:lnTo>
                      <a:pt x="709" y="695"/>
                    </a:lnTo>
                    <a:lnTo>
                      <a:pt x="721" y="682"/>
                    </a:lnTo>
                    <a:lnTo>
                      <a:pt x="729" y="666"/>
                    </a:lnTo>
                    <a:lnTo>
                      <a:pt x="737" y="650"/>
                    </a:lnTo>
                    <a:lnTo>
                      <a:pt x="745" y="631"/>
                    </a:lnTo>
                    <a:lnTo>
                      <a:pt x="755" y="612"/>
                    </a:lnTo>
                    <a:lnTo>
                      <a:pt x="770" y="592"/>
                    </a:lnTo>
                    <a:lnTo>
                      <a:pt x="786" y="570"/>
                    </a:lnTo>
                    <a:lnTo>
                      <a:pt x="798" y="552"/>
                    </a:lnTo>
                    <a:lnTo>
                      <a:pt x="806" y="537"/>
                    </a:lnTo>
                    <a:lnTo>
                      <a:pt x="811" y="523"/>
                    </a:lnTo>
                    <a:lnTo>
                      <a:pt x="814" y="512"/>
                    </a:lnTo>
                    <a:lnTo>
                      <a:pt x="817" y="500"/>
                    </a:lnTo>
                    <a:lnTo>
                      <a:pt x="822" y="487"/>
                    </a:lnTo>
                    <a:lnTo>
                      <a:pt x="830" y="474"/>
                    </a:lnTo>
                    <a:lnTo>
                      <a:pt x="837" y="447"/>
                    </a:lnTo>
                    <a:lnTo>
                      <a:pt x="844" y="423"/>
                    </a:lnTo>
                    <a:lnTo>
                      <a:pt x="851" y="399"/>
                    </a:lnTo>
                    <a:lnTo>
                      <a:pt x="855" y="377"/>
                    </a:lnTo>
                    <a:lnTo>
                      <a:pt x="858" y="354"/>
                    </a:lnTo>
                    <a:lnTo>
                      <a:pt x="859" y="330"/>
                    </a:lnTo>
                    <a:lnTo>
                      <a:pt x="855" y="304"/>
                    </a:lnTo>
                    <a:lnTo>
                      <a:pt x="849" y="275"/>
                    </a:lnTo>
                    <a:lnTo>
                      <a:pt x="841" y="262"/>
                    </a:lnTo>
                    <a:lnTo>
                      <a:pt x="832" y="248"/>
                    </a:lnTo>
                    <a:lnTo>
                      <a:pt x="823" y="234"/>
                    </a:lnTo>
                    <a:lnTo>
                      <a:pt x="815" y="220"/>
                    </a:lnTo>
                    <a:lnTo>
                      <a:pt x="813" y="250"/>
                    </a:lnTo>
                    <a:lnTo>
                      <a:pt x="809" y="272"/>
                    </a:lnTo>
                    <a:lnTo>
                      <a:pt x="806" y="288"/>
                    </a:lnTo>
                    <a:lnTo>
                      <a:pt x="801" y="301"/>
                    </a:lnTo>
                    <a:lnTo>
                      <a:pt x="793" y="313"/>
                    </a:lnTo>
                    <a:lnTo>
                      <a:pt x="782" y="326"/>
                    </a:lnTo>
                    <a:lnTo>
                      <a:pt x="768" y="342"/>
                    </a:lnTo>
                    <a:lnTo>
                      <a:pt x="748" y="363"/>
                    </a:lnTo>
                    <a:lnTo>
                      <a:pt x="748" y="355"/>
                    </a:lnTo>
                    <a:lnTo>
                      <a:pt x="748" y="347"/>
                    </a:lnTo>
                    <a:lnTo>
                      <a:pt x="747" y="340"/>
                    </a:lnTo>
                    <a:lnTo>
                      <a:pt x="747" y="333"/>
                    </a:lnTo>
                    <a:lnTo>
                      <a:pt x="748" y="323"/>
                    </a:lnTo>
                    <a:lnTo>
                      <a:pt x="750" y="313"/>
                    </a:lnTo>
                    <a:lnTo>
                      <a:pt x="752" y="303"/>
                    </a:lnTo>
                    <a:lnTo>
                      <a:pt x="753" y="294"/>
                    </a:lnTo>
                    <a:lnTo>
                      <a:pt x="737" y="302"/>
                    </a:lnTo>
                    <a:lnTo>
                      <a:pt x="715" y="309"/>
                    </a:lnTo>
                    <a:lnTo>
                      <a:pt x="694" y="315"/>
                    </a:lnTo>
                    <a:lnTo>
                      <a:pt x="676" y="317"/>
                    </a:lnTo>
                    <a:lnTo>
                      <a:pt x="665" y="313"/>
                    </a:lnTo>
                    <a:lnTo>
                      <a:pt x="668" y="303"/>
                    </a:lnTo>
                    <a:lnTo>
                      <a:pt x="686" y="284"/>
                    </a:lnTo>
                    <a:lnTo>
                      <a:pt x="725" y="252"/>
                    </a:lnTo>
                    <a:lnTo>
                      <a:pt x="723" y="231"/>
                    </a:lnTo>
                    <a:lnTo>
                      <a:pt x="718" y="212"/>
                    </a:lnTo>
                    <a:lnTo>
                      <a:pt x="710" y="198"/>
                    </a:lnTo>
                    <a:lnTo>
                      <a:pt x="699" y="187"/>
                    </a:lnTo>
                    <a:lnTo>
                      <a:pt x="685" y="176"/>
                    </a:lnTo>
                    <a:lnTo>
                      <a:pt x="667" y="167"/>
                    </a:lnTo>
                    <a:lnTo>
                      <a:pt x="646" y="158"/>
                    </a:lnTo>
                    <a:lnTo>
                      <a:pt x="621" y="148"/>
                    </a:lnTo>
                    <a:lnTo>
                      <a:pt x="616" y="156"/>
                    </a:lnTo>
                    <a:lnTo>
                      <a:pt x="611" y="164"/>
                    </a:lnTo>
                    <a:lnTo>
                      <a:pt x="606" y="172"/>
                    </a:lnTo>
                    <a:lnTo>
                      <a:pt x="601" y="180"/>
                    </a:lnTo>
                    <a:lnTo>
                      <a:pt x="596" y="188"/>
                    </a:lnTo>
                    <a:lnTo>
                      <a:pt x="591" y="195"/>
                    </a:lnTo>
                    <a:lnTo>
                      <a:pt x="586" y="203"/>
                    </a:lnTo>
                    <a:lnTo>
                      <a:pt x="581" y="211"/>
                    </a:lnTo>
                    <a:lnTo>
                      <a:pt x="575" y="209"/>
                    </a:lnTo>
                    <a:lnTo>
                      <a:pt x="569" y="208"/>
                    </a:lnTo>
                    <a:lnTo>
                      <a:pt x="562" y="205"/>
                    </a:lnTo>
                    <a:lnTo>
                      <a:pt x="556" y="203"/>
                    </a:lnTo>
                    <a:lnTo>
                      <a:pt x="549" y="202"/>
                    </a:lnTo>
                    <a:lnTo>
                      <a:pt x="542" y="199"/>
                    </a:lnTo>
                    <a:lnTo>
                      <a:pt x="536" y="198"/>
                    </a:lnTo>
                    <a:lnTo>
                      <a:pt x="530" y="196"/>
                    </a:lnTo>
                    <a:lnTo>
                      <a:pt x="535" y="167"/>
                    </a:lnTo>
                    <a:lnTo>
                      <a:pt x="541" y="145"/>
                    </a:lnTo>
                    <a:lnTo>
                      <a:pt x="545" y="130"/>
                    </a:lnTo>
                    <a:lnTo>
                      <a:pt x="545" y="118"/>
                    </a:lnTo>
                    <a:lnTo>
                      <a:pt x="538" y="110"/>
                    </a:lnTo>
                    <a:lnTo>
                      <a:pt x="522" y="104"/>
                    </a:lnTo>
                    <a:lnTo>
                      <a:pt x="495" y="98"/>
                    </a:lnTo>
                    <a:lnTo>
                      <a:pt x="455" y="92"/>
                    </a:lnTo>
                    <a:lnTo>
                      <a:pt x="459" y="87"/>
                    </a:lnTo>
                    <a:lnTo>
                      <a:pt x="464" y="80"/>
                    </a:lnTo>
                    <a:lnTo>
                      <a:pt x="470" y="74"/>
                    </a:lnTo>
                    <a:lnTo>
                      <a:pt x="474" y="68"/>
                    </a:lnTo>
                    <a:lnTo>
                      <a:pt x="479" y="62"/>
                    </a:lnTo>
                    <a:lnTo>
                      <a:pt x="485" y="56"/>
                    </a:lnTo>
                    <a:lnTo>
                      <a:pt x="489" y="50"/>
                    </a:lnTo>
                    <a:lnTo>
                      <a:pt x="494" y="43"/>
                    </a:lnTo>
                    <a:lnTo>
                      <a:pt x="471" y="26"/>
                    </a:lnTo>
                    <a:lnTo>
                      <a:pt x="458" y="12"/>
                    </a:lnTo>
                    <a:lnTo>
                      <a:pt x="450" y="4"/>
                    </a:lnTo>
                    <a:lnTo>
                      <a:pt x="446" y="0"/>
                    </a:lnTo>
                    <a:lnTo>
                      <a:pt x="437" y="3"/>
                    </a:lnTo>
                    <a:lnTo>
                      <a:pt x="425" y="11"/>
                    </a:lnTo>
                    <a:lnTo>
                      <a:pt x="402" y="26"/>
                    </a:lnTo>
                    <a:lnTo>
                      <a:pt x="365" y="47"/>
                    </a:lnTo>
                    <a:lnTo>
                      <a:pt x="372" y="59"/>
                    </a:lnTo>
                    <a:lnTo>
                      <a:pt x="380" y="72"/>
                    </a:lnTo>
                    <a:lnTo>
                      <a:pt x="387" y="83"/>
                    </a:lnTo>
                    <a:lnTo>
                      <a:pt x="394" y="95"/>
                    </a:lnTo>
                    <a:lnTo>
                      <a:pt x="391" y="106"/>
                    </a:lnTo>
                    <a:lnTo>
                      <a:pt x="389" y="118"/>
                    </a:lnTo>
                    <a:lnTo>
                      <a:pt x="387" y="129"/>
                    </a:lnTo>
                    <a:lnTo>
                      <a:pt x="384" y="141"/>
                    </a:lnTo>
                    <a:lnTo>
                      <a:pt x="378" y="134"/>
                    </a:lnTo>
                    <a:lnTo>
                      <a:pt x="371" y="126"/>
                    </a:lnTo>
                    <a:lnTo>
                      <a:pt x="364" y="119"/>
                    </a:lnTo>
                    <a:lnTo>
                      <a:pt x="357" y="112"/>
                    </a:lnTo>
                    <a:lnTo>
                      <a:pt x="352" y="104"/>
                    </a:lnTo>
                    <a:lnTo>
                      <a:pt x="348" y="96"/>
                    </a:lnTo>
                    <a:lnTo>
                      <a:pt x="343" y="88"/>
                    </a:lnTo>
                    <a:lnTo>
                      <a:pt x="337" y="80"/>
                    </a:lnTo>
                    <a:lnTo>
                      <a:pt x="329" y="77"/>
                    </a:lnTo>
                    <a:lnTo>
                      <a:pt x="321" y="75"/>
                    </a:lnTo>
                    <a:lnTo>
                      <a:pt x="313" y="74"/>
                    </a:lnTo>
                    <a:lnTo>
                      <a:pt x="305" y="72"/>
                    </a:lnTo>
                    <a:lnTo>
                      <a:pt x="297" y="69"/>
                    </a:lnTo>
                    <a:lnTo>
                      <a:pt x="289" y="68"/>
                    </a:lnTo>
                    <a:lnTo>
                      <a:pt x="281" y="66"/>
                    </a:lnTo>
                    <a:lnTo>
                      <a:pt x="273" y="64"/>
                    </a:lnTo>
                    <a:lnTo>
                      <a:pt x="280" y="59"/>
                    </a:lnTo>
                    <a:lnTo>
                      <a:pt x="285" y="54"/>
                    </a:lnTo>
                    <a:lnTo>
                      <a:pt x="292" y="50"/>
                    </a:lnTo>
                    <a:lnTo>
                      <a:pt x="299" y="45"/>
                    </a:lnTo>
                    <a:lnTo>
                      <a:pt x="305" y="41"/>
                    </a:lnTo>
                    <a:lnTo>
                      <a:pt x="312" y="36"/>
                    </a:lnTo>
                    <a:lnTo>
                      <a:pt x="318" y="31"/>
                    </a:lnTo>
                    <a:lnTo>
                      <a:pt x="325" y="27"/>
                    </a:lnTo>
                    <a:lnTo>
                      <a:pt x="292" y="22"/>
                    </a:lnTo>
                    <a:lnTo>
                      <a:pt x="267" y="20"/>
                    </a:lnTo>
                    <a:lnTo>
                      <a:pt x="245" y="20"/>
                    </a:lnTo>
                    <a:lnTo>
                      <a:pt x="227" y="22"/>
                    </a:lnTo>
                    <a:lnTo>
                      <a:pt x="209" y="28"/>
                    </a:lnTo>
                    <a:lnTo>
                      <a:pt x="192" y="38"/>
                    </a:lnTo>
                    <a:lnTo>
                      <a:pt x="171" y="53"/>
                    </a:lnTo>
                    <a:lnTo>
                      <a:pt x="147" y="74"/>
                    </a:lnTo>
                    <a:lnTo>
                      <a:pt x="145" y="69"/>
                    </a:lnTo>
                    <a:lnTo>
                      <a:pt x="141" y="64"/>
                    </a:lnTo>
                    <a:lnTo>
                      <a:pt x="139" y="59"/>
                    </a:lnTo>
                    <a:lnTo>
                      <a:pt x="136" y="53"/>
                    </a:lnTo>
                    <a:lnTo>
                      <a:pt x="141" y="50"/>
                    </a:lnTo>
                    <a:lnTo>
                      <a:pt x="147" y="46"/>
                    </a:lnTo>
                    <a:lnTo>
                      <a:pt x="152" y="43"/>
                    </a:lnTo>
                    <a:lnTo>
                      <a:pt x="158" y="38"/>
                    </a:lnTo>
                    <a:lnTo>
                      <a:pt x="162" y="35"/>
                    </a:lnTo>
                    <a:lnTo>
                      <a:pt x="168" y="31"/>
                    </a:lnTo>
                    <a:lnTo>
                      <a:pt x="173" y="27"/>
                    </a:lnTo>
                    <a:lnTo>
                      <a:pt x="178" y="23"/>
                    </a:lnTo>
                    <a:lnTo>
                      <a:pt x="174" y="21"/>
                    </a:lnTo>
                    <a:lnTo>
                      <a:pt x="168" y="20"/>
                    </a:lnTo>
                    <a:lnTo>
                      <a:pt x="163" y="18"/>
                    </a:lnTo>
                    <a:lnTo>
                      <a:pt x="159" y="16"/>
                    </a:lnTo>
                    <a:lnTo>
                      <a:pt x="153" y="14"/>
                    </a:lnTo>
                    <a:lnTo>
                      <a:pt x="148" y="13"/>
                    </a:lnTo>
                    <a:lnTo>
                      <a:pt x="143" y="11"/>
                    </a:lnTo>
                    <a:lnTo>
                      <a:pt x="138" y="9"/>
                    </a:lnTo>
                    <a:lnTo>
                      <a:pt x="132" y="11"/>
                    </a:lnTo>
                    <a:lnTo>
                      <a:pt x="127" y="13"/>
                    </a:lnTo>
                    <a:lnTo>
                      <a:pt x="120" y="14"/>
                    </a:lnTo>
                    <a:lnTo>
                      <a:pt x="114" y="16"/>
                    </a:lnTo>
                    <a:lnTo>
                      <a:pt x="108" y="18"/>
                    </a:lnTo>
                    <a:lnTo>
                      <a:pt x="102" y="20"/>
                    </a:lnTo>
                    <a:lnTo>
                      <a:pt x="95" y="21"/>
                    </a:lnTo>
                    <a:lnTo>
                      <a:pt x="90" y="23"/>
                    </a:lnTo>
                    <a:close/>
                  </a:path>
                </a:pathLst>
              </a:custGeom>
              <a:solidFill>
                <a:srgbClr val="CCCC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4" name="Freeform 50"/>
              <p:cNvSpPr>
                <a:spLocks/>
              </p:cNvSpPr>
              <p:nvPr/>
            </p:nvSpPr>
            <p:spPr bwMode="auto">
              <a:xfrm>
                <a:off x="-44450" y="3417888"/>
                <a:ext cx="104775" cy="347663"/>
              </a:xfrm>
              <a:custGeom>
                <a:avLst/>
                <a:gdLst/>
                <a:ahLst/>
                <a:cxnLst>
                  <a:cxn ang="0">
                    <a:pos x="124" y="128"/>
                  </a:cxn>
                  <a:cxn ang="0">
                    <a:pos x="80" y="129"/>
                  </a:cxn>
                  <a:cxn ang="0">
                    <a:pos x="84" y="150"/>
                  </a:cxn>
                  <a:cxn ang="0">
                    <a:pos x="108" y="190"/>
                  </a:cxn>
                  <a:cxn ang="0">
                    <a:pos x="122" y="203"/>
                  </a:cxn>
                  <a:cxn ang="0">
                    <a:pos x="129" y="215"/>
                  </a:cxn>
                  <a:cxn ang="0">
                    <a:pos x="132" y="227"/>
                  </a:cxn>
                  <a:cxn ang="0">
                    <a:pos x="131" y="238"/>
                  </a:cxn>
                  <a:cxn ang="0">
                    <a:pos x="124" y="250"/>
                  </a:cxn>
                  <a:cxn ang="0">
                    <a:pos x="114" y="260"/>
                  </a:cxn>
                  <a:cxn ang="0">
                    <a:pos x="99" y="273"/>
                  </a:cxn>
                  <a:cxn ang="0">
                    <a:pos x="80" y="286"/>
                  </a:cxn>
                  <a:cxn ang="0">
                    <a:pos x="87" y="351"/>
                  </a:cxn>
                  <a:cxn ang="0">
                    <a:pos x="100" y="432"/>
                  </a:cxn>
                  <a:cxn ang="0">
                    <a:pos x="79" y="439"/>
                  </a:cxn>
                  <a:cxn ang="0">
                    <a:pos x="62" y="438"/>
                  </a:cxn>
                  <a:cxn ang="0">
                    <a:pos x="48" y="428"/>
                  </a:cxn>
                  <a:cxn ang="0">
                    <a:pos x="38" y="415"/>
                  </a:cxn>
                  <a:cxn ang="0">
                    <a:pos x="31" y="397"/>
                  </a:cxn>
                  <a:cxn ang="0">
                    <a:pos x="25" y="379"/>
                  </a:cxn>
                  <a:cxn ang="0">
                    <a:pos x="23" y="359"/>
                  </a:cxn>
                  <a:cxn ang="0">
                    <a:pos x="22" y="341"/>
                  </a:cxn>
                  <a:cxn ang="0">
                    <a:pos x="10" y="273"/>
                  </a:cxn>
                  <a:cxn ang="0">
                    <a:pos x="14" y="246"/>
                  </a:cxn>
                  <a:cxn ang="0">
                    <a:pos x="0" y="205"/>
                  </a:cxn>
                  <a:cxn ang="0">
                    <a:pos x="7" y="130"/>
                  </a:cxn>
                  <a:cxn ang="0">
                    <a:pos x="61" y="0"/>
                  </a:cxn>
                  <a:cxn ang="0">
                    <a:pos x="81" y="8"/>
                  </a:cxn>
                  <a:cxn ang="0">
                    <a:pos x="99" y="18"/>
                  </a:cxn>
                  <a:cxn ang="0">
                    <a:pos x="110" y="30"/>
                  </a:cxn>
                  <a:cxn ang="0">
                    <a:pos x="118" y="45"/>
                  </a:cxn>
                  <a:cxn ang="0">
                    <a:pos x="124" y="61"/>
                  </a:cxn>
                  <a:cxn ang="0">
                    <a:pos x="126" y="81"/>
                  </a:cxn>
                  <a:cxn ang="0">
                    <a:pos x="126" y="102"/>
                  </a:cxn>
                  <a:cxn ang="0">
                    <a:pos x="124" y="128"/>
                  </a:cxn>
                </a:cxnLst>
                <a:rect l="0" t="0" r="r" b="b"/>
                <a:pathLst>
                  <a:path w="132" h="439">
                    <a:moveTo>
                      <a:pt x="124" y="128"/>
                    </a:moveTo>
                    <a:lnTo>
                      <a:pt x="80" y="129"/>
                    </a:lnTo>
                    <a:lnTo>
                      <a:pt x="84" y="150"/>
                    </a:lnTo>
                    <a:lnTo>
                      <a:pt x="108" y="190"/>
                    </a:lnTo>
                    <a:lnTo>
                      <a:pt x="122" y="203"/>
                    </a:lnTo>
                    <a:lnTo>
                      <a:pt x="129" y="215"/>
                    </a:lnTo>
                    <a:lnTo>
                      <a:pt x="132" y="227"/>
                    </a:lnTo>
                    <a:lnTo>
                      <a:pt x="131" y="238"/>
                    </a:lnTo>
                    <a:lnTo>
                      <a:pt x="124" y="250"/>
                    </a:lnTo>
                    <a:lnTo>
                      <a:pt x="114" y="260"/>
                    </a:lnTo>
                    <a:lnTo>
                      <a:pt x="99" y="273"/>
                    </a:lnTo>
                    <a:lnTo>
                      <a:pt x="80" y="286"/>
                    </a:lnTo>
                    <a:lnTo>
                      <a:pt x="87" y="351"/>
                    </a:lnTo>
                    <a:lnTo>
                      <a:pt x="100" y="432"/>
                    </a:lnTo>
                    <a:lnTo>
                      <a:pt x="79" y="439"/>
                    </a:lnTo>
                    <a:lnTo>
                      <a:pt x="62" y="438"/>
                    </a:lnTo>
                    <a:lnTo>
                      <a:pt x="48" y="428"/>
                    </a:lnTo>
                    <a:lnTo>
                      <a:pt x="38" y="415"/>
                    </a:lnTo>
                    <a:lnTo>
                      <a:pt x="31" y="397"/>
                    </a:lnTo>
                    <a:lnTo>
                      <a:pt x="25" y="379"/>
                    </a:lnTo>
                    <a:lnTo>
                      <a:pt x="23" y="359"/>
                    </a:lnTo>
                    <a:lnTo>
                      <a:pt x="22" y="341"/>
                    </a:lnTo>
                    <a:lnTo>
                      <a:pt x="10" y="273"/>
                    </a:lnTo>
                    <a:lnTo>
                      <a:pt x="14" y="246"/>
                    </a:lnTo>
                    <a:lnTo>
                      <a:pt x="0" y="205"/>
                    </a:lnTo>
                    <a:lnTo>
                      <a:pt x="7" y="130"/>
                    </a:lnTo>
                    <a:lnTo>
                      <a:pt x="61" y="0"/>
                    </a:lnTo>
                    <a:lnTo>
                      <a:pt x="81" y="8"/>
                    </a:lnTo>
                    <a:lnTo>
                      <a:pt x="99" y="18"/>
                    </a:lnTo>
                    <a:lnTo>
                      <a:pt x="110" y="30"/>
                    </a:lnTo>
                    <a:lnTo>
                      <a:pt x="118" y="45"/>
                    </a:lnTo>
                    <a:lnTo>
                      <a:pt x="124" y="61"/>
                    </a:lnTo>
                    <a:lnTo>
                      <a:pt x="126" y="81"/>
                    </a:lnTo>
                    <a:lnTo>
                      <a:pt x="126" y="102"/>
                    </a:lnTo>
                    <a:lnTo>
                      <a:pt x="124" y="12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5" name="Freeform 51"/>
              <p:cNvSpPr>
                <a:spLocks/>
              </p:cNvSpPr>
              <p:nvPr/>
            </p:nvSpPr>
            <p:spPr bwMode="auto">
              <a:xfrm>
                <a:off x="-41275" y="3422650"/>
                <a:ext cx="96838" cy="341313"/>
              </a:xfrm>
              <a:custGeom>
                <a:avLst/>
                <a:gdLst/>
                <a:ahLst/>
                <a:cxnLst>
                  <a:cxn ang="0">
                    <a:pos x="113" y="118"/>
                  </a:cxn>
                  <a:cxn ang="0">
                    <a:pos x="103" y="118"/>
                  </a:cxn>
                  <a:cxn ang="0">
                    <a:pos x="92" y="118"/>
                  </a:cxn>
                  <a:cxn ang="0">
                    <a:pos x="82" y="119"/>
                  </a:cxn>
                  <a:cxn ang="0">
                    <a:pos x="77" y="123"/>
                  </a:cxn>
                  <a:cxn ang="0">
                    <a:pos x="77" y="131"/>
                  </a:cxn>
                  <a:cxn ang="0">
                    <a:pos x="82" y="147"/>
                  </a:cxn>
                  <a:cxn ang="0">
                    <a:pos x="92" y="169"/>
                  </a:cxn>
                  <a:cxn ang="0">
                    <a:pos x="111" y="193"/>
                  </a:cxn>
                  <a:cxn ang="0">
                    <a:pos x="122" y="217"/>
                  </a:cxn>
                  <a:cxn ang="0">
                    <a:pos x="116" y="240"/>
                  </a:cxn>
                  <a:cxn ang="0">
                    <a:pos x="92" y="263"/>
                  </a:cxn>
                  <a:cxn ang="0">
                    <a:pos x="75" y="292"/>
                  </a:cxn>
                  <a:cxn ang="0">
                    <a:pos x="78" y="327"/>
                  </a:cxn>
                  <a:cxn ang="0">
                    <a:pos x="83" y="364"/>
                  </a:cxn>
                  <a:cxn ang="0">
                    <a:pos x="91" y="404"/>
                  </a:cxn>
                  <a:cxn ang="0">
                    <a:pos x="74" y="429"/>
                  </a:cxn>
                  <a:cxn ang="0">
                    <a:pos x="45" y="419"/>
                  </a:cxn>
                  <a:cxn ang="0">
                    <a:pos x="29" y="387"/>
                  </a:cxn>
                  <a:cxn ang="0">
                    <a:pos x="22" y="348"/>
                  </a:cxn>
                  <a:cxn ang="0">
                    <a:pos x="17" y="313"/>
                  </a:cxn>
                  <a:cxn ang="0">
                    <a:pos x="12" y="282"/>
                  </a:cxn>
                  <a:cxn ang="0">
                    <a:pos x="9" y="259"/>
                  </a:cxn>
                  <a:cxn ang="0">
                    <a:pos x="13" y="245"/>
                  </a:cxn>
                  <a:cxn ang="0">
                    <a:pos x="11" y="228"/>
                  </a:cxn>
                  <a:cxn ang="0">
                    <a:pos x="4" y="207"/>
                  </a:cxn>
                  <a:cxn ang="0">
                    <a:pos x="2" y="178"/>
                  </a:cxn>
                  <a:cxn ang="0">
                    <a:pos x="6" y="143"/>
                  </a:cxn>
                  <a:cxn ang="0">
                    <a:pos x="14" y="108"/>
                  </a:cxn>
                  <a:cxn ang="0">
                    <a:pos x="27" y="77"/>
                  </a:cxn>
                  <a:cxn ang="0">
                    <a:pos x="39" y="46"/>
                  </a:cxn>
                  <a:cxn ang="0">
                    <a:pos x="52" y="15"/>
                  </a:cxn>
                  <a:cxn ang="0">
                    <a:pos x="80" y="7"/>
                  </a:cxn>
                  <a:cxn ang="0">
                    <a:pos x="107" y="26"/>
                  </a:cxn>
                  <a:cxn ang="0">
                    <a:pos x="119" y="54"/>
                  </a:cxn>
                  <a:cxn ang="0">
                    <a:pos x="120" y="93"/>
                  </a:cxn>
                </a:cxnLst>
                <a:rect l="0" t="0" r="r" b="b"/>
                <a:pathLst>
                  <a:path w="122" h="429">
                    <a:moveTo>
                      <a:pt x="118" y="118"/>
                    </a:moveTo>
                    <a:lnTo>
                      <a:pt x="113" y="118"/>
                    </a:lnTo>
                    <a:lnTo>
                      <a:pt x="108" y="118"/>
                    </a:lnTo>
                    <a:lnTo>
                      <a:pt x="103" y="118"/>
                    </a:lnTo>
                    <a:lnTo>
                      <a:pt x="98" y="118"/>
                    </a:lnTo>
                    <a:lnTo>
                      <a:pt x="92" y="118"/>
                    </a:lnTo>
                    <a:lnTo>
                      <a:pt x="88" y="118"/>
                    </a:lnTo>
                    <a:lnTo>
                      <a:pt x="82" y="119"/>
                    </a:lnTo>
                    <a:lnTo>
                      <a:pt x="77" y="119"/>
                    </a:lnTo>
                    <a:lnTo>
                      <a:pt x="77" y="123"/>
                    </a:lnTo>
                    <a:lnTo>
                      <a:pt x="77" y="128"/>
                    </a:lnTo>
                    <a:lnTo>
                      <a:pt x="77" y="131"/>
                    </a:lnTo>
                    <a:lnTo>
                      <a:pt x="76" y="136"/>
                    </a:lnTo>
                    <a:lnTo>
                      <a:pt x="82" y="147"/>
                    </a:lnTo>
                    <a:lnTo>
                      <a:pt x="87" y="157"/>
                    </a:lnTo>
                    <a:lnTo>
                      <a:pt x="92" y="169"/>
                    </a:lnTo>
                    <a:lnTo>
                      <a:pt x="97" y="181"/>
                    </a:lnTo>
                    <a:lnTo>
                      <a:pt x="111" y="193"/>
                    </a:lnTo>
                    <a:lnTo>
                      <a:pt x="119" y="206"/>
                    </a:lnTo>
                    <a:lnTo>
                      <a:pt x="122" y="217"/>
                    </a:lnTo>
                    <a:lnTo>
                      <a:pt x="122" y="229"/>
                    </a:lnTo>
                    <a:lnTo>
                      <a:pt x="116" y="240"/>
                    </a:lnTo>
                    <a:lnTo>
                      <a:pt x="106" y="251"/>
                    </a:lnTo>
                    <a:lnTo>
                      <a:pt x="92" y="263"/>
                    </a:lnTo>
                    <a:lnTo>
                      <a:pt x="74" y="276"/>
                    </a:lnTo>
                    <a:lnTo>
                      <a:pt x="75" y="292"/>
                    </a:lnTo>
                    <a:lnTo>
                      <a:pt x="77" y="310"/>
                    </a:lnTo>
                    <a:lnTo>
                      <a:pt x="78" y="327"/>
                    </a:lnTo>
                    <a:lnTo>
                      <a:pt x="80" y="344"/>
                    </a:lnTo>
                    <a:lnTo>
                      <a:pt x="83" y="364"/>
                    </a:lnTo>
                    <a:lnTo>
                      <a:pt x="88" y="383"/>
                    </a:lnTo>
                    <a:lnTo>
                      <a:pt x="91" y="404"/>
                    </a:lnTo>
                    <a:lnTo>
                      <a:pt x="95" y="424"/>
                    </a:lnTo>
                    <a:lnTo>
                      <a:pt x="74" y="429"/>
                    </a:lnTo>
                    <a:lnTo>
                      <a:pt x="58" y="427"/>
                    </a:lnTo>
                    <a:lnTo>
                      <a:pt x="45" y="419"/>
                    </a:lnTo>
                    <a:lnTo>
                      <a:pt x="36" y="404"/>
                    </a:lnTo>
                    <a:lnTo>
                      <a:pt x="29" y="387"/>
                    </a:lnTo>
                    <a:lnTo>
                      <a:pt x="24" y="367"/>
                    </a:lnTo>
                    <a:lnTo>
                      <a:pt x="22" y="348"/>
                    </a:lnTo>
                    <a:lnTo>
                      <a:pt x="21" y="329"/>
                    </a:lnTo>
                    <a:lnTo>
                      <a:pt x="17" y="313"/>
                    </a:lnTo>
                    <a:lnTo>
                      <a:pt x="15" y="298"/>
                    </a:lnTo>
                    <a:lnTo>
                      <a:pt x="12" y="282"/>
                    </a:lnTo>
                    <a:lnTo>
                      <a:pt x="8" y="266"/>
                    </a:lnTo>
                    <a:lnTo>
                      <a:pt x="9" y="259"/>
                    </a:lnTo>
                    <a:lnTo>
                      <a:pt x="12" y="252"/>
                    </a:lnTo>
                    <a:lnTo>
                      <a:pt x="13" y="245"/>
                    </a:lnTo>
                    <a:lnTo>
                      <a:pt x="14" y="238"/>
                    </a:lnTo>
                    <a:lnTo>
                      <a:pt x="11" y="228"/>
                    </a:lnTo>
                    <a:lnTo>
                      <a:pt x="7" y="217"/>
                    </a:lnTo>
                    <a:lnTo>
                      <a:pt x="4" y="207"/>
                    </a:lnTo>
                    <a:lnTo>
                      <a:pt x="0" y="197"/>
                    </a:lnTo>
                    <a:lnTo>
                      <a:pt x="2" y="178"/>
                    </a:lnTo>
                    <a:lnTo>
                      <a:pt x="4" y="160"/>
                    </a:lnTo>
                    <a:lnTo>
                      <a:pt x="6" y="143"/>
                    </a:lnTo>
                    <a:lnTo>
                      <a:pt x="7" y="124"/>
                    </a:lnTo>
                    <a:lnTo>
                      <a:pt x="14" y="108"/>
                    </a:lnTo>
                    <a:lnTo>
                      <a:pt x="20" y="93"/>
                    </a:lnTo>
                    <a:lnTo>
                      <a:pt x="27" y="77"/>
                    </a:lnTo>
                    <a:lnTo>
                      <a:pt x="34" y="62"/>
                    </a:lnTo>
                    <a:lnTo>
                      <a:pt x="39" y="46"/>
                    </a:lnTo>
                    <a:lnTo>
                      <a:pt x="46" y="31"/>
                    </a:lnTo>
                    <a:lnTo>
                      <a:pt x="52" y="15"/>
                    </a:lnTo>
                    <a:lnTo>
                      <a:pt x="59" y="0"/>
                    </a:lnTo>
                    <a:lnTo>
                      <a:pt x="80" y="7"/>
                    </a:lnTo>
                    <a:lnTo>
                      <a:pt x="96" y="16"/>
                    </a:lnTo>
                    <a:lnTo>
                      <a:pt x="107" y="26"/>
                    </a:lnTo>
                    <a:lnTo>
                      <a:pt x="114" y="39"/>
                    </a:lnTo>
                    <a:lnTo>
                      <a:pt x="119" y="54"/>
                    </a:lnTo>
                    <a:lnTo>
                      <a:pt x="120" y="72"/>
                    </a:lnTo>
                    <a:lnTo>
                      <a:pt x="120" y="93"/>
                    </a:lnTo>
                    <a:lnTo>
                      <a:pt x="118" y="118"/>
                    </a:lnTo>
                    <a:close/>
                  </a:path>
                </a:pathLst>
              </a:custGeom>
              <a:solidFill>
                <a:srgbClr val="F7F7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6" name="Freeform 52"/>
              <p:cNvSpPr>
                <a:spLocks/>
              </p:cNvSpPr>
              <p:nvPr/>
            </p:nvSpPr>
            <p:spPr bwMode="auto">
              <a:xfrm>
                <a:off x="-38100" y="3425825"/>
                <a:ext cx="90488" cy="334963"/>
              </a:xfrm>
              <a:custGeom>
                <a:avLst/>
                <a:gdLst/>
                <a:ahLst/>
                <a:cxnLst>
                  <a:cxn ang="0">
                    <a:pos x="106" y="111"/>
                  </a:cxn>
                  <a:cxn ang="0">
                    <a:pos x="96" y="111"/>
                  </a:cxn>
                  <a:cxn ang="0">
                    <a:pos x="86" y="111"/>
                  </a:cxn>
                  <a:cxn ang="0">
                    <a:pos x="77" y="112"/>
                  </a:cxn>
                  <a:cxn ang="0">
                    <a:pos x="71" y="114"/>
                  </a:cxn>
                  <a:cxn ang="0">
                    <a:pos x="69" y="120"/>
                  </a:cxn>
                  <a:cxn ang="0">
                    <a:pos x="71" y="135"/>
                  </a:cxn>
                  <a:cxn ang="0">
                    <a:pos x="79" y="159"/>
                  </a:cxn>
                  <a:cxn ang="0">
                    <a:pos x="96" y="186"/>
                  </a:cxn>
                  <a:cxn ang="0">
                    <a:pos x="110" y="209"/>
                  </a:cxn>
                  <a:cxn ang="0">
                    <a:pos x="107" y="232"/>
                  </a:cxn>
                  <a:cxn ang="0">
                    <a:pos x="84" y="256"/>
                  </a:cxn>
                  <a:cxn ang="0">
                    <a:pos x="68" y="286"/>
                  </a:cxn>
                  <a:cxn ang="0">
                    <a:pos x="69" y="320"/>
                  </a:cxn>
                  <a:cxn ang="0">
                    <a:pos x="75" y="357"/>
                  </a:cxn>
                  <a:cxn ang="0">
                    <a:pos x="84" y="396"/>
                  </a:cxn>
                  <a:cxn ang="0">
                    <a:pos x="68" y="422"/>
                  </a:cxn>
                  <a:cxn ang="0">
                    <a:pos x="40" y="410"/>
                  </a:cxn>
                  <a:cxn ang="0">
                    <a:pos x="25" y="379"/>
                  </a:cxn>
                  <a:cxn ang="0">
                    <a:pos x="20" y="340"/>
                  </a:cxn>
                  <a:cxn ang="0">
                    <a:pos x="16" y="308"/>
                  </a:cxn>
                  <a:cxn ang="0">
                    <a:pos x="8" y="277"/>
                  </a:cxn>
                  <a:cxn ang="0">
                    <a:pos x="7" y="254"/>
                  </a:cxn>
                  <a:cxn ang="0">
                    <a:pos x="11" y="240"/>
                  </a:cxn>
                  <a:cxn ang="0">
                    <a:pos x="10" y="221"/>
                  </a:cxn>
                  <a:cxn ang="0">
                    <a:pos x="3" y="202"/>
                  </a:cxn>
                  <a:cxn ang="0">
                    <a:pos x="1" y="173"/>
                  </a:cxn>
                  <a:cxn ang="0">
                    <a:pos x="4" y="139"/>
                  </a:cxn>
                  <a:cxn ang="0">
                    <a:pos x="12" y="105"/>
                  </a:cxn>
                  <a:cxn ang="0">
                    <a:pos x="24" y="75"/>
                  </a:cxn>
                  <a:cxn ang="0">
                    <a:pos x="37" y="45"/>
                  </a:cxn>
                  <a:cxn ang="0">
                    <a:pos x="48" y="15"/>
                  </a:cxn>
                  <a:cxn ang="0">
                    <a:pos x="76" y="7"/>
                  </a:cxn>
                  <a:cxn ang="0">
                    <a:pos x="102" y="25"/>
                  </a:cxn>
                  <a:cxn ang="0">
                    <a:pos x="113" y="50"/>
                  </a:cxn>
                  <a:cxn ang="0">
                    <a:pos x="113" y="87"/>
                  </a:cxn>
                </a:cxnLst>
                <a:rect l="0" t="0" r="r" b="b"/>
                <a:pathLst>
                  <a:path w="114" h="422">
                    <a:moveTo>
                      <a:pt x="110" y="111"/>
                    </a:moveTo>
                    <a:lnTo>
                      <a:pt x="106" y="111"/>
                    </a:lnTo>
                    <a:lnTo>
                      <a:pt x="101" y="111"/>
                    </a:lnTo>
                    <a:lnTo>
                      <a:pt x="96" y="111"/>
                    </a:lnTo>
                    <a:lnTo>
                      <a:pt x="92" y="111"/>
                    </a:lnTo>
                    <a:lnTo>
                      <a:pt x="86" y="111"/>
                    </a:lnTo>
                    <a:lnTo>
                      <a:pt x="82" y="111"/>
                    </a:lnTo>
                    <a:lnTo>
                      <a:pt x="77" y="112"/>
                    </a:lnTo>
                    <a:lnTo>
                      <a:pt x="72" y="112"/>
                    </a:lnTo>
                    <a:lnTo>
                      <a:pt x="71" y="114"/>
                    </a:lnTo>
                    <a:lnTo>
                      <a:pt x="70" y="117"/>
                    </a:lnTo>
                    <a:lnTo>
                      <a:pt x="69" y="120"/>
                    </a:lnTo>
                    <a:lnTo>
                      <a:pt x="68" y="122"/>
                    </a:lnTo>
                    <a:lnTo>
                      <a:pt x="71" y="135"/>
                    </a:lnTo>
                    <a:lnTo>
                      <a:pt x="76" y="148"/>
                    </a:lnTo>
                    <a:lnTo>
                      <a:pt x="79" y="159"/>
                    </a:lnTo>
                    <a:lnTo>
                      <a:pt x="83" y="172"/>
                    </a:lnTo>
                    <a:lnTo>
                      <a:pt x="96" y="186"/>
                    </a:lnTo>
                    <a:lnTo>
                      <a:pt x="106" y="197"/>
                    </a:lnTo>
                    <a:lnTo>
                      <a:pt x="110" y="209"/>
                    </a:lnTo>
                    <a:lnTo>
                      <a:pt x="111" y="220"/>
                    </a:lnTo>
                    <a:lnTo>
                      <a:pt x="107" y="232"/>
                    </a:lnTo>
                    <a:lnTo>
                      <a:pt x="98" y="243"/>
                    </a:lnTo>
                    <a:lnTo>
                      <a:pt x="84" y="256"/>
                    </a:lnTo>
                    <a:lnTo>
                      <a:pt x="67" y="269"/>
                    </a:lnTo>
                    <a:lnTo>
                      <a:pt x="68" y="286"/>
                    </a:lnTo>
                    <a:lnTo>
                      <a:pt x="69" y="303"/>
                    </a:lnTo>
                    <a:lnTo>
                      <a:pt x="69" y="320"/>
                    </a:lnTo>
                    <a:lnTo>
                      <a:pt x="70" y="338"/>
                    </a:lnTo>
                    <a:lnTo>
                      <a:pt x="75" y="357"/>
                    </a:lnTo>
                    <a:lnTo>
                      <a:pt x="79" y="377"/>
                    </a:lnTo>
                    <a:lnTo>
                      <a:pt x="84" y="396"/>
                    </a:lnTo>
                    <a:lnTo>
                      <a:pt x="88" y="416"/>
                    </a:lnTo>
                    <a:lnTo>
                      <a:pt x="68" y="422"/>
                    </a:lnTo>
                    <a:lnTo>
                      <a:pt x="52" y="420"/>
                    </a:lnTo>
                    <a:lnTo>
                      <a:pt x="40" y="410"/>
                    </a:lnTo>
                    <a:lnTo>
                      <a:pt x="31" y="396"/>
                    </a:lnTo>
                    <a:lnTo>
                      <a:pt x="25" y="379"/>
                    </a:lnTo>
                    <a:lnTo>
                      <a:pt x="22" y="360"/>
                    </a:lnTo>
                    <a:lnTo>
                      <a:pt x="20" y="340"/>
                    </a:lnTo>
                    <a:lnTo>
                      <a:pt x="19" y="323"/>
                    </a:lnTo>
                    <a:lnTo>
                      <a:pt x="16" y="308"/>
                    </a:lnTo>
                    <a:lnTo>
                      <a:pt x="12" y="292"/>
                    </a:lnTo>
                    <a:lnTo>
                      <a:pt x="8" y="277"/>
                    </a:lnTo>
                    <a:lnTo>
                      <a:pt x="4" y="262"/>
                    </a:lnTo>
                    <a:lnTo>
                      <a:pt x="7" y="254"/>
                    </a:lnTo>
                    <a:lnTo>
                      <a:pt x="9" y="247"/>
                    </a:lnTo>
                    <a:lnTo>
                      <a:pt x="11" y="240"/>
                    </a:lnTo>
                    <a:lnTo>
                      <a:pt x="14" y="232"/>
                    </a:lnTo>
                    <a:lnTo>
                      <a:pt x="10" y="221"/>
                    </a:lnTo>
                    <a:lnTo>
                      <a:pt x="7" y="211"/>
                    </a:lnTo>
                    <a:lnTo>
                      <a:pt x="3" y="202"/>
                    </a:lnTo>
                    <a:lnTo>
                      <a:pt x="0" y="191"/>
                    </a:lnTo>
                    <a:lnTo>
                      <a:pt x="1" y="173"/>
                    </a:lnTo>
                    <a:lnTo>
                      <a:pt x="3" y="156"/>
                    </a:lnTo>
                    <a:lnTo>
                      <a:pt x="4" y="139"/>
                    </a:lnTo>
                    <a:lnTo>
                      <a:pt x="6" y="120"/>
                    </a:lnTo>
                    <a:lnTo>
                      <a:pt x="12" y="105"/>
                    </a:lnTo>
                    <a:lnTo>
                      <a:pt x="18" y="90"/>
                    </a:lnTo>
                    <a:lnTo>
                      <a:pt x="24" y="75"/>
                    </a:lnTo>
                    <a:lnTo>
                      <a:pt x="31" y="60"/>
                    </a:lnTo>
                    <a:lnTo>
                      <a:pt x="37" y="45"/>
                    </a:lnTo>
                    <a:lnTo>
                      <a:pt x="42" y="30"/>
                    </a:lnTo>
                    <a:lnTo>
                      <a:pt x="48" y="15"/>
                    </a:lnTo>
                    <a:lnTo>
                      <a:pt x="54" y="0"/>
                    </a:lnTo>
                    <a:lnTo>
                      <a:pt x="76" y="7"/>
                    </a:lnTo>
                    <a:lnTo>
                      <a:pt x="92" y="15"/>
                    </a:lnTo>
                    <a:lnTo>
                      <a:pt x="102" y="25"/>
                    </a:lnTo>
                    <a:lnTo>
                      <a:pt x="109" y="36"/>
                    </a:lnTo>
                    <a:lnTo>
                      <a:pt x="113" y="50"/>
                    </a:lnTo>
                    <a:lnTo>
                      <a:pt x="114" y="66"/>
                    </a:lnTo>
                    <a:lnTo>
                      <a:pt x="113" y="87"/>
                    </a:lnTo>
                    <a:lnTo>
                      <a:pt x="110" y="111"/>
                    </a:lnTo>
                    <a:close/>
                  </a:path>
                </a:pathLst>
              </a:custGeom>
              <a:solidFill>
                <a:srgbClr val="EDED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7" name="Freeform 53"/>
              <p:cNvSpPr>
                <a:spLocks/>
              </p:cNvSpPr>
              <p:nvPr/>
            </p:nvSpPr>
            <p:spPr bwMode="auto">
              <a:xfrm>
                <a:off x="-34925" y="3430588"/>
                <a:ext cx="85725" cy="327025"/>
              </a:xfrm>
              <a:custGeom>
                <a:avLst/>
                <a:gdLst/>
                <a:ahLst/>
                <a:cxnLst>
                  <a:cxn ang="0">
                    <a:pos x="100" y="101"/>
                  </a:cxn>
                  <a:cxn ang="0">
                    <a:pos x="91" y="101"/>
                  </a:cxn>
                  <a:cxn ang="0">
                    <a:pos x="82" y="101"/>
                  </a:cxn>
                  <a:cxn ang="0">
                    <a:pos x="73" y="103"/>
                  </a:cxn>
                  <a:cxn ang="0">
                    <a:pos x="66" y="104"/>
                  </a:cxn>
                  <a:cxn ang="0">
                    <a:pos x="62" y="107"/>
                  </a:cxn>
                  <a:cxn ang="0">
                    <a:pos x="62" y="121"/>
                  </a:cxn>
                  <a:cxn ang="0">
                    <a:pos x="69" y="149"/>
                  </a:cxn>
                  <a:cxn ang="0">
                    <a:pos x="85" y="176"/>
                  </a:cxn>
                  <a:cxn ang="0">
                    <a:pos x="100" y="199"/>
                  </a:cxn>
                  <a:cxn ang="0">
                    <a:pos x="99" y="222"/>
                  </a:cxn>
                  <a:cxn ang="0">
                    <a:pos x="77" y="247"/>
                  </a:cxn>
                  <a:cxn ang="0">
                    <a:pos x="61" y="278"/>
                  </a:cxn>
                  <a:cxn ang="0">
                    <a:pos x="62" y="312"/>
                  </a:cxn>
                  <a:cxn ang="0">
                    <a:pos x="68" y="349"/>
                  </a:cxn>
                  <a:cxn ang="0">
                    <a:pos x="79" y="387"/>
                  </a:cxn>
                  <a:cxn ang="0">
                    <a:pos x="62" y="411"/>
                  </a:cxn>
                  <a:cxn ang="0">
                    <a:pos x="36" y="400"/>
                  </a:cxn>
                  <a:cxn ang="0">
                    <a:pos x="23" y="369"/>
                  </a:cxn>
                  <a:cxn ang="0">
                    <a:pos x="20" y="329"/>
                  </a:cxn>
                  <a:cxn ang="0">
                    <a:pos x="15" y="298"/>
                  </a:cxn>
                  <a:cxn ang="0">
                    <a:pos x="8" y="268"/>
                  </a:cxn>
                  <a:cxn ang="0">
                    <a:pos x="7" y="247"/>
                  </a:cxn>
                  <a:cxn ang="0">
                    <a:pos x="12" y="232"/>
                  </a:cxn>
                  <a:cxn ang="0">
                    <a:pos x="11" y="214"/>
                  </a:cxn>
                  <a:cxn ang="0">
                    <a:pos x="4" y="194"/>
                  </a:cxn>
                  <a:cxn ang="0">
                    <a:pos x="1" y="166"/>
                  </a:cxn>
                  <a:cxn ang="0">
                    <a:pos x="5" y="131"/>
                  </a:cxn>
                  <a:cxn ang="0">
                    <a:pos x="12" y="100"/>
                  </a:cxn>
                  <a:cxn ang="0">
                    <a:pos x="24" y="71"/>
                  </a:cxn>
                  <a:cxn ang="0">
                    <a:pos x="36" y="43"/>
                  </a:cxn>
                  <a:cxn ang="0">
                    <a:pos x="46" y="14"/>
                  </a:cxn>
                  <a:cxn ang="0">
                    <a:pos x="74" y="7"/>
                  </a:cxn>
                  <a:cxn ang="0">
                    <a:pos x="99" y="22"/>
                  </a:cxn>
                  <a:cxn ang="0">
                    <a:pos x="108" y="43"/>
                  </a:cxn>
                  <a:cxn ang="0">
                    <a:pos x="107" y="77"/>
                  </a:cxn>
                </a:cxnLst>
                <a:rect l="0" t="0" r="r" b="b"/>
                <a:pathLst>
                  <a:path w="108" h="411">
                    <a:moveTo>
                      <a:pt x="105" y="101"/>
                    </a:moveTo>
                    <a:lnTo>
                      <a:pt x="100" y="101"/>
                    </a:lnTo>
                    <a:lnTo>
                      <a:pt x="96" y="101"/>
                    </a:lnTo>
                    <a:lnTo>
                      <a:pt x="91" y="101"/>
                    </a:lnTo>
                    <a:lnTo>
                      <a:pt x="87" y="101"/>
                    </a:lnTo>
                    <a:lnTo>
                      <a:pt x="82" y="101"/>
                    </a:lnTo>
                    <a:lnTo>
                      <a:pt x="77" y="101"/>
                    </a:lnTo>
                    <a:lnTo>
                      <a:pt x="73" y="103"/>
                    </a:lnTo>
                    <a:lnTo>
                      <a:pt x="68" y="103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2" y="107"/>
                    </a:lnTo>
                    <a:lnTo>
                      <a:pt x="60" y="108"/>
                    </a:lnTo>
                    <a:lnTo>
                      <a:pt x="62" y="121"/>
                    </a:lnTo>
                    <a:lnTo>
                      <a:pt x="66" y="135"/>
                    </a:lnTo>
                    <a:lnTo>
                      <a:pt x="69" y="149"/>
                    </a:lnTo>
                    <a:lnTo>
                      <a:pt x="72" y="162"/>
                    </a:lnTo>
                    <a:lnTo>
                      <a:pt x="85" y="176"/>
                    </a:lnTo>
                    <a:lnTo>
                      <a:pt x="96" y="188"/>
                    </a:lnTo>
                    <a:lnTo>
                      <a:pt x="100" y="199"/>
                    </a:lnTo>
                    <a:lnTo>
                      <a:pt x="103" y="211"/>
                    </a:lnTo>
                    <a:lnTo>
                      <a:pt x="99" y="222"/>
                    </a:lnTo>
                    <a:lnTo>
                      <a:pt x="91" y="234"/>
                    </a:lnTo>
                    <a:lnTo>
                      <a:pt x="77" y="247"/>
                    </a:lnTo>
                    <a:lnTo>
                      <a:pt x="60" y="259"/>
                    </a:lnTo>
                    <a:lnTo>
                      <a:pt x="61" y="278"/>
                    </a:lnTo>
                    <a:lnTo>
                      <a:pt x="62" y="295"/>
                    </a:lnTo>
                    <a:lnTo>
                      <a:pt x="62" y="312"/>
                    </a:lnTo>
                    <a:lnTo>
                      <a:pt x="64" y="331"/>
                    </a:lnTo>
                    <a:lnTo>
                      <a:pt x="68" y="349"/>
                    </a:lnTo>
                    <a:lnTo>
                      <a:pt x="74" y="367"/>
                    </a:lnTo>
                    <a:lnTo>
                      <a:pt x="79" y="387"/>
                    </a:lnTo>
                    <a:lnTo>
                      <a:pt x="83" y="405"/>
                    </a:lnTo>
                    <a:lnTo>
                      <a:pt x="62" y="411"/>
                    </a:lnTo>
                    <a:lnTo>
                      <a:pt x="47" y="409"/>
                    </a:lnTo>
                    <a:lnTo>
                      <a:pt x="36" y="400"/>
                    </a:lnTo>
                    <a:lnTo>
                      <a:pt x="29" y="386"/>
                    </a:lnTo>
                    <a:lnTo>
                      <a:pt x="23" y="369"/>
                    </a:lnTo>
                    <a:lnTo>
                      <a:pt x="21" y="349"/>
                    </a:lnTo>
                    <a:lnTo>
                      <a:pt x="20" y="329"/>
                    </a:lnTo>
                    <a:lnTo>
                      <a:pt x="19" y="312"/>
                    </a:lnTo>
                    <a:lnTo>
                      <a:pt x="15" y="298"/>
                    </a:lnTo>
                    <a:lnTo>
                      <a:pt x="12" y="283"/>
                    </a:lnTo>
                    <a:lnTo>
                      <a:pt x="8" y="268"/>
                    </a:lnTo>
                    <a:lnTo>
                      <a:pt x="5" y="255"/>
                    </a:lnTo>
                    <a:lnTo>
                      <a:pt x="7" y="247"/>
                    </a:lnTo>
                    <a:lnTo>
                      <a:pt x="9" y="240"/>
                    </a:lnTo>
                    <a:lnTo>
                      <a:pt x="12" y="232"/>
                    </a:lnTo>
                    <a:lnTo>
                      <a:pt x="14" y="223"/>
                    </a:lnTo>
                    <a:lnTo>
                      <a:pt x="11" y="214"/>
                    </a:lnTo>
                    <a:lnTo>
                      <a:pt x="7" y="204"/>
                    </a:lnTo>
                    <a:lnTo>
                      <a:pt x="4" y="194"/>
                    </a:lnTo>
                    <a:lnTo>
                      <a:pt x="0" y="183"/>
                    </a:lnTo>
                    <a:lnTo>
                      <a:pt x="1" y="166"/>
                    </a:lnTo>
                    <a:lnTo>
                      <a:pt x="4" y="149"/>
                    </a:lnTo>
                    <a:lnTo>
                      <a:pt x="5" y="131"/>
                    </a:lnTo>
                    <a:lnTo>
                      <a:pt x="6" y="114"/>
                    </a:lnTo>
                    <a:lnTo>
                      <a:pt x="12" y="100"/>
                    </a:lnTo>
                    <a:lnTo>
                      <a:pt x="17" y="85"/>
                    </a:lnTo>
                    <a:lnTo>
                      <a:pt x="24" y="71"/>
                    </a:lnTo>
                    <a:lnTo>
                      <a:pt x="30" y="57"/>
                    </a:lnTo>
                    <a:lnTo>
                      <a:pt x="36" y="43"/>
                    </a:lnTo>
                    <a:lnTo>
                      <a:pt x="42" y="29"/>
                    </a:lnTo>
                    <a:lnTo>
                      <a:pt x="46" y="14"/>
                    </a:lnTo>
                    <a:lnTo>
                      <a:pt x="52" y="0"/>
                    </a:lnTo>
                    <a:lnTo>
                      <a:pt x="74" y="7"/>
                    </a:lnTo>
                    <a:lnTo>
                      <a:pt x="89" y="14"/>
                    </a:lnTo>
                    <a:lnTo>
                      <a:pt x="99" y="22"/>
                    </a:lnTo>
                    <a:lnTo>
                      <a:pt x="106" y="31"/>
                    </a:lnTo>
                    <a:lnTo>
                      <a:pt x="108" y="43"/>
                    </a:lnTo>
                    <a:lnTo>
                      <a:pt x="108" y="58"/>
                    </a:lnTo>
                    <a:lnTo>
                      <a:pt x="107" y="77"/>
                    </a:lnTo>
                    <a:lnTo>
                      <a:pt x="105" y="101"/>
                    </a:lnTo>
                    <a:close/>
                  </a:path>
                </a:pathLst>
              </a:custGeom>
              <a:solidFill>
                <a:srgbClr val="E5E5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8" name="Freeform 54"/>
              <p:cNvSpPr>
                <a:spLocks/>
              </p:cNvSpPr>
              <p:nvPr/>
            </p:nvSpPr>
            <p:spPr bwMode="auto">
              <a:xfrm>
                <a:off x="-31750" y="3433763"/>
                <a:ext cx="80963" cy="320675"/>
              </a:xfrm>
              <a:custGeom>
                <a:avLst/>
                <a:gdLst/>
                <a:ahLst/>
                <a:cxnLst>
                  <a:cxn ang="0">
                    <a:pos x="93" y="93"/>
                  </a:cxn>
                  <a:cxn ang="0">
                    <a:pos x="85" y="93"/>
                  </a:cxn>
                  <a:cxn ang="0">
                    <a:pos x="76" y="93"/>
                  </a:cxn>
                  <a:cxn ang="0">
                    <a:pos x="68" y="94"/>
                  </a:cxn>
                  <a:cxn ang="0">
                    <a:pos x="60" y="94"/>
                  </a:cxn>
                  <a:cxn ang="0">
                    <a:pos x="53" y="94"/>
                  </a:cxn>
                  <a:cxn ang="0">
                    <a:pos x="53" y="109"/>
                  </a:cxn>
                  <a:cxn ang="0">
                    <a:pos x="56" y="138"/>
                  </a:cxn>
                  <a:cxn ang="0">
                    <a:pos x="72" y="167"/>
                  </a:cxn>
                  <a:cxn ang="0">
                    <a:pos x="90" y="191"/>
                  </a:cxn>
                  <a:cxn ang="0">
                    <a:pos x="90" y="214"/>
                  </a:cxn>
                  <a:cxn ang="0">
                    <a:pos x="70" y="238"/>
                  </a:cxn>
                  <a:cxn ang="0">
                    <a:pos x="53" y="269"/>
                  </a:cxn>
                  <a:cxn ang="0">
                    <a:pos x="54" y="306"/>
                  </a:cxn>
                  <a:cxn ang="0">
                    <a:pos x="60" y="343"/>
                  </a:cxn>
                  <a:cxn ang="0">
                    <a:pos x="70" y="379"/>
                  </a:cxn>
                  <a:cxn ang="0">
                    <a:pos x="56" y="403"/>
                  </a:cxn>
                  <a:cxn ang="0">
                    <a:pos x="31" y="390"/>
                  </a:cxn>
                  <a:cxn ang="0">
                    <a:pos x="19" y="359"/>
                  </a:cxn>
                  <a:cxn ang="0">
                    <a:pos x="17" y="321"/>
                  </a:cxn>
                  <a:cxn ang="0">
                    <a:pos x="12" y="290"/>
                  </a:cxn>
                  <a:cxn ang="0">
                    <a:pos x="4" y="262"/>
                  </a:cxn>
                  <a:cxn ang="0">
                    <a:pos x="3" y="242"/>
                  </a:cxn>
                  <a:cxn ang="0">
                    <a:pos x="10" y="225"/>
                  </a:cxn>
                  <a:cxn ang="0">
                    <a:pos x="9" y="207"/>
                  </a:cxn>
                  <a:cxn ang="0">
                    <a:pos x="3" y="186"/>
                  </a:cxn>
                  <a:cxn ang="0">
                    <a:pos x="1" y="160"/>
                  </a:cxn>
                  <a:cxn ang="0">
                    <a:pos x="3" y="125"/>
                  </a:cxn>
                  <a:cxn ang="0">
                    <a:pos x="10" y="95"/>
                  </a:cxn>
                  <a:cxn ang="0">
                    <a:pos x="22" y="68"/>
                  </a:cxn>
                  <a:cxn ang="0">
                    <a:pos x="33" y="41"/>
                  </a:cxn>
                  <a:cxn ang="0">
                    <a:pos x="44" y="14"/>
                  </a:cxn>
                  <a:cxn ang="0">
                    <a:pos x="69" y="7"/>
                  </a:cxn>
                  <a:cxn ang="0">
                    <a:pos x="94" y="18"/>
                  </a:cxn>
                  <a:cxn ang="0">
                    <a:pos x="102" y="37"/>
                  </a:cxn>
                  <a:cxn ang="0">
                    <a:pos x="100" y="69"/>
                  </a:cxn>
                </a:cxnLst>
                <a:rect l="0" t="0" r="r" b="b"/>
                <a:pathLst>
                  <a:path w="102" h="403">
                    <a:moveTo>
                      <a:pt x="98" y="93"/>
                    </a:moveTo>
                    <a:lnTo>
                      <a:pt x="93" y="93"/>
                    </a:lnTo>
                    <a:lnTo>
                      <a:pt x="90" y="93"/>
                    </a:lnTo>
                    <a:lnTo>
                      <a:pt x="85" y="93"/>
                    </a:lnTo>
                    <a:lnTo>
                      <a:pt x="80" y="93"/>
                    </a:lnTo>
                    <a:lnTo>
                      <a:pt x="76" y="93"/>
                    </a:lnTo>
                    <a:lnTo>
                      <a:pt x="72" y="93"/>
                    </a:lnTo>
                    <a:lnTo>
                      <a:pt x="68" y="94"/>
                    </a:lnTo>
                    <a:lnTo>
                      <a:pt x="63" y="94"/>
                    </a:lnTo>
                    <a:lnTo>
                      <a:pt x="60" y="94"/>
                    </a:lnTo>
                    <a:lnTo>
                      <a:pt x="56" y="94"/>
                    </a:lnTo>
                    <a:lnTo>
                      <a:pt x="53" y="94"/>
                    </a:lnTo>
                    <a:lnTo>
                      <a:pt x="50" y="94"/>
                    </a:lnTo>
                    <a:lnTo>
                      <a:pt x="53" y="109"/>
                    </a:lnTo>
                    <a:lnTo>
                      <a:pt x="54" y="123"/>
                    </a:lnTo>
                    <a:lnTo>
                      <a:pt x="56" y="138"/>
                    </a:lnTo>
                    <a:lnTo>
                      <a:pt x="59" y="153"/>
                    </a:lnTo>
                    <a:lnTo>
                      <a:pt x="72" y="167"/>
                    </a:lnTo>
                    <a:lnTo>
                      <a:pt x="83" y="178"/>
                    </a:lnTo>
                    <a:lnTo>
                      <a:pt x="90" y="191"/>
                    </a:lnTo>
                    <a:lnTo>
                      <a:pt x="92" y="202"/>
                    </a:lnTo>
                    <a:lnTo>
                      <a:pt x="90" y="214"/>
                    </a:lnTo>
                    <a:lnTo>
                      <a:pt x="82" y="225"/>
                    </a:lnTo>
                    <a:lnTo>
                      <a:pt x="70" y="238"/>
                    </a:lnTo>
                    <a:lnTo>
                      <a:pt x="53" y="251"/>
                    </a:lnTo>
                    <a:lnTo>
                      <a:pt x="53" y="269"/>
                    </a:lnTo>
                    <a:lnTo>
                      <a:pt x="54" y="288"/>
                    </a:lnTo>
                    <a:lnTo>
                      <a:pt x="54" y="306"/>
                    </a:lnTo>
                    <a:lnTo>
                      <a:pt x="54" y="324"/>
                    </a:lnTo>
                    <a:lnTo>
                      <a:pt x="60" y="343"/>
                    </a:lnTo>
                    <a:lnTo>
                      <a:pt x="65" y="360"/>
                    </a:lnTo>
                    <a:lnTo>
                      <a:pt x="70" y="379"/>
                    </a:lnTo>
                    <a:lnTo>
                      <a:pt x="76" y="397"/>
                    </a:lnTo>
                    <a:lnTo>
                      <a:pt x="56" y="403"/>
                    </a:lnTo>
                    <a:lnTo>
                      <a:pt x="41" y="399"/>
                    </a:lnTo>
                    <a:lnTo>
                      <a:pt x="31" y="390"/>
                    </a:lnTo>
                    <a:lnTo>
                      <a:pt x="24" y="376"/>
                    </a:lnTo>
                    <a:lnTo>
                      <a:pt x="19" y="359"/>
                    </a:lnTo>
                    <a:lnTo>
                      <a:pt x="18" y="339"/>
                    </a:lnTo>
                    <a:lnTo>
                      <a:pt x="17" y="321"/>
                    </a:lnTo>
                    <a:lnTo>
                      <a:pt x="17" y="304"/>
                    </a:lnTo>
                    <a:lnTo>
                      <a:pt x="12" y="290"/>
                    </a:lnTo>
                    <a:lnTo>
                      <a:pt x="9" y="276"/>
                    </a:lnTo>
                    <a:lnTo>
                      <a:pt x="4" y="262"/>
                    </a:lnTo>
                    <a:lnTo>
                      <a:pt x="0" y="250"/>
                    </a:lnTo>
                    <a:lnTo>
                      <a:pt x="3" y="242"/>
                    </a:lnTo>
                    <a:lnTo>
                      <a:pt x="7" y="233"/>
                    </a:lnTo>
                    <a:lnTo>
                      <a:pt x="10" y="225"/>
                    </a:lnTo>
                    <a:lnTo>
                      <a:pt x="12" y="217"/>
                    </a:lnTo>
                    <a:lnTo>
                      <a:pt x="9" y="207"/>
                    </a:lnTo>
                    <a:lnTo>
                      <a:pt x="7" y="197"/>
                    </a:lnTo>
                    <a:lnTo>
                      <a:pt x="3" y="186"/>
                    </a:lnTo>
                    <a:lnTo>
                      <a:pt x="0" y="176"/>
                    </a:lnTo>
                    <a:lnTo>
                      <a:pt x="1" y="160"/>
                    </a:lnTo>
                    <a:lnTo>
                      <a:pt x="2" y="142"/>
                    </a:lnTo>
                    <a:lnTo>
                      <a:pt x="3" y="125"/>
                    </a:lnTo>
                    <a:lnTo>
                      <a:pt x="4" y="109"/>
                    </a:lnTo>
                    <a:lnTo>
                      <a:pt x="10" y="95"/>
                    </a:lnTo>
                    <a:lnTo>
                      <a:pt x="16" y="81"/>
                    </a:lnTo>
                    <a:lnTo>
                      <a:pt x="22" y="68"/>
                    </a:lnTo>
                    <a:lnTo>
                      <a:pt x="27" y="54"/>
                    </a:lnTo>
                    <a:lnTo>
                      <a:pt x="33" y="41"/>
                    </a:lnTo>
                    <a:lnTo>
                      <a:pt x="38" y="27"/>
                    </a:lnTo>
                    <a:lnTo>
                      <a:pt x="44" y="14"/>
                    </a:lnTo>
                    <a:lnTo>
                      <a:pt x="48" y="0"/>
                    </a:lnTo>
                    <a:lnTo>
                      <a:pt x="69" y="7"/>
                    </a:lnTo>
                    <a:lnTo>
                      <a:pt x="85" y="12"/>
                    </a:lnTo>
                    <a:lnTo>
                      <a:pt x="94" y="18"/>
                    </a:lnTo>
                    <a:lnTo>
                      <a:pt x="100" y="26"/>
                    </a:lnTo>
                    <a:lnTo>
                      <a:pt x="102" y="37"/>
                    </a:lnTo>
                    <a:lnTo>
                      <a:pt x="102" y="50"/>
                    </a:lnTo>
                    <a:lnTo>
                      <a:pt x="100" y="69"/>
                    </a:lnTo>
                    <a:lnTo>
                      <a:pt x="98" y="93"/>
                    </a:lnTo>
                    <a:close/>
                  </a:path>
                </a:pathLst>
              </a:custGeom>
              <a:solidFill>
                <a:srgbClr val="DDDD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9" name="Freeform 55"/>
              <p:cNvSpPr>
                <a:spLocks/>
              </p:cNvSpPr>
              <p:nvPr/>
            </p:nvSpPr>
            <p:spPr bwMode="auto">
              <a:xfrm>
                <a:off x="-31750" y="3438525"/>
                <a:ext cx="80963" cy="312738"/>
              </a:xfrm>
              <a:custGeom>
                <a:avLst/>
                <a:gdLst/>
                <a:ahLst/>
                <a:cxnLst>
                  <a:cxn ang="0">
                    <a:pos x="86" y="86"/>
                  </a:cxn>
                  <a:cxn ang="0">
                    <a:pos x="69" y="86"/>
                  </a:cxn>
                  <a:cxn ang="0">
                    <a:pos x="58" y="86"/>
                  </a:cxn>
                  <a:cxn ang="0">
                    <a:pos x="49" y="83"/>
                  </a:cxn>
                  <a:cxn ang="0">
                    <a:pos x="46" y="98"/>
                  </a:cxn>
                  <a:cxn ang="0">
                    <a:pos x="47" y="129"/>
                  </a:cxn>
                  <a:cxn ang="0">
                    <a:pos x="63" y="159"/>
                  </a:cxn>
                  <a:cxn ang="0">
                    <a:pos x="81" y="183"/>
                  </a:cxn>
                  <a:cxn ang="0">
                    <a:pos x="83" y="206"/>
                  </a:cxn>
                  <a:cxn ang="0">
                    <a:pos x="66" y="231"/>
                  </a:cxn>
                  <a:cxn ang="0">
                    <a:pos x="48" y="262"/>
                  </a:cxn>
                  <a:cxn ang="0">
                    <a:pos x="49" y="300"/>
                  </a:cxn>
                  <a:cxn ang="0">
                    <a:pos x="55" y="337"/>
                  </a:cxn>
                  <a:cxn ang="0">
                    <a:pos x="68" y="371"/>
                  </a:cxn>
                  <a:cxn ang="0">
                    <a:pos x="54" y="394"/>
                  </a:cxn>
                  <a:cxn ang="0">
                    <a:pos x="30" y="381"/>
                  </a:cxn>
                  <a:cxn ang="0">
                    <a:pos x="21" y="350"/>
                  </a:cxn>
                  <a:cxn ang="0">
                    <a:pos x="20" y="312"/>
                  </a:cxn>
                  <a:cxn ang="0">
                    <a:pos x="15" y="282"/>
                  </a:cxn>
                  <a:cxn ang="0">
                    <a:pos x="5" y="257"/>
                  </a:cxn>
                  <a:cxn ang="0">
                    <a:pos x="5" y="236"/>
                  </a:cxn>
                  <a:cxn ang="0">
                    <a:pos x="11" y="219"/>
                  </a:cxn>
                  <a:cxn ang="0">
                    <a:pos x="13" y="201"/>
                  </a:cxn>
                  <a:cxn ang="0">
                    <a:pos x="6" y="180"/>
                  </a:cxn>
                  <a:cxn ang="0">
                    <a:pos x="3" y="153"/>
                  </a:cxn>
                  <a:cxn ang="0">
                    <a:pos x="7" y="121"/>
                  </a:cxn>
                  <a:cxn ang="0">
                    <a:pos x="14" y="92"/>
                  </a:cxn>
                  <a:cxn ang="0">
                    <a:pos x="24" y="66"/>
                  </a:cxn>
                  <a:cxn ang="0">
                    <a:pos x="35" y="41"/>
                  </a:cxn>
                  <a:cxn ang="0">
                    <a:pos x="45" y="14"/>
                  </a:cxn>
                  <a:cxn ang="0">
                    <a:pos x="70" y="7"/>
                  </a:cxn>
                  <a:cxn ang="0">
                    <a:pos x="94" y="18"/>
                  </a:cxn>
                  <a:cxn ang="0">
                    <a:pos x="100" y="33"/>
                  </a:cxn>
                  <a:cxn ang="0">
                    <a:pos x="97" y="62"/>
                  </a:cxn>
                </a:cxnLst>
                <a:rect l="0" t="0" r="r" b="b"/>
                <a:pathLst>
                  <a:path w="100" h="394">
                    <a:moveTo>
                      <a:pt x="94" y="86"/>
                    </a:moveTo>
                    <a:lnTo>
                      <a:pt x="86" y="86"/>
                    </a:lnTo>
                    <a:lnTo>
                      <a:pt x="78" y="86"/>
                    </a:lnTo>
                    <a:lnTo>
                      <a:pt x="69" y="86"/>
                    </a:lnTo>
                    <a:lnTo>
                      <a:pt x="61" y="87"/>
                    </a:lnTo>
                    <a:lnTo>
                      <a:pt x="58" y="86"/>
                    </a:lnTo>
                    <a:lnTo>
                      <a:pt x="53" y="84"/>
                    </a:lnTo>
                    <a:lnTo>
                      <a:pt x="49" y="83"/>
                    </a:lnTo>
                    <a:lnTo>
                      <a:pt x="45" y="82"/>
                    </a:lnTo>
                    <a:lnTo>
                      <a:pt x="46" y="98"/>
                    </a:lnTo>
                    <a:lnTo>
                      <a:pt x="47" y="113"/>
                    </a:lnTo>
                    <a:lnTo>
                      <a:pt x="47" y="129"/>
                    </a:lnTo>
                    <a:lnTo>
                      <a:pt x="48" y="145"/>
                    </a:lnTo>
                    <a:lnTo>
                      <a:pt x="63" y="159"/>
                    </a:lnTo>
                    <a:lnTo>
                      <a:pt x="74" y="171"/>
                    </a:lnTo>
                    <a:lnTo>
                      <a:pt x="81" y="183"/>
                    </a:lnTo>
                    <a:lnTo>
                      <a:pt x="84" y="195"/>
                    </a:lnTo>
                    <a:lnTo>
                      <a:pt x="83" y="206"/>
                    </a:lnTo>
                    <a:lnTo>
                      <a:pt x="77" y="218"/>
                    </a:lnTo>
                    <a:lnTo>
                      <a:pt x="66" y="231"/>
                    </a:lnTo>
                    <a:lnTo>
                      <a:pt x="48" y="243"/>
                    </a:lnTo>
                    <a:lnTo>
                      <a:pt x="48" y="262"/>
                    </a:lnTo>
                    <a:lnTo>
                      <a:pt x="49" y="280"/>
                    </a:lnTo>
                    <a:lnTo>
                      <a:pt x="49" y="300"/>
                    </a:lnTo>
                    <a:lnTo>
                      <a:pt x="49" y="318"/>
                    </a:lnTo>
                    <a:lnTo>
                      <a:pt x="55" y="337"/>
                    </a:lnTo>
                    <a:lnTo>
                      <a:pt x="62" y="354"/>
                    </a:lnTo>
                    <a:lnTo>
                      <a:pt x="68" y="371"/>
                    </a:lnTo>
                    <a:lnTo>
                      <a:pt x="74" y="388"/>
                    </a:lnTo>
                    <a:lnTo>
                      <a:pt x="54" y="394"/>
                    </a:lnTo>
                    <a:lnTo>
                      <a:pt x="39" y="391"/>
                    </a:lnTo>
                    <a:lnTo>
                      <a:pt x="30" y="381"/>
                    </a:lnTo>
                    <a:lnTo>
                      <a:pt x="24" y="368"/>
                    </a:lnTo>
                    <a:lnTo>
                      <a:pt x="21" y="350"/>
                    </a:lnTo>
                    <a:lnTo>
                      <a:pt x="20" y="331"/>
                    </a:lnTo>
                    <a:lnTo>
                      <a:pt x="20" y="312"/>
                    </a:lnTo>
                    <a:lnTo>
                      <a:pt x="20" y="295"/>
                    </a:lnTo>
                    <a:lnTo>
                      <a:pt x="15" y="282"/>
                    </a:lnTo>
                    <a:lnTo>
                      <a:pt x="10" y="270"/>
                    </a:lnTo>
                    <a:lnTo>
                      <a:pt x="5" y="257"/>
                    </a:lnTo>
                    <a:lnTo>
                      <a:pt x="0" y="246"/>
                    </a:lnTo>
                    <a:lnTo>
                      <a:pt x="5" y="236"/>
                    </a:lnTo>
                    <a:lnTo>
                      <a:pt x="8" y="228"/>
                    </a:lnTo>
                    <a:lnTo>
                      <a:pt x="11" y="219"/>
                    </a:lnTo>
                    <a:lnTo>
                      <a:pt x="16" y="211"/>
                    </a:lnTo>
                    <a:lnTo>
                      <a:pt x="13" y="201"/>
                    </a:lnTo>
                    <a:lnTo>
                      <a:pt x="9" y="190"/>
                    </a:lnTo>
                    <a:lnTo>
                      <a:pt x="6" y="180"/>
                    </a:lnTo>
                    <a:lnTo>
                      <a:pt x="2" y="170"/>
                    </a:lnTo>
                    <a:lnTo>
                      <a:pt x="3" y="153"/>
                    </a:lnTo>
                    <a:lnTo>
                      <a:pt x="5" y="137"/>
                    </a:lnTo>
                    <a:lnTo>
                      <a:pt x="7" y="121"/>
                    </a:lnTo>
                    <a:lnTo>
                      <a:pt x="8" y="105"/>
                    </a:lnTo>
                    <a:lnTo>
                      <a:pt x="14" y="92"/>
                    </a:lnTo>
                    <a:lnTo>
                      <a:pt x="18" y="79"/>
                    </a:lnTo>
                    <a:lnTo>
                      <a:pt x="24" y="66"/>
                    </a:lnTo>
                    <a:lnTo>
                      <a:pt x="29" y="53"/>
                    </a:lnTo>
                    <a:lnTo>
                      <a:pt x="35" y="41"/>
                    </a:lnTo>
                    <a:lnTo>
                      <a:pt x="39" y="27"/>
                    </a:lnTo>
                    <a:lnTo>
                      <a:pt x="45" y="14"/>
                    </a:lnTo>
                    <a:lnTo>
                      <a:pt x="49" y="0"/>
                    </a:lnTo>
                    <a:lnTo>
                      <a:pt x="70" y="7"/>
                    </a:lnTo>
                    <a:lnTo>
                      <a:pt x="85" y="12"/>
                    </a:lnTo>
                    <a:lnTo>
                      <a:pt x="94" y="18"/>
                    </a:lnTo>
                    <a:lnTo>
                      <a:pt x="99" y="23"/>
                    </a:lnTo>
                    <a:lnTo>
                      <a:pt x="100" y="33"/>
                    </a:lnTo>
                    <a:lnTo>
                      <a:pt x="99" y="45"/>
                    </a:lnTo>
                    <a:lnTo>
                      <a:pt x="97" y="62"/>
                    </a:lnTo>
                    <a:lnTo>
                      <a:pt x="94" y="86"/>
                    </a:lnTo>
                    <a:close/>
                  </a:path>
                </a:pathLst>
              </a:custGeom>
              <a:solidFill>
                <a:srgbClr val="D3D3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0" name="Freeform 56"/>
              <p:cNvSpPr>
                <a:spLocks/>
              </p:cNvSpPr>
              <p:nvPr/>
            </p:nvSpPr>
            <p:spPr bwMode="auto">
              <a:xfrm>
                <a:off x="142875" y="3567113"/>
                <a:ext cx="242888" cy="244475"/>
              </a:xfrm>
              <a:custGeom>
                <a:avLst/>
                <a:gdLst/>
                <a:ahLst/>
                <a:cxnLst>
                  <a:cxn ang="0">
                    <a:pos x="147" y="71"/>
                  </a:cxn>
                  <a:cxn ang="0">
                    <a:pos x="123" y="63"/>
                  </a:cxn>
                  <a:cxn ang="0">
                    <a:pos x="91" y="49"/>
                  </a:cxn>
                  <a:cxn ang="0">
                    <a:pos x="90" y="78"/>
                  </a:cxn>
                  <a:cxn ang="0">
                    <a:pos x="88" y="102"/>
                  </a:cxn>
                  <a:cxn ang="0">
                    <a:pos x="85" y="107"/>
                  </a:cxn>
                  <a:cxn ang="0">
                    <a:pos x="75" y="77"/>
                  </a:cxn>
                  <a:cxn ang="0">
                    <a:pos x="25" y="65"/>
                  </a:cxn>
                  <a:cxn ang="0">
                    <a:pos x="10" y="88"/>
                  </a:cxn>
                  <a:cxn ang="0">
                    <a:pos x="2" y="111"/>
                  </a:cxn>
                  <a:cxn ang="0">
                    <a:pos x="0" y="137"/>
                  </a:cxn>
                  <a:cxn ang="0">
                    <a:pos x="4" y="161"/>
                  </a:cxn>
                  <a:cxn ang="0">
                    <a:pos x="14" y="184"/>
                  </a:cxn>
                  <a:cxn ang="0">
                    <a:pos x="27" y="207"/>
                  </a:cxn>
                  <a:cxn ang="0">
                    <a:pos x="47" y="227"/>
                  </a:cxn>
                  <a:cxn ang="0">
                    <a:pos x="70" y="244"/>
                  </a:cxn>
                  <a:cxn ang="0">
                    <a:pos x="79" y="178"/>
                  </a:cxn>
                  <a:cxn ang="0">
                    <a:pos x="90" y="187"/>
                  </a:cxn>
                  <a:cxn ang="0">
                    <a:pos x="106" y="212"/>
                  </a:cxn>
                  <a:cxn ang="0">
                    <a:pos x="125" y="235"/>
                  </a:cxn>
                  <a:cxn ang="0">
                    <a:pos x="146" y="253"/>
                  </a:cxn>
                  <a:cxn ang="0">
                    <a:pos x="166" y="265"/>
                  </a:cxn>
                  <a:cxn ang="0">
                    <a:pos x="181" y="269"/>
                  </a:cxn>
                  <a:cxn ang="0">
                    <a:pos x="187" y="263"/>
                  </a:cxn>
                  <a:cxn ang="0">
                    <a:pos x="185" y="244"/>
                  </a:cxn>
                  <a:cxn ang="0">
                    <a:pos x="169" y="212"/>
                  </a:cxn>
                  <a:cxn ang="0">
                    <a:pos x="163" y="183"/>
                  </a:cxn>
                  <a:cxn ang="0">
                    <a:pos x="176" y="224"/>
                  </a:cxn>
                  <a:cxn ang="0">
                    <a:pos x="190" y="260"/>
                  </a:cxn>
                  <a:cxn ang="0">
                    <a:pos x="205" y="288"/>
                  </a:cxn>
                  <a:cxn ang="0">
                    <a:pos x="219" y="304"/>
                  </a:cxn>
                  <a:cxn ang="0">
                    <a:pos x="230" y="307"/>
                  </a:cxn>
                  <a:cxn ang="0">
                    <a:pos x="237" y="293"/>
                  </a:cxn>
                  <a:cxn ang="0">
                    <a:pos x="239" y="260"/>
                  </a:cxn>
                  <a:cxn ang="0">
                    <a:pos x="235" y="205"/>
                  </a:cxn>
                  <a:cxn ang="0">
                    <a:pos x="259" y="224"/>
                  </a:cxn>
                  <a:cxn ang="0">
                    <a:pos x="278" y="236"/>
                  </a:cxn>
                  <a:cxn ang="0">
                    <a:pos x="292" y="242"/>
                  </a:cxn>
                  <a:cxn ang="0">
                    <a:pos x="301" y="240"/>
                  </a:cxn>
                  <a:cxn ang="0">
                    <a:pos x="306" y="231"/>
                  </a:cxn>
                  <a:cxn ang="0">
                    <a:pos x="305" y="216"/>
                  </a:cxn>
                  <a:cxn ang="0">
                    <a:pos x="299" y="195"/>
                  </a:cxn>
                  <a:cxn ang="0">
                    <a:pos x="289" y="167"/>
                  </a:cxn>
                  <a:cxn ang="0">
                    <a:pos x="298" y="87"/>
                  </a:cxn>
                  <a:cxn ang="0">
                    <a:pos x="266" y="70"/>
                  </a:cxn>
                  <a:cxn ang="0">
                    <a:pos x="253" y="33"/>
                  </a:cxn>
                  <a:cxn ang="0">
                    <a:pos x="206" y="50"/>
                  </a:cxn>
                  <a:cxn ang="0">
                    <a:pos x="191" y="24"/>
                  </a:cxn>
                  <a:cxn ang="0">
                    <a:pos x="176" y="7"/>
                  </a:cxn>
                  <a:cxn ang="0">
                    <a:pos x="163" y="0"/>
                  </a:cxn>
                  <a:cxn ang="0">
                    <a:pos x="154" y="1"/>
                  </a:cxn>
                  <a:cxn ang="0">
                    <a:pos x="146" y="10"/>
                  </a:cxn>
                  <a:cxn ang="0">
                    <a:pos x="143" y="25"/>
                  </a:cxn>
                  <a:cxn ang="0">
                    <a:pos x="143" y="46"/>
                  </a:cxn>
                  <a:cxn ang="0">
                    <a:pos x="147" y="71"/>
                  </a:cxn>
                </a:cxnLst>
                <a:rect l="0" t="0" r="r" b="b"/>
                <a:pathLst>
                  <a:path w="306" h="307">
                    <a:moveTo>
                      <a:pt x="147" y="71"/>
                    </a:moveTo>
                    <a:lnTo>
                      <a:pt x="123" y="63"/>
                    </a:lnTo>
                    <a:lnTo>
                      <a:pt x="91" y="49"/>
                    </a:lnTo>
                    <a:lnTo>
                      <a:pt x="90" y="78"/>
                    </a:lnTo>
                    <a:lnTo>
                      <a:pt x="88" y="102"/>
                    </a:lnTo>
                    <a:lnTo>
                      <a:pt x="85" y="107"/>
                    </a:lnTo>
                    <a:lnTo>
                      <a:pt x="75" y="77"/>
                    </a:lnTo>
                    <a:lnTo>
                      <a:pt x="25" y="65"/>
                    </a:lnTo>
                    <a:lnTo>
                      <a:pt x="10" y="88"/>
                    </a:lnTo>
                    <a:lnTo>
                      <a:pt x="2" y="111"/>
                    </a:lnTo>
                    <a:lnTo>
                      <a:pt x="0" y="137"/>
                    </a:lnTo>
                    <a:lnTo>
                      <a:pt x="4" y="161"/>
                    </a:lnTo>
                    <a:lnTo>
                      <a:pt x="14" y="184"/>
                    </a:lnTo>
                    <a:lnTo>
                      <a:pt x="27" y="207"/>
                    </a:lnTo>
                    <a:lnTo>
                      <a:pt x="47" y="227"/>
                    </a:lnTo>
                    <a:lnTo>
                      <a:pt x="70" y="244"/>
                    </a:lnTo>
                    <a:lnTo>
                      <a:pt x="79" y="178"/>
                    </a:lnTo>
                    <a:lnTo>
                      <a:pt x="90" y="187"/>
                    </a:lnTo>
                    <a:lnTo>
                      <a:pt x="106" y="212"/>
                    </a:lnTo>
                    <a:lnTo>
                      <a:pt x="125" y="235"/>
                    </a:lnTo>
                    <a:lnTo>
                      <a:pt x="146" y="253"/>
                    </a:lnTo>
                    <a:lnTo>
                      <a:pt x="166" y="265"/>
                    </a:lnTo>
                    <a:lnTo>
                      <a:pt x="181" y="269"/>
                    </a:lnTo>
                    <a:lnTo>
                      <a:pt x="187" y="263"/>
                    </a:lnTo>
                    <a:lnTo>
                      <a:pt x="185" y="244"/>
                    </a:lnTo>
                    <a:lnTo>
                      <a:pt x="169" y="212"/>
                    </a:lnTo>
                    <a:lnTo>
                      <a:pt x="163" y="183"/>
                    </a:lnTo>
                    <a:lnTo>
                      <a:pt x="176" y="224"/>
                    </a:lnTo>
                    <a:lnTo>
                      <a:pt x="190" y="260"/>
                    </a:lnTo>
                    <a:lnTo>
                      <a:pt x="205" y="288"/>
                    </a:lnTo>
                    <a:lnTo>
                      <a:pt x="219" y="304"/>
                    </a:lnTo>
                    <a:lnTo>
                      <a:pt x="230" y="307"/>
                    </a:lnTo>
                    <a:lnTo>
                      <a:pt x="237" y="293"/>
                    </a:lnTo>
                    <a:lnTo>
                      <a:pt x="239" y="260"/>
                    </a:lnTo>
                    <a:lnTo>
                      <a:pt x="235" y="205"/>
                    </a:lnTo>
                    <a:lnTo>
                      <a:pt x="259" y="224"/>
                    </a:lnTo>
                    <a:lnTo>
                      <a:pt x="278" y="236"/>
                    </a:lnTo>
                    <a:lnTo>
                      <a:pt x="292" y="242"/>
                    </a:lnTo>
                    <a:lnTo>
                      <a:pt x="301" y="240"/>
                    </a:lnTo>
                    <a:lnTo>
                      <a:pt x="306" y="231"/>
                    </a:lnTo>
                    <a:lnTo>
                      <a:pt x="305" y="216"/>
                    </a:lnTo>
                    <a:lnTo>
                      <a:pt x="299" y="195"/>
                    </a:lnTo>
                    <a:lnTo>
                      <a:pt x="289" y="167"/>
                    </a:lnTo>
                    <a:lnTo>
                      <a:pt x="298" y="87"/>
                    </a:lnTo>
                    <a:lnTo>
                      <a:pt x="266" y="70"/>
                    </a:lnTo>
                    <a:lnTo>
                      <a:pt x="253" y="33"/>
                    </a:lnTo>
                    <a:lnTo>
                      <a:pt x="206" y="50"/>
                    </a:lnTo>
                    <a:lnTo>
                      <a:pt x="191" y="24"/>
                    </a:lnTo>
                    <a:lnTo>
                      <a:pt x="176" y="7"/>
                    </a:lnTo>
                    <a:lnTo>
                      <a:pt x="163" y="0"/>
                    </a:lnTo>
                    <a:lnTo>
                      <a:pt x="154" y="1"/>
                    </a:lnTo>
                    <a:lnTo>
                      <a:pt x="146" y="10"/>
                    </a:lnTo>
                    <a:lnTo>
                      <a:pt x="143" y="25"/>
                    </a:lnTo>
                    <a:lnTo>
                      <a:pt x="143" y="46"/>
                    </a:lnTo>
                    <a:lnTo>
                      <a:pt x="147" y="7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1" name="Freeform 57"/>
              <p:cNvSpPr>
                <a:spLocks/>
              </p:cNvSpPr>
              <p:nvPr/>
            </p:nvSpPr>
            <p:spPr bwMode="auto">
              <a:xfrm>
                <a:off x="146050" y="3570288"/>
                <a:ext cx="238125" cy="236538"/>
              </a:xfrm>
              <a:custGeom>
                <a:avLst/>
                <a:gdLst/>
                <a:ahLst/>
                <a:cxnLst>
                  <a:cxn ang="0">
                    <a:pos x="142" y="72"/>
                  </a:cxn>
                  <a:cxn ang="0">
                    <a:pos x="129" y="66"/>
                  </a:cxn>
                  <a:cxn ang="0">
                    <a:pos x="114" y="60"/>
                  </a:cxn>
                  <a:cxn ang="0">
                    <a:pos x="97" y="53"/>
                  </a:cxn>
                  <a:cxn ang="0">
                    <a:pos x="89" y="81"/>
                  </a:cxn>
                  <a:cxn ang="0">
                    <a:pos x="82" y="106"/>
                  </a:cxn>
                  <a:cxn ang="0">
                    <a:pos x="65" y="74"/>
                  </a:cxn>
                  <a:cxn ang="0">
                    <a:pos x="53" y="71"/>
                  </a:cxn>
                  <a:cxn ang="0">
                    <a:pos x="41" y="68"/>
                  </a:cxn>
                  <a:cxn ang="0">
                    <a:pos x="29" y="65"/>
                  </a:cxn>
                  <a:cxn ang="0">
                    <a:pos x="9" y="86"/>
                  </a:cxn>
                  <a:cxn ang="0">
                    <a:pos x="0" y="132"/>
                  </a:cxn>
                  <a:cxn ang="0">
                    <a:pos x="13" y="178"/>
                  </a:cxn>
                  <a:cxn ang="0">
                    <a:pos x="45" y="219"/>
                  </a:cxn>
                  <a:cxn ang="0">
                    <a:pos x="69" y="220"/>
                  </a:cxn>
                  <a:cxn ang="0">
                    <a:pos x="73" y="187"/>
                  </a:cxn>
                  <a:cxn ang="0">
                    <a:pos x="77" y="173"/>
                  </a:cxn>
                  <a:cxn ang="0">
                    <a:pos x="84" y="178"/>
                  </a:cxn>
                  <a:cxn ang="0">
                    <a:pos x="103" y="205"/>
                  </a:cxn>
                  <a:cxn ang="0">
                    <a:pos x="142" y="244"/>
                  </a:cxn>
                  <a:cxn ang="0">
                    <a:pos x="173" y="258"/>
                  </a:cxn>
                  <a:cxn ang="0">
                    <a:pos x="176" y="233"/>
                  </a:cxn>
                  <a:cxn ang="0">
                    <a:pos x="160" y="194"/>
                  </a:cxn>
                  <a:cxn ang="0">
                    <a:pos x="161" y="180"/>
                  </a:cxn>
                  <a:cxn ang="0">
                    <a:pos x="173" y="214"/>
                  </a:cxn>
                  <a:cxn ang="0">
                    <a:pos x="201" y="278"/>
                  </a:cxn>
                  <a:cxn ang="0">
                    <a:pos x="225" y="297"/>
                  </a:cxn>
                  <a:cxn ang="0">
                    <a:pos x="234" y="250"/>
                  </a:cxn>
                  <a:cxn ang="0">
                    <a:pos x="254" y="214"/>
                  </a:cxn>
                  <a:cxn ang="0">
                    <a:pos x="287" y="232"/>
                  </a:cxn>
                  <a:cxn ang="0">
                    <a:pos x="301" y="223"/>
                  </a:cxn>
                  <a:cxn ang="0">
                    <a:pos x="294" y="186"/>
                  </a:cxn>
                  <a:cxn ang="0">
                    <a:pos x="286" y="140"/>
                  </a:cxn>
                  <a:cxn ang="0">
                    <a:pos x="290" y="102"/>
                  </a:cxn>
                  <a:cxn ang="0">
                    <a:pos x="285" y="80"/>
                  </a:cxn>
                  <a:cxn ang="0">
                    <a:pos x="267" y="73"/>
                  </a:cxn>
                  <a:cxn ang="0">
                    <a:pos x="257" y="59"/>
                  </a:cxn>
                  <a:cxn ang="0">
                    <a:pos x="251" y="41"/>
                  </a:cxn>
                  <a:cxn ang="0">
                    <a:pos x="243" y="34"/>
                  </a:cxn>
                  <a:cxn ang="0">
                    <a:pos x="232" y="38"/>
                  </a:cxn>
                  <a:cxn ang="0">
                    <a:pos x="219" y="44"/>
                  </a:cxn>
                  <a:cxn ang="0">
                    <a:pos x="208" y="49"/>
                  </a:cxn>
                  <a:cxn ang="0">
                    <a:pos x="187" y="24"/>
                  </a:cxn>
                  <a:cxn ang="0">
                    <a:pos x="161" y="0"/>
                  </a:cxn>
                  <a:cxn ang="0">
                    <a:pos x="146" y="11"/>
                  </a:cxn>
                  <a:cxn ang="0">
                    <a:pos x="144" y="47"/>
                  </a:cxn>
                </a:cxnLst>
                <a:rect l="0" t="0" r="r" b="b"/>
                <a:pathLst>
                  <a:path w="301" h="297">
                    <a:moveTo>
                      <a:pt x="149" y="74"/>
                    </a:moveTo>
                    <a:lnTo>
                      <a:pt x="142" y="72"/>
                    </a:lnTo>
                    <a:lnTo>
                      <a:pt x="136" y="68"/>
                    </a:lnTo>
                    <a:lnTo>
                      <a:pt x="129" y="66"/>
                    </a:lnTo>
                    <a:lnTo>
                      <a:pt x="122" y="64"/>
                    </a:lnTo>
                    <a:lnTo>
                      <a:pt x="114" y="60"/>
                    </a:lnTo>
                    <a:lnTo>
                      <a:pt x="106" y="57"/>
                    </a:lnTo>
                    <a:lnTo>
                      <a:pt x="97" y="53"/>
                    </a:lnTo>
                    <a:lnTo>
                      <a:pt x="89" y="50"/>
                    </a:lnTo>
                    <a:lnTo>
                      <a:pt x="89" y="81"/>
                    </a:lnTo>
                    <a:lnTo>
                      <a:pt x="88" y="104"/>
                    </a:lnTo>
                    <a:lnTo>
                      <a:pt x="82" y="106"/>
                    </a:lnTo>
                    <a:lnTo>
                      <a:pt x="70" y="75"/>
                    </a:lnTo>
                    <a:lnTo>
                      <a:pt x="65" y="74"/>
                    </a:lnTo>
                    <a:lnTo>
                      <a:pt x="59" y="73"/>
                    </a:lnTo>
                    <a:lnTo>
                      <a:pt x="53" y="71"/>
                    </a:lnTo>
                    <a:lnTo>
                      <a:pt x="47" y="69"/>
                    </a:lnTo>
                    <a:lnTo>
                      <a:pt x="41" y="68"/>
                    </a:lnTo>
                    <a:lnTo>
                      <a:pt x="35" y="66"/>
                    </a:lnTo>
                    <a:lnTo>
                      <a:pt x="29" y="65"/>
                    </a:lnTo>
                    <a:lnTo>
                      <a:pt x="23" y="64"/>
                    </a:lnTo>
                    <a:lnTo>
                      <a:pt x="9" y="86"/>
                    </a:lnTo>
                    <a:lnTo>
                      <a:pt x="1" y="109"/>
                    </a:lnTo>
                    <a:lnTo>
                      <a:pt x="0" y="132"/>
                    </a:lnTo>
                    <a:lnTo>
                      <a:pt x="4" y="155"/>
                    </a:lnTo>
                    <a:lnTo>
                      <a:pt x="13" y="178"/>
                    </a:lnTo>
                    <a:lnTo>
                      <a:pt x="28" y="200"/>
                    </a:lnTo>
                    <a:lnTo>
                      <a:pt x="45" y="219"/>
                    </a:lnTo>
                    <a:lnTo>
                      <a:pt x="67" y="236"/>
                    </a:lnTo>
                    <a:lnTo>
                      <a:pt x="69" y="220"/>
                    </a:lnTo>
                    <a:lnTo>
                      <a:pt x="70" y="203"/>
                    </a:lnTo>
                    <a:lnTo>
                      <a:pt x="73" y="187"/>
                    </a:lnTo>
                    <a:lnTo>
                      <a:pt x="74" y="171"/>
                    </a:lnTo>
                    <a:lnTo>
                      <a:pt x="77" y="173"/>
                    </a:lnTo>
                    <a:lnTo>
                      <a:pt x="81" y="175"/>
                    </a:lnTo>
                    <a:lnTo>
                      <a:pt x="84" y="178"/>
                    </a:lnTo>
                    <a:lnTo>
                      <a:pt x="88" y="180"/>
                    </a:lnTo>
                    <a:lnTo>
                      <a:pt x="103" y="205"/>
                    </a:lnTo>
                    <a:lnTo>
                      <a:pt x="122" y="227"/>
                    </a:lnTo>
                    <a:lnTo>
                      <a:pt x="142" y="244"/>
                    </a:lnTo>
                    <a:lnTo>
                      <a:pt x="160" y="256"/>
                    </a:lnTo>
                    <a:lnTo>
                      <a:pt x="173" y="258"/>
                    </a:lnTo>
                    <a:lnTo>
                      <a:pt x="180" y="251"/>
                    </a:lnTo>
                    <a:lnTo>
                      <a:pt x="176" y="233"/>
                    </a:lnTo>
                    <a:lnTo>
                      <a:pt x="160" y="200"/>
                    </a:lnTo>
                    <a:lnTo>
                      <a:pt x="160" y="194"/>
                    </a:lnTo>
                    <a:lnTo>
                      <a:pt x="161" y="187"/>
                    </a:lnTo>
                    <a:lnTo>
                      <a:pt x="161" y="180"/>
                    </a:lnTo>
                    <a:lnTo>
                      <a:pt x="161" y="173"/>
                    </a:lnTo>
                    <a:lnTo>
                      <a:pt x="173" y="214"/>
                    </a:lnTo>
                    <a:lnTo>
                      <a:pt x="187" y="250"/>
                    </a:lnTo>
                    <a:lnTo>
                      <a:pt x="201" y="278"/>
                    </a:lnTo>
                    <a:lnTo>
                      <a:pt x="214" y="294"/>
                    </a:lnTo>
                    <a:lnTo>
                      <a:pt x="225" y="297"/>
                    </a:lnTo>
                    <a:lnTo>
                      <a:pt x="233" y="284"/>
                    </a:lnTo>
                    <a:lnTo>
                      <a:pt x="234" y="250"/>
                    </a:lnTo>
                    <a:lnTo>
                      <a:pt x="229" y="195"/>
                    </a:lnTo>
                    <a:lnTo>
                      <a:pt x="254" y="214"/>
                    </a:lnTo>
                    <a:lnTo>
                      <a:pt x="273" y="226"/>
                    </a:lnTo>
                    <a:lnTo>
                      <a:pt x="287" y="232"/>
                    </a:lnTo>
                    <a:lnTo>
                      <a:pt x="296" y="231"/>
                    </a:lnTo>
                    <a:lnTo>
                      <a:pt x="301" y="223"/>
                    </a:lnTo>
                    <a:lnTo>
                      <a:pt x="300" y="208"/>
                    </a:lnTo>
                    <a:lnTo>
                      <a:pt x="294" y="186"/>
                    </a:lnTo>
                    <a:lnTo>
                      <a:pt x="284" y="158"/>
                    </a:lnTo>
                    <a:lnTo>
                      <a:pt x="286" y="140"/>
                    </a:lnTo>
                    <a:lnTo>
                      <a:pt x="288" y="121"/>
                    </a:lnTo>
                    <a:lnTo>
                      <a:pt x="290" y="102"/>
                    </a:lnTo>
                    <a:lnTo>
                      <a:pt x="293" y="83"/>
                    </a:lnTo>
                    <a:lnTo>
                      <a:pt x="285" y="80"/>
                    </a:lnTo>
                    <a:lnTo>
                      <a:pt x="277" y="76"/>
                    </a:lnTo>
                    <a:lnTo>
                      <a:pt x="267" y="73"/>
                    </a:lnTo>
                    <a:lnTo>
                      <a:pt x="259" y="68"/>
                    </a:lnTo>
                    <a:lnTo>
                      <a:pt x="257" y="59"/>
                    </a:lnTo>
                    <a:lnTo>
                      <a:pt x="255" y="50"/>
                    </a:lnTo>
                    <a:lnTo>
                      <a:pt x="251" y="41"/>
                    </a:lnTo>
                    <a:lnTo>
                      <a:pt x="249" y="31"/>
                    </a:lnTo>
                    <a:lnTo>
                      <a:pt x="243" y="34"/>
                    </a:lnTo>
                    <a:lnTo>
                      <a:pt x="237" y="36"/>
                    </a:lnTo>
                    <a:lnTo>
                      <a:pt x="232" y="38"/>
                    </a:lnTo>
                    <a:lnTo>
                      <a:pt x="226" y="41"/>
                    </a:lnTo>
                    <a:lnTo>
                      <a:pt x="219" y="44"/>
                    </a:lnTo>
                    <a:lnTo>
                      <a:pt x="213" y="46"/>
                    </a:lnTo>
                    <a:lnTo>
                      <a:pt x="208" y="49"/>
                    </a:lnTo>
                    <a:lnTo>
                      <a:pt x="202" y="51"/>
                    </a:lnTo>
                    <a:lnTo>
                      <a:pt x="187" y="24"/>
                    </a:lnTo>
                    <a:lnTo>
                      <a:pt x="173" y="7"/>
                    </a:lnTo>
                    <a:lnTo>
                      <a:pt x="161" y="0"/>
                    </a:lnTo>
                    <a:lnTo>
                      <a:pt x="153" y="1"/>
                    </a:lnTo>
                    <a:lnTo>
                      <a:pt x="146" y="11"/>
                    </a:lnTo>
                    <a:lnTo>
                      <a:pt x="143" y="27"/>
                    </a:lnTo>
                    <a:lnTo>
                      <a:pt x="144" y="47"/>
                    </a:lnTo>
                    <a:lnTo>
                      <a:pt x="149" y="74"/>
                    </a:lnTo>
                    <a:close/>
                  </a:path>
                </a:pathLst>
              </a:custGeom>
              <a:solidFill>
                <a:srgbClr val="F7F7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2" name="Freeform 58"/>
              <p:cNvSpPr>
                <a:spLocks/>
              </p:cNvSpPr>
              <p:nvPr/>
            </p:nvSpPr>
            <p:spPr bwMode="auto">
              <a:xfrm>
                <a:off x="147638" y="3575050"/>
                <a:ext cx="233363" cy="227013"/>
              </a:xfrm>
              <a:custGeom>
                <a:avLst/>
                <a:gdLst/>
                <a:ahLst/>
                <a:cxnLst>
                  <a:cxn ang="0">
                    <a:pos x="142" y="71"/>
                  </a:cxn>
                  <a:cxn ang="0">
                    <a:pos x="129" y="66"/>
                  </a:cxn>
                  <a:cxn ang="0">
                    <a:pos x="117" y="61"/>
                  </a:cxn>
                  <a:cxn ang="0">
                    <a:pos x="109" y="58"/>
                  </a:cxn>
                  <a:cxn ang="0">
                    <a:pos x="100" y="53"/>
                  </a:cxn>
                  <a:cxn ang="0">
                    <a:pos x="92" y="50"/>
                  </a:cxn>
                  <a:cxn ang="0">
                    <a:pos x="88" y="81"/>
                  </a:cxn>
                  <a:cxn ang="0">
                    <a:pos x="79" y="104"/>
                  </a:cxn>
                  <a:cxn ang="0">
                    <a:pos x="62" y="70"/>
                  </a:cxn>
                  <a:cxn ang="0">
                    <a:pos x="50" y="67"/>
                  </a:cxn>
                  <a:cxn ang="0">
                    <a:pos x="39" y="63"/>
                  </a:cxn>
                  <a:cxn ang="0">
                    <a:pos x="26" y="61"/>
                  </a:cxn>
                  <a:cxn ang="0">
                    <a:pos x="8" y="82"/>
                  </a:cxn>
                  <a:cxn ang="0">
                    <a:pos x="0" y="127"/>
                  </a:cxn>
                  <a:cxn ang="0">
                    <a:pos x="13" y="170"/>
                  </a:cxn>
                  <a:cxn ang="0">
                    <a:pos x="43" y="210"/>
                  </a:cxn>
                  <a:cxn ang="0">
                    <a:pos x="65" y="210"/>
                  </a:cxn>
                  <a:cxn ang="0">
                    <a:pos x="66" y="176"/>
                  </a:cxn>
                  <a:cxn ang="0">
                    <a:pos x="72" y="162"/>
                  </a:cxn>
                  <a:cxn ang="0">
                    <a:pos x="80" y="169"/>
                  </a:cxn>
                  <a:cxn ang="0">
                    <a:pos x="100" y="196"/>
                  </a:cxn>
                  <a:cxn ang="0">
                    <a:pos x="137" y="234"/>
                  </a:cxn>
                  <a:cxn ang="0">
                    <a:pos x="167" y="246"/>
                  </a:cxn>
                  <a:cxn ang="0">
                    <a:pos x="168" y="219"/>
                  </a:cxn>
                  <a:cxn ang="0">
                    <a:pos x="154" y="180"/>
                  </a:cxn>
                  <a:cxn ang="0">
                    <a:pos x="157" y="168"/>
                  </a:cxn>
                  <a:cxn ang="0">
                    <a:pos x="170" y="204"/>
                  </a:cxn>
                  <a:cxn ang="0">
                    <a:pos x="198" y="267"/>
                  </a:cxn>
                  <a:cxn ang="0">
                    <a:pos x="221" y="286"/>
                  </a:cxn>
                  <a:cxn ang="0">
                    <a:pos x="229" y="238"/>
                  </a:cxn>
                  <a:cxn ang="0">
                    <a:pos x="248" y="203"/>
                  </a:cxn>
                  <a:cxn ang="0">
                    <a:pos x="282" y="221"/>
                  </a:cxn>
                  <a:cxn ang="0">
                    <a:pos x="294" y="212"/>
                  </a:cxn>
                  <a:cxn ang="0">
                    <a:pos x="287" y="176"/>
                  </a:cxn>
                  <a:cxn ang="0">
                    <a:pos x="279" y="131"/>
                  </a:cxn>
                  <a:cxn ang="0">
                    <a:pos x="285" y="96"/>
                  </a:cxn>
                  <a:cxn ang="0">
                    <a:pos x="284" y="76"/>
                  </a:cxn>
                  <a:cxn ang="0">
                    <a:pos x="275" y="74"/>
                  </a:cxn>
                  <a:cxn ang="0">
                    <a:pos x="266" y="70"/>
                  </a:cxn>
                  <a:cxn ang="0">
                    <a:pos x="257" y="67"/>
                  </a:cxn>
                  <a:cxn ang="0">
                    <a:pos x="252" y="56"/>
                  </a:cxn>
                  <a:cxn ang="0">
                    <a:pos x="247" y="37"/>
                  </a:cxn>
                  <a:cxn ang="0">
                    <a:pos x="239" y="30"/>
                  </a:cxn>
                  <a:cxn ang="0">
                    <a:pos x="228" y="36"/>
                  </a:cxn>
                  <a:cxn ang="0">
                    <a:pos x="215" y="40"/>
                  </a:cxn>
                  <a:cxn ang="0">
                    <a:pos x="203" y="46"/>
                  </a:cxn>
                  <a:cxn ang="0">
                    <a:pos x="183" y="23"/>
                  </a:cxn>
                  <a:cxn ang="0">
                    <a:pos x="158" y="0"/>
                  </a:cxn>
                  <a:cxn ang="0">
                    <a:pos x="146" y="10"/>
                  </a:cxn>
                  <a:cxn ang="0">
                    <a:pos x="145" y="48"/>
                  </a:cxn>
                </a:cxnLst>
                <a:rect l="0" t="0" r="r" b="b"/>
                <a:pathLst>
                  <a:path w="294" h="286">
                    <a:moveTo>
                      <a:pt x="149" y="74"/>
                    </a:moveTo>
                    <a:lnTo>
                      <a:pt x="142" y="71"/>
                    </a:lnTo>
                    <a:lnTo>
                      <a:pt x="135" y="68"/>
                    </a:lnTo>
                    <a:lnTo>
                      <a:pt x="129" y="66"/>
                    </a:lnTo>
                    <a:lnTo>
                      <a:pt x="122" y="63"/>
                    </a:lnTo>
                    <a:lnTo>
                      <a:pt x="117" y="61"/>
                    </a:lnTo>
                    <a:lnTo>
                      <a:pt x="114" y="59"/>
                    </a:lnTo>
                    <a:lnTo>
                      <a:pt x="109" y="58"/>
                    </a:lnTo>
                    <a:lnTo>
                      <a:pt x="104" y="55"/>
                    </a:lnTo>
                    <a:lnTo>
                      <a:pt x="100" y="53"/>
                    </a:lnTo>
                    <a:lnTo>
                      <a:pt x="96" y="52"/>
                    </a:lnTo>
                    <a:lnTo>
                      <a:pt x="92" y="50"/>
                    </a:lnTo>
                    <a:lnTo>
                      <a:pt x="87" y="47"/>
                    </a:lnTo>
                    <a:lnTo>
                      <a:pt x="88" y="81"/>
                    </a:lnTo>
                    <a:lnTo>
                      <a:pt x="86" y="103"/>
                    </a:lnTo>
                    <a:lnTo>
                      <a:pt x="79" y="104"/>
                    </a:lnTo>
                    <a:lnTo>
                      <a:pt x="67" y="71"/>
                    </a:lnTo>
                    <a:lnTo>
                      <a:pt x="62" y="70"/>
                    </a:lnTo>
                    <a:lnTo>
                      <a:pt x="56" y="68"/>
                    </a:lnTo>
                    <a:lnTo>
                      <a:pt x="50" y="67"/>
                    </a:lnTo>
                    <a:lnTo>
                      <a:pt x="44" y="66"/>
                    </a:lnTo>
                    <a:lnTo>
                      <a:pt x="39" y="63"/>
                    </a:lnTo>
                    <a:lnTo>
                      <a:pt x="33" y="62"/>
                    </a:lnTo>
                    <a:lnTo>
                      <a:pt x="26" y="61"/>
                    </a:lnTo>
                    <a:lnTo>
                      <a:pt x="20" y="60"/>
                    </a:lnTo>
                    <a:lnTo>
                      <a:pt x="8" y="82"/>
                    </a:lnTo>
                    <a:lnTo>
                      <a:pt x="1" y="104"/>
                    </a:lnTo>
                    <a:lnTo>
                      <a:pt x="0" y="127"/>
                    </a:lnTo>
                    <a:lnTo>
                      <a:pt x="4" y="149"/>
                    </a:lnTo>
                    <a:lnTo>
                      <a:pt x="13" y="170"/>
                    </a:lnTo>
                    <a:lnTo>
                      <a:pt x="26" y="191"/>
                    </a:lnTo>
                    <a:lnTo>
                      <a:pt x="43" y="210"/>
                    </a:lnTo>
                    <a:lnTo>
                      <a:pt x="64" y="227"/>
                    </a:lnTo>
                    <a:lnTo>
                      <a:pt x="65" y="210"/>
                    </a:lnTo>
                    <a:lnTo>
                      <a:pt x="66" y="194"/>
                    </a:lnTo>
                    <a:lnTo>
                      <a:pt x="66" y="176"/>
                    </a:lnTo>
                    <a:lnTo>
                      <a:pt x="67" y="160"/>
                    </a:lnTo>
                    <a:lnTo>
                      <a:pt x="72" y="162"/>
                    </a:lnTo>
                    <a:lnTo>
                      <a:pt x="77" y="166"/>
                    </a:lnTo>
                    <a:lnTo>
                      <a:pt x="80" y="169"/>
                    </a:lnTo>
                    <a:lnTo>
                      <a:pt x="85" y="172"/>
                    </a:lnTo>
                    <a:lnTo>
                      <a:pt x="100" y="196"/>
                    </a:lnTo>
                    <a:lnTo>
                      <a:pt x="118" y="218"/>
                    </a:lnTo>
                    <a:lnTo>
                      <a:pt x="137" y="234"/>
                    </a:lnTo>
                    <a:lnTo>
                      <a:pt x="154" y="244"/>
                    </a:lnTo>
                    <a:lnTo>
                      <a:pt x="167" y="246"/>
                    </a:lnTo>
                    <a:lnTo>
                      <a:pt x="172" y="238"/>
                    </a:lnTo>
                    <a:lnTo>
                      <a:pt x="168" y="219"/>
                    </a:lnTo>
                    <a:lnTo>
                      <a:pt x="152" y="185"/>
                    </a:lnTo>
                    <a:lnTo>
                      <a:pt x="154" y="180"/>
                    </a:lnTo>
                    <a:lnTo>
                      <a:pt x="155" y="174"/>
                    </a:lnTo>
                    <a:lnTo>
                      <a:pt x="157" y="168"/>
                    </a:lnTo>
                    <a:lnTo>
                      <a:pt x="158" y="162"/>
                    </a:lnTo>
                    <a:lnTo>
                      <a:pt x="170" y="204"/>
                    </a:lnTo>
                    <a:lnTo>
                      <a:pt x="184" y="240"/>
                    </a:lnTo>
                    <a:lnTo>
                      <a:pt x="198" y="267"/>
                    </a:lnTo>
                    <a:lnTo>
                      <a:pt x="210" y="283"/>
                    </a:lnTo>
                    <a:lnTo>
                      <a:pt x="221" y="286"/>
                    </a:lnTo>
                    <a:lnTo>
                      <a:pt x="228" y="272"/>
                    </a:lnTo>
                    <a:lnTo>
                      <a:pt x="229" y="238"/>
                    </a:lnTo>
                    <a:lnTo>
                      <a:pt x="224" y="183"/>
                    </a:lnTo>
                    <a:lnTo>
                      <a:pt x="248" y="203"/>
                    </a:lnTo>
                    <a:lnTo>
                      <a:pt x="268" y="215"/>
                    </a:lnTo>
                    <a:lnTo>
                      <a:pt x="282" y="221"/>
                    </a:lnTo>
                    <a:lnTo>
                      <a:pt x="291" y="220"/>
                    </a:lnTo>
                    <a:lnTo>
                      <a:pt x="294" y="212"/>
                    </a:lnTo>
                    <a:lnTo>
                      <a:pt x="293" y="198"/>
                    </a:lnTo>
                    <a:lnTo>
                      <a:pt x="287" y="176"/>
                    </a:lnTo>
                    <a:lnTo>
                      <a:pt x="277" y="149"/>
                    </a:lnTo>
                    <a:lnTo>
                      <a:pt x="279" y="131"/>
                    </a:lnTo>
                    <a:lnTo>
                      <a:pt x="283" y="113"/>
                    </a:lnTo>
                    <a:lnTo>
                      <a:pt x="285" y="96"/>
                    </a:lnTo>
                    <a:lnTo>
                      <a:pt x="289" y="77"/>
                    </a:lnTo>
                    <a:lnTo>
                      <a:pt x="284" y="76"/>
                    </a:lnTo>
                    <a:lnTo>
                      <a:pt x="279" y="75"/>
                    </a:lnTo>
                    <a:lnTo>
                      <a:pt x="275" y="74"/>
                    </a:lnTo>
                    <a:lnTo>
                      <a:pt x="270" y="71"/>
                    </a:lnTo>
                    <a:lnTo>
                      <a:pt x="266" y="70"/>
                    </a:lnTo>
                    <a:lnTo>
                      <a:pt x="262" y="69"/>
                    </a:lnTo>
                    <a:lnTo>
                      <a:pt x="257" y="67"/>
                    </a:lnTo>
                    <a:lnTo>
                      <a:pt x="253" y="66"/>
                    </a:lnTo>
                    <a:lnTo>
                      <a:pt x="252" y="56"/>
                    </a:lnTo>
                    <a:lnTo>
                      <a:pt x="249" y="46"/>
                    </a:lnTo>
                    <a:lnTo>
                      <a:pt x="247" y="37"/>
                    </a:lnTo>
                    <a:lnTo>
                      <a:pt x="245" y="27"/>
                    </a:lnTo>
                    <a:lnTo>
                      <a:pt x="239" y="30"/>
                    </a:lnTo>
                    <a:lnTo>
                      <a:pt x="233" y="32"/>
                    </a:lnTo>
                    <a:lnTo>
                      <a:pt x="228" y="36"/>
                    </a:lnTo>
                    <a:lnTo>
                      <a:pt x="222" y="38"/>
                    </a:lnTo>
                    <a:lnTo>
                      <a:pt x="215" y="40"/>
                    </a:lnTo>
                    <a:lnTo>
                      <a:pt x="209" y="44"/>
                    </a:lnTo>
                    <a:lnTo>
                      <a:pt x="203" y="46"/>
                    </a:lnTo>
                    <a:lnTo>
                      <a:pt x="198" y="50"/>
                    </a:lnTo>
                    <a:lnTo>
                      <a:pt x="183" y="23"/>
                    </a:lnTo>
                    <a:lnTo>
                      <a:pt x="170" y="7"/>
                    </a:lnTo>
                    <a:lnTo>
                      <a:pt x="158" y="0"/>
                    </a:lnTo>
                    <a:lnTo>
                      <a:pt x="150" y="1"/>
                    </a:lnTo>
                    <a:lnTo>
                      <a:pt x="146" y="10"/>
                    </a:lnTo>
                    <a:lnTo>
                      <a:pt x="143" y="27"/>
                    </a:lnTo>
                    <a:lnTo>
                      <a:pt x="145" y="48"/>
                    </a:lnTo>
                    <a:lnTo>
                      <a:pt x="149" y="74"/>
                    </a:lnTo>
                    <a:close/>
                  </a:path>
                </a:pathLst>
              </a:custGeom>
              <a:solidFill>
                <a:srgbClr val="EDED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3" name="Freeform 59"/>
              <p:cNvSpPr>
                <a:spLocks/>
              </p:cNvSpPr>
              <p:nvPr/>
            </p:nvSpPr>
            <p:spPr bwMode="auto">
              <a:xfrm>
                <a:off x="149225" y="3578225"/>
                <a:ext cx="230188" cy="220663"/>
              </a:xfrm>
              <a:custGeom>
                <a:avLst/>
                <a:gdLst/>
                <a:ahLst/>
                <a:cxnLst>
                  <a:cxn ang="0">
                    <a:pos x="144" y="72"/>
                  </a:cxn>
                  <a:cxn ang="0">
                    <a:pos x="130" y="66"/>
                  </a:cxn>
                  <a:cxn ang="0">
                    <a:pos x="117" y="62"/>
                  </a:cxn>
                  <a:cxn ang="0">
                    <a:pos x="109" y="57"/>
                  </a:cxn>
                  <a:cxn ang="0">
                    <a:pos x="100" y="53"/>
                  </a:cxn>
                  <a:cxn ang="0">
                    <a:pos x="91" y="48"/>
                  </a:cxn>
                  <a:cxn ang="0">
                    <a:pos x="89" y="83"/>
                  </a:cxn>
                  <a:cxn ang="0">
                    <a:pos x="77" y="101"/>
                  </a:cxn>
                  <a:cxn ang="0">
                    <a:pos x="59" y="66"/>
                  </a:cxn>
                  <a:cxn ang="0">
                    <a:pos x="48" y="64"/>
                  </a:cxn>
                  <a:cxn ang="0">
                    <a:pos x="37" y="61"/>
                  </a:cxn>
                  <a:cxn ang="0">
                    <a:pos x="25" y="58"/>
                  </a:cxn>
                  <a:cxn ang="0">
                    <a:pos x="7" y="79"/>
                  </a:cxn>
                  <a:cxn ang="0">
                    <a:pos x="0" y="122"/>
                  </a:cxn>
                  <a:cxn ang="0">
                    <a:pos x="14" y="163"/>
                  </a:cxn>
                  <a:cxn ang="0">
                    <a:pos x="42" y="201"/>
                  </a:cxn>
                  <a:cxn ang="0">
                    <a:pos x="62" y="201"/>
                  </a:cxn>
                  <a:cxn ang="0">
                    <a:pos x="63" y="168"/>
                  </a:cxn>
                  <a:cxn ang="0">
                    <a:pos x="68" y="154"/>
                  </a:cxn>
                  <a:cxn ang="0">
                    <a:pos x="78" y="161"/>
                  </a:cxn>
                  <a:cxn ang="0">
                    <a:pos x="98" y="187"/>
                  </a:cxn>
                  <a:cxn ang="0">
                    <a:pos x="133" y="224"/>
                  </a:cxn>
                  <a:cxn ang="0">
                    <a:pos x="161" y="236"/>
                  </a:cxn>
                  <a:cxn ang="0">
                    <a:pos x="161" y="207"/>
                  </a:cxn>
                  <a:cxn ang="0">
                    <a:pos x="147" y="168"/>
                  </a:cxn>
                  <a:cxn ang="0">
                    <a:pos x="154" y="157"/>
                  </a:cxn>
                  <a:cxn ang="0">
                    <a:pos x="169" y="194"/>
                  </a:cxn>
                  <a:cxn ang="0">
                    <a:pos x="196" y="256"/>
                  </a:cxn>
                  <a:cxn ang="0">
                    <a:pos x="217" y="276"/>
                  </a:cxn>
                  <a:cxn ang="0">
                    <a:pos x="226" y="228"/>
                  </a:cxn>
                  <a:cxn ang="0">
                    <a:pos x="245" y="192"/>
                  </a:cxn>
                  <a:cxn ang="0">
                    <a:pos x="277" y="212"/>
                  </a:cxn>
                  <a:cxn ang="0">
                    <a:pos x="290" y="203"/>
                  </a:cxn>
                  <a:cxn ang="0">
                    <a:pos x="282" y="168"/>
                  </a:cxn>
                  <a:cxn ang="0">
                    <a:pos x="274" y="124"/>
                  </a:cxn>
                  <a:cxn ang="0">
                    <a:pos x="281" y="89"/>
                  </a:cxn>
                  <a:cxn ang="0">
                    <a:pos x="280" y="72"/>
                  </a:cxn>
                  <a:cxn ang="0">
                    <a:pos x="270" y="70"/>
                  </a:cxn>
                  <a:cxn ang="0">
                    <a:pos x="261" y="68"/>
                  </a:cxn>
                  <a:cxn ang="0">
                    <a:pos x="252" y="65"/>
                  </a:cxn>
                  <a:cxn ang="0">
                    <a:pos x="246" y="54"/>
                  </a:cxn>
                  <a:cxn ang="0">
                    <a:pos x="243" y="33"/>
                  </a:cxn>
                  <a:cxn ang="0">
                    <a:pos x="236" y="27"/>
                  </a:cxn>
                  <a:cxn ang="0">
                    <a:pos x="224" y="33"/>
                  </a:cxn>
                  <a:cxn ang="0">
                    <a:pos x="212" y="40"/>
                  </a:cxn>
                  <a:cxn ang="0">
                    <a:pos x="200" y="46"/>
                  </a:cxn>
                  <a:cxn ang="0">
                    <a:pos x="179" y="23"/>
                  </a:cxn>
                  <a:cxn ang="0">
                    <a:pos x="158" y="0"/>
                  </a:cxn>
                  <a:cxn ang="0">
                    <a:pos x="146" y="11"/>
                  </a:cxn>
                  <a:cxn ang="0">
                    <a:pos x="146" y="49"/>
                  </a:cxn>
                </a:cxnLst>
                <a:rect l="0" t="0" r="r" b="b"/>
                <a:pathLst>
                  <a:path w="290" h="276">
                    <a:moveTo>
                      <a:pt x="152" y="75"/>
                    </a:moveTo>
                    <a:lnTo>
                      <a:pt x="144" y="72"/>
                    </a:lnTo>
                    <a:lnTo>
                      <a:pt x="137" y="69"/>
                    </a:lnTo>
                    <a:lnTo>
                      <a:pt x="130" y="66"/>
                    </a:lnTo>
                    <a:lnTo>
                      <a:pt x="122" y="64"/>
                    </a:lnTo>
                    <a:lnTo>
                      <a:pt x="117" y="62"/>
                    </a:lnTo>
                    <a:lnTo>
                      <a:pt x="113" y="60"/>
                    </a:lnTo>
                    <a:lnTo>
                      <a:pt x="109" y="57"/>
                    </a:lnTo>
                    <a:lnTo>
                      <a:pt x="105" y="55"/>
                    </a:lnTo>
                    <a:lnTo>
                      <a:pt x="100" y="53"/>
                    </a:lnTo>
                    <a:lnTo>
                      <a:pt x="95" y="50"/>
                    </a:lnTo>
                    <a:lnTo>
                      <a:pt x="91" y="48"/>
                    </a:lnTo>
                    <a:lnTo>
                      <a:pt x="86" y="46"/>
                    </a:lnTo>
                    <a:lnTo>
                      <a:pt x="89" y="83"/>
                    </a:lnTo>
                    <a:lnTo>
                      <a:pt x="86" y="103"/>
                    </a:lnTo>
                    <a:lnTo>
                      <a:pt x="77" y="101"/>
                    </a:lnTo>
                    <a:lnTo>
                      <a:pt x="64" y="68"/>
                    </a:lnTo>
                    <a:lnTo>
                      <a:pt x="59" y="66"/>
                    </a:lnTo>
                    <a:lnTo>
                      <a:pt x="53" y="65"/>
                    </a:lnTo>
                    <a:lnTo>
                      <a:pt x="48" y="64"/>
                    </a:lnTo>
                    <a:lnTo>
                      <a:pt x="42" y="62"/>
                    </a:lnTo>
                    <a:lnTo>
                      <a:pt x="37" y="61"/>
                    </a:lnTo>
                    <a:lnTo>
                      <a:pt x="31" y="60"/>
                    </a:lnTo>
                    <a:lnTo>
                      <a:pt x="25" y="58"/>
                    </a:lnTo>
                    <a:lnTo>
                      <a:pt x="19" y="57"/>
                    </a:lnTo>
                    <a:lnTo>
                      <a:pt x="7" y="79"/>
                    </a:lnTo>
                    <a:lnTo>
                      <a:pt x="1" y="100"/>
                    </a:lnTo>
                    <a:lnTo>
                      <a:pt x="0" y="122"/>
                    </a:lnTo>
                    <a:lnTo>
                      <a:pt x="4" y="142"/>
                    </a:lnTo>
                    <a:lnTo>
                      <a:pt x="14" y="163"/>
                    </a:lnTo>
                    <a:lnTo>
                      <a:pt x="26" y="183"/>
                    </a:lnTo>
                    <a:lnTo>
                      <a:pt x="42" y="201"/>
                    </a:lnTo>
                    <a:lnTo>
                      <a:pt x="62" y="217"/>
                    </a:lnTo>
                    <a:lnTo>
                      <a:pt x="62" y="201"/>
                    </a:lnTo>
                    <a:lnTo>
                      <a:pt x="63" y="184"/>
                    </a:lnTo>
                    <a:lnTo>
                      <a:pt x="63" y="168"/>
                    </a:lnTo>
                    <a:lnTo>
                      <a:pt x="63" y="151"/>
                    </a:lnTo>
                    <a:lnTo>
                      <a:pt x="68" y="154"/>
                    </a:lnTo>
                    <a:lnTo>
                      <a:pt x="74" y="157"/>
                    </a:lnTo>
                    <a:lnTo>
                      <a:pt x="78" y="161"/>
                    </a:lnTo>
                    <a:lnTo>
                      <a:pt x="83" y="163"/>
                    </a:lnTo>
                    <a:lnTo>
                      <a:pt x="98" y="187"/>
                    </a:lnTo>
                    <a:lnTo>
                      <a:pt x="115" y="208"/>
                    </a:lnTo>
                    <a:lnTo>
                      <a:pt x="133" y="224"/>
                    </a:lnTo>
                    <a:lnTo>
                      <a:pt x="150" y="233"/>
                    </a:lnTo>
                    <a:lnTo>
                      <a:pt x="161" y="236"/>
                    </a:lnTo>
                    <a:lnTo>
                      <a:pt x="166" y="227"/>
                    </a:lnTo>
                    <a:lnTo>
                      <a:pt x="161" y="207"/>
                    </a:lnTo>
                    <a:lnTo>
                      <a:pt x="145" y="174"/>
                    </a:lnTo>
                    <a:lnTo>
                      <a:pt x="147" y="168"/>
                    </a:lnTo>
                    <a:lnTo>
                      <a:pt x="151" y="163"/>
                    </a:lnTo>
                    <a:lnTo>
                      <a:pt x="154" y="157"/>
                    </a:lnTo>
                    <a:lnTo>
                      <a:pt x="158" y="153"/>
                    </a:lnTo>
                    <a:lnTo>
                      <a:pt x="169" y="194"/>
                    </a:lnTo>
                    <a:lnTo>
                      <a:pt x="182" y="229"/>
                    </a:lnTo>
                    <a:lnTo>
                      <a:pt x="196" y="256"/>
                    </a:lnTo>
                    <a:lnTo>
                      <a:pt x="208" y="273"/>
                    </a:lnTo>
                    <a:lnTo>
                      <a:pt x="217" y="276"/>
                    </a:lnTo>
                    <a:lnTo>
                      <a:pt x="224" y="261"/>
                    </a:lnTo>
                    <a:lnTo>
                      <a:pt x="226" y="228"/>
                    </a:lnTo>
                    <a:lnTo>
                      <a:pt x="221" y="172"/>
                    </a:lnTo>
                    <a:lnTo>
                      <a:pt x="245" y="192"/>
                    </a:lnTo>
                    <a:lnTo>
                      <a:pt x="264" y="205"/>
                    </a:lnTo>
                    <a:lnTo>
                      <a:pt x="277" y="212"/>
                    </a:lnTo>
                    <a:lnTo>
                      <a:pt x="287" y="210"/>
                    </a:lnTo>
                    <a:lnTo>
                      <a:pt x="290" y="203"/>
                    </a:lnTo>
                    <a:lnTo>
                      <a:pt x="289" y="190"/>
                    </a:lnTo>
                    <a:lnTo>
                      <a:pt x="282" y="168"/>
                    </a:lnTo>
                    <a:lnTo>
                      <a:pt x="272" y="140"/>
                    </a:lnTo>
                    <a:lnTo>
                      <a:pt x="274" y="124"/>
                    </a:lnTo>
                    <a:lnTo>
                      <a:pt x="277" y="107"/>
                    </a:lnTo>
                    <a:lnTo>
                      <a:pt x="281" y="89"/>
                    </a:lnTo>
                    <a:lnTo>
                      <a:pt x="284" y="73"/>
                    </a:lnTo>
                    <a:lnTo>
                      <a:pt x="280" y="72"/>
                    </a:lnTo>
                    <a:lnTo>
                      <a:pt x="275" y="71"/>
                    </a:lnTo>
                    <a:lnTo>
                      <a:pt x="270" y="70"/>
                    </a:lnTo>
                    <a:lnTo>
                      <a:pt x="266" y="69"/>
                    </a:lnTo>
                    <a:lnTo>
                      <a:pt x="261" y="68"/>
                    </a:lnTo>
                    <a:lnTo>
                      <a:pt x="257" y="66"/>
                    </a:lnTo>
                    <a:lnTo>
                      <a:pt x="252" y="65"/>
                    </a:lnTo>
                    <a:lnTo>
                      <a:pt x="247" y="64"/>
                    </a:lnTo>
                    <a:lnTo>
                      <a:pt x="246" y="54"/>
                    </a:lnTo>
                    <a:lnTo>
                      <a:pt x="245" y="43"/>
                    </a:lnTo>
                    <a:lnTo>
                      <a:pt x="243" y="33"/>
                    </a:lnTo>
                    <a:lnTo>
                      <a:pt x="242" y="24"/>
                    </a:lnTo>
                    <a:lnTo>
                      <a:pt x="236" y="27"/>
                    </a:lnTo>
                    <a:lnTo>
                      <a:pt x="230" y="30"/>
                    </a:lnTo>
                    <a:lnTo>
                      <a:pt x="224" y="33"/>
                    </a:lnTo>
                    <a:lnTo>
                      <a:pt x="219" y="36"/>
                    </a:lnTo>
                    <a:lnTo>
                      <a:pt x="212" y="40"/>
                    </a:lnTo>
                    <a:lnTo>
                      <a:pt x="206" y="43"/>
                    </a:lnTo>
                    <a:lnTo>
                      <a:pt x="200" y="46"/>
                    </a:lnTo>
                    <a:lnTo>
                      <a:pt x="194" y="49"/>
                    </a:lnTo>
                    <a:lnTo>
                      <a:pt x="179" y="23"/>
                    </a:lnTo>
                    <a:lnTo>
                      <a:pt x="167" y="7"/>
                    </a:lnTo>
                    <a:lnTo>
                      <a:pt x="158" y="0"/>
                    </a:lnTo>
                    <a:lnTo>
                      <a:pt x="151" y="2"/>
                    </a:lnTo>
                    <a:lnTo>
                      <a:pt x="146" y="11"/>
                    </a:lnTo>
                    <a:lnTo>
                      <a:pt x="145" y="27"/>
                    </a:lnTo>
                    <a:lnTo>
                      <a:pt x="146" y="49"/>
                    </a:lnTo>
                    <a:lnTo>
                      <a:pt x="152" y="75"/>
                    </a:lnTo>
                    <a:close/>
                  </a:path>
                </a:pathLst>
              </a:custGeom>
              <a:solidFill>
                <a:srgbClr val="E5E5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4" name="Freeform 60"/>
              <p:cNvSpPr>
                <a:spLocks/>
              </p:cNvSpPr>
              <p:nvPr/>
            </p:nvSpPr>
            <p:spPr bwMode="auto">
              <a:xfrm>
                <a:off x="152400" y="3582988"/>
                <a:ext cx="223838" cy="211138"/>
              </a:xfrm>
              <a:custGeom>
                <a:avLst/>
                <a:gdLst/>
                <a:ahLst/>
                <a:cxnLst>
                  <a:cxn ang="0">
                    <a:pos x="144" y="74"/>
                  </a:cxn>
                  <a:cxn ang="0">
                    <a:pos x="130" y="68"/>
                  </a:cxn>
                  <a:cxn ang="0">
                    <a:pos x="118" y="62"/>
                  </a:cxn>
                  <a:cxn ang="0">
                    <a:pos x="109" y="58"/>
                  </a:cxn>
                  <a:cxn ang="0">
                    <a:pos x="98" y="53"/>
                  </a:cxn>
                  <a:cxn ang="0">
                    <a:pos x="89" y="47"/>
                  </a:cxn>
                  <a:cxn ang="0">
                    <a:pos x="88" y="67"/>
                  </a:cxn>
                  <a:cxn ang="0">
                    <a:pos x="87" y="98"/>
                  </a:cxn>
                  <a:cxn ang="0">
                    <a:pos x="80" y="106"/>
                  </a:cxn>
                  <a:cxn ang="0">
                    <a:pos x="67" y="88"/>
                  </a:cxn>
                  <a:cxn ang="0">
                    <a:pos x="54" y="65"/>
                  </a:cxn>
                  <a:cxn ang="0">
                    <a:pos x="44" y="62"/>
                  </a:cxn>
                  <a:cxn ang="0">
                    <a:pos x="34" y="59"/>
                  </a:cxn>
                  <a:cxn ang="0">
                    <a:pos x="23" y="56"/>
                  </a:cxn>
                  <a:cxn ang="0">
                    <a:pos x="6" y="76"/>
                  </a:cxn>
                  <a:cxn ang="0">
                    <a:pos x="0" y="118"/>
                  </a:cxn>
                  <a:cxn ang="0">
                    <a:pos x="13" y="158"/>
                  </a:cxn>
                  <a:cxn ang="0">
                    <a:pos x="41" y="194"/>
                  </a:cxn>
                  <a:cxn ang="0">
                    <a:pos x="58" y="194"/>
                  </a:cxn>
                  <a:cxn ang="0">
                    <a:pos x="58" y="159"/>
                  </a:cxn>
                  <a:cxn ang="0">
                    <a:pos x="62" y="147"/>
                  </a:cxn>
                  <a:cxn ang="0">
                    <a:pos x="75" y="153"/>
                  </a:cxn>
                  <a:cxn ang="0">
                    <a:pos x="96" y="180"/>
                  </a:cxn>
                  <a:cxn ang="0">
                    <a:pos x="129" y="216"/>
                  </a:cxn>
                  <a:cxn ang="0">
                    <a:pos x="156" y="226"/>
                  </a:cxn>
                  <a:cxn ang="0">
                    <a:pos x="153" y="196"/>
                  </a:cxn>
                  <a:cxn ang="0">
                    <a:pos x="141" y="158"/>
                  </a:cxn>
                  <a:cxn ang="0">
                    <a:pos x="150" y="148"/>
                  </a:cxn>
                  <a:cxn ang="0">
                    <a:pos x="166" y="185"/>
                  </a:cxn>
                  <a:cxn ang="0">
                    <a:pos x="191" y="248"/>
                  </a:cxn>
                  <a:cxn ang="0">
                    <a:pos x="213" y="266"/>
                  </a:cxn>
                  <a:cxn ang="0">
                    <a:pos x="220" y="218"/>
                  </a:cxn>
                  <a:cxn ang="0">
                    <a:pos x="240" y="182"/>
                  </a:cxn>
                  <a:cxn ang="0">
                    <a:pos x="272" y="202"/>
                  </a:cxn>
                  <a:cxn ang="0">
                    <a:pos x="284" y="195"/>
                  </a:cxn>
                  <a:cxn ang="0">
                    <a:pos x="276" y="160"/>
                  </a:cxn>
                  <a:cxn ang="0">
                    <a:pos x="269" y="117"/>
                  </a:cxn>
                  <a:cxn ang="0">
                    <a:pos x="276" y="85"/>
                  </a:cxn>
                  <a:cxn ang="0">
                    <a:pos x="274" y="68"/>
                  </a:cxn>
                  <a:cxn ang="0">
                    <a:pos x="265" y="67"/>
                  </a:cxn>
                  <a:cxn ang="0">
                    <a:pos x="256" y="66"/>
                  </a:cxn>
                  <a:cxn ang="0">
                    <a:pos x="247" y="65"/>
                  </a:cxn>
                  <a:cxn ang="0">
                    <a:pos x="241" y="53"/>
                  </a:cxn>
                  <a:cxn ang="0">
                    <a:pos x="239" y="31"/>
                  </a:cxn>
                  <a:cxn ang="0">
                    <a:pos x="232" y="24"/>
                  </a:cxn>
                  <a:cxn ang="0">
                    <a:pos x="220" y="31"/>
                  </a:cxn>
                  <a:cxn ang="0">
                    <a:pos x="209" y="39"/>
                  </a:cxn>
                  <a:cxn ang="0">
                    <a:pos x="197" y="46"/>
                  </a:cxn>
                  <a:cxn ang="0">
                    <a:pos x="176" y="23"/>
                  </a:cxn>
                  <a:cxn ang="0">
                    <a:pos x="156" y="0"/>
                  </a:cxn>
                  <a:cxn ang="0">
                    <a:pos x="145" y="13"/>
                  </a:cxn>
                  <a:cxn ang="0">
                    <a:pos x="148" y="51"/>
                  </a:cxn>
                </a:cxnLst>
                <a:rect l="0" t="0" r="r" b="b"/>
                <a:pathLst>
                  <a:path w="284" h="266">
                    <a:moveTo>
                      <a:pt x="152" y="76"/>
                    </a:moveTo>
                    <a:lnTo>
                      <a:pt x="144" y="74"/>
                    </a:lnTo>
                    <a:lnTo>
                      <a:pt x="137" y="71"/>
                    </a:lnTo>
                    <a:lnTo>
                      <a:pt x="130" y="68"/>
                    </a:lnTo>
                    <a:lnTo>
                      <a:pt x="122" y="65"/>
                    </a:lnTo>
                    <a:lnTo>
                      <a:pt x="118" y="62"/>
                    </a:lnTo>
                    <a:lnTo>
                      <a:pt x="113" y="60"/>
                    </a:lnTo>
                    <a:lnTo>
                      <a:pt x="109" y="58"/>
                    </a:lnTo>
                    <a:lnTo>
                      <a:pt x="104" y="56"/>
                    </a:lnTo>
                    <a:lnTo>
                      <a:pt x="98" y="53"/>
                    </a:lnTo>
                    <a:lnTo>
                      <a:pt x="94" y="50"/>
                    </a:lnTo>
                    <a:lnTo>
                      <a:pt x="89" y="47"/>
                    </a:lnTo>
                    <a:lnTo>
                      <a:pt x="84" y="45"/>
                    </a:lnTo>
                    <a:lnTo>
                      <a:pt x="88" y="67"/>
                    </a:lnTo>
                    <a:lnTo>
                      <a:pt x="88" y="84"/>
                    </a:lnTo>
                    <a:lnTo>
                      <a:pt x="87" y="98"/>
                    </a:lnTo>
                    <a:lnTo>
                      <a:pt x="84" y="105"/>
                    </a:lnTo>
                    <a:lnTo>
                      <a:pt x="80" y="106"/>
                    </a:lnTo>
                    <a:lnTo>
                      <a:pt x="74" y="100"/>
                    </a:lnTo>
                    <a:lnTo>
                      <a:pt x="67" y="88"/>
                    </a:lnTo>
                    <a:lnTo>
                      <a:pt x="60" y="66"/>
                    </a:lnTo>
                    <a:lnTo>
                      <a:pt x="54" y="65"/>
                    </a:lnTo>
                    <a:lnTo>
                      <a:pt x="50" y="64"/>
                    </a:lnTo>
                    <a:lnTo>
                      <a:pt x="44" y="62"/>
                    </a:lnTo>
                    <a:lnTo>
                      <a:pt x="39" y="60"/>
                    </a:lnTo>
                    <a:lnTo>
                      <a:pt x="34" y="59"/>
                    </a:lnTo>
                    <a:lnTo>
                      <a:pt x="29" y="58"/>
                    </a:lnTo>
                    <a:lnTo>
                      <a:pt x="23" y="56"/>
                    </a:lnTo>
                    <a:lnTo>
                      <a:pt x="18" y="54"/>
                    </a:lnTo>
                    <a:lnTo>
                      <a:pt x="6" y="76"/>
                    </a:lnTo>
                    <a:lnTo>
                      <a:pt x="0" y="97"/>
                    </a:lnTo>
                    <a:lnTo>
                      <a:pt x="0" y="118"/>
                    </a:lnTo>
                    <a:lnTo>
                      <a:pt x="5" y="138"/>
                    </a:lnTo>
                    <a:lnTo>
                      <a:pt x="13" y="158"/>
                    </a:lnTo>
                    <a:lnTo>
                      <a:pt x="26" y="176"/>
                    </a:lnTo>
                    <a:lnTo>
                      <a:pt x="41" y="194"/>
                    </a:lnTo>
                    <a:lnTo>
                      <a:pt x="59" y="210"/>
                    </a:lnTo>
                    <a:lnTo>
                      <a:pt x="58" y="194"/>
                    </a:lnTo>
                    <a:lnTo>
                      <a:pt x="58" y="176"/>
                    </a:lnTo>
                    <a:lnTo>
                      <a:pt x="58" y="159"/>
                    </a:lnTo>
                    <a:lnTo>
                      <a:pt x="57" y="143"/>
                    </a:lnTo>
                    <a:lnTo>
                      <a:pt x="62" y="147"/>
                    </a:lnTo>
                    <a:lnTo>
                      <a:pt x="69" y="150"/>
                    </a:lnTo>
                    <a:lnTo>
                      <a:pt x="75" y="153"/>
                    </a:lnTo>
                    <a:lnTo>
                      <a:pt x="81" y="157"/>
                    </a:lnTo>
                    <a:lnTo>
                      <a:pt x="96" y="180"/>
                    </a:lnTo>
                    <a:lnTo>
                      <a:pt x="112" y="201"/>
                    </a:lnTo>
                    <a:lnTo>
                      <a:pt x="129" y="216"/>
                    </a:lnTo>
                    <a:lnTo>
                      <a:pt x="145" y="225"/>
                    </a:lnTo>
                    <a:lnTo>
                      <a:pt x="156" y="226"/>
                    </a:lnTo>
                    <a:lnTo>
                      <a:pt x="159" y="217"/>
                    </a:lnTo>
                    <a:lnTo>
                      <a:pt x="153" y="196"/>
                    </a:lnTo>
                    <a:lnTo>
                      <a:pt x="136" y="163"/>
                    </a:lnTo>
                    <a:lnTo>
                      <a:pt x="141" y="158"/>
                    </a:lnTo>
                    <a:lnTo>
                      <a:pt x="145" y="152"/>
                    </a:lnTo>
                    <a:lnTo>
                      <a:pt x="150" y="148"/>
                    </a:lnTo>
                    <a:lnTo>
                      <a:pt x="155" y="143"/>
                    </a:lnTo>
                    <a:lnTo>
                      <a:pt x="166" y="185"/>
                    </a:lnTo>
                    <a:lnTo>
                      <a:pt x="179" y="220"/>
                    </a:lnTo>
                    <a:lnTo>
                      <a:pt x="191" y="248"/>
                    </a:lnTo>
                    <a:lnTo>
                      <a:pt x="204" y="264"/>
                    </a:lnTo>
                    <a:lnTo>
                      <a:pt x="213" y="266"/>
                    </a:lnTo>
                    <a:lnTo>
                      <a:pt x="219" y="252"/>
                    </a:lnTo>
                    <a:lnTo>
                      <a:pt x="220" y="218"/>
                    </a:lnTo>
                    <a:lnTo>
                      <a:pt x="216" y="163"/>
                    </a:lnTo>
                    <a:lnTo>
                      <a:pt x="240" y="182"/>
                    </a:lnTo>
                    <a:lnTo>
                      <a:pt x="258" y="195"/>
                    </a:lnTo>
                    <a:lnTo>
                      <a:pt x="272" y="202"/>
                    </a:lnTo>
                    <a:lnTo>
                      <a:pt x="280" y="202"/>
                    </a:lnTo>
                    <a:lnTo>
                      <a:pt x="284" y="195"/>
                    </a:lnTo>
                    <a:lnTo>
                      <a:pt x="282" y="181"/>
                    </a:lnTo>
                    <a:lnTo>
                      <a:pt x="276" y="160"/>
                    </a:lnTo>
                    <a:lnTo>
                      <a:pt x="265" y="132"/>
                    </a:lnTo>
                    <a:lnTo>
                      <a:pt x="269" y="117"/>
                    </a:lnTo>
                    <a:lnTo>
                      <a:pt x="272" y="100"/>
                    </a:lnTo>
                    <a:lnTo>
                      <a:pt x="276" y="85"/>
                    </a:lnTo>
                    <a:lnTo>
                      <a:pt x="279" y="69"/>
                    </a:lnTo>
                    <a:lnTo>
                      <a:pt x="274" y="68"/>
                    </a:lnTo>
                    <a:lnTo>
                      <a:pt x="270" y="68"/>
                    </a:lnTo>
                    <a:lnTo>
                      <a:pt x="265" y="67"/>
                    </a:lnTo>
                    <a:lnTo>
                      <a:pt x="261" y="66"/>
                    </a:lnTo>
                    <a:lnTo>
                      <a:pt x="256" y="66"/>
                    </a:lnTo>
                    <a:lnTo>
                      <a:pt x="251" y="65"/>
                    </a:lnTo>
                    <a:lnTo>
                      <a:pt x="247" y="65"/>
                    </a:lnTo>
                    <a:lnTo>
                      <a:pt x="242" y="64"/>
                    </a:lnTo>
                    <a:lnTo>
                      <a:pt x="241" y="53"/>
                    </a:lnTo>
                    <a:lnTo>
                      <a:pt x="240" y="42"/>
                    </a:lnTo>
                    <a:lnTo>
                      <a:pt x="239" y="31"/>
                    </a:lnTo>
                    <a:lnTo>
                      <a:pt x="238" y="21"/>
                    </a:lnTo>
                    <a:lnTo>
                      <a:pt x="232" y="24"/>
                    </a:lnTo>
                    <a:lnTo>
                      <a:pt x="226" y="28"/>
                    </a:lnTo>
                    <a:lnTo>
                      <a:pt x="220" y="31"/>
                    </a:lnTo>
                    <a:lnTo>
                      <a:pt x="214" y="35"/>
                    </a:lnTo>
                    <a:lnTo>
                      <a:pt x="209" y="39"/>
                    </a:lnTo>
                    <a:lnTo>
                      <a:pt x="203" y="43"/>
                    </a:lnTo>
                    <a:lnTo>
                      <a:pt x="197" y="46"/>
                    </a:lnTo>
                    <a:lnTo>
                      <a:pt x="191" y="50"/>
                    </a:lnTo>
                    <a:lnTo>
                      <a:pt x="176" y="23"/>
                    </a:lnTo>
                    <a:lnTo>
                      <a:pt x="165" y="7"/>
                    </a:lnTo>
                    <a:lnTo>
                      <a:pt x="156" y="0"/>
                    </a:lnTo>
                    <a:lnTo>
                      <a:pt x="150" y="3"/>
                    </a:lnTo>
                    <a:lnTo>
                      <a:pt x="145" y="13"/>
                    </a:lnTo>
                    <a:lnTo>
                      <a:pt x="145" y="29"/>
                    </a:lnTo>
                    <a:lnTo>
                      <a:pt x="148" y="51"/>
                    </a:lnTo>
                    <a:lnTo>
                      <a:pt x="152" y="76"/>
                    </a:lnTo>
                    <a:close/>
                  </a:path>
                </a:pathLst>
              </a:custGeom>
              <a:solidFill>
                <a:srgbClr val="DDDD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5" name="Freeform 61"/>
              <p:cNvSpPr>
                <a:spLocks/>
              </p:cNvSpPr>
              <p:nvPr/>
            </p:nvSpPr>
            <p:spPr bwMode="auto">
              <a:xfrm>
                <a:off x="153988" y="3587750"/>
                <a:ext cx="220663" cy="201613"/>
              </a:xfrm>
              <a:custGeom>
                <a:avLst/>
                <a:gdLst/>
                <a:ahLst/>
                <a:cxnLst>
                  <a:cxn ang="0">
                    <a:pos x="146" y="73"/>
                  </a:cxn>
                  <a:cxn ang="0">
                    <a:pos x="130" y="67"/>
                  </a:cxn>
                  <a:cxn ang="0">
                    <a:pos x="117" y="62"/>
                  </a:cxn>
                  <a:cxn ang="0">
                    <a:pos x="107" y="56"/>
                  </a:cxn>
                  <a:cxn ang="0">
                    <a:pos x="97" y="52"/>
                  </a:cxn>
                  <a:cxn ang="0">
                    <a:pos x="87" y="46"/>
                  </a:cxn>
                  <a:cxn ang="0">
                    <a:pos x="86" y="67"/>
                  </a:cxn>
                  <a:cxn ang="0">
                    <a:pos x="86" y="98"/>
                  </a:cxn>
                  <a:cxn ang="0">
                    <a:pos x="78" y="105"/>
                  </a:cxn>
                  <a:cxn ang="0">
                    <a:pos x="64" y="84"/>
                  </a:cxn>
                  <a:cxn ang="0">
                    <a:pos x="51" y="61"/>
                  </a:cxn>
                  <a:cxn ang="0">
                    <a:pos x="41" y="58"/>
                  </a:cxn>
                  <a:cxn ang="0">
                    <a:pos x="31" y="55"/>
                  </a:cxn>
                  <a:cxn ang="0">
                    <a:pos x="20" y="52"/>
                  </a:cxn>
                  <a:cxn ang="0">
                    <a:pos x="4" y="71"/>
                  </a:cxn>
                  <a:cxn ang="0">
                    <a:pos x="0" y="112"/>
                  </a:cxn>
                  <a:cxn ang="0">
                    <a:pos x="13" y="150"/>
                  </a:cxn>
                  <a:cxn ang="0">
                    <a:pos x="40" y="184"/>
                  </a:cxn>
                  <a:cxn ang="0">
                    <a:pos x="55" y="183"/>
                  </a:cxn>
                  <a:cxn ang="0">
                    <a:pos x="53" y="150"/>
                  </a:cxn>
                  <a:cxn ang="0">
                    <a:pos x="58" y="137"/>
                  </a:cxn>
                  <a:cxn ang="0">
                    <a:pos x="71" y="144"/>
                  </a:cxn>
                  <a:cxn ang="0">
                    <a:pos x="92" y="172"/>
                  </a:cxn>
                  <a:cxn ang="0">
                    <a:pos x="125" y="206"/>
                  </a:cxn>
                  <a:cxn ang="0">
                    <a:pos x="148" y="214"/>
                  </a:cxn>
                  <a:cxn ang="0">
                    <a:pos x="145" y="182"/>
                  </a:cxn>
                  <a:cxn ang="0">
                    <a:pos x="133" y="145"/>
                  </a:cxn>
                  <a:cxn ang="0">
                    <a:pos x="146" y="137"/>
                  </a:cxn>
                  <a:cxn ang="0">
                    <a:pos x="163" y="174"/>
                  </a:cxn>
                  <a:cxn ang="0">
                    <a:pos x="188" y="236"/>
                  </a:cxn>
                  <a:cxn ang="0">
                    <a:pos x="209" y="255"/>
                  </a:cxn>
                  <a:cxn ang="0">
                    <a:pos x="215" y="206"/>
                  </a:cxn>
                  <a:cxn ang="0">
                    <a:pos x="235" y="170"/>
                  </a:cxn>
                  <a:cxn ang="0">
                    <a:pos x="267" y="191"/>
                  </a:cxn>
                  <a:cxn ang="0">
                    <a:pos x="278" y="184"/>
                  </a:cxn>
                  <a:cxn ang="0">
                    <a:pos x="269" y="150"/>
                  </a:cxn>
                  <a:cxn ang="0">
                    <a:pos x="262" y="107"/>
                  </a:cxn>
                  <a:cxn ang="0">
                    <a:pos x="270" y="78"/>
                  </a:cxn>
                  <a:cxn ang="0">
                    <a:pos x="269" y="65"/>
                  </a:cxn>
                  <a:cxn ang="0">
                    <a:pos x="260" y="63"/>
                  </a:cxn>
                  <a:cxn ang="0">
                    <a:pos x="249" y="62"/>
                  </a:cxn>
                  <a:cxn ang="0">
                    <a:pos x="240" y="61"/>
                  </a:cxn>
                  <a:cxn ang="0">
                    <a:pos x="235" y="50"/>
                  </a:cxn>
                  <a:cxn ang="0">
                    <a:pos x="233" y="28"/>
                  </a:cxn>
                  <a:cxn ang="0">
                    <a:pos x="228" y="21"/>
                  </a:cxn>
                  <a:cxn ang="0">
                    <a:pos x="216" y="29"/>
                  </a:cxn>
                  <a:cxn ang="0">
                    <a:pos x="205" y="37"/>
                  </a:cxn>
                  <a:cxn ang="0">
                    <a:pos x="193" y="45"/>
                  </a:cxn>
                  <a:cxn ang="0">
                    <a:pos x="172" y="22"/>
                  </a:cxn>
                  <a:cxn ang="0">
                    <a:pos x="153" y="0"/>
                  </a:cxn>
                  <a:cxn ang="0">
                    <a:pos x="145" y="12"/>
                  </a:cxn>
                  <a:cxn ang="0">
                    <a:pos x="148" y="50"/>
                  </a:cxn>
                </a:cxnLst>
                <a:rect l="0" t="0" r="r" b="b"/>
                <a:pathLst>
                  <a:path w="278" h="255">
                    <a:moveTo>
                      <a:pt x="154" y="75"/>
                    </a:moveTo>
                    <a:lnTo>
                      <a:pt x="146" y="73"/>
                    </a:lnTo>
                    <a:lnTo>
                      <a:pt x="138" y="70"/>
                    </a:lnTo>
                    <a:lnTo>
                      <a:pt x="130" y="67"/>
                    </a:lnTo>
                    <a:lnTo>
                      <a:pt x="122" y="65"/>
                    </a:lnTo>
                    <a:lnTo>
                      <a:pt x="117" y="62"/>
                    </a:lnTo>
                    <a:lnTo>
                      <a:pt x="112" y="59"/>
                    </a:lnTo>
                    <a:lnTo>
                      <a:pt x="107" y="56"/>
                    </a:lnTo>
                    <a:lnTo>
                      <a:pt x="102" y="54"/>
                    </a:lnTo>
                    <a:lnTo>
                      <a:pt x="97" y="52"/>
                    </a:lnTo>
                    <a:lnTo>
                      <a:pt x="92" y="48"/>
                    </a:lnTo>
                    <a:lnTo>
                      <a:pt x="87" y="46"/>
                    </a:lnTo>
                    <a:lnTo>
                      <a:pt x="83" y="44"/>
                    </a:lnTo>
                    <a:lnTo>
                      <a:pt x="86" y="67"/>
                    </a:lnTo>
                    <a:lnTo>
                      <a:pt x="87" y="85"/>
                    </a:lnTo>
                    <a:lnTo>
                      <a:pt x="86" y="98"/>
                    </a:lnTo>
                    <a:lnTo>
                      <a:pt x="83" y="105"/>
                    </a:lnTo>
                    <a:lnTo>
                      <a:pt x="78" y="105"/>
                    </a:lnTo>
                    <a:lnTo>
                      <a:pt x="71" y="98"/>
                    </a:lnTo>
                    <a:lnTo>
                      <a:pt x="64" y="84"/>
                    </a:lnTo>
                    <a:lnTo>
                      <a:pt x="56" y="62"/>
                    </a:lnTo>
                    <a:lnTo>
                      <a:pt x="51" y="61"/>
                    </a:lnTo>
                    <a:lnTo>
                      <a:pt x="46" y="60"/>
                    </a:lnTo>
                    <a:lnTo>
                      <a:pt x="41" y="58"/>
                    </a:lnTo>
                    <a:lnTo>
                      <a:pt x="35" y="56"/>
                    </a:lnTo>
                    <a:lnTo>
                      <a:pt x="31" y="55"/>
                    </a:lnTo>
                    <a:lnTo>
                      <a:pt x="25" y="53"/>
                    </a:lnTo>
                    <a:lnTo>
                      <a:pt x="20" y="52"/>
                    </a:lnTo>
                    <a:lnTo>
                      <a:pt x="15" y="51"/>
                    </a:lnTo>
                    <a:lnTo>
                      <a:pt x="4" y="71"/>
                    </a:lnTo>
                    <a:lnTo>
                      <a:pt x="0" y="92"/>
                    </a:lnTo>
                    <a:lnTo>
                      <a:pt x="0" y="112"/>
                    </a:lnTo>
                    <a:lnTo>
                      <a:pt x="4" y="131"/>
                    </a:lnTo>
                    <a:lnTo>
                      <a:pt x="13" y="150"/>
                    </a:lnTo>
                    <a:lnTo>
                      <a:pt x="25" y="167"/>
                    </a:lnTo>
                    <a:lnTo>
                      <a:pt x="40" y="184"/>
                    </a:lnTo>
                    <a:lnTo>
                      <a:pt x="56" y="200"/>
                    </a:lnTo>
                    <a:lnTo>
                      <a:pt x="55" y="183"/>
                    </a:lnTo>
                    <a:lnTo>
                      <a:pt x="54" y="166"/>
                    </a:lnTo>
                    <a:lnTo>
                      <a:pt x="53" y="150"/>
                    </a:lnTo>
                    <a:lnTo>
                      <a:pt x="53" y="132"/>
                    </a:lnTo>
                    <a:lnTo>
                      <a:pt x="58" y="137"/>
                    </a:lnTo>
                    <a:lnTo>
                      <a:pt x="65" y="141"/>
                    </a:lnTo>
                    <a:lnTo>
                      <a:pt x="71" y="144"/>
                    </a:lnTo>
                    <a:lnTo>
                      <a:pt x="78" y="147"/>
                    </a:lnTo>
                    <a:lnTo>
                      <a:pt x="92" y="172"/>
                    </a:lnTo>
                    <a:lnTo>
                      <a:pt x="109" y="191"/>
                    </a:lnTo>
                    <a:lnTo>
                      <a:pt x="125" y="206"/>
                    </a:lnTo>
                    <a:lnTo>
                      <a:pt x="139" y="214"/>
                    </a:lnTo>
                    <a:lnTo>
                      <a:pt x="148" y="214"/>
                    </a:lnTo>
                    <a:lnTo>
                      <a:pt x="150" y="204"/>
                    </a:lnTo>
                    <a:lnTo>
                      <a:pt x="145" y="182"/>
                    </a:lnTo>
                    <a:lnTo>
                      <a:pt x="127" y="149"/>
                    </a:lnTo>
                    <a:lnTo>
                      <a:pt x="133" y="145"/>
                    </a:lnTo>
                    <a:lnTo>
                      <a:pt x="140" y="141"/>
                    </a:lnTo>
                    <a:lnTo>
                      <a:pt x="146" y="137"/>
                    </a:lnTo>
                    <a:lnTo>
                      <a:pt x="152" y="132"/>
                    </a:lnTo>
                    <a:lnTo>
                      <a:pt x="163" y="174"/>
                    </a:lnTo>
                    <a:lnTo>
                      <a:pt x="176" y="208"/>
                    </a:lnTo>
                    <a:lnTo>
                      <a:pt x="188" y="236"/>
                    </a:lnTo>
                    <a:lnTo>
                      <a:pt x="200" y="252"/>
                    </a:lnTo>
                    <a:lnTo>
                      <a:pt x="209" y="255"/>
                    </a:lnTo>
                    <a:lnTo>
                      <a:pt x="214" y="241"/>
                    </a:lnTo>
                    <a:lnTo>
                      <a:pt x="215" y="206"/>
                    </a:lnTo>
                    <a:lnTo>
                      <a:pt x="210" y="151"/>
                    </a:lnTo>
                    <a:lnTo>
                      <a:pt x="235" y="170"/>
                    </a:lnTo>
                    <a:lnTo>
                      <a:pt x="253" y="184"/>
                    </a:lnTo>
                    <a:lnTo>
                      <a:pt x="267" y="191"/>
                    </a:lnTo>
                    <a:lnTo>
                      <a:pt x="275" y="191"/>
                    </a:lnTo>
                    <a:lnTo>
                      <a:pt x="278" y="184"/>
                    </a:lnTo>
                    <a:lnTo>
                      <a:pt x="276" y="170"/>
                    </a:lnTo>
                    <a:lnTo>
                      <a:pt x="269" y="150"/>
                    </a:lnTo>
                    <a:lnTo>
                      <a:pt x="259" y="121"/>
                    </a:lnTo>
                    <a:lnTo>
                      <a:pt x="262" y="107"/>
                    </a:lnTo>
                    <a:lnTo>
                      <a:pt x="267" y="92"/>
                    </a:lnTo>
                    <a:lnTo>
                      <a:pt x="270" y="78"/>
                    </a:lnTo>
                    <a:lnTo>
                      <a:pt x="274" y="65"/>
                    </a:lnTo>
                    <a:lnTo>
                      <a:pt x="269" y="65"/>
                    </a:lnTo>
                    <a:lnTo>
                      <a:pt x="264" y="63"/>
                    </a:lnTo>
                    <a:lnTo>
                      <a:pt x="260" y="63"/>
                    </a:lnTo>
                    <a:lnTo>
                      <a:pt x="255" y="62"/>
                    </a:lnTo>
                    <a:lnTo>
                      <a:pt x="249" y="62"/>
                    </a:lnTo>
                    <a:lnTo>
                      <a:pt x="245" y="62"/>
                    </a:lnTo>
                    <a:lnTo>
                      <a:pt x="240" y="61"/>
                    </a:lnTo>
                    <a:lnTo>
                      <a:pt x="236" y="61"/>
                    </a:lnTo>
                    <a:lnTo>
                      <a:pt x="235" y="50"/>
                    </a:lnTo>
                    <a:lnTo>
                      <a:pt x="235" y="39"/>
                    </a:lnTo>
                    <a:lnTo>
                      <a:pt x="233" y="28"/>
                    </a:lnTo>
                    <a:lnTo>
                      <a:pt x="233" y="17"/>
                    </a:lnTo>
                    <a:lnTo>
                      <a:pt x="228" y="21"/>
                    </a:lnTo>
                    <a:lnTo>
                      <a:pt x="222" y="24"/>
                    </a:lnTo>
                    <a:lnTo>
                      <a:pt x="216" y="29"/>
                    </a:lnTo>
                    <a:lnTo>
                      <a:pt x="210" y="32"/>
                    </a:lnTo>
                    <a:lnTo>
                      <a:pt x="205" y="37"/>
                    </a:lnTo>
                    <a:lnTo>
                      <a:pt x="199" y="40"/>
                    </a:lnTo>
                    <a:lnTo>
                      <a:pt x="193" y="45"/>
                    </a:lnTo>
                    <a:lnTo>
                      <a:pt x="187" y="48"/>
                    </a:lnTo>
                    <a:lnTo>
                      <a:pt x="172" y="22"/>
                    </a:lnTo>
                    <a:lnTo>
                      <a:pt x="162" y="6"/>
                    </a:lnTo>
                    <a:lnTo>
                      <a:pt x="153" y="0"/>
                    </a:lnTo>
                    <a:lnTo>
                      <a:pt x="148" y="2"/>
                    </a:lnTo>
                    <a:lnTo>
                      <a:pt x="145" y="12"/>
                    </a:lnTo>
                    <a:lnTo>
                      <a:pt x="146" y="28"/>
                    </a:lnTo>
                    <a:lnTo>
                      <a:pt x="148" y="50"/>
                    </a:lnTo>
                    <a:lnTo>
                      <a:pt x="154" y="75"/>
                    </a:lnTo>
                    <a:close/>
                  </a:path>
                </a:pathLst>
              </a:custGeom>
              <a:solidFill>
                <a:srgbClr val="D3D3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pic>
        <p:nvPicPr>
          <p:cNvPr id="18" name="Picture 17" descr="iphon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76800" y="2260600"/>
            <a:ext cx="1650823" cy="1849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Performance During User Activity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4" descr="cell_tower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90800" y="2184400"/>
            <a:ext cx="1447800" cy="1930400"/>
          </a:xfrm>
          <a:prstGeom prst="rect">
            <a:avLst/>
          </a:prstGeom>
        </p:spPr>
      </p:pic>
      <p:pic>
        <p:nvPicPr>
          <p:cNvPr id="17" name="Picture 16" descr="person_with_headphones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324600" y="2184400"/>
            <a:ext cx="1905000" cy="1905000"/>
          </a:xfrm>
          <a:prstGeom prst="rect">
            <a:avLst/>
          </a:prstGeom>
        </p:spPr>
      </p:pic>
      <p:pic>
        <p:nvPicPr>
          <p:cNvPr id="19" name="Picture 18" descr="youtube_logo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105400" y="2489200"/>
            <a:ext cx="1104900" cy="11049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 descr="email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029200" y="2336800"/>
            <a:ext cx="1524000" cy="1524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105400"/>
            <a:ext cx="8229600" cy="10668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Performance users likely experience</a:t>
            </a:r>
            <a:r>
              <a:rPr lang="en-US" sz="3200" dirty="0" smtClean="0">
                <a:solidFill>
                  <a:srgbClr val="CB3D3A"/>
                </a:solidFill>
              </a:rPr>
              <a:t>?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when interacting with their device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5257800" y="2641600"/>
            <a:ext cx="836296" cy="838200"/>
            <a:chOff x="5181600" y="3505200"/>
            <a:chExt cx="836296" cy="83820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Curved Down Arrow 37"/>
            <p:cNvSpPr/>
            <p:nvPr/>
          </p:nvSpPr>
          <p:spPr>
            <a:xfrm>
              <a:off x="5257800" y="3505200"/>
              <a:ext cx="760096" cy="381000"/>
            </a:xfrm>
            <a:prstGeom prst="curvedDownArrow">
              <a:avLst>
                <a:gd name="adj1" fmla="val 41406"/>
                <a:gd name="adj2" fmla="val 88600"/>
                <a:gd name="adj3" fmla="val 23333"/>
              </a:avLst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Curved Down Arrow 39"/>
            <p:cNvSpPr/>
            <p:nvPr/>
          </p:nvSpPr>
          <p:spPr>
            <a:xfrm rot="10800000">
              <a:off x="5181600" y="3962400"/>
              <a:ext cx="760096" cy="381000"/>
            </a:xfrm>
            <a:prstGeom prst="curvedDownArrow">
              <a:avLst>
                <a:gd name="adj1" fmla="val 41406"/>
                <a:gd name="adj2" fmla="val 88600"/>
                <a:gd name="adj3" fmla="val 23333"/>
              </a:avLst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In-Context Measurements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1981200"/>
            <a:ext cx="2971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Whether a user </a:t>
            </a:r>
            <a:br>
              <a:rPr lang="en-US" sz="2800" dirty="0" smtClean="0"/>
            </a:br>
            <a:r>
              <a:rPr lang="en-US" sz="2800" dirty="0" smtClean="0"/>
              <a:t>is interacting </a:t>
            </a:r>
            <a:br>
              <a:rPr lang="en-US" sz="2800" dirty="0" smtClean="0"/>
            </a:br>
            <a:r>
              <a:rPr lang="en-US" sz="2800" dirty="0" smtClean="0"/>
              <a:t>with their device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5715000" y="1981200"/>
            <a:ext cx="2971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Time, place, &amp; speed when the network is used</a:t>
            </a:r>
            <a:endParaRPr lang="en-US" sz="2800" dirty="0"/>
          </a:p>
        </p:txBody>
      </p:sp>
      <p:grpSp>
        <p:nvGrpSpPr>
          <p:cNvPr id="22" name="Group 21"/>
          <p:cNvGrpSpPr/>
          <p:nvPr/>
        </p:nvGrpSpPr>
        <p:grpSpPr>
          <a:xfrm>
            <a:off x="457200" y="1320225"/>
            <a:ext cx="8229600" cy="813375"/>
            <a:chOff x="457200" y="1320225"/>
            <a:chExt cx="8229600" cy="813375"/>
          </a:xfrm>
        </p:grpSpPr>
        <p:sp>
          <p:nvSpPr>
            <p:cNvPr id="6" name="TextBox 5"/>
            <p:cNvSpPr txBox="1"/>
            <p:nvPr/>
          </p:nvSpPr>
          <p:spPr>
            <a:xfrm>
              <a:off x="1295400" y="1320225"/>
              <a:ext cx="6553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 smtClean="0">
                  <a:solidFill>
                    <a:srgbClr val="C00000"/>
                  </a:solidFill>
                </a:rPr>
                <a:t>Limit to specific contexts</a:t>
              </a:r>
              <a:endParaRPr lang="en-US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10" name="Left Brace 9"/>
            <p:cNvSpPr/>
            <p:nvPr/>
          </p:nvSpPr>
          <p:spPr>
            <a:xfrm rot="5400000">
              <a:off x="4435656" y="-2117543"/>
              <a:ext cx="272687" cy="8229600"/>
            </a:xfrm>
            <a:prstGeom prst="leftBrace">
              <a:avLst>
                <a:gd name="adj1" fmla="val 28309"/>
                <a:gd name="adj2" fmla="val 50000"/>
              </a:avLst>
            </a:prstGeom>
            <a:ln w="28575">
              <a:solidFill>
                <a:srgbClr val="C00000"/>
              </a:solidFill>
            </a:ln>
            <a:effectLst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371600" y="3200400"/>
            <a:ext cx="1524000" cy="1295400"/>
            <a:chOff x="1371600" y="3581400"/>
            <a:chExt cx="1524000" cy="1295400"/>
          </a:xfrm>
        </p:grpSpPr>
        <p:pic>
          <p:nvPicPr>
            <p:cNvPr id="18" name="Picture 17" descr="person_headphones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0200" y="3581400"/>
              <a:ext cx="1295400" cy="1295400"/>
            </a:xfrm>
            <a:prstGeom prst="rect">
              <a:avLst/>
            </a:prstGeom>
          </p:spPr>
        </p:pic>
        <p:pic>
          <p:nvPicPr>
            <p:cNvPr id="19" name="Picture 18" descr="iphone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1600" y="3962400"/>
              <a:ext cx="685800" cy="768463"/>
            </a:xfrm>
            <a:prstGeom prst="rect">
              <a:avLst/>
            </a:prstGeom>
          </p:spPr>
        </p:pic>
      </p:grpSp>
      <p:sp>
        <p:nvSpPr>
          <p:cNvPr id="12" name="TextBox 11"/>
          <p:cNvSpPr txBox="1"/>
          <p:nvPr/>
        </p:nvSpPr>
        <p:spPr>
          <a:xfrm>
            <a:off x="3352800" y="1981200"/>
            <a:ext cx="2438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Device model</a:t>
            </a:r>
            <a:r>
              <a:rPr lang="en-US" sz="2800" dirty="0"/>
              <a:t> </a:t>
            </a:r>
            <a:r>
              <a:rPr lang="en-US" sz="2800" dirty="0" smtClean="0"/>
              <a:t>&amp; OS version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867400" y="3429000"/>
            <a:ext cx="2438400" cy="849923"/>
            <a:chOff x="5867400" y="3429000"/>
            <a:chExt cx="2438400" cy="849923"/>
          </a:xfrm>
        </p:grpSpPr>
        <p:pic>
          <p:nvPicPr>
            <p:cNvPr id="17" name="Picture 2" descr="C:\Users\agember\AppData\Local\Microsoft\Windows\Temporary Internet Files\Content.IE5\XXIPWUPS\MC900433842[1].pn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867400" y="3505200"/>
              <a:ext cx="773723" cy="773723"/>
            </a:xfrm>
            <a:prstGeom prst="rect">
              <a:avLst/>
            </a:prstGeom>
            <a:noFill/>
          </p:spPr>
        </p:pic>
        <p:pic>
          <p:nvPicPr>
            <p:cNvPr id="21" name="Picture 20" descr="google_maps_logo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81800" y="3429000"/>
              <a:ext cx="762000" cy="762000"/>
            </a:xfrm>
            <a:prstGeom prst="rect">
              <a:avLst/>
            </a:prstGeom>
          </p:spPr>
        </p:pic>
        <p:pic>
          <p:nvPicPr>
            <p:cNvPr id="30" name="Picture 2" descr="C:\Users\agember\AppData\Local\Microsoft\Windows\Temporary Internet Files\Content.IE5\ZQE9104A\MC900078715[1].wmf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696200" y="3429000"/>
              <a:ext cx="609600" cy="757409"/>
            </a:xfrm>
            <a:prstGeom prst="rect">
              <a:avLst/>
            </a:prstGeom>
            <a:noFill/>
          </p:spPr>
        </p:pic>
      </p:grpSp>
      <p:grpSp>
        <p:nvGrpSpPr>
          <p:cNvPr id="33" name="Group 32"/>
          <p:cNvGrpSpPr/>
          <p:nvPr/>
        </p:nvGrpSpPr>
        <p:grpSpPr>
          <a:xfrm>
            <a:off x="3581400" y="3352800"/>
            <a:ext cx="1722785" cy="962021"/>
            <a:chOff x="3505200" y="3352800"/>
            <a:chExt cx="1722785" cy="962021"/>
          </a:xfrm>
        </p:grpSpPr>
        <p:pic>
          <p:nvPicPr>
            <p:cNvPr id="31" name="Picture 30" descr="android_logo.pn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05200" y="3352800"/>
              <a:ext cx="924713" cy="962021"/>
            </a:xfrm>
            <a:prstGeom prst="rect">
              <a:avLst/>
            </a:prstGeom>
          </p:spPr>
        </p:pic>
        <p:pic>
          <p:nvPicPr>
            <p:cNvPr id="32" name="Picture 31" descr="apple_logo.jp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95800" y="3352800"/>
              <a:ext cx="732185" cy="881063"/>
            </a:xfrm>
            <a:prstGeom prst="rect">
              <a:avLst/>
            </a:prstGeom>
          </p:spPr>
        </p:pic>
      </p:grpSp>
      <p:sp>
        <p:nvSpPr>
          <p:cNvPr id="35" name="TextBox 34"/>
          <p:cNvSpPr txBox="1"/>
          <p:nvPr/>
        </p:nvSpPr>
        <p:spPr>
          <a:xfrm>
            <a:off x="457200" y="4876800"/>
            <a:ext cx="4114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Want to accurately reflect the range of performance experienced by users</a:t>
            </a:r>
            <a:endParaRPr lang="en-US" sz="2800" dirty="0"/>
          </a:p>
        </p:txBody>
      </p:sp>
      <p:sp>
        <p:nvSpPr>
          <p:cNvPr id="36" name="TextBox 35"/>
          <p:cNvSpPr txBox="1"/>
          <p:nvPr/>
        </p:nvSpPr>
        <p:spPr>
          <a:xfrm>
            <a:off x="5257800" y="4800600"/>
            <a:ext cx="3048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C00000"/>
                </a:solidFill>
              </a:rPr>
              <a:t>Representative</a:t>
            </a:r>
            <a:br>
              <a:rPr lang="en-US" sz="3200" b="1" dirty="0" smtClean="0">
                <a:solidFill>
                  <a:srgbClr val="C00000"/>
                </a:solidFill>
              </a:rPr>
            </a:br>
            <a:r>
              <a:rPr lang="en-US" sz="3200" b="1" dirty="0" smtClean="0">
                <a:solidFill>
                  <a:srgbClr val="C00000"/>
                </a:solidFill>
              </a:rPr>
              <a:t>distribution</a:t>
            </a:r>
            <a:br>
              <a:rPr lang="en-US" sz="3200" b="1" dirty="0" smtClean="0">
                <a:solidFill>
                  <a:srgbClr val="C00000"/>
                </a:solidFill>
              </a:rPr>
            </a:br>
            <a:r>
              <a:rPr lang="en-US" sz="3200" b="1" dirty="0" smtClean="0">
                <a:solidFill>
                  <a:srgbClr val="C00000"/>
                </a:solidFill>
              </a:rPr>
              <a:t>of contexts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37" name="Right Arrow 36"/>
          <p:cNvSpPr/>
          <p:nvPr/>
        </p:nvSpPr>
        <p:spPr>
          <a:xfrm>
            <a:off x="4800600" y="5562600"/>
            <a:ext cx="533400" cy="30480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35" grpId="0"/>
      <p:bldP spid="36" grpId="0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42" name="Group 41"/>
          <p:cNvGrpSpPr/>
          <p:nvPr/>
        </p:nvGrpSpPr>
        <p:grpSpPr>
          <a:xfrm>
            <a:off x="3305630" y="4343400"/>
            <a:ext cx="2532745" cy="1745397"/>
            <a:chOff x="2501332" y="4572000"/>
            <a:chExt cx="2532745" cy="1745397"/>
          </a:xfrm>
        </p:grpSpPr>
        <p:sp>
          <p:nvSpPr>
            <p:cNvPr id="35" name="TextBox 34"/>
            <p:cNvSpPr txBox="1"/>
            <p:nvPr/>
          </p:nvSpPr>
          <p:spPr>
            <a:xfrm>
              <a:off x="2501332" y="5486400"/>
              <a:ext cx="253274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rgbClr val="C00000"/>
                  </a:solidFill>
                </a:rPr>
                <a:t>Compare cellular</a:t>
              </a:r>
              <a:br>
                <a:rPr lang="en-US" sz="2400" b="1" dirty="0" smtClean="0">
                  <a:solidFill>
                    <a:srgbClr val="C00000"/>
                  </a:solidFill>
                </a:rPr>
              </a:br>
              <a:r>
                <a:rPr lang="en-US" sz="2400" b="1" dirty="0" smtClean="0">
                  <a:solidFill>
                    <a:srgbClr val="C00000"/>
                  </a:solidFill>
                </a:rPr>
                <a:t>network providers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3276600" y="4572000"/>
              <a:ext cx="1066800" cy="914400"/>
              <a:chOff x="4419600" y="1295400"/>
              <a:chExt cx="1066800" cy="914400"/>
            </a:xfrm>
          </p:grpSpPr>
          <p:sp>
            <p:nvSpPr>
              <p:cNvPr id="40" name="Folded Corner 39"/>
              <p:cNvSpPr/>
              <p:nvPr/>
            </p:nvSpPr>
            <p:spPr>
              <a:xfrm>
                <a:off x="4419600" y="1295400"/>
                <a:ext cx="1066800" cy="914400"/>
              </a:xfrm>
              <a:prstGeom prst="foldedCorner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1" name="Picture 6" descr="C:\Users\agember\AppData\Local\Microsoft\Windows\Temporary Internet Files\Content.IE5\5EW569SU\MC900441458[1]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 l="13891" t="5556" r="13878" b="38881"/>
              <a:stretch>
                <a:fillRect/>
              </a:stretch>
            </p:blipFill>
            <p:spPr bwMode="auto">
              <a:xfrm>
                <a:off x="4495800" y="1371600"/>
                <a:ext cx="914400" cy="703385"/>
              </a:xfrm>
              <a:prstGeom prst="rect">
                <a:avLst/>
              </a:prstGeom>
              <a:noFill/>
            </p:spPr>
          </p:pic>
        </p:grpSp>
      </p:grpSp>
      <p:grpSp>
        <p:nvGrpSpPr>
          <p:cNvPr id="45" name="Group 44"/>
          <p:cNvGrpSpPr/>
          <p:nvPr/>
        </p:nvGrpSpPr>
        <p:grpSpPr>
          <a:xfrm>
            <a:off x="533400" y="1447800"/>
            <a:ext cx="3019764" cy="2964597"/>
            <a:chOff x="1095036" y="1295400"/>
            <a:chExt cx="3019764" cy="2964597"/>
          </a:xfrm>
        </p:grpSpPr>
        <p:pic>
          <p:nvPicPr>
            <p:cNvPr id="12" name="Picture 11" descr="cell_tower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5636" y="1295400"/>
              <a:ext cx="1038564" cy="1426087"/>
            </a:xfrm>
            <a:prstGeom prst="rect">
              <a:avLst/>
            </a:prstGeom>
          </p:spPr>
        </p:pic>
        <p:pic>
          <p:nvPicPr>
            <p:cNvPr id="8" name="Picture 7" descr="cell_tower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036" y="1981200"/>
              <a:ext cx="1038564" cy="1426087"/>
            </a:xfrm>
            <a:prstGeom prst="rect">
              <a:avLst/>
            </a:prstGeom>
          </p:spPr>
        </p:pic>
        <p:pic>
          <p:nvPicPr>
            <p:cNvPr id="13" name="Picture 12" descr="cell_tower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76236" y="1981200"/>
              <a:ext cx="1038564" cy="1426087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79397" y="3429000"/>
              <a:ext cx="240533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rgbClr val="C00000"/>
                  </a:solidFill>
                </a:rPr>
                <a:t>Evaluate effect of</a:t>
              </a:r>
              <a:br>
                <a:rPr lang="en-US" sz="2400" b="1" dirty="0" smtClean="0">
                  <a:solidFill>
                    <a:srgbClr val="C00000"/>
                  </a:solidFill>
                </a:rPr>
              </a:br>
              <a:r>
                <a:rPr lang="en-US" sz="2400" b="1" dirty="0" smtClean="0">
                  <a:solidFill>
                    <a:srgbClr val="C00000"/>
                  </a:solidFill>
                </a:rPr>
                <a:t>network changes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pic>
          <p:nvPicPr>
            <p:cNvPr id="43" name="Picture 42" descr="iphone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5000" y="2590800"/>
              <a:ext cx="612029" cy="6858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4" name="Picture 43" descr="blackberry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1800000">
              <a:off x="2753995" y="2576272"/>
              <a:ext cx="454211" cy="774489"/>
            </a:xfrm>
            <a:prstGeom prst="rect">
              <a:avLst/>
            </a:prstGeom>
          </p:spPr>
        </p:pic>
      </p:grpSp>
      <p:grpSp>
        <p:nvGrpSpPr>
          <p:cNvPr id="50" name="Group 49"/>
          <p:cNvGrpSpPr/>
          <p:nvPr/>
        </p:nvGrpSpPr>
        <p:grpSpPr>
          <a:xfrm>
            <a:off x="5470181" y="1378803"/>
            <a:ext cx="3140419" cy="3040797"/>
            <a:chOff x="5470181" y="1378803"/>
            <a:chExt cx="3140419" cy="3040797"/>
          </a:xfrm>
        </p:grpSpPr>
        <p:pic>
          <p:nvPicPr>
            <p:cNvPr id="17" name="Picture 16" descr="building_house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70181" y="1378803"/>
              <a:ext cx="1447800" cy="1447800"/>
            </a:xfrm>
            <a:prstGeom prst="rect">
              <a:avLst/>
            </a:prstGeom>
          </p:spPr>
        </p:pic>
        <p:pic>
          <p:nvPicPr>
            <p:cNvPr id="18" name="Picture 17" descr="building_office.pn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41781" y="1759803"/>
              <a:ext cx="1714500" cy="1714500"/>
            </a:xfrm>
            <a:prstGeom prst="rect">
              <a:avLst/>
            </a:prstGeom>
          </p:spPr>
        </p:pic>
        <p:pic>
          <p:nvPicPr>
            <p:cNvPr id="20" name="Picture 19" descr="iphone.pn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94182" y="2674204"/>
              <a:ext cx="544026" cy="6096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1" name="Picture 20" descr="iphone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70381" y="1836003"/>
              <a:ext cx="612029" cy="6858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6" name="TextBox 25"/>
            <p:cNvSpPr txBox="1"/>
            <p:nvPr/>
          </p:nvSpPr>
          <p:spPr>
            <a:xfrm>
              <a:off x="5597980" y="3588603"/>
              <a:ext cx="301262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rgbClr val="C00000"/>
                  </a:solidFill>
                </a:rPr>
                <a:t>Narrow cause of poor</a:t>
              </a:r>
              <a:br>
                <a:rPr lang="en-US" sz="2400" b="1" dirty="0" smtClean="0">
                  <a:solidFill>
                    <a:srgbClr val="C00000"/>
                  </a:solidFill>
                </a:rPr>
              </a:br>
              <a:r>
                <a:rPr lang="en-US" sz="2400" b="1" dirty="0" smtClean="0">
                  <a:solidFill>
                    <a:srgbClr val="C00000"/>
                  </a:solidFill>
                </a:rPr>
                <a:t>network performance</a:t>
              </a:r>
            </a:p>
          </p:txBody>
        </p:sp>
        <p:pic>
          <p:nvPicPr>
            <p:cNvPr id="28" name="Picture 27" descr="vehicle_taxi.png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20680" y="2369403"/>
              <a:ext cx="1390650" cy="1390650"/>
            </a:xfrm>
            <a:prstGeom prst="rect">
              <a:avLst/>
            </a:prstGeom>
          </p:spPr>
        </p:pic>
        <p:pic>
          <p:nvPicPr>
            <p:cNvPr id="31" name="Picture 30" descr="iphone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20730" y="2617053"/>
              <a:ext cx="612029" cy="6858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8" name="Picture 47" descr="blackberry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1800000">
              <a:off x="7706996" y="2347672"/>
              <a:ext cx="454211" cy="774489"/>
            </a:xfrm>
            <a:prstGeom prst="rect">
              <a:avLst/>
            </a:prstGeom>
          </p:spPr>
        </p:pic>
        <p:pic>
          <p:nvPicPr>
            <p:cNvPr id="49" name="Picture 48" descr="blackberry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20588276">
              <a:off x="5969964" y="1649427"/>
              <a:ext cx="454211" cy="77448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562100" y="2552700"/>
            <a:ext cx="6019800" cy="17526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How do we capture</a:t>
            </a:r>
            <a:br>
              <a:rPr lang="en-US" sz="3200" dirty="0" smtClean="0"/>
            </a:br>
            <a:r>
              <a:rPr lang="en-US" sz="3200" dirty="0" smtClean="0"/>
              <a:t>in-context measurements of cellular network performance?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Existing Approaches</a:t>
            </a:r>
            <a:endParaRPr lang="en-US" dirty="0"/>
          </a:p>
        </p:txBody>
      </p:sp>
      <p:pic>
        <p:nvPicPr>
          <p:cNvPr id="7" name="Picture 6" descr="cell_tower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62850" y="1143000"/>
            <a:ext cx="971550" cy="1295400"/>
          </a:xfrm>
          <a:prstGeom prst="rect">
            <a:avLst/>
          </a:prstGeom>
        </p:spPr>
      </p:pic>
      <p:pic>
        <p:nvPicPr>
          <p:cNvPr id="8" name="Picture 7" descr="cell_tower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43400" y="2438400"/>
            <a:ext cx="971550" cy="1295400"/>
          </a:xfrm>
          <a:prstGeom prst="rect">
            <a:avLst/>
          </a:prstGeom>
        </p:spPr>
      </p:pic>
      <p:sp>
        <p:nvSpPr>
          <p:cNvPr id="9" name="Cube 8"/>
          <p:cNvSpPr/>
          <p:nvPr/>
        </p:nvSpPr>
        <p:spPr>
          <a:xfrm>
            <a:off x="3962400" y="1752600"/>
            <a:ext cx="728003" cy="457200"/>
          </a:xfrm>
          <a:prstGeom prst="cub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0" name="Cube 9"/>
          <p:cNvSpPr/>
          <p:nvPr/>
        </p:nvSpPr>
        <p:spPr>
          <a:xfrm>
            <a:off x="1981200" y="1752600"/>
            <a:ext cx="718457" cy="457200"/>
          </a:xfrm>
          <a:prstGeom prst="cub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1" name="Cube 10"/>
          <p:cNvSpPr/>
          <p:nvPr/>
        </p:nvSpPr>
        <p:spPr>
          <a:xfrm>
            <a:off x="5715000" y="1676400"/>
            <a:ext cx="718457" cy="457200"/>
          </a:xfrm>
          <a:prstGeom prst="cub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cxnSp>
        <p:nvCxnSpPr>
          <p:cNvPr id="15" name="Straight Connector 14"/>
          <p:cNvCxnSpPr>
            <a:stCxn id="11" idx="5"/>
            <a:endCxn id="7" idx="1"/>
          </p:cNvCxnSpPr>
          <p:nvPr/>
        </p:nvCxnSpPr>
        <p:spPr>
          <a:xfrm flipV="1">
            <a:off x="6433457" y="1790700"/>
            <a:ext cx="1129393" cy="571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1" idx="3"/>
            <a:endCxn id="8" idx="3"/>
          </p:cNvCxnSpPr>
          <p:nvPr/>
        </p:nvCxnSpPr>
        <p:spPr>
          <a:xfrm flipH="1">
            <a:off x="5314950" y="2133600"/>
            <a:ext cx="702129" cy="9525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1" idx="2"/>
            <a:endCxn id="9" idx="5"/>
          </p:cNvCxnSpPr>
          <p:nvPr/>
        </p:nvCxnSpPr>
        <p:spPr>
          <a:xfrm flipH="1" flipV="1">
            <a:off x="4690403" y="1924050"/>
            <a:ext cx="1024597" cy="381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0" idx="5"/>
            <a:endCxn id="9" idx="2"/>
          </p:cNvCxnSpPr>
          <p:nvPr/>
        </p:nvCxnSpPr>
        <p:spPr>
          <a:xfrm>
            <a:off x="2699657" y="1924050"/>
            <a:ext cx="1262743" cy="1143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10" idx="2"/>
            <a:endCxn id="51" idx="0"/>
          </p:cNvCxnSpPr>
          <p:nvPr/>
        </p:nvCxnSpPr>
        <p:spPr>
          <a:xfrm flipH="1" flipV="1">
            <a:off x="1279474" y="1905000"/>
            <a:ext cx="701726" cy="133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Cloud 50"/>
          <p:cNvSpPr/>
          <p:nvPr/>
        </p:nvSpPr>
        <p:spPr>
          <a:xfrm>
            <a:off x="457200" y="1600200"/>
            <a:ext cx="822960" cy="609600"/>
          </a:xfrm>
          <a:prstGeom prst="clou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4" name="Group 83"/>
          <p:cNvGrpSpPr/>
          <p:nvPr/>
        </p:nvGrpSpPr>
        <p:grpSpPr>
          <a:xfrm>
            <a:off x="462315" y="3522642"/>
            <a:ext cx="3828011" cy="1354158"/>
            <a:chOff x="462315" y="4724400"/>
            <a:chExt cx="3828011" cy="1354158"/>
          </a:xfrm>
        </p:grpSpPr>
        <p:grpSp>
          <p:nvGrpSpPr>
            <p:cNvPr id="81" name="Group 80"/>
            <p:cNvGrpSpPr/>
            <p:nvPr/>
          </p:nvGrpSpPr>
          <p:grpSpPr>
            <a:xfrm>
              <a:off x="462315" y="4953000"/>
              <a:ext cx="2052285" cy="954107"/>
              <a:chOff x="462315" y="4953000"/>
              <a:chExt cx="2052285" cy="954107"/>
            </a:xfrm>
          </p:grpSpPr>
          <p:sp>
            <p:nvSpPr>
              <p:cNvPr id="34" name="Left Arrow 33"/>
              <p:cNvSpPr/>
              <p:nvPr/>
            </p:nvSpPr>
            <p:spPr>
              <a:xfrm>
                <a:off x="1752600" y="5257800"/>
                <a:ext cx="762000" cy="304800"/>
              </a:xfrm>
              <a:prstGeom prst="left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462315" y="4953000"/>
                <a:ext cx="1226811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 smtClean="0">
                    <a:solidFill>
                      <a:srgbClr val="C00000"/>
                    </a:solidFill>
                  </a:rPr>
                  <a:t>Field</a:t>
                </a:r>
              </a:p>
              <a:p>
                <a:r>
                  <a:rPr lang="en-US" sz="2800" b="1" dirty="0" smtClean="0">
                    <a:solidFill>
                      <a:srgbClr val="C00000"/>
                    </a:solidFill>
                  </a:rPr>
                  <a:t>Testing</a:t>
                </a:r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79" name="Group 78"/>
            <p:cNvGrpSpPr/>
            <p:nvPr/>
          </p:nvGrpSpPr>
          <p:grpSpPr>
            <a:xfrm>
              <a:off x="2438400" y="4724400"/>
              <a:ext cx="1851926" cy="1354158"/>
              <a:chOff x="2438400" y="4724400"/>
              <a:chExt cx="1851926" cy="1354158"/>
            </a:xfrm>
          </p:grpSpPr>
          <p:pic>
            <p:nvPicPr>
              <p:cNvPr id="1026" name="Picture 2" descr="C:\Users\agember\AppData\Local\Microsoft\Windows\Temporary Internet Files\Content.IE5\2DGPU1UI\MC900433933[1]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2438400" y="4724400"/>
                <a:ext cx="1314450" cy="1314450"/>
              </a:xfrm>
              <a:prstGeom prst="rect">
                <a:avLst/>
              </a:prstGeom>
              <a:noFill/>
            </p:spPr>
          </p:pic>
          <p:pic>
            <p:nvPicPr>
              <p:cNvPr id="30" name="Picture 29" descr="laptop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971800" y="5410200"/>
                <a:ext cx="958711" cy="668358"/>
              </a:xfrm>
              <a:prstGeom prst="rect">
                <a:avLst/>
              </a:prstGeom>
            </p:spPr>
          </p:pic>
          <p:pic>
            <p:nvPicPr>
              <p:cNvPr id="65" name="Picture 64" descr="wifi_signal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1576951">
                <a:off x="3535493" y="4933748"/>
                <a:ext cx="754833" cy="657225"/>
              </a:xfrm>
              <a:prstGeom prst="rect">
                <a:avLst/>
              </a:prstGeom>
            </p:spPr>
          </p:pic>
        </p:grpSp>
      </p:grpSp>
      <p:grpSp>
        <p:nvGrpSpPr>
          <p:cNvPr id="83" name="Group 82"/>
          <p:cNvGrpSpPr/>
          <p:nvPr/>
        </p:nvGrpSpPr>
        <p:grpSpPr>
          <a:xfrm>
            <a:off x="533400" y="1560900"/>
            <a:ext cx="3234656" cy="1907807"/>
            <a:chOff x="533400" y="1941900"/>
            <a:chExt cx="3234656" cy="1907807"/>
          </a:xfrm>
        </p:grpSpPr>
        <p:grpSp>
          <p:nvGrpSpPr>
            <p:cNvPr id="82" name="Group 81"/>
            <p:cNvGrpSpPr/>
            <p:nvPr/>
          </p:nvGrpSpPr>
          <p:grpSpPr>
            <a:xfrm>
              <a:off x="533400" y="2895600"/>
              <a:ext cx="2971800" cy="954107"/>
              <a:chOff x="533400" y="2895600"/>
              <a:chExt cx="2971800" cy="954107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533400" y="2895600"/>
                <a:ext cx="2566921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 smtClean="0">
                    <a:solidFill>
                      <a:srgbClr val="C00000"/>
                    </a:solidFill>
                  </a:rPr>
                  <a:t>Network-based</a:t>
                </a:r>
                <a:br>
                  <a:rPr lang="en-US" sz="2800" b="1" dirty="0" smtClean="0">
                    <a:solidFill>
                      <a:srgbClr val="C00000"/>
                    </a:solidFill>
                  </a:rPr>
                </a:br>
                <a:r>
                  <a:rPr lang="en-US" sz="2800" b="1" dirty="0" smtClean="0">
                    <a:solidFill>
                      <a:srgbClr val="C00000"/>
                    </a:solidFill>
                  </a:rPr>
                  <a:t>Passive Analysis</a:t>
                </a:r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8" name="Bent Arrow 27"/>
              <p:cNvSpPr/>
              <p:nvPr/>
            </p:nvSpPr>
            <p:spPr>
              <a:xfrm flipH="1" flipV="1">
                <a:off x="3048000" y="3124199"/>
                <a:ext cx="457200" cy="326016"/>
              </a:xfrm>
              <a:prstGeom prst="bentArrow">
                <a:avLst>
                  <a:gd name="adj1" fmla="val 31731"/>
                  <a:gd name="adj2" fmla="val 29488"/>
                  <a:gd name="adj3" fmla="val 25000"/>
                  <a:gd name="adj4" fmla="val 43750"/>
                </a:avLst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13" name="Picture 12" descr="magnifying_glass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900000">
              <a:off x="2730774" y="1941900"/>
              <a:ext cx="1037282" cy="1037282"/>
            </a:xfrm>
            <a:prstGeom prst="rect">
              <a:avLst/>
            </a:prstGeom>
          </p:spPr>
        </p:pic>
      </p:grpSp>
      <p:grpSp>
        <p:nvGrpSpPr>
          <p:cNvPr id="85" name="Group 84"/>
          <p:cNvGrpSpPr/>
          <p:nvPr/>
        </p:nvGrpSpPr>
        <p:grpSpPr>
          <a:xfrm>
            <a:off x="5444827" y="2362200"/>
            <a:ext cx="3196976" cy="2325707"/>
            <a:chOff x="5171738" y="3581400"/>
            <a:chExt cx="3196976" cy="2325707"/>
          </a:xfrm>
        </p:grpSpPr>
        <p:grpSp>
          <p:nvGrpSpPr>
            <p:cNvPr id="75" name="Group 74"/>
            <p:cNvGrpSpPr/>
            <p:nvPr/>
          </p:nvGrpSpPr>
          <p:grpSpPr>
            <a:xfrm>
              <a:off x="6324600" y="3581400"/>
              <a:ext cx="2044114" cy="1447800"/>
              <a:chOff x="6337886" y="4114800"/>
              <a:chExt cx="2044114" cy="1447800"/>
            </a:xfrm>
          </p:grpSpPr>
          <p:pic>
            <p:nvPicPr>
              <p:cNvPr id="72" name="Picture 71" descr="person_headphones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6934200" y="4114800"/>
                <a:ext cx="1447800" cy="1447800"/>
              </a:xfrm>
              <a:prstGeom prst="rect">
                <a:avLst/>
              </a:prstGeom>
            </p:spPr>
          </p:pic>
          <p:pic>
            <p:nvPicPr>
              <p:cNvPr id="73" name="Picture 72" descr="iphone.pn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781800" y="4724400"/>
                <a:ext cx="680032" cy="762000"/>
              </a:xfrm>
              <a:prstGeom prst="rect">
                <a:avLst/>
              </a:prstGeom>
            </p:spPr>
          </p:pic>
          <p:pic>
            <p:nvPicPr>
              <p:cNvPr id="74" name="Picture 73" descr="wifi_signal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18598594">
                <a:off x="6289082" y="4362730"/>
                <a:ext cx="754833" cy="657225"/>
              </a:xfrm>
              <a:prstGeom prst="rect">
                <a:avLst/>
              </a:prstGeom>
            </p:spPr>
          </p:pic>
        </p:grpSp>
        <p:grpSp>
          <p:nvGrpSpPr>
            <p:cNvPr id="80" name="Group 79"/>
            <p:cNvGrpSpPr/>
            <p:nvPr/>
          </p:nvGrpSpPr>
          <p:grpSpPr>
            <a:xfrm>
              <a:off x="5171738" y="4953000"/>
              <a:ext cx="2784773" cy="954107"/>
              <a:chOff x="5171738" y="4953000"/>
              <a:chExt cx="2784773" cy="954107"/>
            </a:xfrm>
          </p:grpSpPr>
          <p:sp>
            <p:nvSpPr>
              <p:cNvPr id="76" name="TextBox 75"/>
              <p:cNvSpPr txBox="1"/>
              <p:nvPr/>
            </p:nvSpPr>
            <p:spPr>
              <a:xfrm>
                <a:off x="5171738" y="4953000"/>
                <a:ext cx="2098973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 smtClean="0">
                    <a:solidFill>
                      <a:srgbClr val="C00000"/>
                    </a:solidFill>
                  </a:rPr>
                  <a:t>Self-initiated</a:t>
                </a:r>
                <a:br>
                  <a:rPr lang="en-US" sz="2800" b="1" dirty="0" smtClean="0">
                    <a:solidFill>
                      <a:srgbClr val="C00000"/>
                    </a:solidFill>
                  </a:rPr>
                </a:br>
                <a:r>
                  <a:rPr lang="en-US" sz="2800" b="1" dirty="0" smtClean="0">
                    <a:solidFill>
                      <a:srgbClr val="C00000"/>
                    </a:solidFill>
                  </a:rPr>
                  <a:t>Reporting</a:t>
                </a:r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77" name="Bent Arrow 76"/>
              <p:cNvSpPr/>
              <p:nvPr/>
            </p:nvSpPr>
            <p:spPr>
              <a:xfrm flipH="1" flipV="1">
                <a:off x="7239721" y="5108028"/>
                <a:ext cx="716790" cy="539580"/>
              </a:xfrm>
              <a:prstGeom prst="bentArrow">
                <a:avLst>
                  <a:gd name="adj1" fmla="val 22770"/>
                  <a:gd name="adj2" fmla="val 26338"/>
                  <a:gd name="adj3" fmla="val 21681"/>
                  <a:gd name="adj4" fmla="val 43750"/>
                </a:avLst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86" name="Slide Number Placeholder 8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533400" y="3429000"/>
            <a:ext cx="4343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2800" dirty="0" smtClean="0"/>
              <a:t>Difficult to determine </a:t>
            </a:r>
            <a:br>
              <a:rPr lang="en-US" sz="2800" dirty="0" smtClean="0"/>
            </a:br>
            <a:r>
              <a:rPr lang="en-US" sz="2800" dirty="0" smtClean="0"/>
              <a:t>or control context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800" dirty="0" smtClean="0"/>
              <a:t>Difficult to eliminate confounding factors</a:t>
            </a:r>
            <a:endParaRPr lang="en-US" sz="2800" dirty="0"/>
          </a:p>
        </p:txBody>
      </p:sp>
      <p:sp>
        <p:nvSpPr>
          <p:cNvPr id="39" name="TextBox 38"/>
          <p:cNvSpPr txBox="1"/>
          <p:nvPr/>
        </p:nvSpPr>
        <p:spPr>
          <a:xfrm>
            <a:off x="5410200" y="4648200"/>
            <a:ext cx="3200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2800" dirty="0" smtClean="0"/>
              <a:t>Requires manual </a:t>
            </a:r>
            <a:br>
              <a:rPr lang="en-US" sz="2800" dirty="0" smtClean="0"/>
            </a:br>
            <a:r>
              <a:rPr lang="en-US" sz="2800" dirty="0" smtClean="0"/>
              <a:t>user intervention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800" dirty="0" smtClean="0"/>
              <a:t>Most users only report problems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648200"/>
            <a:ext cx="3886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2800" dirty="0" smtClean="0"/>
              <a:t>Limited </a:t>
            </a:r>
            <a:br>
              <a:rPr lang="en-US" sz="2800" dirty="0" smtClean="0"/>
            </a:br>
            <a:r>
              <a:rPr lang="en-US" sz="2800" dirty="0" smtClean="0"/>
              <a:t>range of contexts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800" dirty="0" smtClean="0"/>
              <a:t>May not accurately reflect usage patterns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7" grpId="1"/>
      <p:bldP spid="39" grpId="0"/>
      <p:bldP spid="41" grpId="0"/>
      <p:bldP spid="4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800600" y="2209800"/>
            <a:ext cx="3886200" cy="1828800"/>
            <a:chOff x="2438400" y="2209800"/>
            <a:chExt cx="2020824" cy="1828800"/>
          </a:xfrm>
        </p:grpSpPr>
        <p:sp>
          <p:nvSpPr>
            <p:cNvPr id="20" name="Rectangle 19"/>
            <p:cNvSpPr/>
            <p:nvPr/>
          </p:nvSpPr>
          <p:spPr>
            <a:xfrm>
              <a:off x="2438400" y="2209800"/>
              <a:ext cx="2020824" cy="1828800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438400" y="2343495"/>
              <a:ext cx="2020824" cy="15481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688975" lvl="0" algn="ctr" defTabSz="631825">
                <a:spcBef>
                  <a:spcPct val="20000"/>
                </a:spcBef>
                <a:spcAft>
                  <a:spcPts val="600"/>
                </a:spcAft>
                <a:defRPr/>
              </a:pPr>
              <a:r>
                <a:rPr lang="en-US" sz="2800" dirty="0" smtClean="0">
                  <a:solidFill>
                    <a:schemeClr val="tx1"/>
                  </a:solidFill>
                </a:rPr>
                <a:t>Crowdsource  active</a:t>
              </a:r>
              <a:br>
                <a:rPr lang="en-US" sz="2800" dirty="0" smtClean="0">
                  <a:solidFill>
                    <a:schemeClr val="tx1"/>
                  </a:solidFill>
                </a:rPr>
              </a:br>
              <a:r>
                <a:rPr lang="en-US" sz="2800" dirty="0" smtClean="0">
                  <a:solidFill>
                    <a:schemeClr val="tx1"/>
                  </a:solidFill>
                </a:rPr>
                <a:t>measurements</a:t>
              </a:r>
              <a:endParaRPr lang="en-US" sz="800" dirty="0" smtClean="0">
                <a:solidFill>
                  <a:schemeClr val="tx1"/>
                </a:solidFill>
              </a:endParaRPr>
            </a:p>
            <a:p>
              <a:pPr lvl="0" algn="ctr" defTabSz="631825">
                <a:spcBef>
                  <a:spcPct val="20000"/>
                </a:spcBef>
                <a:defRPr/>
              </a:pPr>
              <a:r>
                <a:rPr lang="en-US" sz="2800" dirty="0" smtClean="0">
                  <a:solidFill>
                    <a:schemeClr val="tx1"/>
                  </a:solidFill>
                </a:rPr>
                <a:t>Deploy to 12 volunteers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Contributions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</a:rPr>
              <a:t>Empirical Study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457200" y="4114800"/>
            <a:ext cx="4040188" cy="20113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 smtClean="0"/>
              <a:t>What factors need </a:t>
            </a:r>
            <a:br>
              <a:rPr lang="en-US" sz="2800" dirty="0" smtClean="0"/>
            </a:br>
            <a:r>
              <a:rPr lang="en-US" sz="2800" dirty="0" smtClean="0"/>
              <a:t>to be considered to capture in-context measurements?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</a:rPr>
              <a:t>Measurement System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4645025" y="4343400"/>
            <a:ext cx="4041775" cy="17827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 smtClean="0"/>
              <a:t>Measurements depict performance experienced while user is active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57201" y="2209800"/>
            <a:ext cx="1828799" cy="181588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 smtClean="0"/>
              <a:t>Network data from 20,000 subscribers </a:t>
            </a:r>
            <a:endParaRPr lang="en-US" sz="2800" dirty="0"/>
          </a:p>
        </p:txBody>
      </p:sp>
      <p:pic>
        <p:nvPicPr>
          <p:cNvPr id="14" name="Picture 13" descr="android_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00600" y="2514600"/>
            <a:ext cx="838200" cy="872017"/>
          </a:xfrm>
          <a:prstGeom prst="rect">
            <a:avLst/>
          </a:prstGeom>
        </p:spPr>
      </p:pic>
      <p:grpSp>
        <p:nvGrpSpPr>
          <p:cNvPr id="30" name="Group 29"/>
          <p:cNvGrpSpPr/>
          <p:nvPr/>
        </p:nvGrpSpPr>
        <p:grpSpPr>
          <a:xfrm>
            <a:off x="2438400" y="2209800"/>
            <a:ext cx="1981200" cy="1828800"/>
            <a:chOff x="2438400" y="2209800"/>
            <a:chExt cx="1981200" cy="1828800"/>
          </a:xfrm>
        </p:grpSpPr>
        <p:grpSp>
          <p:nvGrpSpPr>
            <p:cNvPr id="18" name="Group 17"/>
            <p:cNvGrpSpPr/>
            <p:nvPr/>
          </p:nvGrpSpPr>
          <p:grpSpPr>
            <a:xfrm>
              <a:off x="2438400" y="2209800"/>
              <a:ext cx="1981200" cy="1828800"/>
              <a:chOff x="2438400" y="2209800"/>
              <a:chExt cx="1981200" cy="1828800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2438400" y="2209800"/>
                <a:ext cx="1981200" cy="1828800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2438400" y="2209800"/>
                <a:ext cx="1981200" cy="138499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 smtClean="0"/>
                  <a:t>100s of controlled experiments</a:t>
                </a:r>
                <a:endParaRPr lang="en-US" sz="2800" dirty="0"/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2514601" y="3515698"/>
              <a:ext cx="533400" cy="387927"/>
              <a:chOff x="1981200" y="4582498"/>
              <a:chExt cx="838200" cy="609600"/>
            </a:xfrm>
          </p:grpSpPr>
          <p:pic>
            <p:nvPicPr>
              <p:cNvPr id="22" name="Picture 3" descr="C:\Users\agember\AppData\Local\Microsoft\Windows\Temporary Internet Files\Content.IE5\XXIPWUPS\MC900441733[1]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 l="25000" r="25000"/>
              <a:stretch>
                <a:fillRect/>
              </a:stretch>
            </p:blipFill>
            <p:spPr bwMode="auto">
              <a:xfrm rot="2700000">
                <a:off x="2133600" y="4506298"/>
                <a:ext cx="533400" cy="838200"/>
              </a:xfrm>
              <a:prstGeom prst="rect">
                <a:avLst/>
              </a:prstGeom>
              <a:noFill/>
            </p:spPr>
          </p:pic>
          <p:pic>
            <p:nvPicPr>
              <p:cNvPr id="24" name="Picture 23" descr="iphone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133600" y="4582498"/>
                <a:ext cx="476023" cy="533400"/>
              </a:xfrm>
              <a:prstGeom prst="rect">
                <a:avLst/>
              </a:prstGeom>
            </p:spPr>
          </p:pic>
        </p:grpSp>
        <p:grpSp>
          <p:nvGrpSpPr>
            <p:cNvPr id="28" name="Group 27"/>
            <p:cNvGrpSpPr/>
            <p:nvPr/>
          </p:nvGrpSpPr>
          <p:grpSpPr>
            <a:xfrm>
              <a:off x="3886200" y="3528147"/>
              <a:ext cx="368171" cy="479040"/>
              <a:chOff x="2819400" y="4506298"/>
              <a:chExt cx="670560" cy="872489"/>
            </a:xfrm>
          </p:grpSpPr>
          <p:pic>
            <p:nvPicPr>
              <p:cNvPr id="25" name="Picture 24" descr="iphone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flipH="1">
                <a:off x="2971800" y="4506298"/>
                <a:ext cx="476023" cy="533400"/>
              </a:xfrm>
              <a:prstGeom prst="rect">
                <a:avLst/>
              </a:prstGeom>
            </p:spPr>
          </p:pic>
          <p:pic>
            <p:nvPicPr>
              <p:cNvPr id="26" name="Picture 25" descr="pocket.jpg"/>
              <p:cNvPicPr>
                <a:picLocks noChangeAspect="1"/>
              </p:cNvPicPr>
              <p:nvPr/>
            </p:nvPicPr>
            <p:blipFill>
              <a:blip r:embed="rId5" cstate="print"/>
              <a:srcRect l="15539" t="25033" r="15538" b="15538"/>
              <a:stretch>
                <a:fillRect/>
              </a:stretch>
            </p:blipFill>
            <p:spPr>
              <a:xfrm>
                <a:off x="2819400" y="4800600"/>
                <a:ext cx="670560" cy="578187"/>
              </a:xfrm>
              <a:prstGeom prst="rect">
                <a:avLst/>
              </a:prstGeom>
            </p:spPr>
          </p:pic>
        </p:grpSp>
        <p:pic>
          <p:nvPicPr>
            <p:cNvPr id="29" name="Picture 28" descr="building_house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24200" y="3429000"/>
              <a:ext cx="609600" cy="6096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build="p"/>
      <p:bldP spid="9" grpId="0" build="p"/>
      <p:bldP spid="10" grpId="0" uiExpand="1" build="p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Empirical Study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3550" indent="-463550">
              <a:buFont typeface="+mj-lt"/>
              <a:buAutoNum type="arabicParenR"/>
            </a:pPr>
            <a:r>
              <a:rPr lang="en-US" sz="2800" dirty="0" smtClean="0"/>
              <a:t>How does performance differ between </a:t>
            </a:r>
            <a:br>
              <a:rPr lang="en-US" sz="2800" dirty="0" smtClean="0"/>
            </a:br>
            <a:r>
              <a:rPr lang="en-US" sz="2800" dirty="0" smtClean="0"/>
              <a:t>the times users actually use their devices </a:t>
            </a:r>
            <a:br>
              <a:rPr lang="en-US" sz="2800" dirty="0" smtClean="0"/>
            </a:br>
            <a:r>
              <a:rPr lang="en-US" sz="2800" dirty="0" smtClean="0"/>
              <a:t>versus times the devices are unused?</a:t>
            </a:r>
          </a:p>
          <a:p>
            <a:pPr marL="463550" lvl="1" indent="-463550">
              <a:buFont typeface="+mj-lt"/>
              <a:buAutoNum type="arabicParenR"/>
            </a:pPr>
            <a:endParaRPr lang="en-US" dirty="0" smtClean="0"/>
          </a:p>
          <a:p>
            <a:pPr marL="463550" indent="-463550">
              <a:buFont typeface="+mj-lt"/>
              <a:buAutoNum type="arabicParenR"/>
            </a:pPr>
            <a:r>
              <a:rPr lang="en-US" sz="2800" dirty="0" smtClean="0"/>
              <a:t>What aspects of a device’s physical context contributes to the observed differences?</a:t>
            </a:r>
          </a:p>
          <a:p>
            <a:pPr marL="463550" lvl="1" indent="-463550">
              <a:buFont typeface="+mj-lt"/>
              <a:buAutoNum type="arabicParenR"/>
            </a:pPr>
            <a:endParaRPr lang="en-US" dirty="0" smtClean="0"/>
          </a:p>
          <a:p>
            <a:pPr marL="463550" indent="-463550">
              <a:buFont typeface="+mj-lt"/>
              <a:buAutoNum type="arabicParenR"/>
            </a:pPr>
            <a:r>
              <a:rPr lang="en-US" sz="2800" dirty="0" smtClean="0"/>
              <a:t>What is the allowable overlap between </a:t>
            </a:r>
            <a:br>
              <a:rPr lang="en-US" sz="2800" dirty="0" smtClean="0"/>
            </a:br>
            <a:r>
              <a:rPr lang="en-US" sz="2800" dirty="0" smtClean="0"/>
              <a:t>user traffic and measurement probes?</a:t>
            </a:r>
            <a:endParaRPr lang="en-US" sz="2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6781800" y="1340427"/>
            <a:ext cx="1600200" cy="1555173"/>
            <a:chOff x="6781800" y="1340427"/>
            <a:chExt cx="1600200" cy="1555173"/>
          </a:xfrm>
        </p:grpSpPr>
        <p:grpSp>
          <p:nvGrpSpPr>
            <p:cNvPr id="11" name="Group 74"/>
            <p:cNvGrpSpPr/>
            <p:nvPr/>
          </p:nvGrpSpPr>
          <p:grpSpPr>
            <a:xfrm>
              <a:off x="6781800" y="1340427"/>
              <a:ext cx="1291019" cy="914400"/>
              <a:chOff x="6337886" y="4114800"/>
              <a:chExt cx="2044114" cy="1447800"/>
            </a:xfrm>
          </p:grpSpPr>
          <p:pic>
            <p:nvPicPr>
              <p:cNvPr id="15" name="Picture 14" descr="person_headphones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934200" y="4114800"/>
                <a:ext cx="1447800" cy="1447800"/>
              </a:xfrm>
              <a:prstGeom prst="rect">
                <a:avLst/>
              </a:prstGeom>
            </p:spPr>
          </p:pic>
          <p:pic>
            <p:nvPicPr>
              <p:cNvPr id="16" name="Picture 15" descr="iphone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781800" y="4724400"/>
                <a:ext cx="680032" cy="762000"/>
              </a:xfrm>
              <a:prstGeom prst="rect">
                <a:avLst/>
              </a:prstGeom>
            </p:spPr>
          </p:pic>
          <p:pic>
            <p:nvPicPr>
              <p:cNvPr id="17" name="Picture 16" descr="wifi_signal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 rot="18598594">
                <a:off x="6289082" y="4362730"/>
                <a:ext cx="754833" cy="657225"/>
              </a:xfrm>
              <a:prstGeom prst="rect">
                <a:avLst/>
              </a:prstGeom>
            </p:spPr>
          </p:pic>
        </p:grpSp>
        <p:grpSp>
          <p:nvGrpSpPr>
            <p:cNvPr id="20" name="Group 19"/>
            <p:cNvGrpSpPr/>
            <p:nvPr/>
          </p:nvGrpSpPr>
          <p:grpSpPr>
            <a:xfrm>
              <a:off x="7772400" y="2102427"/>
              <a:ext cx="609600" cy="793173"/>
              <a:chOff x="3886200" y="3528147"/>
              <a:chExt cx="368171" cy="479040"/>
            </a:xfrm>
          </p:grpSpPr>
          <p:pic>
            <p:nvPicPr>
              <p:cNvPr id="18" name="Picture 17" descr="iphone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flipH="1">
                <a:off x="3969875" y="3528147"/>
                <a:ext cx="261360" cy="292863"/>
              </a:xfrm>
              <a:prstGeom prst="rect">
                <a:avLst/>
              </a:prstGeom>
            </p:spPr>
          </p:pic>
          <p:pic>
            <p:nvPicPr>
              <p:cNvPr id="19" name="Picture 18" descr="pocket.jpg"/>
              <p:cNvPicPr>
                <a:picLocks noChangeAspect="1"/>
              </p:cNvPicPr>
              <p:nvPr/>
            </p:nvPicPr>
            <p:blipFill>
              <a:blip r:embed="rId6" cstate="print"/>
              <a:srcRect l="15539" t="25033" r="15538" b="15538"/>
              <a:stretch>
                <a:fillRect/>
              </a:stretch>
            </p:blipFill>
            <p:spPr>
              <a:xfrm>
                <a:off x="3886200" y="3689733"/>
                <a:ext cx="368171" cy="317454"/>
              </a:xfrm>
              <a:prstGeom prst="rect">
                <a:avLst/>
              </a:prstGeom>
            </p:spPr>
          </p:pic>
        </p:grpSp>
      </p:grpSp>
      <p:grpSp>
        <p:nvGrpSpPr>
          <p:cNvPr id="44" name="Group 43"/>
          <p:cNvGrpSpPr/>
          <p:nvPr/>
        </p:nvGrpSpPr>
        <p:grpSpPr>
          <a:xfrm>
            <a:off x="6969369" y="3352800"/>
            <a:ext cx="1793631" cy="1234440"/>
            <a:chOff x="7086600" y="3352800"/>
            <a:chExt cx="1793631" cy="1234440"/>
          </a:xfrm>
        </p:grpSpPr>
        <p:pic>
          <p:nvPicPr>
            <p:cNvPr id="22" name="Picture 21" descr="google_maps_logo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86600" y="4038600"/>
              <a:ext cx="609600" cy="548640"/>
            </a:xfrm>
            <a:prstGeom prst="rect">
              <a:avLst/>
            </a:prstGeom>
          </p:spPr>
        </p:pic>
        <p:grpSp>
          <p:nvGrpSpPr>
            <p:cNvPr id="34" name="Group 33"/>
            <p:cNvGrpSpPr/>
            <p:nvPr/>
          </p:nvGrpSpPr>
          <p:grpSpPr>
            <a:xfrm>
              <a:off x="7647893" y="3352800"/>
              <a:ext cx="734107" cy="609600"/>
              <a:chOff x="8153400" y="3429000"/>
              <a:chExt cx="734106" cy="609600"/>
            </a:xfrm>
          </p:grpSpPr>
          <p:pic>
            <p:nvPicPr>
              <p:cNvPr id="25" name="Picture 2" descr="C:\Users\agember\AppData\Local\Microsoft\Windows\Temporary Internet Files\Content.IE5\ZQE9104A\MC900078715[1].wmf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8458200" y="3505200"/>
                <a:ext cx="429306" cy="533400"/>
              </a:xfrm>
              <a:prstGeom prst="rect">
                <a:avLst/>
              </a:prstGeom>
              <a:noFill/>
            </p:spPr>
          </p:pic>
          <p:grpSp>
            <p:nvGrpSpPr>
              <p:cNvPr id="26" name="Group 13"/>
              <p:cNvGrpSpPr>
                <a:grpSpLocks/>
              </p:cNvGrpSpPr>
              <p:nvPr/>
            </p:nvGrpSpPr>
            <p:grpSpPr bwMode="auto">
              <a:xfrm>
                <a:off x="8153400" y="3429000"/>
                <a:ext cx="228600" cy="609600"/>
                <a:chOff x="4771" y="1010"/>
                <a:chExt cx="659" cy="2523"/>
              </a:xfrm>
            </p:grpSpPr>
            <p:sp>
              <p:nvSpPr>
                <p:cNvPr id="28" name="Freeform 7"/>
                <p:cNvSpPr>
                  <a:spLocks/>
                </p:cNvSpPr>
                <p:nvPr/>
              </p:nvSpPr>
              <p:spPr bwMode="auto">
                <a:xfrm>
                  <a:off x="4967" y="1010"/>
                  <a:ext cx="425" cy="546"/>
                </a:xfrm>
                <a:custGeom>
                  <a:avLst/>
                  <a:gdLst/>
                  <a:ahLst/>
                  <a:cxnLst>
                    <a:cxn ang="0">
                      <a:pos x="0" y="230"/>
                    </a:cxn>
                    <a:cxn ang="0">
                      <a:pos x="31" y="118"/>
                    </a:cxn>
                    <a:cxn ang="0">
                      <a:pos x="71" y="61"/>
                    </a:cxn>
                    <a:cxn ang="0">
                      <a:pos x="122" y="20"/>
                    </a:cxn>
                    <a:cxn ang="0">
                      <a:pos x="173" y="0"/>
                    </a:cxn>
                    <a:cxn ang="0">
                      <a:pos x="240" y="6"/>
                    </a:cxn>
                    <a:cxn ang="0">
                      <a:pos x="284" y="51"/>
                    </a:cxn>
                    <a:cxn ang="0">
                      <a:pos x="324" y="132"/>
                    </a:cxn>
                    <a:cxn ang="0">
                      <a:pos x="341" y="240"/>
                    </a:cxn>
                    <a:cxn ang="0">
                      <a:pos x="341" y="363"/>
                    </a:cxn>
                    <a:cxn ang="0">
                      <a:pos x="422" y="447"/>
                    </a:cxn>
                    <a:cxn ang="0">
                      <a:pos x="425" y="485"/>
                    </a:cxn>
                    <a:cxn ang="0">
                      <a:pos x="412" y="488"/>
                    </a:cxn>
                    <a:cxn ang="0">
                      <a:pos x="334" y="413"/>
                    </a:cxn>
                    <a:cxn ang="0">
                      <a:pos x="311" y="468"/>
                    </a:cxn>
                    <a:cxn ang="0">
                      <a:pos x="264" y="515"/>
                    </a:cxn>
                    <a:cxn ang="0">
                      <a:pos x="220" y="539"/>
                    </a:cxn>
                    <a:cxn ang="0">
                      <a:pos x="149" y="546"/>
                    </a:cxn>
                    <a:cxn ang="0">
                      <a:pos x="58" y="508"/>
                    </a:cxn>
                    <a:cxn ang="0">
                      <a:pos x="17" y="427"/>
                    </a:cxn>
                    <a:cxn ang="0">
                      <a:pos x="0" y="346"/>
                    </a:cxn>
                    <a:cxn ang="0">
                      <a:pos x="0" y="230"/>
                    </a:cxn>
                  </a:cxnLst>
                  <a:rect l="0" t="0" r="r" b="b"/>
                  <a:pathLst>
                    <a:path w="425" h="546">
                      <a:moveTo>
                        <a:pt x="0" y="230"/>
                      </a:moveTo>
                      <a:lnTo>
                        <a:pt x="31" y="118"/>
                      </a:lnTo>
                      <a:lnTo>
                        <a:pt x="71" y="61"/>
                      </a:lnTo>
                      <a:lnTo>
                        <a:pt x="122" y="20"/>
                      </a:lnTo>
                      <a:lnTo>
                        <a:pt x="173" y="0"/>
                      </a:lnTo>
                      <a:lnTo>
                        <a:pt x="240" y="6"/>
                      </a:lnTo>
                      <a:lnTo>
                        <a:pt x="284" y="51"/>
                      </a:lnTo>
                      <a:lnTo>
                        <a:pt x="324" y="132"/>
                      </a:lnTo>
                      <a:lnTo>
                        <a:pt x="341" y="240"/>
                      </a:lnTo>
                      <a:lnTo>
                        <a:pt x="341" y="363"/>
                      </a:lnTo>
                      <a:lnTo>
                        <a:pt x="422" y="447"/>
                      </a:lnTo>
                      <a:lnTo>
                        <a:pt x="425" y="485"/>
                      </a:lnTo>
                      <a:lnTo>
                        <a:pt x="412" y="488"/>
                      </a:lnTo>
                      <a:lnTo>
                        <a:pt x="334" y="413"/>
                      </a:lnTo>
                      <a:lnTo>
                        <a:pt x="311" y="468"/>
                      </a:lnTo>
                      <a:lnTo>
                        <a:pt x="264" y="515"/>
                      </a:lnTo>
                      <a:lnTo>
                        <a:pt x="220" y="539"/>
                      </a:lnTo>
                      <a:lnTo>
                        <a:pt x="149" y="546"/>
                      </a:lnTo>
                      <a:lnTo>
                        <a:pt x="58" y="508"/>
                      </a:lnTo>
                      <a:lnTo>
                        <a:pt x="17" y="427"/>
                      </a:lnTo>
                      <a:lnTo>
                        <a:pt x="0" y="346"/>
                      </a:lnTo>
                      <a:lnTo>
                        <a:pt x="0" y="23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Freeform 8"/>
                <p:cNvSpPr>
                  <a:spLocks/>
                </p:cNvSpPr>
                <p:nvPr/>
              </p:nvSpPr>
              <p:spPr bwMode="auto">
                <a:xfrm>
                  <a:off x="4923" y="1597"/>
                  <a:ext cx="379" cy="879"/>
                </a:xfrm>
                <a:custGeom>
                  <a:avLst/>
                  <a:gdLst/>
                  <a:ahLst/>
                  <a:cxnLst>
                    <a:cxn ang="0">
                      <a:pos x="55" y="57"/>
                    </a:cxn>
                    <a:cxn ang="0">
                      <a:pos x="102" y="20"/>
                    </a:cxn>
                    <a:cxn ang="0">
                      <a:pos x="156" y="6"/>
                    </a:cxn>
                    <a:cxn ang="0">
                      <a:pos x="207" y="0"/>
                    </a:cxn>
                    <a:cxn ang="0">
                      <a:pos x="275" y="10"/>
                    </a:cxn>
                    <a:cxn ang="0">
                      <a:pos x="349" y="57"/>
                    </a:cxn>
                    <a:cxn ang="0">
                      <a:pos x="379" y="141"/>
                    </a:cxn>
                    <a:cxn ang="0">
                      <a:pos x="379" y="270"/>
                    </a:cxn>
                    <a:cxn ang="0">
                      <a:pos x="376" y="392"/>
                    </a:cxn>
                    <a:cxn ang="0">
                      <a:pos x="339" y="578"/>
                    </a:cxn>
                    <a:cxn ang="0">
                      <a:pos x="308" y="730"/>
                    </a:cxn>
                    <a:cxn ang="0">
                      <a:pos x="275" y="828"/>
                    </a:cxn>
                    <a:cxn ang="0">
                      <a:pos x="204" y="879"/>
                    </a:cxn>
                    <a:cxn ang="0">
                      <a:pos x="102" y="868"/>
                    </a:cxn>
                    <a:cxn ang="0">
                      <a:pos x="51" y="791"/>
                    </a:cxn>
                    <a:cxn ang="0">
                      <a:pos x="21" y="676"/>
                    </a:cxn>
                    <a:cxn ang="0">
                      <a:pos x="4" y="547"/>
                    </a:cxn>
                    <a:cxn ang="0">
                      <a:pos x="0" y="354"/>
                    </a:cxn>
                    <a:cxn ang="0">
                      <a:pos x="14" y="219"/>
                    </a:cxn>
                    <a:cxn ang="0">
                      <a:pos x="34" y="98"/>
                    </a:cxn>
                    <a:cxn ang="0">
                      <a:pos x="55" y="57"/>
                    </a:cxn>
                  </a:cxnLst>
                  <a:rect l="0" t="0" r="r" b="b"/>
                  <a:pathLst>
                    <a:path w="379" h="879">
                      <a:moveTo>
                        <a:pt x="55" y="57"/>
                      </a:moveTo>
                      <a:lnTo>
                        <a:pt x="102" y="20"/>
                      </a:lnTo>
                      <a:lnTo>
                        <a:pt x="156" y="6"/>
                      </a:lnTo>
                      <a:lnTo>
                        <a:pt x="207" y="0"/>
                      </a:lnTo>
                      <a:lnTo>
                        <a:pt x="275" y="10"/>
                      </a:lnTo>
                      <a:lnTo>
                        <a:pt x="349" y="57"/>
                      </a:lnTo>
                      <a:lnTo>
                        <a:pt x="379" y="141"/>
                      </a:lnTo>
                      <a:lnTo>
                        <a:pt x="379" y="270"/>
                      </a:lnTo>
                      <a:lnTo>
                        <a:pt x="376" y="392"/>
                      </a:lnTo>
                      <a:lnTo>
                        <a:pt x="339" y="578"/>
                      </a:lnTo>
                      <a:lnTo>
                        <a:pt x="308" y="730"/>
                      </a:lnTo>
                      <a:lnTo>
                        <a:pt x="275" y="828"/>
                      </a:lnTo>
                      <a:lnTo>
                        <a:pt x="204" y="879"/>
                      </a:lnTo>
                      <a:lnTo>
                        <a:pt x="102" y="868"/>
                      </a:lnTo>
                      <a:lnTo>
                        <a:pt x="51" y="791"/>
                      </a:lnTo>
                      <a:lnTo>
                        <a:pt x="21" y="676"/>
                      </a:lnTo>
                      <a:lnTo>
                        <a:pt x="4" y="547"/>
                      </a:lnTo>
                      <a:lnTo>
                        <a:pt x="0" y="354"/>
                      </a:lnTo>
                      <a:lnTo>
                        <a:pt x="14" y="219"/>
                      </a:lnTo>
                      <a:lnTo>
                        <a:pt x="34" y="98"/>
                      </a:lnTo>
                      <a:lnTo>
                        <a:pt x="55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Freeform 9"/>
                <p:cNvSpPr>
                  <a:spLocks/>
                </p:cNvSpPr>
                <p:nvPr/>
              </p:nvSpPr>
              <p:spPr bwMode="auto">
                <a:xfrm>
                  <a:off x="4771" y="1596"/>
                  <a:ext cx="223" cy="1082"/>
                </a:xfrm>
                <a:custGeom>
                  <a:avLst/>
                  <a:gdLst/>
                  <a:ahLst/>
                  <a:cxnLst>
                    <a:cxn ang="0">
                      <a:pos x="153" y="7"/>
                    </a:cxn>
                    <a:cxn ang="0">
                      <a:pos x="207" y="0"/>
                    </a:cxn>
                    <a:cxn ang="0">
                      <a:pos x="223" y="48"/>
                    </a:cxn>
                    <a:cxn ang="0">
                      <a:pos x="196" y="109"/>
                    </a:cxn>
                    <a:cxn ang="0">
                      <a:pos x="156" y="142"/>
                    </a:cxn>
                    <a:cxn ang="0">
                      <a:pos x="122" y="223"/>
                    </a:cxn>
                    <a:cxn ang="0">
                      <a:pos x="82" y="332"/>
                    </a:cxn>
                    <a:cxn ang="0">
                      <a:pos x="65" y="433"/>
                    </a:cxn>
                    <a:cxn ang="0">
                      <a:pos x="55" y="605"/>
                    </a:cxn>
                    <a:cxn ang="0">
                      <a:pos x="65" y="767"/>
                    </a:cxn>
                    <a:cxn ang="0">
                      <a:pos x="85" y="842"/>
                    </a:cxn>
                    <a:cxn ang="0">
                      <a:pos x="71" y="923"/>
                    </a:cxn>
                    <a:cxn ang="0">
                      <a:pos x="55" y="984"/>
                    </a:cxn>
                    <a:cxn ang="0">
                      <a:pos x="61" y="1082"/>
                    </a:cxn>
                    <a:cxn ang="0">
                      <a:pos x="34" y="1075"/>
                    </a:cxn>
                    <a:cxn ang="0">
                      <a:pos x="11" y="994"/>
                    </a:cxn>
                    <a:cxn ang="0">
                      <a:pos x="0" y="923"/>
                    </a:cxn>
                    <a:cxn ang="0">
                      <a:pos x="31" y="828"/>
                    </a:cxn>
                    <a:cxn ang="0">
                      <a:pos x="21" y="740"/>
                    </a:cxn>
                    <a:cxn ang="0">
                      <a:pos x="11" y="598"/>
                    </a:cxn>
                    <a:cxn ang="0">
                      <a:pos x="11" y="426"/>
                    </a:cxn>
                    <a:cxn ang="0">
                      <a:pos x="31" y="244"/>
                    </a:cxn>
                    <a:cxn ang="0">
                      <a:pos x="65" y="109"/>
                    </a:cxn>
                    <a:cxn ang="0">
                      <a:pos x="102" y="38"/>
                    </a:cxn>
                    <a:cxn ang="0">
                      <a:pos x="153" y="7"/>
                    </a:cxn>
                  </a:cxnLst>
                  <a:rect l="0" t="0" r="r" b="b"/>
                  <a:pathLst>
                    <a:path w="223" h="1082">
                      <a:moveTo>
                        <a:pt x="153" y="7"/>
                      </a:moveTo>
                      <a:lnTo>
                        <a:pt x="207" y="0"/>
                      </a:lnTo>
                      <a:lnTo>
                        <a:pt x="223" y="48"/>
                      </a:lnTo>
                      <a:lnTo>
                        <a:pt x="196" y="109"/>
                      </a:lnTo>
                      <a:lnTo>
                        <a:pt x="156" y="142"/>
                      </a:lnTo>
                      <a:lnTo>
                        <a:pt x="122" y="223"/>
                      </a:lnTo>
                      <a:lnTo>
                        <a:pt x="82" y="332"/>
                      </a:lnTo>
                      <a:lnTo>
                        <a:pt x="65" y="433"/>
                      </a:lnTo>
                      <a:lnTo>
                        <a:pt x="55" y="605"/>
                      </a:lnTo>
                      <a:lnTo>
                        <a:pt x="65" y="767"/>
                      </a:lnTo>
                      <a:lnTo>
                        <a:pt x="85" y="842"/>
                      </a:lnTo>
                      <a:lnTo>
                        <a:pt x="71" y="923"/>
                      </a:lnTo>
                      <a:lnTo>
                        <a:pt x="55" y="984"/>
                      </a:lnTo>
                      <a:lnTo>
                        <a:pt x="61" y="1082"/>
                      </a:lnTo>
                      <a:lnTo>
                        <a:pt x="34" y="1075"/>
                      </a:lnTo>
                      <a:lnTo>
                        <a:pt x="11" y="994"/>
                      </a:lnTo>
                      <a:lnTo>
                        <a:pt x="0" y="923"/>
                      </a:lnTo>
                      <a:lnTo>
                        <a:pt x="31" y="828"/>
                      </a:lnTo>
                      <a:lnTo>
                        <a:pt x="21" y="740"/>
                      </a:lnTo>
                      <a:lnTo>
                        <a:pt x="11" y="598"/>
                      </a:lnTo>
                      <a:lnTo>
                        <a:pt x="11" y="426"/>
                      </a:lnTo>
                      <a:lnTo>
                        <a:pt x="31" y="244"/>
                      </a:lnTo>
                      <a:lnTo>
                        <a:pt x="65" y="109"/>
                      </a:lnTo>
                      <a:lnTo>
                        <a:pt x="102" y="38"/>
                      </a:lnTo>
                      <a:lnTo>
                        <a:pt x="153" y="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Freeform 10"/>
                <p:cNvSpPr>
                  <a:spLocks/>
                </p:cNvSpPr>
                <p:nvPr/>
              </p:nvSpPr>
              <p:spPr bwMode="auto">
                <a:xfrm>
                  <a:off x="5258" y="1624"/>
                  <a:ext cx="142" cy="1028"/>
                </a:xfrm>
                <a:custGeom>
                  <a:avLst/>
                  <a:gdLst/>
                  <a:ahLst/>
                  <a:cxnLst>
                    <a:cxn ang="0">
                      <a:pos x="3" y="3"/>
                    </a:cxn>
                    <a:cxn ang="0">
                      <a:pos x="61" y="0"/>
                    </a:cxn>
                    <a:cxn ang="0">
                      <a:pos x="101" y="81"/>
                    </a:cxn>
                    <a:cxn ang="0">
                      <a:pos x="142" y="304"/>
                    </a:cxn>
                    <a:cxn ang="0">
                      <a:pos x="142" y="561"/>
                    </a:cxn>
                    <a:cxn ang="0">
                      <a:pos x="122" y="781"/>
                    </a:cxn>
                    <a:cxn ang="0">
                      <a:pos x="142" y="856"/>
                    </a:cxn>
                    <a:cxn ang="0">
                      <a:pos x="142" y="957"/>
                    </a:cxn>
                    <a:cxn ang="0">
                      <a:pos x="122" y="1028"/>
                    </a:cxn>
                    <a:cxn ang="0">
                      <a:pos x="95" y="964"/>
                    </a:cxn>
                    <a:cxn ang="0">
                      <a:pos x="81" y="866"/>
                    </a:cxn>
                    <a:cxn ang="0">
                      <a:pos x="51" y="791"/>
                    </a:cxn>
                    <a:cxn ang="0">
                      <a:pos x="85" y="724"/>
                    </a:cxn>
                    <a:cxn ang="0">
                      <a:pos x="105" y="561"/>
                    </a:cxn>
                    <a:cxn ang="0">
                      <a:pos x="105" y="409"/>
                    </a:cxn>
                    <a:cxn ang="0">
                      <a:pos x="85" y="257"/>
                    </a:cxn>
                    <a:cxn ang="0">
                      <a:pos x="44" y="145"/>
                    </a:cxn>
                    <a:cxn ang="0">
                      <a:pos x="0" y="91"/>
                    </a:cxn>
                    <a:cxn ang="0">
                      <a:pos x="3" y="3"/>
                    </a:cxn>
                  </a:cxnLst>
                  <a:rect l="0" t="0" r="r" b="b"/>
                  <a:pathLst>
                    <a:path w="142" h="1028">
                      <a:moveTo>
                        <a:pt x="3" y="3"/>
                      </a:moveTo>
                      <a:lnTo>
                        <a:pt x="61" y="0"/>
                      </a:lnTo>
                      <a:lnTo>
                        <a:pt x="101" y="81"/>
                      </a:lnTo>
                      <a:lnTo>
                        <a:pt x="142" y="304"/>
                      </a:lnTo>
                      <a:lnTo>
                        <a:pt x="142" y="561"/>
                      </a:lnTo>
                      <a:lnTo>
                        <a:pt x="122" y="781"/>
                      </a:lnTo>
                      <a:lnTo>
                        <a:pt x="142" y="856"/>
                      </a:lnTo>
                      <a:lnTo>
                        <a:pt x="142" y="957"/>
                      </a:lnTo>
                      <a:lnTo>
                        <a:pt x="122" y="1028"/>
                      </a:lnTo>
                      <a:lnTo>
                        <a:pt x="95" y="964"/>
                      </a:lnTo>
                      <a:lnTo>
                        <a:pt x="81" y="866"/>
                      </a:lnTo>
                      <a:lnTo>
                        <a:pt x="51" y="791"/>
                      </a:lnTo>
                      <a:lnTo>
                        <a:pt x="85" y="724"/>
                      </a:lnTo>
                      <a:lnTo>
                        <a:pt x="105" y="561"/>
                      </a:lnTo>
                      <a:lnTo>
                        <a:pt x="105" y="409"/>
                      </a:lnTo>
                      <a:lnTo>
                        <a:pt x="85" y="257"/>
                      </a:lnTo>
                      <a:lnTo>
                        <a:pt x="44" y="145"/>
                      </a:lnTo>
                      <a:lnTo>
                        <a:pt x="0" y="91"/>
                      </a:lnTo>
                      <a:lnTo>
                        <a:pt x="3" y="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Freeform 11"/>
                <p:cNvSpPr>
                  <a:spLocks/>
                </p:cNvSpPr>
                <p:nvPr/>
              </p:nvSpPr>
              <p:spPr bwMode="auto">
                <a:xfrm>
                  <a:off x="4923" y="2301"/>
                  <a:ext cx="320" cy="1232"/>
                </a:xfrm>
                <a:custGeom>
                  <a:avLst/>
                  <a:gdLst/>
                  <a:ahLst/>
                  <a:cxnLst>
                    <a:cxn ang="0">
                      <a:pos x="32" y="0"/>
                    </a:cxn>
                    <a:cxn ang="0">
                      <a:pos x="69" y="51"/>
                    </a:cxn>
                    <a:cxn ang="0">
                      <a:pos x="84" y="103"/>
                    </a:cxn>
                    <a:cxn ang="0">
                      <a:pos x="99" y="282"/>
                    </a:cxn>
                    <a:cxn ang="0">
                      <a:pos x="106" y="402"/>
                    </a:cxn>
                    <a:cxn ang="0">
                      <a:pos x="106" y="607"/>
                    </a:cxn>
                    <a:cxn ang="0">
                      <a:pos x="104" y="800"/>
                    </a:cxn>
                    <a:cxn ang="0">
                      <a:pos x="89" y="954"/>
                    </a:cxn>
                    <a:cxn ang="0">
                      <a:pos x="77" y="1001"/>
                    </a:cxn>
                    <a:cxn ang="0">
                      <a:pos x="155" y="1027"/>
                    </a:cxn>
                    <a:cxn ang="0">
                      <a:pos x="221" y="1057"/>
                    </a:cxn>
                    <a:cxn ang="0">
                      <a:pos x="310" y="1121"/>
                    </a:cxn>
                    <a:cxn ang="0">
                      <a:pos x="320" y="1146"/>
                    </a:cxn>
                    <a:cxn ang="0">
                      <a:pos x="312" y="1194"/>
                    </a:cxn>
                    <a:cxn ang="0">
                      <a:pos x="268" y="1232"/>
                    </a:cxn>
                    <a:cxn ang="0">
                      <a:pos x="251" y="1211"/>
                    </a:cxn>
                    <a:cxn ang="0">
                      <a:pos x="236" y="1159"/>
                    </a:cxn>
                    <a:cxn ang="0">
                      <a:pos x="194" y="1117"/>
                    </a:cxn>
                    <a:cxn ang="0">
                      <a:pos x="121" y="1069"/>
                    </a:cxn>
                    <a:cxn ang="0">
                      <a:pos x="74" y="1057"/>
                    </a:cxn>
                    <a:cxn ang="0">
                      <a:pos x="18" y="1057"/>
                    </a:cxn>
                    <a:cxn ang="0">
                      <a:pos x="18" y="1018"/>
                    </a:cxn>
                    <a:cxn ang="0">
                      <a:pos x="45" y="975"/>
                    </a:cxn>
                    <a:cxn ang="0">
                      <a:pos x="69" y="838"/>
                    </a:cxn>
                    <a:cxn ang="0">
                      <a:pos x="77" y="693"/>
                    </a:cxn>
                    <a:cxn ang="0">
                      <a:pos x="74" y="565"/>
                    </a:cxn>
                    <a:cxn ang="0">
                      <a:pos x="69" y="402"/>
                    </a:cxn>
                    <a:cxn ang="0">
                      <a:pos x="54" y="261"/>
                    </a:cxn>
                    <a:cxn ang="0">
                      <a:pos x="23" y="158"/>
                    </a:cxn>
                    <a:cxn ang="0">
                      <a:pos x="0" y="64"/>
                    </a:cxn>
                    <a:cxn ang="0">
                      <a:pos x="8" y="30"/>
                    </a:cxn>
                    <a:cxn ang="0">
                      <a:pos x="32" y="0"/>
                    </a:cxn>
                  </a:cxnLst>
                  <a:rect l="0" t="0" r="r" b="b"/>
                  <a:pathLst>
                    <a:path w="320" h="1232">
                      <a:moveTo>
                        <a:pt x="32" y="0"/>
                      </a:moveTo>
                      <a:lnTo>
                        <a:pt x="69" y="51"/>
                      </a:lnTo>
                      <a:lnTo>
                        <a:pt x="84" y="103"/>
                      </a:lnTo>
                      <a:lnTo>
                        <a:pt x="99" y="282"/>
                      </a:lnTo>
                      <a:lnTo>
                        <a:pt x="106" y="402"/>
                      </a:lnTo>
                      <a:lnTo>
                        <a:pt x="106" y="607"/>
                      </a:lnTo>
                      <a:lnTo>
                        <a:pt x="104" y="800"/>
                      </a:lnTo>
                      <a:lnTo>
                        <a:pt x="89" y="954"/>
                      </a:lnTo>
                      <a:lnTo>
                        <a:pt x="77" y="1001"/>
                      </a:lnTo>
                      <a:lnTo>
                        <a:pt x="155" y="1027"/>
                      </a:lnTo>
                      <a:lnTo>
                        <a:pt x="221" y="1057"/>
                      </a:lnTo>
                      <a:lnTo>
                        <a:pt x="310" y="1121"/>
                      </a:lnTo>
                      <a:lnTo>
                        <a:pt x="320" y="1146"/>
                      </a:lnTo>
                      <a:lnTo>
                        <a:pt x="312" y="1194"/>
                      </a:lnTo>
                      <a:lnTo>
                        <a:pt x="268" y="1232"/>
                      </a:lnTo>
                      <a:lnTo>
                        <a:pt x="251" y="1211"/>
                      </a:lnTo>
                      <a:lnTo>
                        <a:pt x="236" y="1159"/>
                      </a:lnTo>
                      <a:lnTo>
                        <a:pt x="194" y="1117"/>
                      </a:lnTo>
                      <a:lnTo>
                        <a:pt x="121" y="1069"/>
                      </a:lnTo>
                      <a:lnTo>
                        <a:pt x="74" y="1057"/>
                      </a:lnTo>
                      <a:lnTo>
                        <a:pt x="18" y="1057"/>
                      </a:lnTo>
                      <a:lnTo>
                        <a:pt x="18" y="1018"/>
                      </a:lnTo>
                      <a:lnTo>
                        <a:pt x="45" y="975"/>
                      </a:lnTo>
                      <a:lnTo>
                        <a:pt x="69" y="838"/>
                      </a:lnTo>
                      <a:lnTo>
                        <a:pt x="77" y="693"/>
                      </a:lnTo>
                      <a:lnTo>
                        <a:pt x="74" y="565"/>
                      </a:lnTo>
                      <a:lnTo>
                        <a:pt x="69" y="402"/>
                      </a:lnTo>
                      <a:lnTo>
                        <a:pt x="54" y="261"/>
                      </a:lnTo>
                      <a:lnTo>
                        <a:pt x="23" y="158"/>
                      </a:lnTo>
                      <a:lnTo>
                        <a:pt x="0" y="64"/>
                      </a:lnTo>
                      <a:lnTo>
                        <a:pt x="8" y="30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" name="Freeform 12"/>
                <p:cNvSpPr>
                  <a:spLocks/>
                </p:cNvSpPr>
                <p:nvPr/>
              </p:nvSpPr>
              <p:spPr bwMode="auto">
                <a:xfrm>
                  <a:off x="5136" y="2302"/>
                  <a:ext cx="294" cy="1111"/>
                </a:xfrm>
                <a:custGeom>
                  <a:avLst/>
                  <a:gdLst/>
                  <a:ahLst/>
                  <a:cxnLst>
                    <a:cxn ang="0">
                      <a:pos x="0" y="88"/>
                    </a:cxn>
                    <a:cxn ang="0">
                      <a:pos x="0" y="17"/>
                    </a:cxn>
                    <a:cxn ang="0">
                      <a:pos x="30" y="0"/>
                    </a:cxn>
                    <a:cxn ang="0">
                      <a:pos x="77" y="0"/>
                    </a:cxn>
                    <a:cxn ang="0">
                      <a:pos x="111" y="41"/>
                    </a:cxn>
                    <a:cxn ang="0">
                      <a:pos x="118" y="78"/>
                    </a:cxn>
                    <a:cxn ang="0">
                      <a:pos x="111" y="159"/>
                    </a:cxn>
                    <a:cxn ang="0">
                      <a:pos x="88" y="260"/>
                    </a:cxn>
                    <a:cxn ang="0">
                      <a:pos x="77" y="416"/>
                    </a:cxn>
                    <a:cxn ang="0">
                      <a:pos x="71" y="517"/>
                    </a:cxn>
                    <a:cxn ang="0">
                      <a:pos x="71" y="534"/>
                    </a:cxn>
                    <a:cxn ang="0">
                      <a:pos x="81" y="676"/>
                    </a:cxn>
                    <a:cxn ang="0">
                      <a:pos x="98" y="757"/>
                    </a:cxn>
                    <a:cxn ang="0">
                      <a:pos x="111" y="821"/>
                    </a:cxn>
                    <a:cxn ang="0">
                      <a:pos x="108" y="848"/>
                    </a:cxn>
                    <a:cxn ang="0">
                      <a:pos x="152" y="922"/>
                    </a:cxn>
                    <a:cxn ang="0">
                      <a:pos x="199" y="969"/>
                    </a:cxn>
                    <a:cxn ang="0">
                      <a:pos x="250" y="1013"/>
                    </a:cxn>
                    <a:cxn ang="0">
                      <a:pos x="294" y="1034"/>
                    </a:cxn>
                    <a:cxn ang="0">
                      <a:pos x="294" y="1071"/>
                    </a:cxn>
                    <a:cxn ang="0">
                      <a:pos x="270" y="1101"/>
                    </a:cxn>
                    <a:cxn ang="0">
                      <a:pos x="213" y="1111"/>
                    </a:cxn>
                    <a:cxn ang="0">
                      <a:pos x="172" y="1091"/>
                    </a:cxn>
                    <a:cxn ang="0">
                      <a:pos x="172" y="1064"/>
                    </a:cxn>
                    <a:cxn ang="0">
                      <a:pos x="138" y="969"/>
                    </a:cxn>
                    <a:cxn ang="0">
                      <a:pos x="81" y="919"/>
                    </a:cxn>
                    <a:cxn ang="0">
                      <a:pos x="40" y="868"/>
                    </a:cxn>
                    <a:cxn ang="0">
                      <a:pos x="10" y="841"/>
                    </a:cxn>
                    <a:cxn ang="0">
                      <a:pos x="20" y="807"/>
                    </a:cxn>
                    <a:cxn ang="0">
                      <a:pos x="37" y="716"/>
                    </a:cxn>
                    <a:cxn ang="0">
                      <a:pos x="37" y="544"/>
                    </a:cxn>
                    <a:cxn ang="0">
                      <a:pos x="30" y="422"/>
                    </a:cxn>
                    <a:cxn ang="0">
                      <a:pos x="30" y="301"/>
                    </a:cxn>
                    <a:cxn ang="0">
                      <a:pos x="27" y="169"/>
                    </a:cxn>
                    <a:cxn ang="0">
                      <a:pos x="0" y="88"/>
                    </a:cxn>
                  </a:cxnLst>
                  <a:rect l="0" t="0" r="r" b="b"/>
                  <a:pathLst>
                    <a:path w="294" h="1111">
                      <a:moveTo>
                        <a:pt x="0" y="88"/>
                      </a:moveTo>
                      <a:lnTo>
                        <a:pt x="0" y="17"/>
                      </a:lnTo>
                      <a:lnTo>
                        <a:pt x="30" y="0"/>
                      </a:lnTo>
                      <a:lnTo>
                        <a:pt x="77" y="0"/>
                      </a:lnTo>
                      <a:lnTo>
                        <a:pt x="111" y="41"/>
                      </a:lnTo>
                      <a:lnTo>
                        <a:pt x="118" y="78"/>
                      </a:lnTo>
                      <a:lnTo>
                        <a:pt x="111" y="159"/>
                      </a:lnTo>
                      <a:lnTo>
                        <a:pt x="88" y="260"/>
                      </a:lnTo>
                      <a:lnTo>
                        <a:pt x="77" y="416"/>
                      </a:lnTo>
                      <a:lnTo>
                        <a:pt x="71" y="517"/>
                      </a:lnTo>
                      <a:lnTo>
                        <a:pt x="71" y="534"/>
                      </a:lnTo>
                      <a:lnTo>
                        <a:pt x="81" y="676"/>
                      </a:lnTo>
                      <a:lnTo>
                        <a:pt x="98" y="757"/>
                      </a:lnTo>
                      <a:lnTo>
                        <a:pt x="111" y="821"/>
                      </a:lnTo>
                      <a:lnTo>
                        <a:pt x="108" y="848"/>
                      </a:lnTo>
                      <a:lnTo>
                        <a:pt x="152" y="922"/>
                      </a:lnTo>
                      <a:lnTo>
                        <a:pt x="199" y="969"/>
                      </a:lnTo>
                      <a:lnTo>
                        <a:pt x="250" y="1013"/>
                      </a:lnTo>
                      <a:lnTo>
                        <a:pt x="294" y="1034"/>
                      </a:lnTo>
                      <a:lnTo>
                        <a:pt x="294" y="1071"/>
                      </a:lnTo>
                      <a:lnTo>
                        <a:pt x="270" y="1101"/>
                      </a:lnTo>
                      <a:lnTo>
                        <a:pt x="213" y="1111"/>
                      </a:lnTo>
                      <a:lnTo>
                        <a:pt x="172" y="1091"/>
                      </a:lnTo>
                      <a:lnTo>
                        <a:pt x="172" y="1064"/>
                      </a:lnTo>
                      <a:lnTo>
                        <a:pt x="138" y="969"/>
                      </a:lnTo>
                      <a:lnTo>
                        <a:pt x="81" y="919"/>
                      </a:lnTo>
                      <a:lnTo>
                        <a:pt x="40" y="868"/>
                      </a:lnTo>
                      <a:lnTo>
                        <a:pt x="10" y="841"/>
                      </a:lnTo>
                      <a:lnTo>
                        <a:pt x="20" y="807"/>
                      </a:lnTo>
                      <a:lnTo>
                        <a:pt x="37" y="716"/>
                      </a:lnTo>
                      <a:lnTo>
                        <a:pt x="37" y="544"/>
                      </a:lnTo>
                      <a:lnTo>
                        <a:pt x="30" y="422"/>
                      </a:lnTo>
                      <a:lnTo>
                        <a:pt x="30" y="301"/>
                      </a:lnTo>
                      <a:lnTo>
                        <a:pt x="27" y="169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42" name="Group 41"/>
            <p:cNvGrpSpPr/>
            <p:nvPr/>
          </p:nvGrpSpPr>
          <p:grpSpPr>
            <a:xfrm>
              <a:off x="7924800" y="4114801"/>
              <a:ext cx="523875" cy="381000"/>
              <a:chOff x="2514601" y="3515698"/>
              <a:chExt cx="533400" cy="387927"/>
            </a:xfrm>
          </p:grpSpPr>
          <p:pic>
            <p:nvPicPr>
              <p:cNvPr id="40" name="Picture 3" descr="C:\Users\agember\AppData\Local\Microsoft\Windows\Temporary Internet Files\Content.IE5\XXIPWUPS\MC900441733[1].png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 l="25000" r="25000"/>
              <a:stretch>
                <a:fillRect/>
              </a:stretch>
            </p:blipFill>
            <p:spPr bwMode="auto">
              <a:xfrm rot="2700000">
                <a:off x="2611583" y="3467207"/>
                <a:ext cx="339436" cy="533400"/>
              </a:xfrm>
              <a:prstGeom prst="rect">
                <a:avLst/>
              </a:prstGeom>
              <a:noFill/>
            </p:spPr>
          </p:pic>
          <p:pic>
            <p:nvPicPr>
              <p:cNvPr id="41" name="Picture 40" descr="iphone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611583" y="3515698"/>
                <a:ext cx="302924" cy="339436"/>
              </a:xfrm>
              <a:prstGeom prst="rect">
                <a:avLst/>
              </a:prstGeom>
            </p:spPr>
          </p:pic>
        </p:grpSp>
        <p:pic>
          <p:nvPicPr>
            <p:cNvPr id="43" name="Picture 2" descr="C:\Users\agember\AppData\Local\Microsoft\Windows\Temporary Internet Files\Content.IE5\02TZN55D\MC900439428[1].jpg"/>
            <p:cNvPicPr>
              <a:picLocks noChangeAspect="1" noChangeArrowheads="1"/>
            </p:cNvPicPr>
            <p:nvPr/>
          </p:nvPicPr>
          <p:blipFill>
            <a:blip r:embed="rId10" cstate="print"/>
            <a:srcRect b="7143"/>
            <a:stretch>
              <a:fillRect/>
            </a:stretch>
          </p:blipFill>
          <p:spPr bwMode="auto">
            <a:xfrm>
              <a:off x="8305800" y="4038600"/>
              <a:ext cx="574431" cy="533400"/>
            </a:xfrm>
            <a:prstGeom prst="rect">
              <a:avLst/>
            </a:prstGeom>
            <a:noFill/>
          </p:spPr>
        </p:pic>
      </p:grpSp>
      <p:grpSp>
        <p:nvGrpSpPr>
          <p:cNvPr id="48" name="Group 47"/>
          <p:cNvGrpSpPr/>
          <p:nvPr/>
        </p:nvGrpSpPr>
        <p:grpSpPr>
          <a:xfrm>
            <a:off x="6857999" y="4876800"/>
            <a:ext cx="1600201" cy="1143000"/>
            <a:chOff x="6857999" y="4876800"/>
            <a:chExt cx="1600201" cy="1143000"/>
          </a:xfrm>
        </p:grpSpPr>
        <p:grpSp>
          <p:nvGrpSpPr>
            <p:cNvPr id="39" name="Group 38"/>
            <p:cNvGrpSpPr/>
            <p:nvPr/>
          </p:nvGrpSpPr>
          <p:grpSpPr>
            <a:xfrm>
              <a:off x="6857999" y="4876800"/>
              <a:ext cx="768597" cy="762000"/>
              <a:chOff x="5410200" y="5334000"/>
              <a:chExt cx="845457" cy="838200"/>
            </a:xfrm>
          </p:grpSpPr>
          <p:pic>
            <p:nvPicPr>
              <p:cNvPr id="37" name="Picture 36" descr="globe3.png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5410200" y="5334000"/>
                <a:ext cx="698500" cy="698500"/>
              </a:xfrm>
              <a:prstGeom prst="rect">
                <a:avLst/>
              </a:prstGeom>
            </p:spPr>
          </p:pic>
          <p:pic>
            <p:nvPicPr>
              <p:cNvPr id="38" name="Picture 5" descr="C:\Users\agember\AppData\Local\Microsoft\Windows\Temporary Internet Files\Content.IE5\5EW569SU\MC900434828[1].png"/>
              <p:cNvPicPr>
                <a:picLocks noChangeAspect="1" noChangeArrowheads="1"/>
              </p:cNvPicPr>
              <p:nvPr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5689600" y="5613400"/>
                <a:ext cx="566057" cy="558800"/>
              </a:xfrm>
              <a:prstGeom prst="rect">
                <a:avLst/>
              </a:prstGeom>
              <a:noFill/>
            </p:spPr>
          </p:pic>
        </p:grpSp>
        <p:pic>
          <p:nvPicPr>
            <p:cNvPr id="45" name="Picture 44" descr="youtube_logo.png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72400" y="5334000"/>
              <a:ext cx="685800" cy="6858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50" name="Rectangle 49"/>
          <p:cNvSpPr/>
          <p:nvPr/>
        </p:nvSpPr>
        <p:spPr>
          <a:xfrm>
            <a:off x="0" y="4724400"/>
            <a:ext cx="9144000" cy="14478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5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Active vs. Idle Devices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781800" y="1340427"/>
            <a:ext cx="1600200" cy="1555173"/>
            <a:chOff x="6781800" y="1340427"/>
            <a:chExt cx="1600200" cy="1555173"/>
          </a:xfrm>
        </p:grpSpPr>
        <p:grpSp>
          <p:nvGrpSpPr>
            <p:cNvPr id="6" name="Group 74"/>
            <p:cNvGrpSpPr/>
            <p:nvPr/>
          </p:nvGrpSpPr>
          <p:grpSpPr>
            <a:xfrm>
              <a:off x="6781800" y="1340427"/>
              <a:ext cx="1291019" cy="914400"/>
              <a:chOff x="6337886" y="4114800"/>
              <a:chExt cx="2044114" cy="1447800"/>
            </a:xfrm>
          </p:grpSpPr>
          <p:pic>
            <p:nvPicPr>
              <p:cNvPr id="10" name="Picture 9" descr="person_headphones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934200" y="4114800"/>
                <a:ext cx="1447800" cy="1447800"/>
              </a:xfrm>
              <a:prstGeom prst="rect">
                <a:avLst/>
              </a:prstGeom>
            </p:spPr>
          </p:pic>
          <p:pic>
            <p:nvPicPr>
              <p:cNvPr id="11" name="Picture 10" descr="iphone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781800" y="4724400"/>
                <a:ext cx="680032" cy="762000"/>
              </a:xfrm>
              <a:prstGeom prst="rect">
                <a:avLst/>
              </a:prstGeom>
            </p:spPr>
          </p:pic>
          <p:pic>
            <p:nvPicPr>
              <p:cNvPr id="12" name="Picture 11" descr="wifi_signal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 rot="18598594">
                <a:off x="6289082" y="4362730"/>
                <a:ext cx="754833" cy="657225"/>
              </a:xfrm>
              <a:prstGeom prst="rect">
                <a:avLst/>
              </a:prstGeom>
            </p:spPr>
          </p:pic>
        </p:grpSp>
        <p:grpSp>
          <p:nvGrpSpPr>
            <p:cNvPr id="7" name="Group 19"/>
            <p:cNvGrpSpPr/>
            <p:nvPr/>
          </p:nvGrpSpPr>
          <p:grpSpPr>
            <a:xfrm>
              <a:off x="7772400" y="2102427"/>
              <a:ext cx="609600" cy="793173"/>
              <a:chOff x="3886200" y="3528147"/>
              <a:chExt cx="368171" cy="479040"/>
            </a:xfrm>
          </p:grpSpPr>
          <p:pic>
            <p:nvPicPr>
              <p:cNvPr id="8" name="Picture 7" descr="iphone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flipH="1">
                <a:off x="3969875" y="3528147"/>
                <a:ext cx="261360" cy="292863"/>
              </a:xfrm>
              <a:prstGeom prst="rect">
                <a:avLst/>
              </a:prstGeom>
            </p:spPr>
          </p:pic>
          <p:pic>
            <p:nvPicPr>
              <p:cNvPr id="9" name="Picture 8" descr="pocket.jpg"/>
              <p:cNvPicPr>
                <a:picLocks noChangeAspect="1"/>
              </p:cNvPicPr>
              <p:nvPr/>
            </p:nvPicPr>
            <p:blipFill>
              <a:blip r:embed="rId6" cstate="print"/>
              <a:srcRect l="15539" t="25033" r="15538" b="15538"/>
              <a:stretch>
                <a:fillRect/>
              </a:stretch>
            </p:blipFill>
            <p:spPr>
              <a:xfrm>
                <a:off x="3886200" y="3689733"/>
                <a:ext cx="368171" cy="317454"/>
              </a:xfrm>
              <a:prstGeom prst="rect">
                <a:avLst/>
              </a:prstGeom>
            </p:spPr>
          </p:pic>
        </p:grpSp>
      </p:grpSp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457200" y="3429000"/>
            <a:ext cx="8229600" cy="2697163"/>
          </a:xfrm>
        </p:spPr>
        <p:txBody>
          <a:bodyPr>
            <a:normAutofit/>
          </a:bodyPr>
          <a:lstStyle/>
          <a:p>
            <a:r>
              <a:rPr lang="en-US" dirty="0" smtClean="0"/>
              <a:t>Flow records from 20,000 subscribers</a:t>
            </a:r>
          </a:p>
          <a:p>
            <a:pPr lvl="1"/>
            <a:r>
              <a:rPr lang="en-US" dirty="0" smtClean="0"/>
              <a:t>TCP keep-</a:t>
            </a:r>
            <a:r>
              <a:rPr lang="en-US" dirty="0" err="1" smtClean="0"/>
              <a:t>alives</a:t>
            </a:r>
            <a:r>
              <a:rPr lang="en-US" dirty="0" smtClean="0"/>
              <a:t> for specific service</a:t>
            </a:r>
          </a:p>
          <a:p>
            <a:pPr lvl="1"/>
            <a:r>
              <a:rPr lang="en-US" dirty="0" smtClean="0"/>
              <a:t>Active range: time between start and </a:t>
            </a:r>
            <a:br>
              <a:rPr lang="en-US" dirty="0" smtClean="0"/>
            </a:br>
            <a:r>
              <a:rPr lang="en-US" dirty="0" smtClean="0"/>
              <a:t>end of non-background flows</a:t>
            </a:r>
          </a:p>
          <a:p>
            <a:pPr lvl="1"/>
            <a:r>
              <a:rPr lang="en-US" dirty="0" smtClean="0"/>
              <a:t>Idle: &gt; 30 minutes since last active range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1600201"/>
            <a:ext cx="82296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63550" marR="0" lvl="0" indent="-4635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800" b="0" i="1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How does performance differ between </a:t>
            </a:r>
            <a:br>
              <a:rPr kumimoji="0" lang="en-US" sz="2800" b="0" i="1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800" b="0" i="1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the times users actually use their devices </a:t>
            </a:r>
            <a:br>
              <a:rPr kumimoji="0" lang="en-US" sz="2800" b="0" i="1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800" b="0" i="1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versus times the devices are unused?</a:t>
            </a:r>
          </a:p>
        </p:txBody>
      </p:sp>
      <p:pic>
        <p:nvPicPr>
          <p:cNvPr id="15" name="Picture 14" descr="cell_tower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162800" y="3657600"/>
            <a:ext cx="1524000" cy="203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4724400" y="1905000"/>
            <a:ext cx="3977410" cy="3048001"/>
            <a:chOff x="4709390" y="1904820"/>
            <a:chExt cx="3977410" cy="3048001"/>
          </a:xfrm>
        </p:grpSpPr>
        <p:pic>
          <p:nvPicPr>
            <p:cNvPr id="6" name="Picture 5" descr="largescale-time-loss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5400000">
              <a:off x="5174094" y="1440116"/>
              <a:ext cx="3048001" cy="39774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7391400" y="3810000"/>
              <a:ext cx="1143000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Arial" pitchFamily="34" charset="0"/>
                  <a:cs typeface="Arial" pitchFamily="34" charset="0"/>
                </a:rPr>
                <a:t>active</a:t>
              </a:r>
            </a:p>
            <a:p>
              <a:r>
                <a:rPr lang="en-US" sz="1600" dirty="0" smtClean="0">
                  <a:latin typeface="Arial" pitchFamily="34" charset="0"/>
                  <a:cs typeface="Arial" pitchFamily="34" charset="0"/>
                </a:rPr>
                <a:t>idle</a:t>
              </a:r>
              <a:endParaRPr lang="en-US" sz="16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57201" y="1904822"/>
            <a:ext cx="3977640" cy="3048177"/>
            <a:chOff x="457201" y="1904822"/>
            <a:chExt cx="3977640" cy="3048177"/>
          </a:xfrm>
        </p:grpSpPr>
        <p:pic>
          <p:nvPicPr>
            <p:cNvPr id="5" name="Picture 4" descr="largescale-time-rtt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921932" y="1440091"/>
              <a:ext cx="3048177" cy="397764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3124200" y="3810000"/>
              <a:ext cx="1143000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Arial" pitchFamily="34" charset="0"/>
                  <a:cs typeface="Arial" pitchFamily="34" charset="0"/>
                </a:rPr>
                <a:t>active</a:t>
              </a:r>
            </a:p>
            <a:p>
              <a:r>
                <a:rPr lang="en-US" sz="1600" dirty="0" smtClean="0">
                  <a:latin typeface="Arial" pitchFamily="34" charset="0"/>
                  <a:cs typeface="Arial" pitchFamily="34" charset="0"/>
                </a:rPr>
                <a:t>idle</a:t>
              </a:r>
              <a:endParaRPr lang="en-US" sz="16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Active vs. Idle Devices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>
          <a:xfrm>
            <a:off x="1227814" y="3037220"/>
            <a:ext cx="3172570" cy="962108"/>
          </a:xfrm>
          <a:custGeom>
            <a:avLst/>
            <a:gdLst>
              <a:gd name="connsiteX0" fmla="*/ 0 w 3172570"/>
              <a:gd name="connsiteY0" fmla="*/ 914400 h 962108"/>
              <a:gd name="connsiteX1" fmla="*/ 127221 w 3172570"/>
              <a:gd name="connsiteY1" fmla="*/ 962108 h 962108"/>
              <a:gd name="connsiteX2" fmla="*/ 278296 w 3172570"/>
              <a:gd name="connsiteY2" fmla="*/ 946205 h 962108"/>
              <a:gd name="connsiteX3" fmla="*/ 421419 w 3172570"/>
              <a:gd name="connsiteY3" fmla="*/ 882595 h 962108"/>
              <a:gd name="connsiteX4" fmla="*/ 540689 w 3172570"/>
              <a:gd name="connsiteY4" fmla="*/ 890546 h 962108"/>
              <a:gd name="connsiteX5" fmla="*/ 683812 w 3172570"/>
              <a:gd name="connsiteY5" fmla="*/ 795131 h 962108"/>
              <a:gd name="connsiteX6" fmla="*/ 826936 w 3172570"/>
              <a:gd name="connsiteY6" fmla="*/ 811033 h 962108"/>
              <a:gd name="connsiteX7" fmla="*/ 962108 w 3172570"/>
              <a:gd name="connsiteY7" fmla="*/ 628153 h 962108"/>
              <a:gd name="connsiteX8" fmla="*/ 1105231 w 3172570"/>
              <a:gd name="connsiteY8" fmla="*/ 389614 h 962108"/>
              <a:gd name="connsiteX9" fmla="*/ 1240403 w 3172570"/>
              <a:gd name="connsiteY9" fmla="*/ 246491 h 962108"/>
              <a:gd name="connsiteX10" fmla="*/ 1375576 w 3172570"/>
              <a:gd name="connsiteY10" fmla="*/ 111319 h 962108"/>
              <a:gd name="connsiteX11" fmla="*/ 1518699 w 3172570"/>
              <a:gd name="connsiteY11" fmla="*/ 7952 h 962108"/>
              <a:gd name="connsiteX12" fmla="*/ 1653871 w 3172570"/>
              <a:gd name="connsiteY12" fmla="*/ 302150 h 962108"/>
              <a:gd name="connsiteX13" fmla="*/ 1789043 w 3172570"/>
              <a:gd name="connsiteY13" fmla="*/ 373712 h 962108"/>
              <a:gd name="connsiteX14" fmla="*/ 1932167 w 3172570"/>
              <a:gd name="connsiteY14" fmla="*/ 357809 h 962108"/>
              <a:gd name="connsiteX15" fmla="*/ 2075290 w 3172570"/>
              <a:gd name="connsiteY15" fmla="*/ 294199 h 962108"/>
              <a:gd name="connsiteX16" fmla="*/ 2218414 w 3172570"/>
              <a:gd name="connsiteY16" fmla="*/ 341906 h 962108"/>
              <a:gd name="connsiteX17" fmla="*/ 2345635 w 3172570"/>
              <a:gd name="connsiteY17" fmla="*/ 0 h 962108"/>
              <a:gd name="connsiteX18" fmla="*/ 2480807 w 3172570"/>
              <a:gd name="connsiteY18" fmla="*/ 198783 h 962108"/>
              <a:gd name="connsiteX19" fmla="*/ 2623930 w 3172570"/>
              <a:gd name="connsiteY19" fmla="*/ 477079 h 962108"/>
              <a:gd name="connsiteX20" fmla="*/ 2767054 w 3172570"/>
              <a:gd name="connsiteY20" fmla="*/ 477079 h 962108"/>
              <a:gd name="connsiteX21" fmla="*/ 2902226 w 3172570"/>
              <a:gd name="connsiteY21" fmla="*/ 612251 h 962108"/>
              <a:gd name="connsiteX22" fmla="*/ 3037398 w 3172570"/>
              <a:gd name="connsiteY22" fmla="*/ 469127 h 962108"/>
              <a:gd name="connsiteX23" fmla="*/ 3172570 w 3172570"/>
              <a:gd name="connsiteY23" fmla="*/ 437322 h 962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172570" h="962108">
                <a:moveTo>
                  <a:pt x="0" y="914400"/>
                </a:moveTo>
                <a:lnTo>
                  <a:pt x="127221" y="962108"/>
                </a:lnTo>
                <a:lnTo>
                  <a:pt x="278296" y="946205"/>
                </a:lnTo>
                <a:lnTo>
                  <a:pt x="421419" y="882595"/>
                </a:lnTo>
                <a:lnTo>
                  <a:pt x="540689" y="890546"/>
                </a:lnTo>
                <a:lnTo>
                  <a:pt x="683812" y="795131"/>
                </a:lnTo>
                <a:lnTo>
                  <a:pt x="826936" y="811033"/>
                </a:lnTo>
                <a:lnTo>
                  <a:pt x="962108" y="628153"/>
                </a:lnTo>
                <a:lnTo>
                  <a:pt x="1105231" y="389614"/>
                </a:lnTo>
                <a:lnTo>
                  <a:pt x="1240403" y="246491"/>
                </a:lnTo>
                <a:lnTo>
                  <a:pt x="1375576" y="111319"/>
                </a:lnTo>
                <a:lnTo>
                  <a:pt x="1518699" y="7952"/>
                </a:lnTo>
                <a:lnTo>
                  <a:pt x="1653871" y="302150"/>
                </a:lnTo>
                <a:lnTo>
                  <a:pt x="1789043" y="373712"/>
                </a:lnTo>
                <a:lnTo>
                  <a:pt x="1932167" y="357809"/>
                </a:lnTo>
                <a:lnTo>
                  <a:pt x="2075290" y="294199"/>
                </a:lnTo>
                <a:lnTo>
                  <a:pt x="2218414" y="341906"/>
                </a:lnTo>
                <a:lnTo>
                  <a:pt x="2345635" y="0"/>
                </a:lnTo>
                <a:lnTo>
                  <a:pt x="2480807" y="198783"/>
                </a:lnTo>
                <a:lnTo>
                  <a:pt x="2623930" y="477079"/>
                </a:lnTo>
                <a:lnTo>
                  <a:pt x="2767054" y="477079"/>
                </a:lnTo>
                <a:lnTo>
                  <a:pt x="2902226" y="612251"/>
                </a:lnTo>
                <a:lnTo>
                  <a:pt x="3037398" y="469127"/>
                </a:lnTo>
                <a:lnTo>
                  <a:pt x="3172570" y="437322"/>
                </a:lnTo>
              </a:path>
            </a:pathLst>
          </a:cu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5465859" y="2615801"/>
            <a:ext cx="3188473" cy="1311965"/>
          </a:xfrm>
          <a:custGeom>
            <a:avLst/>
            <a:gdLst>
              <a:gd name="connsiteX0" fmla="*/ 0 w 3188473"/>
              <a:gd name="connsiteY0" fmla="*/ 628153 h 1311965"/>
              <a:gd name="connsiteX1" fmla="*/ 151075 w 3188473"/>
              <a:gd name="connsiteY1" fmla="*/ 993913 h 1311965"/>
              <a:gd name="connsiteX2" fmla="*/ 294198 w 3188473"/>
              <a:gd name="connsiteY2" fmla="*/ 1168842 h 1311965"/>
              <a:gd name="connsiteX3" fmla="*/ 429371 w 3188473"/>
              <a:gd name="connsiteY3" fmla="*/ 1311965 h 1311965"/>
              <a:gd name="connsiteX4" fmla="*/ 564543 w 3188473"/>
              <a:gd name="connsiteY4" fmla="*/ 1272209 h 1311965"/>
              <a:gd name="connsiteX5" fmla="*/ 699715 w 3188473"/>
              <a:gd name="connsiteY5" fmla="*/ 1296063 h 1311965"/>
              <a:gd name="connsiteX6" fmla="*/ 842838 w 3188473"/>
              <a:gd name="connsiteY6" fmla="*/ 1025718 h 1311965"/>
              <a:gd name="connsiteX7" fmla="*/ 978011 w 3188473"/>
              <a:gd name="connsiteY7" fmla="*/ 707666 h 1311965"/>
              <a:gd name="connsiteX8" fmla="*/ 1121134 w 3188473"/>
              <a:gd name="connsiteY8" fmla="*/ 405517 h 1311965"/>
              <a:gd name="connsiteX9" fmla="*/ 1256306 w 3188473"/>
              <a:gd name="connsiteY9" fmla="*/ 310101 h 1311965"/>
              <a:gd name="connsiteX10" fmla="*/ 1399430 w 3188473"/>
              <a:gd name="connsiteY10" fmla="*/ 270344 h 1311965"/>
              <a:gd name="connsiteX11" fmla="*/ 1542553 w 3188473"/>
              <a:gd name="connsiteY11" fmla="*/ 166978 h 1311965"/>
              <a:gd name="connsiteX12" fmla="*/ 1669774 w 3188473"/>
              <a:gd name="connsiteY12" fmla="*/ 182880 h 1311965"/>
              <a:gd name="connsiteX13" fmla="*/ 1812898 w 3188473"/>
              <a:gd name="connsiteY13" fmla="*/ 206734 h 1311965"/>
              <a:gd name="connsiteX14" fmla="*/ 1948070 w 3188473"/>
              <a:gd name="connsiteY14" fmla="*/ 198783 h 1311965"/>
              <a:gd name="connsiteX15" fmla="*/ 2091193 w 3188473"/>
              <a:gd name="connsiteY15" fmla="*/ 318052 h 1311965"/>
              <a:gd name="connsiteX16" fmla="*/ 2234317 w 3188473"/>
              <a:gd name="connsiteY16" fmla="*/ 206734 h 1311965"/>
              <a:gd name="connsiteX17" fmla="*/ 2361538 w 3188473"/>
              <a:gd name="connsiteY17" fmla="*/ 47708 h 1311965"/>
              <a:gd name="connsiteX18" fmla="*/ 2512612 w 3188473"/>
              <a:gd name="connsiteY18" fmla="*/ 111318 h 1311965"/>
              <a:gd name="connsiteX19" fmla="*/ 2639833 w 3188473"/>
              <a:gd name="connsiteY19" fmla="*/ 0 h 1311965"/>
              <a:gd name="connsiteX20" fmla="*/ 2775005 w 3188473"/>
              <a:gd name="connsiteY20" fmla="*/ 79513 h 1311965"/>
              <a:gd name="connsiteX21" fmla="*/ 2926080 w 3188473"/>
              <a:gd name="connsiteY21" fmla="*/ 31805 h 1311965"/>
              <a:gd name="connsiteX22" fmla="*/ 3061252 w 3188473"/>
              <a:gd name="connsiteY22" fmla="*/ 182880 h 1311965"/>
              <a:gd name="connsiteX23" fmla="*/ 3188473 w 3188473"/>
              <a:gd name="connsiteY23" fmla="*/ 445273 h 1311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188473" h="1311965">
                <a:moveTo>
                  <a:pt x="0" y="628153"/>
                </a:moveTo>
                <a:lnTo>
                  <a:pt x="151075" y="993913"/>
                </a:lnTo>
                <a:lnTo>
                  <a:pt x="294198" y="1168842"/>
                </a:lnTo>
                <a:lnTo>
                  <a:pt x="429371" y="1311965"/>
                </a:lnTo>
                <a:lnTo>
                  <a:pt x="564543" y="1272209"/>
                </a:lnTo>
                <a:lnTo>
                  <a:pt x="699715" y="1296063"/>
                </a:lnTo>
                <a:lnTo>
                  <a:pt x="842838" y="1025718"/>
                </a:lnTo>
                <a:lnTo>
                  <a:pt x="978011" y="707666"/>
                </a:lnTo>
                <a:lnTo>
                  <a:pt x="1121134" y="405517"/>
                </a:lnTo>
                <a:lnTo>
                  <a:pt x="1256306" y="310101"/>
                </a:lnTo>
                <a:lnTo>
                  <a:pt x="1399430" y="270344"/>
                </a:lnTo>
                <a:lnTo>
                  <a:pt x="1542553" y="166978"/>
                </a:lnTo>
                <a:lnTo>
                  <a:pt x="1669774" y="182880"/>
                </a:lnTo>
                <a:lnTo>
                  <a:pt x="1812898" y="206734"/>
                </a:lnTo>
                <a:lnTo>
                  <a:pt x="1948070" y="198783"/>
                </a:lnTo>
                <a:lnTo>
                  <a:pt x="2091193" y="318052"/>
                </a:lnTo>
                <a:lnTo>
                  <a:pt x="2234317" y="206734"/>
                </a:lnTo>
                <a:lnTo>
                  <a:pt x="2361538" y="47708"/>
                </a:lnTo>
                <a:lnTo>
                  <a:pt x="2512612" y="111318"/>
                </a:lnTo>
                <a:lnTo>
                  <a:pt x="2639833" y="0"/>
                </a:lnTo>
                <a:lnTo>
                  <a:pt x="2775005" y="79513"/>
                </a:lnTo>
                <a:lnTo>
                  <a:pt x="2926080" y="31805"/>
                </a:lnTo>
                <a:lnTo>
                  <a:pt x="3061252" y="182880"/>
                </a:lnTo>
                <a:lnTo>
                  <a:pt x="3188473" y="445273"/>
                </a:lnTo>
              </a:path>
            </a:pathLst>
          </a:cu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19200" y="1447800"/>
            <a:ext cx="1329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 smtClean="0"/>
              <a:t>Latency</a:t>
            </a:r>
            <a:endParaRPr lang="en-US" sz="2800" b="1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5476782" y="1447800"/>
            <a:ext cx="808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 smtClean="0"/>
              <a:t>Loss</a:t>
            </a:r>
            <a:endParaRPr lang="en-US" sz="2800" b="1" i="1" dirty="0"/>
          </a:p>
        </p:txBody>
      </p:sp>
      <p:sp>
        <p:nvSpPr>
          <p:cNvPr id="19" name="TextBox 18"/>
          <p:cNvSpPr txBox="1"/>
          <p:nvPr/>
        </p:nvSpPr>
        <p:spPr>
          <a:xfrm>
            <a:off x="2577268" y="1524000"/>
            <a:ext cx="1828066" cy="95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45720" rIns="45720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16ms lower</a:t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when idle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0" y="2932093"/>
            <a:ext cx="1649811" cy="9541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6% less</a:t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when idle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05400"/>
            <a:ext cx="8229600" cy="10668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Measurements on idle devices </a:t>
            </a:r>
            <a:br>
              <a:rPr lang="en-US" sz="3200" dirty="0" smtClean="0"/>
            </a:br>
            <a:r>
              <a:rPr lang="en-US" sz="3200" dirty="0" smtClean="0"/>
              <a:t>may overestimate performance</a:t>
            </a:r>
            <a:endParaRPr lang="en-US" sz="3200" dirty="0"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36" name="Group 35"/>
          <p:cNvGrpSpPr/>
          <p:nvPr/>
        </p:nvGrpSpPr>
        <p:grpSpPr>
          <a:xfrm>
            <a:off x="2743200" y="3810000"/>
            <a:ext cx="1524000" cy="584775"/>
            <a:chOff x="2743200" y="3810000"/>
            <a:chExt cx="1524000" cy="584775"/>
          </a:xfrm>
        </p:grpSpPr>
        <p:sp>
          <p:nvSpPr>
            <p:cNvPr id="26" name="TextBox 25"/>
            <p:cNvSpPr txBox="1"/>
            <p:nvPr/>
          </p:nvSpPr>
          <p:spPr>
            <a:xfrm>
              <a:off x="3124200" y="3810000"/>
              <a:ext cx="1143000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Arial" pitchFamily="34" charset="0"/>
                  <a:cs typeface="Arial" pitchFamily="34" charset="0"/>
                </a:rPr>
                <a:t>active</a:t>
              </a:r>
            </a:p>
            <a:p>
              <a:r>
                <a:rPr lang="en-US" sz="1600" b="1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idle</a:t>
              </a:r>
              <a:endParaRPr lang="en-US" sz="16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2" name="Straight Connector 31"/>
            <p:cNvCxnSpPr/>
            <p:nvPr/>
          </p:nvCxnSpPr>
          <p:spPr>
            <a:xfrm>
              <a:off x="2743200" y="4242391"/>
              <a:ext cx="3810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7010400" y="3810000"/>
            <a:ext cx="1524000" cy="584775"/>
            <a:chOff x="7086600" y="3886200"/>
            <a:chExt cx="1524000" cy="584775"/>
          </a:xfrm>
        </p:grpSpPr>
        <p:sp>
          <p:nvSpPr>
            <p:cNvPr id="27" name="TextBox 26"/>
            <p:cNvSpPr txBox="1"/>
            <p:nvPr/>
          </p:nvSpPr>
          <p:spPr>
            <a:xfrm>
              <a:off x="7467600" y="3886200"/>
              <a:ext cx="1143000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Arial" pitchFamily="34" charset="0"/>
                  <a:cs typeface="Arial" pitchFamily="34" charset="0"/>
                </a:rPr>
                <a:t>active</a:t>
              </a:r>
            </a:p>
            <a:p>
              <a:r>
                <a:rPr lang="en-US" sz="1600" b="1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idle</a:t>
              </a:r>
              <a:endParaRPr lang="en-US" sz="16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7086600" y="4314700"/>
              <a:ext cx="3810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3" grpId="0"/>
      <p:bldP spid="14" grpId="0"/>
      <p:bldP spid="19" grpId="0" animBg="1"/>
      <p:bldP spid="21" grpId="0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gember\AppData\Local\Microsoft\Windows\Temporary Internet Files\Content.IE5\VFG2E9TS\MC900433842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3200400"/>
            <a:ext cx="1828572" cy="1828572"/>
          </a:xfrm>
          <a:prstGeom prst="rect">
            <a:avLst/>
          </a:prstGeom>
          <a:noFill/>
        </p:spPr>
      </p:pic>
      <p:pic>
        <p:nvPicPr>
          <p:cNvPr id="37" name="Picture 36" descr="google_maps_logo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91200" y="2819400"/>
            <a:ext cx="2514600" cy="2514600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4648201" y="2743022"/>
            <a:ext cx="3977640" cy="3048177"/>
            <a:chOff x="4648201" y="2743022"/>
            <a:chExt cx="3977640" cy="3048177"/>
          </a:xfrm>
        </p:grpSpPr>
        <p:pic>
          <p:nvPicPr>
            <p:cNvPr id="17" name="Picture 16" descr="largescale-time-rssi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5400000">
              <a:off x="5112932" y="2278291"/>
              <a:ext cx="3048177" cy="3977640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7315200" y="4648200"/>
              <a:ext cx="1143000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Arial" pitchFamily="34" charset="0"/>
                  <a:cs typeface="Arial" pitchFamily="34" charset="0"/>
                </a:rPr>
                <a:t>active</a:t>
              </a:r>
            </a:p>
            <a:p>
              <a:r>
                <a:rPr lang="en-US" sz="1600" dirty="0" smtClean="0">
                  <a:latin typeface="Arial" pitchFamily="34" charset="0"/>
                  <a:cs typeface="Arial" pitchFamily="34" charset="0"/>
                </a:rPr>
                <a:t>idle</a:t>
              </a:r>
              <a:endParaRPr lang="en-US" sz="16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causes the performance differences?</a:t>
            </a:r>
          </a:p>
          <a:p>
            <a:pPr lvl="1"/>
            <a:r>
              <a:rPr lang="en-US" dirty="0" smtClean="0"/>
              <a:t>Time of day</a:t>
            </a:r>
          </a:p>
          <a:p>
            <a:pPr lvl="1"/>
            <a:r>
              <a:rPr lang="en-US" dirty="0" smtClean="0"/>
              <a:t>Coarse geo-location</a:t>
            </a:r>
          </a:p>
          <a:p>
            <a:pPr lvl="1"/>
            <a:r>
              <a:rPr lang="en-US" dirty="0" smtClean="0"/>
              <a:t>Signal strength</a:t>
            </a:r>
          </a:p>
          <a:p>
            <a:pPr lvl="1"/>
            <a:r>
              <a:rPr lang="en-US" dirty="0" smtClean="0"/>
              <a:t>Other low-level </a:t>
            </a:r>
            <a:br>
              <a:rPr lang="en-US" dirty="0" smtClean="0"/>
            </a:br>
            <a:r>
              <a:rPr lang="en-US" dirty="0" smtClean="0"/>
              <a:t>factors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Active vs. Idle Devices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410201" y="2286000"/>
            <a:ext cx="24641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 smtClean="0"/>
              <a:t>Signal Strength</a:t>
            </a:r>
            <a:endParaRPr lang="en-US" sz="2800" b="1" i="1" dirty="0"/>
          </a:p>
        </p:txBody>
      </p:sp>
      <p:sp>
        <p:nvSpPr>
          <p:cNvPr id="21" name="TextBox 20"/>
          <p:cNvSpPr txBox="1"/>
          <p:nvPr/>
        </p:nvSpPr>
        <p:spPr>
          <a:xfrm>
            <a:off x="5486400" y="2895600"/>
            <a:ext cx="2331600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No correlation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1295400" y="2438400"/>
            <a:ext cx="175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1295400" y="2961167"/>
            <a:ext cx="2895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1295400" y="3483934"/>
            <a:ext cx="2209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5410201" y="3890513"/>
            <a:ext cx="3200400" cy="560717"/>
          </a:xfrm>
          <a:custGeom>
            <a:avLst/>
            <a:gdLst>
              <a:gd name="connsiteX0" fmla="*/ 0 w 3200400"/>
              <a:gd name="connsiteY0" fmla="*/ 267419 h 560717"/>
              <a:gd name="connsiteX1" fmla="*/ 146649 w 3200400"/>
              <a:gd name="connsiteY1" fmla="*/ 388189 h 560717"/>
              <a:gd name="connsiteX2" fmla="*/ 284672 w 3200400"/>
              <a:gd name="connsiteY2" fmla="*/ 181155 h 560717"/>
              <a:gd name="connsiteX3" fmla="*/ 422694 w 3200400"/>
              <a:gd name="connsiteY3" fmla="*/ 172529 h 560717"/>
              <a:gd name="connsiteX4" fmla="*/ 560717 w 3200400"/>
              <a:gd name="connsiteY4" fmla="*/ 25879 h 560717"/>
              <a:gd name="connsiteX5" fmla="*/ 707366 w 3200400"/>
              <a:gd name="connsiteY5" fmla="*/ 172529 h 560717"/>
              <a:gd name="connsiteX6" fmla="*/ 836762 w 3200400"/>
              <a:gd name="connsiteY6" fmla="*/ 526212 h 560717"/>
              <a:gd name="connsiteX7" fmla="*/ 974785 w 3200400"/>
              <a:gd name="connsiteY7" fmla="*/ 276045 h 560717"/>
              <a:gd name="connsiteX8" fmla="*/ 1112808 w 3200400"/>
              <a:gd name="connsiteY8" fmla="*/ 0 h 560717"/>
              <a:gd name="connsiteX9" fmla="*/ 1250830 w 3200400"/>
              <a:gd name="connsiteY9" fmla="*/ 146649 h 560717"/>
              <a:gd name="connsiteX10" fmla="*/ 1388853 w 3200400"/>
              <a:gd name="connsiteY10" fmla="*/ 77638 h 560717"/>
              <a:gd name="connsiteX11" fmla="*/ 1535502 w 3200400"/>
              <a:gd name="connsiteY11" fmla="*/ 258793 h 560717"/>
              <a:gd name="connsiteX12" fmla="*/ 1673525 w 3200400"/>
              <a:gd name="connsiteY12" fmla="*/ 129396 h 560717"/>
              <a:gd name="connsiteX13" fmla="*/ 1802921 w 3200400"/>
              <a:gd name="connsiteY13" fmla="*/ 172529 h 560717"/>
              <a:gd name="connsiteX14" fmla="*/ 1949570 w 3200400"/>
              <a:gd name="connsiteY14" fmla="*/ 43132 h 560717"/>
              <a:gd name="connsiteX15" fmla="*/ 2078966 w 3200400"/>
              <a:gd name="connsiteY15" fmla="*/ 301925 h 560717"/>
              <a:gd name="connsiteX16" fmla="*/ 2225615 w 3200400"/>
              <a:gd name="connsiteY16" fmla="*/ 232913 h 560717"/>
              <a:gd name="connsiteX17" fmla="*/ 2363638 w 3200400"/>
              <a:gd name="connsiteY17" fmla="*/ 301925 h 560717"/>
              <a:gd name="connsiteX18" fmla="*/ 2493034 w 3200400"/>
              <a:gd name="connsiteY18" fmla="*/ 129396 h 560717"/>
              <a:gd name="connsiteX19" fmla="*/ 2639683 w 3200400"/>
              <a:gd name="connsiteY19" fmla="*/ 560717 h 560717"/>
              <a:gd name="connsiteX20" fmla="*/ 2777706 w 3200400"/>
              <a:gd name="connsiteY20" fmla="*/ 439947 h 560717"/>
              <a:gd name="connsiteX21" fmla="*/ 2915728 w 3200400"/>
              <a:gd name="connsiteY21" fmla="*/ 241540 h 560717"/>
              <a:gd name="connsiteX22" fmla="*/ 3071004 w 3200400"/>
              <a:gd name="connsiteY22" fmla="*/ 60385 h 560717"/>
              <a:gd name="connsiteX23" fmla="*/ 3200400 w 3200400"/>
              <a:gd name="connsiteY23" fmla="*/ 336430 h 560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200400" h="560717">
                <a:moveTo>
                  <a:pt x="0" y="267419"/>
                </a:moveTo>
                <a:lnTo>
                  <a:pt x="146649" y="388189"/>
                </a:lnTo>
                <a:lnTo>
                  <a:pt x="284672" y="181155"/>
                </a:lnTo>
                <a:lnTo>
                  <a:pt x="422694" y="172529"/>
                </a:lnTo>
                <a:lnTo>
                  <a:pt x="560717" y="25879"/>
                </a:lnTo>
                <a:lnTo>
                  <a:pt x="707366" y="172529"/>
                </a:lnTo>
                <a:lnTo>
                  <a:pt x="836762" y="526212"/>
                </a:lnTo>
                <a:lnTo>
                  <a:pt x="974785" y="276045"/>
                </a:lnTo>
                <a:lnTo>
                  <a:pt x="1112808" y="0"/>
                </a:lnTo>
                <a:lnTo>
                  <a:pt x="1250830" y="146649"/>
                </a:lnTo>
                <a:lnTo>
                  <a:pt x="1388853" y="77638"/>
                </a:lnTo>
                <a:lnTo>
                  <a:pt x="1535502" y="258793"/>
                </a:lnTo>
                <a:lnTo>
                  <a:pt x="1673525" y="129396"/>
                </a:lnTo>
                <a:lnTo>
                  <a:pt x="1802921" y="172529"/>
                </a:lnTo>
                <a:lnTo>
                  <a:pt x="1949570" y="43132"/>
                </a:lnTo>
                <a:lnTo>
                  <a:pt x="2078966" y="301925"/>
                </a:lnTo>
                <a:lnTo>
                  <a:pt x="2225615" y="232913"/>
                </a:lnTo>
                <a:lnTo>
                  <a:pt x="2363638" y="301925"/>
                </a:lnTo>
                <a:lnTo>
                  <a:pt x="2493034" y="129396"/>
                </a:lnTo>
                <a:lnTo>
                  <a:pt x="2639683" y="560717"/>
                </a:lnTo>
                <a:lnTo>
                  <a:pt x="2777706" y="439947"/>
                </a:lnTo>
                <a:lnTo>
                  <a:pt x="2915728" y="241540"/>
                </a:lnTo>
                <a:lnTo>
                  <a:pt x="3071004" y="60385"/>
                </a:lnTo>
                <a:lnTo>
                  <a:pt x="3200400" y="336430"/>
                </a:lnTo>
              </a:path>
            </a:pathLst>
          </a:cu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6934200" y="4648200"/>
            <a:ext cx="1524000" cy="584775"/>
            <a:chOff x="7086600" y="3886200"/>
            <a:chExt cx="1524000" cy="584775"/>
          </a:xfrm>
        </p:grpSpPr>
        <p:sp>
          <p:nvSpPr>
            <p:cNvPr id="28" name="TextBox 27"/>
            <p:cNvSpPr txBox="1"/>
            <p:nvPr/>
          </p:nvSpPr>
          <p:spPr>
            <a:xfrm>
              <a:off x="7467600" y="3886200"/>
              <a:ext cx="1143000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Arial" pitchFamily="34" charset="0"/>
                  <a:cs typeface="Arial" pitchFamily="34" charset="0"/>
                </a:rPr>
                <a:t>active</a:t>
              </a:r>
            </a:p>
            <a:p>
              <a:r>
                <a:rPr lang="en-US" sz="1600" b="1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idle</a:t>
              </a:r>
              <a:endParaRPr lang="en-US" sz="16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7086600" y="4314700"/>
              <a:ext cx="3810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  <p:bldP spid="14" grpId="0"/>
      <p:bldP spid="21" grpId="0"/>
      <p:bldP spid="3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Impact of Low-Level Factors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Many low-level factors may affect performance</a:t>
            </a:r>
          </a:p>
          <a:p>
            <a:pPr lvl="1"/>
            <a:r>
              <a:rPr lang="en-US" dirty="0" smtClean="0"/>
              <a:t>Difficult to account for</a:t>
            </a:r>
          </a:p>
          <a:p>
            <a:pPr lvl="1"/>
            <a:r>
              <a:rPr lang="en-US" dirty="0" smtClean="0"/>
              <a:t>Determined by device’s physical context</a:t>
            </a:r>
          </a:p>
          <a:p>
            <a:pPr lvl="1">
              <a:buNone/>
            </a:pPr>
            <a:endParaRPr lang="en-US" dirty="0" smtClean="0"/>
          </a:p>
          <a:p>
            <a:pPr marL="514350" indent="-514350">
              <a:buFont typeface="+mj-lt"/>
              <a:buAutoNum type="arabicParenR" startAt="2"/>
            </a:pPr>
            <a:r>
              <a:rPr lang="en-US" i="1" dirty="0" smtClean="0"/>
              <a:t>What aspects of a device’s  physical context contributes to the observed differences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Environment</a:t>
            </a:r>
          </a:p>
          <a:p>
            <a:pPr lvl="1"/>
            <a:r>
              <a:rPr lang="en-US" dirty="0" smtClean="0"/>
              <a:t>Device position</a:t>
            </a:r>
          </a:p>
          <a:p>
            <a:pPr marL="514350" indent="-51435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50" name="Group 49"/>
          <p:cNvGrpSpPr/>
          <p:nvPr/>
        </p:nvGrpSpPr>
        <p:grpSpPr>
          <a:xfrm>
            <a:off x="3581400" y="4724400"/>
            <a:ext cx="2790318" cy="685800"/>
            <a:chOff x="3581400" y="4648200"/>
            <a:chExt cx="3124200" cy="767861"/>
          </a:xfrm>
        </p:grpSpPr>
        <p:pic>
          <p:nvPicPr>
            <p:cNvPr id="11" name="Picture 10" descr="google_maps_logo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81400" y="4648200"/>
              <a:ext cx="762000" cy="685800"/>
            </a:xfrm>
            <a:prstGeom prst="rect">
              <a:avLst/>
            </a:prstGeom>
          </p:spPr>
        </p:pic>
        <p:grpSp>
          <p:nvGrpSpPr>
            <p:cNvPr id="12" name="Group 33"/>
            <p:cNvGrpSpPr/>
            <p:nvPr/>
          </p:nvGrpSpPr>
          <p:grpSpPr>
            <a:xfrm>
              <a:off x="4571999" y="4648200"/>
              <a:ext cx="762000" cy="632762"/>
              <a:chOff x="8153400" y="3429000"/>
              <a:chExt cx="734106" cy="609600"/>
            </a:xfrm>
          </p:grpSpPr>
          <p:pic>
            <p:nvPicPr>
              <p:cNvPr id="17" name="Picture 2" descr="C:\Users\agember\AppData\Local\Microsoft\Windows\Temporary Internet Files\Content.IE5\ZQE9104A\MC900078715[1].wmf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8458200" y="3505200"/>
                <a:ext cx="429306" cy="533400"/>
              </a:xfrm>
              <a:prstGeom prst="rect">
                <a:avLst/>
              </a:prstGeom>
              <a:noFill/>
            </p:spPr>
          </p:pic>
          <p:grpSp>
            <p:nvGrpSpPr>
              <p:cNvPr id="18" name="Group 13"/>
              <p:cNvGrpSpPr>
                <a:grpSpLocks/>
              </p:cNvGrpSpPr>
              <p:nvPr/>
            </p:nvGrpSpPr>
            <p:grpSpPr bwMode="auto">
              <a:xfrm>
                <a:off x="8153400" y="3429000"/>
                <a:ext cx="228600" cy="609600"/>
                <a:chOff x="4771" y="1010"/>
                <a:chExt cx="659" cy="2523"/>
              </a:xfrm>
            </p:grpSpPr>
            <p:sp>
              <p:nvSpPr>
                <p:cNvPr id="19" name="Freeform 7"/>
                <p:cNvSpPr>
                  <a:spLocks/>
                </p:cNvSpPr>
                <p:nvPr/>
              </p:nvSpPr>
              <p:spPr bwMode="auto">
                <a:xfrm>
                  <a:off x="4967" y="1010"/>
                  <a:ext cx="425" cy="546"/>
                </a:xfrm>
                <a:custGeom>
                  <a:avLst/>
                  <a:gdLst/>
                  <a:ahLst/>
                  <a:cxnLst>
                    <a:cxn ang="0">
                      <a:pos x="0" y="230"/>
                    </a:cxn>
                    <a:cxn ang="0">
                      <a:pos x="31" y="118"/>
                    </a:cxn>
                    <a:cxn ang="0">
                      <a:pos x="71" y="61"/>
                    </a:cxn>
                    <a:cxn ang="0">
                      <a:pos x="122" y="20"/>
                    </a:cxn>
                    <a:cxn ang="0">
                      <a:pos x="173" y="0"/>
                    </a:cxn>
                    <a:cxn ang="0">
                      <a:pos x="240" y="6"/>
                    </a:cxn>
                    <a:cxn ang="0">
                      <a:pos x="284" y="51"/>
                    </a:cxn>
                    <a:cxn ang="0">
                      <a:pos x="324" y="132"/>
                    </a:cxn>
                    <a:cxn ang="0">
                      <a:pos x="341" y="240"/>
                    </a:cxn>
                    <a:cxn ang="0">
                      <a:pos x="341" y="363"/>
                    </a:cxn>
                    <a:cxn ang="0">
                      <a:pos x="422" y="447"/>
                    </a:cxn>
                    <a:cxn ang="0">
                      <a:pos x="425" y="485"/>
                    </a:cxn>
                    <a:cxn ang="0">
                      <a:pos x="412" y="488"/>
                    </a:cxn>
                    <a:cxn ang="0">
                      <a:pos x="334" y="413"/>
                    </a:cxn>
                    <a:cxn ang="0">
                      <a:pos x="311" y="468"/>
                    </a:cxn>
                    <a:cxn ang="0">
                      <a:pos x="264" y="515"/>
                    </a:cxn>
                    <a:cxn ang="0">
                      <a:pos x="220" y="539"/>
                    </a:cxn>
                    <a:cxn ang="0">
                      <a:pos x="149" y="546"/>
                    </a:cxn>
                    <a:cxn ang="0">
                      <a:pos x="58" y="508"/>
                    </a:cxn>
                    <a:cxn ang="0">
                      <a:pos x="17" y="427"/>
                    </a:cxn>
                    <a:cxn ang="0">
                      <a:pos x="0" y="346"/>
                    </a:cxn>
                    <a:cxn ang="0">
                      <a:pos x="0" y="230"/>
                    </a:cxn>
                  </a:cxnLst>
                  <a:rect l="0" t="0" r="r" b="b"/>
                  <a:pathLst>
                    <a:path w="425" h="546">
                      <a:moveTo>
                        <a:pt x="0" y="230"/>
                      </a:moveTo>
                      <a:lnTo>
                        <a:pt x="31" y="118"/>
                      </a:lnTo>
                      <a:lnTo>
                        <a:pt x="71" y="61"/>
                      </a:lnTo>
                      <a:lnTo>
                        <a:pt x="122" y="20"/>
                      </a:lnTo>
                      <a:lnTo>
                        <a:pt x="173" y="0"/>
                      </a:lnTo>
                      <a:lnTo>
                        <a:pt x="240" y="6"/>
                      </a:lnTo>
                      <a:lnTo>
                        <a:pt x="284" y="51"/>
                      </a:lnTo>
                      <a:lnTo>
                        <a:pt x="324" y="132"/>
                      </a:lnTo>
                      <a:lnTo>
                        <a:pt x="341" y="240"/>
                      </a:lnTo>
                      <a:lnTo>
                        <a:pt x="341" y="363"/>
                      </a:lnTo>
                      <a:lnTo>
                        <a:pt x="422" y="447"/>
                      </a:lnTo>
                      <a:lnTo>
                        <a:pt x="425" y="485"/>
                      </a:lnTo>
                      <a:lnTo>
                        <a:pt x="412" y="488"/>
                      </a:lnTo>
                      <a:lnTo>
                        <a:pt x="334" y="413"/>
                      </a:lnTo>
                      <a:lnTo>
                        <a:pt x="311" y="468"/>
                      </a:lnTo>
                      <a:lnTo>
                        <a:pt x="264" y="515"/>
                      </a:lnTo>
                      <a:lnTo>
                        <a:pt x="220" y="539"/>
                      </a:lnTo>
                      <a:lnTo>
                        <a:pt x="149" y="546"/>
                      </a:lnTo>
                      <a:lnTo>
                        <a:pt x="58" y="508"/>
                      </a:lnTo>
                      <a:lnTo>
                        <a:pt x="17" y="427"/>
                      </a:lnTo>
                      <a:lnTo>
                        <a:pt x="0" y="346"/>
                      </a:lnTo>
                      <a:lnTo>
                        <a:pt x="0" y="23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" name="Freeform 8"/>
                <p:cNvSpPr>
                  <a:spLocks/>
                </p:cNvSpPr>
                <p:nvPr/>
              </p:nvSpPr>
              <p:spPr bwMode="auto">
                <a:xfrm>
                  <a:off x="4923" y="1597"/>
                  <a:ext cx="379" cy="879"/>
                </a:xfrm>
                <a:custGeom>
                  <a:avLst/>
                  <a:gdLst/>
                  <a:ahLst/>
                  <a:cxnLst>
                    <a:cxn ang="0">
                      <a:pos x="55" y="57"/>
                    </a:cxn>
                    <a:cxn ang="0">
                      <a:pos x="102" y="20"/>
                    </a:cxn>
                    <a:cxn ang="0">
                      <a:pos x="156" y="6"/>
                    </a:cxn>
                    <a:cxn ang="0">
                      <a:pos x="207" y="0"/>
                    </a:cxn>
                    <a:cxn ang="0">
                      <a:pos x="275" y="10"/>
                    </a:cxn>
                    <a:cxn ang="0">
                      <a:pos x="349" y="57"/>
                    </a:cxn>
                    <a:cxn ang="0">
                      <a:pos x="379" y="141"/>
                    </a:cxn>
                    <a:cxn ang="0">
                      <a:pos x="379" y="270"/>
                    </a:cxn>
                    <a:cxn ang="0">
                      <a:pos x="376" y="392"/>
                    </a:cxn>
                    <a:cxn ang="0">
                      <a:pos x="339" y="578"/>
                    </a:cxn>
                    <a:cxn ang="0">
                      <a:pos x="308" y="730"/>
                    </a:cxn>
                    <a:cxn ang="0">
                      <a:pos x="275" y="828"/>
                    </a:cxn>
                    <a:cxn ang="0">
                      <a:pos x="204" y="879"/>
                    </a:cxn>
                    <a:cxn ang="0">
                      <a:pos x="102" y="868"/>
                    </a:cxn>
                    <a:cxn ang="0">
                      <a:pos x="51" y="791"/>
                    </a:cxn>
                    <a:cxn ang="0">
                      <a:pos x="21" y="676"/>
                    </a:cxn>
                    <a:cxn ang="0">
                      <a:pos x="4" y="547"/>
                    </a:cxn>
                    <a:cxn ang="0">
                      <a:pos x="0" y="354"/>
                    </a:cxn>
                    <a:cxn ang="0">
                      <a:pos x="14" y="219"/>
                    </a:cxn>
                    <a:cxn ang="0">
                      <a:pos x="34" y="98"/>
                    </a:cxn>
                    <a:cxn ang="0">
                      <a:pos x="55" y="57"/>
                    </a:cxn>
                  </a:cxnLst>
                  <a:rect l="0" t="0" r="r" b="b"/>
                  <a:pathLst>
                    <a:path w="379" h="879">
                      <a:moveTo>
                        <a:pt x="55" y="57"/>
                      </a:moveTo>
                      <a:lnTo>
                        <a:pt x="102" y="20"/>
                      </a:lnTo>
                      <a:lnTo>
                        <a:pt x="156" y="6"/>
                      </a:lnTo>
                      <a:lnTo>
                        <a:pt x="207" y="0"/>
                      </a:lnTo>
                      <a:lnTo>
                        <a:pt x="275" y="10"/>
                      </a:lnTo>
                      <a:lnTo>
                        <a:pt x="349" y="57"/>
                      </a:lnTo>
                      <a:lnTo>
                        <a:pt x="379" y="141"/>
                      </a:lnTo>
                      <a:lnTo>
                        <a:pt x="379" y="270"/>
                      </a:lnTo>
                      <a:lnTo>
                        <a:pt x="376" y="392"/>
                      </a:lnTo>
                      <a:lnTo>
                        <a:pt x="339" y="578"/>
                      </a:lnTo>
                      <a:lnTo>
                        <a:pt x="308" y="730"/>
                      </a:lnTo>
                      <a:lnTo>
                        <a:pt x="275" y="828"/>
                      </a:lnTo>
                      <a:lnTo>
                        <a:pt x="204" y="879"/>
                      </a:lnTo>
                      <a:lnTo>
                        <a:pt x="102" y="868"/>
                      </a:lnTo>
                      <a:lnTo>
                        <a:pt x="51" y="791"/>
                      </a:lnTo>
                      <a:lnTo>
                        <a:pt x="21" y="676"/>
                      </a:lnTo>
                      <a:lnTo>
                        <a:pt x="4" y="547"/>
                      </a:lnTo>
                      <a:lnTo>
                        <a:pt x="0" y="354"/>
                      </a:lnTo>
                      <a:lnTo>
                        <a:pt x="14" y="219"/>
                      </a:lnTo>
                      <a:lnTo>
                        <a:pt x="34" y="98"/>
                      </a:lnTo>
                      <a:lnTo>
                        <a:pt x="55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Freeform 9"/>
                <p:cNvSpPr>
                  <a:spLocks/>
                </p:cNvSpPr>
                <p:nvPr/>
              </p:nvSpPr>
              <p:spPr bwMode="auto">
                <a:xfrm>
                  <a:off x="4771" y="1596"/>
                  <a:ext cx="223" cy="1082"/>
                </a:xfrm>
                <a:custGeom>
                  <a:avLst/>
                  <a:gdLst/>
                  <a:ahLst/>
                  <a:cxnLst>
                    <a:cxn ang="0">
                      <a:pos x="153" y="7"/>
                    </a:cxn>
                    <a:cxn ang="0">
                      <a:pos x="207" y="0"/>
                    </a:cxn>
                    <a:cxn ang="0">
                      <a:pos x="223" y="48"/>
                    </a:cxn>
                    <a:cxn ang="0">
                      <a:pos x="196" y="109"/>
                    </a:cxn>
                    <a:cxn ang="0">
                      <a:pos x="156" y="142"/>
                    </a:cxn>
                    <a:cxn ang="0">
                      <a:pos x="122" y="223"/>
                    </a:cxn>
                    <a:cxn ang="0">
                      <a:pos x="82" y="332"/>
                    </a:cxn>
                    <a:cxn ang="0">
                      <a:pos x="65" y="433"/>
                    </a:cxn>
                    <a:cxn ang="0">
                      <a:pos x="55" y="605"/>
                    </a:cxn>
                    <a:cxn ang="0">
                      <a:pos x="65" y="767"/>
                    </a:cxn>
                    <a:cxn ang="0">
                      <a:pos x="85" y="842"/>
                    </a:cxn>
                    <a:cxn ang="0">
                      <a:pos x="71" y="923"/>
                    </a:cxn>
                    <a:cxn ang="0">
                      <a:pos x="55" y="984"/>
                    </a:cxn>
                    <a:cxn ang="0">
                      <a:pos x="61" y="1082"/>
                    </a:cxn>
                    <a:cxn ang="0">
                      <a:pos x="34" y="1075"/>
                    </a:cxn>
                    <a:cxn ang="0">
                      <a:pos x="11" y="994"/>
                    </a:cxn>
                    <a:cxn ang="0">
                      <a:pos x="0" y="923"/>
                    </a:cxn>
                    <a:cxn ang="0">
                      <a:pos x="31" y="828"/>
                    </a:cxn>
                    <a:cxn ang="0">
                      <a:pos x="21" y="740"/>
                    </a:cxn>
                    <a:cxn ang="0">
                      <a:pos x="11" y="598"/>
                    </a:cxn>
                    <a:cxn ang="0">
                      <a:pos x="11" y="426"/>
                    </a:cxn>
                    <a:cxn ang="0">
                      <a:pos x="31" y="244"/>
                    </a:cxn>
                    <a:cxn ang="0">
                      <a:pos x="65" y="109"/>
                    </a:cxn>
                    <a:cxn ang="0">
                      <a:pos x="102" y="38"/>
                    </a:cxn>
                    <a:cxn ang="0">
                      <a:pos x="153" y="7"/>
                    </a:cxn>
                  </a:cxnLst>
                  <a:rect l="0" t="0" r="r" b="b"/>
                  <a:pathLst>
                    <a:path w="223" h="1082">
                      <a:moveTo>
                        <a:pt x="153" y="7"/>
                      </a:moveTo>
                      <a:lnTo>
                        <a:pt x="207" y="0"/>
                      </a:lnTo>
                      <a:lnTo>
                        <a:pt x="223" y="48"/>
                      </a:lnTo>
                      <a:lnTo>
                        <a:pt x="196" y="109"/>
                      </a:lnTo>
                      <a:lnTo>
                        <a:pt x="156" y="142"/>
                      </a:lnTo>
                      <a:lnTo>
                        <a:pt x="122" y="223"/>
                      </a:lnTo>
                      <a:lnTo>
                        <a:pt x="82" y="332"/>
                      </a:lnTo>
                      <a:lnTo>
                        <a:pt x="65" y="433"/>
                      </a:lnTo>
                      <a:lnTo>
                        <a:pt x="55" y="605"/>
                      </a:lnTo>
                      <a:lnTo>
                        <a:pt x="65" y="767"/>
                      </a:lnTo>
                      <a:lnTo>
                        <a:pt x="85" y="842"/>
                      </a:lnTo>
                      <a:lnTo>
                        <a:pt x="71" y="923"/>
                      </a:lnTo>
                      <a:lnTo>
                        <a:pt x="55" y="984"/>
                      </a:lnTo>
                      <a:lnTo>
                        <a:pt x="61" y="1082"/>
                      </a:lnTo>
                      <a:lnTo>
                        <a:pt x="34" y="1075"/>
                      </a:lnTo>
                      <a:lnTo>
                        <a:pt x="11" y="994"/>
                      </a:lnTo>
                      <a:lnTo>
                        <a:pt x="0" y="923"/>
                      </a:lnTo>
                      <a:lnTo>
                        <a:pt x="31" y="828"/>
                      </a:lnTo>
                      <a:lnTo>
                        <a:pt x="21" y="740"/>
                      </a:lnTo>
                      <a:lnTo>
                        <a:pt x="11" y="598"/>
                      </a:lnTo>
                      <a:lnTo>
                        <a:pt x="11" y="426"/>
                      </a:lnTo>
                      <a:lnTo>
                        <a:pt x="31" y="244"/>
                      </a:lnTo>
                      <a:lnTo>
                        <a:pt x="65" y="109"/>
                      </a:lnTo>
                      <a:lnTo>
                        <a:pt x="102" y="38"/>
                      </a:lnTo>
                      <a:lnTo>
                        <a:pt x="153" y="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" name="Freeform 10"/>
                <p:cNvSpPr>
                  <a:spLocks/>
                </p:cNvSpPr>
                <p:nvPr/>
              </p:nvSpPr>
              <p:spPr bwMode="auto">
                <a:xfrm>
                  <a:off x="5258" y="1624"/>
                  <a:ext cx="142" cy="1028"/>
                </a:xfrm>
                <a:custGeom>
                  <a:avLst/>
                  <a:gdLst/>
                  <a:ahLst/>
                  <a:cxnLst>
                    <a:cxn ang="0">
                      <a:pos x="3" y="3"/>
                    </a:cxn>
                    <a:cxn ang="0">
                      <a:pos x="61" y="0"/>
                    </a:cxn>
                    <a:cxn ang="0">
                      <a:pos x="101" y="81"/>
                    </a:cxn>
                    <a:cxn ang="0">
                      <a:pos x="142" y="304"/>
                    </a:cxn>
                    <a:cxn ang="0">
                      <a:pos x="142" y="561"/>
                    </a:cxn>
                    <a:cxn ang="0">
                      <a:pos x="122" y="781"/>
                    </a:cxn>
                    <a:cxn ang="0">
                      <a:pos x="142" y="856"/>
                    </a:cxn>
                    <a:cxn ang="0">
                      <a:pos x="142" y="957"/>
                    </a:cxn>
                    <a:cxn ang="0">
                      <a:pos x="122" y="1028"/>
                    </a:cxn>
                    <a:cxn ang="0">
                      <a:pos x="95" y="964"/>
                    </a:cxn>
                    <a:cxn ang="0">
                      <a:pos x="81" y="866"/>
                    </a:cxn>
                    <a:cxn ang="0">
                      <a:pos x="51" y="791"/>
                    </a:cxn>
                    <a:cxn ang="0">
                      <a:pos x="85" y="724"/>
                    </a:cxn>
                    <a:cxn ang="0">
                      <a:pos x="105" y="561"/>
                    </a:cxn>
                    <a:cxn ang="0">
                      <a:pos x="105" y="409"/>
                    </a:cxn>
                    <a:cxn ang="0">
                      <a:pos x="85" y="257"/>
                    </a:cxn>
                    <a:cxn ang="0">
                      <a:pos x="44" y="145"/>
                    </a:cxn>
                    <a:cxn ang="0">
                      <a:pos x="0" y="91"/>
                    </a:cxn>
                    <a:cxn ang="0">
                      <a:pos x="3" y="3"/>
                    </a:cxn>
                  </a:cxnLst>
                  <a:rect l="0" t="0" r="r" b="b"/>
                  <a:pathLst>
                    <a:path w="142" h="1028">
                      <a:moveTo>
                        <a:pt x="3" y="3"/>
                      </a:moveTo>
                      <a:lnTo>
                        <a:pt x="61" y="0"/>
                      </a:lnTo>
                      <a:lnTo>
                        <a:pt x="101" y="81"/>
                      </a:lnTo>
                      <a:lnTo>
                        <a:pt x="142" y="304"/>
                      </a:lnTo>
                      <a:lnTo>
                        <a:pt x="142" y="561"/>
                      </a:lnTo>
                      <a:lnTo>
                        <a:pt x="122" y="781"/>
                      </a:lnTo>
                      <a:lnTo>
                        <a:pt x="142" y="856"/>
                      </a:lnTo>
                      <a:lnTo>
                        <a:pt x="142" y="957"/>
                      </a:lnTo>
                      <a:lnTo>
                        <a:pt x="122" y="1028"/>
                      </a:lnTo>
                      <a:lnTo>
                        <a:pt x="95" y="964"/>
                      </a:lnTo>
                      <a:lnTo>
                        <a:pt x="81" y="866"/>
                      </a:lnTo>
                      <a:lnTo>
                        <a:pt x="51" y="791"/>
                      </a:lnTo>
                      <a:lnTo>
                        <a:pt x="85" y="724"/>
                      </a:lnTo>
                      <a:lnTo>
                        <a:pt x="105" y="561"/>
                      </a:lnTo>
                      <a:lnTo>
                        <a:pt x="105" y="409"/>
                      </a:lnTo>
                      <a:lnTo>
                        <a:pt x="85" y="257"/>
                      </a:lnTo>
                      <a:lnTo>
                        <a:pt x="44" y="145"/>
                      </a:lnTo>
                      <a:lnTo>
                        <a:pt x="0" y="91"/>
                      </a:lnTo>
                      <a:lnTo>
                        <a:pt x="3" y="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Freeform 11"/>
                <p:cNvSpPr>
                  <a:spLocks/>
                </p:cNvSpPr>
                <p:nvPr/>
              </p:nvSpPr>
              <p:spPr bwMode="auto">
                <a:xfrm>
                  <a:off x="4923" y="2301"/>
                  <a:ext cx="320" cy="1232"/>
                </a:xfrm>
                <a:custGeom>
                  <a:avLst/>
                  <a:gdLst/>
                  <a:ahLst/>
                  <a:cxnLst>
                    <a:cxn ang="0">
                      <a:pos x="32" y="0"/>
                    </a:cxn>
                    <a:cxn ang="0">
                      <a:pos x="69" y="51"/>
                    </a:cxn>
                    <a:cxn ang="0">
                      <a:pos x="84" y="103"/>
                    </a:cxn>
                    <a:cxn ang="0">
                      <a:pos x="99" y="282"/>
                    </a:cxn>
                    <a:cxn ang="0">
                      <a:pos x="106" y="402"/>
                    </a:cxn>
                    <a:cxn ang="0">
                      <a:pos x="106" y="607"/>
                    </a:cxn>
                    <a:cxn ang="0">
                      <a:pos x="104" y="800"/>
                    </a:cxn>
                    <a:cxn ang="0">
                      <a:pos x="89" y="954"/>
                    </a:cxn>
                    <a:cxn ang="0">
                      <a:pos x="77" y="1001"/>
                    </a:cxn>
                    <a:cxn ang="0">
                      <a:pos x="155" y="1027"/>
                    </a:cxn>
                    <a:cxn ang="0">
                      <a:pos x="221" y="1057"/>
                    </a:cxn>
                    <a:cxn ang="0">
                      <a:pos x="310" y="1121"/>
                    </a:cxn>
                    <a:cxn ang="0">
                      <a:pos x="320" y="1146"/>
                    </a:cxn>
                    <a:cxn ang="0">
                      <a:pos x="312" y="1194"/>
                    </a:cxn>
                    <a:cxn ang="0">
                      <a:pos x="268" y="1232"/>
                    </a:cxn>
                    <a:cxn ang="0">
                      <a:pos x="251" y="1211"/>
                    </a:cxn>
                    <a:cxn ang="0">
                      <a:pos x="236" y="1159"/>
                    </a:cxn>
                    <a:cxn ang="0">
                      <a:pos x="194" y="1117"/>
                    </a:cxn>
                    <a:cxn ang="0">
                      <a:pos x="121" y="1069"/>
                    </a:cxn>
                    <a:cxn ang="0">
                      <a:pos x="74" y="1057"/>
                    </a:cxn>
                    <a:cxn ang="0">
                      <a:pos x="18" y="1057"/>
                    </a:cxn>
                    <a:cxn ang="0">
                      <a:pos x="18" y="1018"/>
                    </a:cxn>
                    <a:cxn ang="0">
                      <a:pos x="45" y="975"/>
                    </a:cxn>
                    <a:cxn ang="0">
                      <a:pos x="69" y="838"/>
                    </a:cxn>
                    <a:cxn ang="0">
                      <a:pos x="77" y="693"/>
                    </a:cxn>
                    <a:cxn ang="0">
                      <a:pos x="74" y="565"/>
                    </a:cxn>
                    <a:cxn ang="0">
                      <a:pos x="69" y="402"/>
                    </a:cxn>
                    <a:cxn ang="0">
                      <a:pos x="54" y="261"/>
                    </a:cxn>
                    <a:cxn ang="0">
                      <a:pos x="23" y="158"/>
                    </a:cxn>
                    <a:cxn ang="0">
                      <a:pos x="0" y="64"/>
                    </a:cxn>
                    <a:cxn ang="0">
                      <a:pos x="8" y="30"/>
                    </a:cxn>
                    <a:cxn ang="0">
                      <a:pos x="32" y="0"/>
                    </a:cxn>
                  </a:cxnLst>
                  <a:rect l="0" t="0" r="r" b="b"/>
                  <a:pathLst>
                    <a:path w="320" h="1232">
                      <a:moveTo>
                        <a:pt x="32" y="0"/>
                      </a:moveTo>
                      <a:lnTo>
                        <a:pt x="69" y="51"/>
                      </a:lnTo>
                      <a:lnTo>
                        <a:pt x="84" y="103"/>
                      </a:lnTo>
                      <a:lnTo>
                        <a:pt x="99" y="282"/>
                      </a:lnTo>
                      <a:lnTo>
                        <a:pt x="106" y="402"/>
                      </a:lnTo>
                      <a:lnTo>
                        <a:pt x="106" y="607"/>
                      </a:lnTo>
                      <a:lnTo>
                        <a:pt x="104" y="800"/>
                      </a:lnTo>
                      <a:lnTo>
                        <a:pt x="89" y="954"/>
                      </a:lnTo>
                      <a:lnTo>
                        <a:pt x="77" y="1001"/>
                      </a:lnTo>
                      <a:lnTo>
                        <a:pt x="155" y="1027"/>
                      </a:lnTo>
                      <a:lnTo>
                        <a:pt x="221" y="1057"/>
                      </a:lnTo>
                      <a:lnTo>
                        <a:pt x="310" y="1121"/>
                      </a:lnTo>
                      <a:lnTo>
                        <a:pt x="320" y="1146"/>
                      </a:lnTo>
                      <a:lnTo>
                        <a:pt x="312" y="1194"/>
                      </a:lnTo>
                      <a:lnTo>
                        <a:pt x="268" y="1232"/>
                      </a:lnTo>
                      <a:lnTo>
                        <a:pt x="251" y="1211"/>
                      </a:lnTo>
                      <a:lnTo>
                        <a:pt x="236" y="1159"/>
                      </a:lnTo>
                      <a:lnTo>
                        <a:pt x="194" y="1117"/>
                      </a:lnTo>
                      <a:lnTo>
                        <a:pt x="121" y="1069"/>
                      </a:lnTo>
                      <a:lnTo>
                        <a:pt x="74" y="1057"/>
                      </a:lnTo>
                      <a:lnTo>
                        <a:pt x="18" y="1057"/>
                      </a:lnTo>
                      <a:lnTo>
                        <a:pt x="18" y="1018"/>
                      </a:lnTo>
                      <a:lnTo>
                        <a:pt x="45" y="975"/>
                      </a:lnTo>
                      <a:lnTo>
                        <a:pt x="69" y="838"/>
                      </a:lnTo>
                      <a:lnTo>
                        <a:pt x="77" y="693"/>
                      </a:lnTo>
                      <a:lnTo>
                        <a:pt x="74" y="565"/>
                      </a:lnTo>
                      <a:lnTo>
                        <a:pt x="69" y="402"/>
                      </a:lnTo>
                      <a:lnTo>
                        <a:pt x="54" y="261"/>
                      </a:lnTo>
                      <a:lnTo>
                        <a:pt x="23" y="158"/>
                      </a:lnTo>
                      <a:lnTo>
                        <a:pt x="0" y="64"/>
                      </a:lnTo>
                      <a:lnTo>
                        <a:pt x="8" y="30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Freeform 12"/>
                <p:cNvSpPr>
                  <a:spLocks/>
                </p:cNvSpPr>
                <p:nvPr/>
              </p:nvSpPr>
              <p:spPr bwMode="auto">
                <a:xfrm>
                  <a:off x="5136" y="2302"/>
                  <a:ext cx="294" cy="1111"/>
                </a:xfrm>
                <a:custGeom>
                  <a:avLst/>
                  <a:gdLst/>
                  <a:ahLst/>
                  <a:cxnLst>
                    <a:cxn ang="0">
                      <a:pos x="0" y="88"/>
                    </a:cxn>
                    <a:cxn ang="0">
                      <a:pos x="0" y="17"/>
                    </a:cxn>
                    <a:cxn ang="0">
                      <a:pos x="30" y="0"/>
                    </a:cxn>
                    <a:cxn ang="0">
                      <a:pos x="77" y="0"/>
                    </a:cxn>
                    <a:cxn ang="0">
                      <a:pos x="111" y="41"/>
                    </a:cxn>
                    <a:cxn ang="0">
                      <a:pos x="118" y="78"/>
                    </a:cxn>
                    <a:cxn ang="0">
                      <a:pos x="111" y="159"/>
                    </a:cxn>
                    <a:cxn ang="0">
                      <a:pos x="88" y="260"/>
                    </a:cxn>
                    <a:cxn ang="0">
                      <a:pos x="77" y="416"/>
                    </a:cxn>
                    <a:cxn ang="0">
                      <a:pos x="71" y="517"/>
                    </a:cxn>
                    <a:cxn ang="0">
                      <a:pos x="71" y="534"/>
                    </a:cxn>
                    <a:cxn ang="0">
                      <a:pos x="81" y="676"/>
                    </a:cxn>
                    <a:cxn ang="0">
                      <a:pos x="98" y="757"/>
                    </a:cxn>
                    <a:cxn ang="0">
                      <a:pos x="111" y="821"/>
                    </a:cxn>
                    <a:cxn ang="0">
                      <a:pos x="108" y="848"/>
                    </a:cxn>
                    <a:cxn ang="0">
                      <a:pos x="152" y="922"/>
                    </a:cxn>
                    <a:cxn ang="0">
                      <a:pos x="199" y="969"/>
                    </a:cxn>
                    <a:cxn ang="0">
                      <a:pos x="250" y="1013"/>
                    </a:cxn>
                    <a:cxn ang="0">
                      <a:pos x="294" y="1034"/>
                    </a:cxn>
                    <a:cxn ang="0">
                      <a:pos x="294" y="1071"/>
                    </a:cxn>
                    <a:cxn ang="0">
                      <a:pos x="270" y="1101"/>
                    </a:cxn>
                    <a:cxn ang="0">
                      <a:pos x="213" y="1111"/>
                    </a:cxn>
                    <a:cxn ang="0">
                      <a:pos x="172" y="1091"/>
                    </a:cxn>
                    <a:cxn ang="0">
                      <a:pos x="172" y="1064"/>
                    </a:cxn>
                    <a:cxn ang="0">
                      <a:pos x="138" y="969"/>
                    </a:cxn>
                    <a:cxn ang="0">
                      <a:pos x="81" y="919"/>
                    </a:cxn>
                    <a:cxn ang="0">
                      <a:pos x="40" y="868"/>
                    </a:cxn>
                    <a:cxn ang="0">
                      <a:pos x="10" y="841"/>
                    </a:cxn>
                    <a:cxn ang="0">
                      <a:pos x="20" y="807"/>
                    </a:cxn>
                    <a:cxn ang="0">
                      <a:pos x="37" y="716"/>
                    </a:cxn>
                    <a:cxn ang="0">
                      <a:pos x="37" y="544"/>
                    </a:cxn>
                    <a:cxn ang="0">
                      <a:pos x="30" y="422"/>
                    </a:cxn>
                    <a:cxn ang="0">
                      <a:pos x="30" y="301"/>
                    </a:cxn>
                    <a:cxn ang="0">
                      <a:pos x="27" y="169"/>
                    </a:cxn>
                    <a:cxn ang="0">
                      <a:pos x="0" y="88"/>
                    </a:cxn>
                  </a:cxnLst>
                  <a:rect l="0" t="0" r="r" b="b"/>
                  <a:pathLst>
                    <a:path w="294" h="1111">
                      <a:moveTo>
                        <a:pt x="0" y="88"/>
                      </a:moveTo>
                      <a:lnTo>
                        <a:pt x="0" y="17"/>
                      </a:lnTo>
                      <a:lnTo>
                        <a:pt x="30" y="0"/>
                      </a:lnTo>
                      <a:lnTo>
                        <a:pt x="77" y="0"/>
                      </a:lnTo>
                      <a:lnTo>
                        <a:pt x="111" y="41"/>
                      </a:lnTo>
                      <a:lnTo>
                        <a:pt x="118" y="78"/>
                      </a:lnTo>
                      <a:lnTo>
                        <a:pt x="111" y="159"/>
                      </a:lnTo>
                      <a:lnTo>
                        <a:pt x="88" y="260"/>
                      </a:lnTo>
                      <a:lnTo>
                        <a:pt x="77" y="416"/>
                      </a:lnTo>
                      <a:lnTo>
                        <a:pt x="71" y="517"/>
                      </a:lnTo>
                      <a:lnTo>
                        <a:pt x="71" y="534"/>
                      </a:lnTo>
                      <a:lnTo>
                        <a:pt x="81" y="676"/>
                      </a:lnTo>
                      <a:lnTo>
                        <a:pt x="98" y="757"/>
                      </a:lnTo>
                      <a:lnTo>
                        <a:pt x="111" y="821"/>
                      </a:lnTo>
                      <a:lnTo>
                        <a:pt x="108" y="848"/>
                      </a:lnTo>
                      <a:lnTo>
                        <a:pt x="152" y="922"/>
                      </a:lnTo>
                      <a:lnTo>
                        <a:pt x="199" y="969"/>
                      </a:lnTo>
                      <a:lnTo>
                        <a:pt x="250" y="1013"/>
                      </a:lnTo>
                      <a:lnTo>
                        <a:pt x="294" y="1034"/>
                      </a:lnTo>
                      <a:lnTo>
                        <a:pt x="294" y="1071"/>
                      </a:lnTo>
                      <a:lnTo>
                        <a:pt x="270" y="1101"/>
                      </a:lnTo>
                      <a:lnTo>
                        <a:pt x="213" y="1111"/>
                      </a:lnTo>
                      <a:lnTo>
                        <a:pt x="172" y="1091"/>
                      </a:lnTo>
                      <a:lnTo>
                        <a:pt x="172" y="1064"/>
                      </a:lnTo>
                      <a:lnTo>
                        <a:pt x="138" y="969"/>
                      </a:lnTo>
                      <a:lnTo>
                        <a:pt x="81" y="919"/>
                      </a:lnTo>
                      <a:lnTo>
                        <a:pt x="40" y="868"/>
                      </a:lnTo>
                      <a:lnTo>
                        <a:pt x="10" y="841"/>
                      </a:lnTo>
                      <a:lnTo>
                        <a:pt x="20" y="807"/>
                      </a:lnTo>
                      <a:lnTo>
                        <a:pt x="37" y="716"/>
                      </a:lnTo>
                      <a:lnTo>
                        <a:pt x="37" y="544"/>
                      </a:lnTo>
                      <a:lnTo>
                        <a:pt x="30" y="422"/>
                      </a:lnTo>
                      <a:lnTo>
                        <a:pt x="30" y="301"/>
                      </a:lnTo>
                      <a:lnTo>
                        <a:pt x="27" y="169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41" name="Group 27"/>
            <p:cNvGrpSpPr/>
            <p:nvPr/>
          </p:nvGrpSpPr>
          <p:grpSpPr>
            <a:xfrm>
              <a:off x="5486400" y="4665784"/>
              <a:ext cx="1219200" cy="750277"/>
              <a:chOff x="5867400" y="2286000"/>
              <a:chExt cx="1981200" cy="1219200"/>
            </a:xfrm>
          </p:grpSpPr>
          <p:pic>
            <p:nvPicPr>
              <p:cNvPr id="43" name="Picture 42" descr="building_house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5867400" y="2362200"/>
                <a:ext cx="1143000" cy="1143000"/>
              </a:xfrm>
              <a:prstGeom prst="rect">
                <a:avLst/>
              </a:prstGeom>
            </p:spPr>
          </p:pic>
          <p:pic>
            <p:nvPicPr>
              <p:cNvPr id="44" name="Picture 43" descr="tree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6781800" y="2286000"/>
                <a:ext cx="1066800" cy="1066800"/>
              </a:xfrm>
              <a:prstGeom prst="rect">
                <a:avLst/>
              </a:prstGeom>
            </p:spPr>
          </p:pic>
        </p:grpSp>
      </p:grpSp>
      <p:grpSp>
        <p:nvGrpSpPr>
          <p:cNvPr id="48" name="Group 47"/>
          <p:cNvGrpSpPr/>
          <p:nvPr/>
        </p:nvGrpSpPr>
        <p:grpSpPr>
          <a:xfrm>
            <a:off x="3505200" y="5334000"/>
            <a:ext cx="2971800" cy="810410"/>
            <a:chOff x="3505200" y="5486400"/>
            <a:chExt cx="3352800" cy="914309"/>
          </a:xfrm>
        </p:grpSpPr>
        <p:grpSp>
          <p:nvGrpSpPr>
            <p:cNvPr id="25" name="Group 26"/>
            <p:cNvGrpSpPr/>
            <p:nvPr/>
          </p:nvGrpSpPr>
          <p:grpSpPr>
            <a:xfrm>
              <a:off x="3505200" y="5562600"/>
              <a:ext cx="896497" cy="651997"/>
              <a:chOff x="1981200" y="4582498"/>
              <a:chExt cx="838200" cy="609600"/>
            </a:xfrm>
          </p:grpSpPr>
          <p:pic>
            <p:nvPicPr>
              <p:cNvPr id="26" name="Picture 3" descr="C:\Users\agember\AppData\Local\Microsoft\Windows\Temporary Internet Files\Content.IE5\XXIPWUPS\MC900441733[1].png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 l="25000" r="25000"/>
              <a:stretch>
                <a:fillRect/>
              </a:stretch>
            </p:blipFill>
            <p:spPr bwMode="auto">
              <a:xfrm rot="2700000">
                <a:off x="2133600" y="4506298"/>
                <a:ext cx="533400" cy="838200"/>
              </a:xfrm>
              <a:prstGeom prst="rect">
                <a:avLst/>
              </a:prstGeom>
              <a:noFill/>
            </p:spPr>
          </p:pic>
          <p:pic>
            <p:nvPicPr>
              <p:cNvPr id="27" name="Picture 26" descr="iphone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133600" y="4582498"/>
                <a:ext cx="476023" cy="533400"/>
              </a:xfrm>
              <a:prstGeom prst="rect">
                <a:avLst/>
              </a:prstGeom>
            </p:spPr>
          </p:pic>
        </p:grpSp>
        <p:grpSp>
          <p:nvGrpSpPr>
            <p:cNvPr id="28" name="Group 27"/>
            <p:cNvGrpSpPr/>
            <p:nvPr/>
          </p:nvGrpSpPr>
          <p:grpSpPr>
            <a:xfrm>
              <a:off x="4419600" y="5562600"/>
              <a:ext cx="590582" cy="768426"/>
              <a:chOff x="2819400" y="4506298"/>
              <a:chExt cx="670560" cy="872489"/>
            </a:xfrm>
          </p:grpSpPr>
          <p:pic>
            <p:nvPicPr>
              <p:cNvPr id="29" name="Picture 28" descr="iphone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flipH="1">
                <a:off x="2971800" y="4506298"/>
                <a:ext cx="476023" cy="533400"/>
              </a:xfrm>
              <a:prstGeom prst="rect">
                <a:avLst/>
              </a:prstGeom>
            </p:spPr>
          </p:pic>
          <p:pic>
            <p:nvPicPr>
              <p:cNvPr id="30" name="Picture 29" descr="pocket.jpg"/>
              <p:cNvPicPr>
                <a:picLocks noChangeAspect="1"/>
              </p:cNvPicPr>
              <p:nvPr/>
            </p:nvPicPr>
            <p:blipFill>
              <a:blip r:embed="rId9" cstate="print"/>
              <a:srcRect l="15539" t="25033" r="15538" b="15538"/>
              <a:stretch>
                <a:fillRect/>
              </a:stretch>
            </p:blipFill>
            <p:spPr>
              <a:xfrm>
                <a:off x="2819400" y="4800600"/>
                <a:ext cx="670560" cy="578187"/>
              </a:xfrm>
              <a:prstGeom prst="rect">
                <a:avLst/>
              </a:prstGeom>
            </p:spPr>
          </p:pic>
        </p:grpSp>
        <p:grpSp>
          <p:nvGrpSpPr>
            <p:cNvPr id="34" name="Group 33"/>
            <p:cNvGrpSpPr/>
            <p:nvPr/>
          </p:nvGrpSpPr>
          <p:grpSpPr>
            <a:xfrm>
              <a:off x="5181600" y="5486400"/>
              <a:ext cx="585525" cy="854389"/>
              <a:chOff x="5105400" y="4724400"/>
              <a:chExt cx="1045132" cy="1525040"/>
            </a:xfrm>
          </p:grpSpPr>
          <p:pic>
            <p:nvPicPr>
              <p:cNvPr id="35" name="Picture 2" descr="C:\Users\agember\AppData\Local\Microsoft\Windows\Temporary Internet Files\Content.IE5\02TZN55D\MC900439428[1].jpg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 l="9091" r="27273" b="7143"/>
              <a:stretch>
                <a:fillRect/>
              </a:stretch>
            </p:blipFill>
            <p:spPr bwMode="auto">
              <a:xfrm>
                <a:off x="5105400" y="4724400"/>
                <a:ext cx="1045132" cy="1525040"/>
              </a:xfrm>
              <a:prstGeom prst="rect">
                <a:avLst/>
              </a:prstGeom>
              <a:noFill/>
            </p:spPr>
          </p:pic>
          <p:pic>
            <p:nvPicPr>
              <p:cNvPr id="36" name="Picture 35" descr="iphone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flipH="1">
                <a:off x="5271466" y="4876800"/>
                <a:ext cx="748334" cy="838534"/>
              </a:xfrm>
              <a:prstGeom prst="rect">
                <a:avLst/>
              </a:prstGeom>
            </p:spPr>
          </p:pic>
          <p:pic>
            <p:nvPicPr>
              <p:cNvPr id="37" name="Picture 2" descr="C:\Users\agember\AppData\Local\Microsoft\Windows\Temporary Internet Files\Content.IE5\02TZN55D\MC900439428[1].jpg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 l="9091" t="41757" r="27273" b="7143"/>
              <a:stretch>
                <a:fillRect/>
              </a:stretch>
            </p:blipFill>
            <p:spPr bwMode="auto">
              <a:xfrm>
                <a:off x="5105400" y="5410200"/>
                <a:ext cx="1045132" cy="839240"/>
              </a:xfrm>
              <a:prstGeom prst="rect">
                <a:avLst/>
              </a:prstGeom>
              <a:noFill/>
            </p:spPr>
          </p:pic>
        </p:grpSp>
        <p:grpSp>
          <p:nvGrpSpPr>
            <p:cNvPr id="45" name="Group 44"/>
            <p:cNvGrpSpPr/>
            <p:nvPr/>
          </p:nvGrpSpPr>
          <p:grpSpPr>
            <a:xfrm>
              <a:off x="6019800" y="5486400"/>
              <a:ext cx="838200" cy="914309"/>
              <a:chOff x="6705600" y="4724400"/>
              <a:chExt cx="1371600" cy="1496142"/>
            </a:xfrm>
          </p:grpSpPr>
          <p:pic>
            <p:nvPicPr>
              <p:cNvPr id="46" name="Picture 2" descr="C:\Users\agember\AppData\Local\Microsoft\Windows\Temporary Internet Files\Content.IE5\5EW569SU\MC900012894[1].wmf"/>
              <p:cNvPicPr>
                <a:picLocks noChangeAspect="1" noChangeArrowheads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6705600" y="4876800"/>
                <a:ext cx="1371600" cy="1343742"/>
              </a:xfrm>
              <a:prstGeom prst="rect">
                <a:avLst/>
              </a:prstGeom>
              <a:noFill/>
            </p:spPr>
          </p:pic>
          <p:pic>
            <p:nvPicPr>
              <p:cNvPr id="47" name="Picture 46" descr="iphone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flipH="1">
                <a:off x="7162800" y="4724400"/>
                <a:ext cx="748334" cy="838534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Impact of Physical Context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667000"/>
          </a:xfrm>
        </p:spPr>
        <p:txBody>
          <a:bodyPr>
            <a:normAutofit/>
          </a:bodyPr>
          <a:lstStyle/>
          <a:p>
            <a:r>
              <a:rPr lang="en-US" dirty="0" err="1" smtClean="0"/>
              <a:t>iPerf</a:t>
            </a:r>
            <a:r>
              <a:rPr lang="en-US" dirty="0" smtClean="0"/>
              <a:t> and ping  from devices we control</a:t>
            </a:r>
          </a:p>
          <a:p>
            <a:pPr lvl="1"/>
            <a:r>
              <a:rPr lang="en-US" dirty="0" smtClean="0"/>
              <a:t>Vary environment (in/out, location,</a:t>
            </a:r>
            <a:br>
              <a:rPr lang="en-US" dirty="0" smtClean="0"/>
            </a:br>
            <a:r>
              <a:rPr lang="en-US" dirty="0" smtClean="0"/>
              <a:t>speed) and position relative to user</a:t>
            </a:r>
          </a:p>
          <a:p>
            <a:pPr lvl="1"/>
            <a:r>
              <a:rPr lang="en-US" dirty="0" smtClean="0"/>
              <a:t>≥ 5 measurements in each position</a:t>
            </a:r>
            <a:br>
              <a:rPr lang="en-US" dirty="0" smtClean="0"/>
            </a:br>
            <a:r>
              <a:rPr lang="en-US" dirty="0" smtClean="0"/>
              <a:t>(round-robin) and environment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400800" y="2590800"/>
            <a:ext cx="2359590" cy="3727135"/>
            <a:chOff x="7010400" y="4030286"/>
            <a:chExt cx="1368990" cy="2162414"/>
          </a:xfrm>
        </p:grpSpPr>
        <p:pic>
          <p:nvPicPr>
            <p:cNvPr id="6" name="Picture 5" descr="android_infuse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10400" y="4648200"/>
              <a:ext cx="838200" cy="1544500"/>
            </a:xfrm>
            <a:prstGeom prst="rect">
              <a:avLst/>
            </a:prstGeom>
          </p:spPr>
        </p:pic>
        <p:pic>
          <p:nvPicPr>
            <p:cNvPr id="7" name="Picture 6" descr="wifi_signal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1800000">
              <a:off x="7350690" y="4030286"/>
              <a:ext cx="1028700" cy="895678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Impact of Environment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Location</a:t>
            </a:r>
          </a:p>
          <a:p>
            <a:pPr lvl="1"/>
            <a:r>
              <a:rPr lang="en-US" dirty="0" smtClean="0"/>
              <a:t>Three offices in</a:t>
            </a:r>
            <a:br>
              <a:rPr lang="en-US" dirty="0" smtClean="0"/>
            </a:br>
            <a:r>
              <a:rPr lang="en-US" dirty="0" smtClean="0"/>
              <a:t>the same building</a:t>
            </a:r>
          </a:p>
          <a:p>
            <a:pPr lvl="1"/>
            <a:endParaRPr lang="en-US" sz="1200" dirty="0" smtClean="0"/>
          </a:p>
          <a:p>
            <a:r>
              <a:rPr lang="en-US" dirty="0" smtClean="0"/>
              <a:t>Stationary vs. moving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</a:rPr>
              <a:t>Walking</a:t>
            </a:r>
            <a:r>
              <a:rPr lang="en-US" dirty="0" smtClean="0"/>
              <a:t> outdoors: 950Kbps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</a:rPr>
              <a:t>Stationary</a:t>
            </a:r>
            <a:r>
              <a:rPr lang="en-US" dirty="0" smtClean="0"/>
              <a:t> outdoors: 1540Kbps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0" y="1447800"/>
          <a:ext cx="4800600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24000"/>
                <a:gridCol w="1676400"/>
                <a:gridCol w="1600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Location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Throughput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Latency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/>
                        <a:t>Indoors 1a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1491 Kbps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416 ms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Indoors</a:t>
                      </a:r>
                      <a:r>
                        <a:rPr lang="en-US" sz="2400" baseline="0" dirty="0" smtClean="0"/>
                        <a:t> 1b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 smtClean="0"/>
                        <a:t>     </a:t>
                      </a:r>
                      <a:r>
                        <a:rPr lang="en-US" sz="2400" dirty="0" smtClean="0"/>
                        <a:t>98 Kbps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475 ms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Indoors 1c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1842 Kbps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412 ms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105400"/>
            <a:ext cx="8229600" cy="10668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Confirm prior results: environment changes </a:t>
            </a:r>
            <a:br>
              <a:rPr lang="en-US" sz="3200" dirty="0" smtClean="0"/>
            </a:br>
            <a:r>
              <a:rPr lang="en-US" sz="3200" dirty="0" smtClean="0"/>
              <a:t>may cause performance differences</a:t>
            </a:r>
            <a:endParaRPr lang="en-US" sz="3200" dirty="0"/>
          </a:p>
        </p:txBody>
      </p:sp>
      <p:grpSp>
        <p:nvGrpSpPr>
          <p:cNvPr id="36" name="Group 35"/>
          <p:cNvGrpSpPr/>
          <p:nvPr/>
        </p:nvGrpSpPr>
        <p:grpSpPr>
          <a:xfrm>
            <a:off x="6324600" y="3733800"/>
            <a:ext cx="1703590" cy="1190668"/>
            <a:chOff x="6324600" y="3733800"/>
            <a:chExt cx="1703590" cy="1190668"/>
          </a:xfrm>
        </p:grpSpPr>
        <p:pic>
          <p:nvPicPr>
            <p:cNvPr id="14" name="Picture 2" descr="C:\Users\agember\AppData\Local\Microsoft\Windows\Temporary Internet Files\Content.IE5\ZQE9104A\MC900078715[1].wmf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315200" y="4038600"/>
              <a:ext cx="712990" cy="885868"/>
            </a:xfrm>
            <a:prstGeom prst="rect">
              <a:avLst/>
            </a:prstGeom>
            <a:noFill/>
          </p:spPr>
        </p:pic>
        <p:grpSp>
          <p:nvGrpSpPr>
            <p:cNvPr id="15" name="Group 13"/>
            <p:cNvGrpSpPr>
              <a:grpSpLocks/>
            </p:cNvGrpSpPr>
            <p:nvPr/>
          </p:nvGrpSpPr>
          <p:grpSpPr bwMode="auto">
            <a:xfrm>
              <a:off x="6324600" y="3886200"/>
              <a:ext cx="379658" cy="1012420"/>
              <a:chOff x="4771" y="1010"/>
              <a:chExt cx="659" cy="2523"/>
            </a:xfrm>
          </p:grpSpPr>
          <p:sp>
            <p:nvSpPr>
              <p:cNvPr id="16" name="Freeform 7"/>
              <p:cNvSpPr>
                <a:spLocks/>
              </p:cNvSpPr>
              <p:nvPr/>
            </p:nvSpPr>
            <p:spPr bwMode="auto">
              <a:xfrm>
                <a:off x="4967" y="1010"/>
                <a:ext cx="425" cy="546"/>
              </a:xfrm>
              <a:custGeom>
                <a:avLst/>
                <a:gdLst/>
                <a:ahLst/>
                <a:cxnLst>
                  <a:cxn ang="0">
                    <a:pos x="0" y="230"/>
                  </a:cxn>
                  <a:cxn ang="0">
                    <a:pos x="31" y="118"/>
                  </a:cxn>
                  <a:cxn ang="0">
                    <a:pos x="71" y="61"/>
                  </a:cxn>
                  <a:cxn ang="0">
                    <a:pos x="122" y="20"/>
                  </a:cxn>
                  <a:cxn ang="0">
                    <a:pos x="173" y="0"/>
                  </a:cxn>
                  <a:cxn ang="0">
                    <a:pos x="240" y="6"/>
                  </a:cxn>
                  <a:cxn ang="0">
                    <a:pos x="284" y="51"/>
                  </a:cxn>
                  <a:cxn ang="0">
                    <a:pos x="324" y="132"/>
                  </a:cxn>
                  <a:cxn ang="0">
                    <a:pos x="341" y="240"/>
                  </a:cxn>
                  <a:cxn ang="0">
                    <a:pos x="341" y="363"/>
                  </a:cxn>
                  <a:cxn ang="0">
                    <a:pos x="422" y="447"/>
                  </a:cxn>
                  <a:cxn ang="0">
                    <a:pos x="425" y="485"/>
                  </a:cxn>
                  <a:cxn ang="0">
                    <a:pos x="412" y="488"/>
                  </a:cxn>
                  <a:cxn ang="0">
                    <a:pos x="334" y="413"/>
                  </a:cxn>
                  <a:cxn ang="0">
                    <a:pos x="311" y="468"/>
                  </a:cxn>
                  <a:cxn ang="0">
                    <a:pos x="264" y="515"/>
                  </a:cxn>
                  <a:cxn ang="0">
                    <a:pos x="220" y="539"/>
                  </a:cxn>
                  <a:cxn ang="0">
                    <a:pos x="149" y="546"/>
                  </a:cxn>
                  <a:cxn ang="0">
                    <a:pos x="58" y="508"/>
                  </a:cxn>
                  <a:cxn ang="0">
                    <a:pos x="17" y="427"/>
                  </a:cxn>
                  <a:cxn ang="0">
                    <a:pos x="0" y="346"/>
                  </a:cxn>
                  <a:cxn ang="0">
                    <a:pos x="0" y="230"/>
                  </a:cxn>
                </a:cxnLst>
                <a:rect l="0" t="0" r="r" b="b"/>
                <a:pathLst>
                  <a:path w="425" h="546">
                    <a:moveTo>
                      <a:pt x="0" y="230"/>
                    </a:moveTo>
                    <a:lnTo>
                      <a:pt x="31" y="118"/>
                    </a:lnTo>
                    <a:lnTo>
                      <a:pt x="71" y="61"/>
                    </a:lnTo>
                    <a:lnTo>
                      <a:pt x="122" y="20"/>
                    </a:lnTo>
                    <a:lnTo>
                      <a:pt x="173" y="0"/>
                    </a:lnTo>
                    <a:lnTo>
                      <a:pt x="240" y="6"/>
                    </a:lnTo>
                    <a:lnTo>
                      <a:pt x="284" y="51"/>
                    </a:lnTo>
                    <a:lnTo>
                      <a:pt x="324" y="132"/>
                    </a:lnTo>
                    <a:lnTo>
                      <a:pt x="341" y="240"/>
                    </a:lnTo>
                    <a:lnTo>
                      <a:pt x="341" y="363"/>
                    </a:lnTo>
                    <a:lnTo>
                      <a:pt x="422" y="447"/>
                    </a:lnTo>
                    <a:lnTo>
                      <a:pt x="425" y="485"/>
                    </a:lnTo>
                    <a:lnTo>
                      <a:pt x="412" y="488"/>
                    </a:lnTo>
                    <a:lnTo>
                      <a:pt x="334" y="413"/>
                    </a:lnTo>
                    <a:lnTo>
                      <a:pt x="311" y="468"/>
                    </a:lnTo>
                    <a:lnTo>
                      <a:pt x="264" y="515"/>
                    </a:lnTo>
                    <a:lnTo>
                      <a:pt x="220" y="539"/>
                    </a:lnTo>
                    <a:lnTo>
                      <a:pt x="149" y="546"/>
                    </a:lnTo>
                    <a:lnTo>
                      <a:pt x="58" y="508"/>
                    </a:lnTo>
                    <a:lnTo>
                      <a:pt x="17" y="427"/>
                    </a:lnTo>
                    <a:lnTo>
                      <a:pt x="0" y="346"/>
                    </a:lnTo>
                    <a:lnTo>
                      <a:pt x="0" y="23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Freeform 8"/>
              <p:cNvSpPr>
                <a:spLocks/>
              </p:cNvSpPr>
              <p:nvPr/>
            </p:nvSpPr>
            <p:spPr bwMode="auto">
              <a:xfrm>
                <a:off x="4923" y="1597"/>
                <a:ext cx="379" cy="879"/>
              </a:xfrm>
              <a:custGeom>
                <a:avLst/>
                <a:gdLst/>
                <a:ahLst/>
                <a:cxnLst>
                  <a:cxn ang="0">
                    <a:pos x="55" y="57"/>
                  </a:cxn>
                  <a:cxn ang="0">
                    <a:pos x="102" y="20"/>
                  </a:cxn>
                  <a:cxn ang="0">
                    <a:pos x="156" y="6"/>
                  </a:cxn>
                  <a:cxn ang="0">
                    <a:pos x="207" y="0"/>
                  </a:cxn>
                  <a:cxn ang="0">
                    <a:pos x="275" y="10"/>
                  </a:cxn>
                  <a:cxn ang="0">
                    <a:pos x="349" y="57"/>
                  </a:cxn>
                  <a:cxn ang="0">
                    <a:pos x="379" y="141"/>
                  </a:cxn>
                  <a:cxn ang="0">
                    <a:pos x="379" y="270"/>
                  </a:cxn>
                  <a:cxn ang="0">
                    <a:pos x="376" y="392"/>
                  </a:cxn>
                  <a:cxn ang="0">
                    <a:pos x="339" y="578"/>
                  </a:cxn>
                  <a:cxn ang="0">
                    <a:pos x="308" y="730"/>
                  </a:cxn>
                  <a:cxn ang="0">
                    <a:pos x="275" y="828"/>
                  </a:cxn>
                  <a:cxn ang="0">
                    <a:pos x="204" y="879"/>
                  </a:cxn>
                  <a:cxn ang="0">
                    <a:pos x="102" y="868"/>
                  </a:cxn>
                  <a:cxn ang="0">
                    <a:pos x="51" y="791"/>
                  </a:cxn>
                  <a:cxn ang="0">
                    <a:pos x="21" y="676"/>
                  </a:cxn>
                  <a:cxn ang="0">
                    <a:pos x="4" y="547"/>
                  </a:cxn>
                  <a:cxn ang="0">
                    <a:pos x="0" y="354"/>
                  </a:cxn>
                  <a:cxn ang="0">
                    <a:pos x="14" y="219"/>
                  </a:cxn>
                  <a:cxn ang="0">
                    <a:pos x="34" y="98"/>
                  </a:cxn>
                  <a:cxn ang="0">
                    <a:pos x="55" y="57"/>
                  </a:cxn>
                </a:cxnLst>
                <a:rect l="0" t="0" r="r" b="b"/>
                <a:pathLst>
                  <a:path w="379" h="879">
                    <a:moveTo>
                      <a:pt x="55" y="57"/>
                    </a:moveTo>
                    <a:lnTo>
                      <a:pt x="102" y="20"/>
                    </a:lnTo>
                    <a:lnTo>
                      <a:pt x="156" y="6"/>
                    </a:lnTo>
                    <a:lnTo>
                      <a:pt x="207" y="0"/>
                    </a:lnTo>
                    <a:lnTo>
                      <a:pt x="275" y="10"/>
                    </a:lnTo>
                    <a:lnTo>
                      <a:pt x="349" y="57"/>
                    </a:lnTo>
                    <a:lnTo>
                      <a:pt x="379" y="141"/>
                    </a:lnTo>
                    <a:lnTo>
                      <a:pt x="379" y="270"/>
                    </a:lnTo>
                    <a:lnTo>
                      <a:pt x="376" y="392"/>
                    </a:lnTo>
                    <a:lnTo>
                      <a:pt x="339" y="578"/>
                    </a:lnTo>
                    <a:lnTo>
                      <a:pt x="308" y="730"/>
                    </a:lnTo>
                    <a:lnTo>
                      <a:pt x="275" y="828"/>
                    </a:lnTo>
                    <a:lnTo>
                      <a:pt x="204" y="879"/>
                    </a:lnTo>
                    <a:lnTo>
                      <a:pt x="102" y="868"/>
                    </a:lnTo>
                    <a:lnTo>
                      <a:pt x="51" y="791"/>
                    </a:lnTo>
                    <a:lnTo>
                      <a:pt x="21" y="676"/>
                    </a:lnTo>
                    <a:lnTo>
                      <a:pt x="4" y="547"/>
                    </a:lnTo>
                    <a:lnTo>
                      <a:pt x="0" y="354"/>
                    </a:lnTo>
                    <a:lnTo>
                      <a:pt x="14" y="219"/>
                    </a:lnTo>
                    <a:lnTo>
                      <a:pt x="34" y="98"/>
                    </a:lnTo>
                    <a:lnTo>
                      <a:pt x="55" y="5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Freeform 9"/>
              <p:cNvSpPr>
                <a:spLocks/>
              </p:cNvSpPr>
              <p:nvPr/>
            </p:nvSpPr>
            <p:spPr bwMode="auto">
              <a:xfrm>
                <a:off x="4771" y="1596"/>
                <a:ext cx="223" cy="1082"/>
              </a:xfrm>
              <a:custGeom>
                <a:avLst/>
                <a:gdLst/>
                <a:ahLst/>
                <a:cxnLst>
                  <a:cxn ang="0">
                    <a:pos x="153" y="7"/>
                  </a:cxn>
                  <a:cxn ang="0">
                    <a:pos x="207" y="0"/>
                  </a:cxn>
                  <a:cxn ang="0">
                    <a:pos x="223" y="48"/>
                  </a:cxn>
                  <a:cxn ang="0">
                    <a:pos x="196" y="109"/>
                  </a:cxn>
                  <a:cxn ang="0">
                    <a:pos x="156" y="142"/>
                  </a:cxn>
                  <a:cxn ang="0">
                    <a:pos x="122" y="223"/>
                  </a:cxn>
                  <a:cxn ang="0">
                    <a:pos x="82" y="332"/>
                  </a:cxn>
                  <a:cxn ang="0">
                    <a:pos x="65" y="433"/>
                  </a:cxn>
                  <a:cxn ang="0">
                    <a:pos x="55" y="605"/>
                  </a:cxn>
                  <a:cxn ang="0">
                    <a:pos x="65" y="767"/>
                  </a:cxn>
                  <a:cxn ang="0">
                    <a:pos x="85" y="842"/>
                  </a:cxn>
                  <a:cxn ang="0">
                    <a:pos x="71" y="923"/>
                  </a:cxn>
                  <a:cxn ang="0">
                    <a:pos x="55" y="984"/>
                  </a:cxn>
                  <a:cxn ang="0">
                    <a:pos x="61" y="1082"/>
                  </a:cxn>
                  <a:cxn ang="0">
                    <a:pos x="34" y="1075"/>
                  </a:cxn>
                  <a:cxn ang="0">
                    <a:pos x="11" y="994"/>
                  </a:cxn>
                  <a:cxn ang="0">
                    <a:pos x="0" y="923"/>
                  </a:cxn>
                  <a:cxn ang="0">
                    <a:pos x="31" y="828"/>
                  </a:cxn>
                  <a:cxn ang="0">
                    <a:pos x="21" y="740"/>
                  </a:cxn>
                  <a:cxn ang="0">
                    <a:pos x="11" y="598"/>
                  </a:cxn>
                  <a:cxn ang="0">
                    <a:pos x="11" y="426"/>
                  </a:cxn>
                  <a:cxn ang="0">
                    <a:pos x="31" y="244"/>
                  </a:cxn>
                  <a:cxn ang="0">
                    <a:pos x="65" y="109"/>
                  </a:cxn>
                  <a:cxn ang="0">
                    <a:pos x="102" y="38"/>
                  </a:cxn>
                  <a:cxn ang="0">
                    <a:pos x="153" y="7"/>
                  </a:cxn>
                </a:cxnLst>
                <a:rect l="0" t="0" r="r" b="b"/>
                <a:pathLst>
                  <a:path w="223" h="1082">
                    <a:moveTo>
                      <a:pt x="153" y="7"/>
                    </a:moveTo>
                    <a:lnTo>
                      <a:pt x="207" y="0"/>
                    </a:lnTo>
                    <a:lnTo>
                      <a:pt x="223" y="48"/>
                    </a:lnTo>
                    <a:lnTo>
                      <a:pt x="196" y="109"/>
                    </a:lnTo>
                    <a:lnTo>
                      <a:pt x="156" y="142"/>
                    </a:lnTo>
                    <a:lnTo>
                      <a:pt x="122" y="223"/>
                    </a:lnTo>
                    <a:lnTo>
                      <a:pt x="82" y="332"/>
                    </a:lnTo>
                    <a:lnTo>
                      <a:pt x="65" y="433"/>
                    </a:lnTo>
                    <a:lnTo>
                      <a:pt x="55" y="605"/>
                    </a:lnTo>
                    <a:lnTo>
                      <a:pt x="65" y="767"/>
                    </a:lnTo>
                    <a:lnTo>
                      <a:pt x="85" y="842"/>
                    </a:lnTo>
                    <a:lnTo>
                      <a:pt x="71" y="923"/>
                    </a:lnTo>
                    <a:lnTo>
                      <a:pt x="55" y="984"/>
                    </a:lnTo>
                    <a:lnTo>
                      <a:pt x="61" y="1082"/>
                    </a:lnTo>
                    <a:lnTo>
                      <a:pt x="34" y="1075"/>
                    </a:lnTo>
                    <a:lnTo>
                      <a:pt x="11" y="994"/>
                    </a:lnTo>
                    <a:lnTo>
                      <a:pt x="0" y="923"/>
                    </a:lnTo>
                    <a:lnTo>
                      <a:pt x="31" y="828"/>
                    </a:lnTo>
                    <a:lnTo>
                      <a:pt x="21" y="740"/>
                    </a:lnTo>
                    <a:lnTo>
                      <a:pt x="11" y="598"/>
                    </a:lnTo>
                    <a:lnTo>
                      <a:pt x="11" y="426"/>
                    </a:lnTo>
                    <a:lnTo>
                      <a:pt x="31" y="244"/>
                    </a:lnTo>
                    <a:lnTo>
                      <a:pt x="65" y="109"/>
                    </a:lnTo>
                    <a:lnTo>
                      <a:pt x="102" y="38"/>
                    </a:lnTo>
                    <a:lnTo>
                      <a:pt x="153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Freeform 10"/>
              <p:cNvSpPr>
                <a:spLocks/>
              </p:cNvSpPr>
              <p:nvPr/>
            </p:nvSpPr>
            <p:spPr bwMode="auto">
              <a:xfrm>
                <a:off x="5258" y="1624"/>
                <a:ext cx="142" cy="1028"/>
              </a:xfrm>
              <a:custGeom>
                <a:avLst/>
                <a:gdLst/>
                <a:ahLst/>
                <a:cxnLst>
                  <a:cxn ang="0">
                    <a:pos x="3" y="3"/>
                  </a:cxn>
                  <a:cxn ang="0">
                    <a:pos x="61" y="0"/>
                  </a:cxn>
                  <a:cxn ang="0">
                    <a:pos x="101" y="81"/>
                  </a:cxn>
                  <a:cxn ang="0">
                    <a:pos x="142" y="304"/>
                  </a:cxn>
                  <a:cxn ang="0">
                    <a:pos x="142" y="561"/>
                  </a:cxn>
                  <a:cxn ang="0">
                    <a:pos x="122" y="781"/>
                  </a:cxn>
                  <a:cxn ang="0">
                    <a:pos x="142" y="856"/>
                  </a:cxn>
                  <a:cxn ang="0">
                    <a:pos x="142" y="957"/>
                  </a:cxn>
                  <a:cxn ang="0">
                    <a:pos x="122" y="1028"/>
                  </a:cxn>
                  <a:cxn ang="0">
                    <a:pos x="95" y="964"/>
                  </a:cxn>
                  <a:cxn ang="0">
                    <a:pos x="81" y="866"/>
                  </a:cxn>
                  <a:cxn ang="0">
                    <a:pos x="51" y="791"/>
                  </a:cxn>
                  <a:cxn ang="0">
                    <a:pos x="85" y="724"/>
                  </a:cxn>
                  <a:cxn ang="0">
                    <a:pos x="105" y="561"/>
                  </a:cxn>
                  <a:cxn ang="0">
                    <a:pos x="105" y="409"/>
                  </a:cxn>
                  <a:cxn ang="0">
                    <a:pos x="85" y="257"/>
                  </a:cxn>
                  <a:cxn ang="0">
                    <a:pos x="44" y="145"/>
                  </a:cxn>
                  <a:cxn ang="0">
                    <a:pos x="0" y="91"/>
                  </a:cxn>
                  <a:cxn ang="0">
                    <a:pos x="3" y="3"/>
                  </a:cxn>
                </a:cxnLst>
                <a:rect l="0" t="0" r="r" b="b"/>
                <a:pathLst>
                  <a:path w="142" h="1028">
                    <a:moveTo>
                      <a:pt x="3" y="3"/>
                    </a:moveTo>
                    <a:lnTo>
                      <a:pt x="61" y="0"/>
                    </a:lnTo>
                    <a:lnTo>
                      <a:pt x="101" y="81"/>
                    </a:lnTo>
                    <a:lnTo>
                      <a:pt x="142" y="304"/>
                    </a:lnTo>
                    <a:lnTo>
                      <a:pt x="142" y="561"/>
                    </a:lnTo>
                    <a:lnTo>
                      <a:pt x="122" y="781"/>
                    </a:lnTo>
                    <a:lnTo>
                      <a:pt x="142" y="856"/>
                    </a:lnTo>
                    <a:lnTo>
                      <a:pt x="142" y="957"/>
                    </a:lnTo>
                    <a:lnTo>
                      <a:pt x="122" y="1028"/>
                    </a:lnTo>
                    <a:lnTo>
                      <a:pt x="95" y="964"/>
                    </a:lnTo>
                    <a:lnTo>
                      <a:pt x="81" y="866"/>
                    </a:lnTo>
                    <a:lnTo>
                      <a:pt x="51" y="791"/>
                    </a:lnTo>
                    <a:lnTo>
                      <a:pt x="85" y="724"/>
                    </a:lnTo>
                    <a:lnTo>
                      <a:pt x="105" y="561"/>
                    </a:lnTo>
                    <a:lnTo>
                      <a:pt x="105" y="409"/>
                    </a:lnTo>
                    <a:lnTo>
                      <a:pt x="85" y="257"/>
                    </a:lnTo>
                    <a:lnTo>
                      <a:pt x="44" y="145"/>
                    </a:lnTo>
                    <a:lnTo>
                      <a:pt x="0" y="91"/>
                    </a:ln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Freeform 11"/>
              <p:cNvSpPr>
                <a:spLocks/>
              </p:cNvSpPr>
              <p:nvPr/>
            </p:nvSpPr>
            <p:spPr bwMode="auto">
              <a:xfrm>
                <a:off x="4923" y="2301"/>
                <a:ext cx="320" cy="1232"/>
              </a:xfrm>
              <a:custGeom>
                <a:avLst/>
                <a:gdLst/>
                <a:ahLst/>
                <a:cxnLst>
                  <a:cxn ang="0">
                    <a:pos x="32" y="0"/>
                  </a:cxn>
                  <a:cxn ang="0">
                    <a:pos x="69" y="51"/>
                  </a:cxn>
                  <a:cxn ang="0">
                    <a:pos x="84" y="103"/>
                  </a:cxn>
                  <a:cxn ang="0">
                    <a:pos x="99" y="282"/>
                  </a:cxn>
                  <a:cxn ang="0">
                    <a:pos x="106" y="402"/>
                  </a:cxn>
                  <a:cxn ang="0">
                    <a:pos x="106" y="607"/>
                  </a:cxn>
                  <a:cxn ang="0">
                    <a:pos x="104" y="800"/>
                  </a:cxn>
                  <a:cxn ang="0">
                    <a:pos x="89" y="954"/>
                  </a:cxn>
                  <a:cxn ang="0">
                    <a:pos x="77" y="1001"/>
                  </a:cxn>
                  <a:cxn ang="0">
                    <a:pos x="155" y="1027"/>
                  </a:cxn>
                  <a:cxn ang="0">
                    <a:pos x="221" y="1057"/>
                  </a:cxn>
                  <a:cxn ang="0">
                    <a:pos x="310" y="1121"/>
                  </a:cxn>
                  <a:cxn ang="0">
                    <a:pos x="320" y="1146"/>
                  </a:cxn>
                  <a:cxn ang="0">
                    <a:pos x="312" y="1194"/>
                  </a:cxn>
                  <a:cxn ang="0">
                    <a:pos x="268" y="1232"/>
                  </a:cxn>
                  <a:cxn ang="0">
                    <a:pos x="251" y="1211"/>
                  </a:cxn>
                  <a:cxn ang="0">
                    <a:pos x="236" y="1159"/>
                  </a:cxn>
                  <a:cxn ang="0">
                    <a:pos x="194" y="1117"/>
                  </a:cxn>
                  <a:cxn ang="0">
                    <a:pos x="121" y="1069"/>
                  </a:cxn>
                  <a:cxn ang="0">
                    <a:pos x="74" y="1057"/>
                  </a:cxn>
                  <a:cxn ang="0">
                    <a:pos x="18" y="1057"/>
                  </a:cxn>
                  <a:cxn ang="0">
                    <a:pos x="18" y="1018"/>
                  </a:cxn>
                  <a:cxn ang="0">
                    <a:pos x="45" y="975"/>
                  </a:cxn>
                  <a:cxn ang="0">
                    <a:pos x="69" y="838"/>
                  </a:cxn>
                  <a:cxn ang="0">
                    <a:pos x="77" y="693"/>
                  </a:cxn>
                  <a:cxn ang="0">
                    <a:pos x="74" y="565"/>
                  </a:cxn>
                  <a:cxn ang="0">
                    <a:pos x="69" y="402"/>
                  </a:cxn>
                  <a:cxn ang="0">
                    <a:pos x="54" y="261"/>
                  </a:cxn>
                  <a:cxn ang="0">
                    <a:pos x="23" y="158"/>
                  </a:cxn>
                  <a:cxn ang="0">
                    <a:pos x="0" y="64"/>
                  </a:cxn>
                  <a:cxn ang="0">
                    <a:pos x="8" y="30"/>
                  </a:cxn>
                  <a:cxn ang="0">
                    <a:pos x="32" y="0"/>
                  </a:cxn>
                </a:cxnLst>
                <a:rect l="0" t="0" r="r" b="b"/>
                <a:pathLst>
                  <a:path w="320" h="1232">
                    <a:moveTo>
                      <a:pt x="32" y="0"/>
                    </a:moveTo>
                    <a:lnTo>
                      <a:pt x="69" y="51"/>
                    </a:lnTo>
                    <a:lnTo>
                      <a:pt x="84" y="103"/>
                    </a:lnTo>
                    <a:lnTo>
                      <a:pt x="99" y="282"/>
                    </a:lnTo>
                    <a:lnTo>
                      <a:pt x="106" y="402"/>
                    </a:lnTo>
                    <a:lnTo>
                      <a:pt x="106" y="607"/>
                    </a:lnTo>
                    <a:lnTo>
                      <a:pt x="104" y="800"/>
                    </a:lnTo>
                    <a:lnTo>
                      <a:pt x="89" y="954"/>
                    </a:lnTo>
                    <a:lnTo>
                      <a:pt x="77" y="1001"/>
                    </a:lnTo>
                    <a:lnTo>
                      <a:pt x="155" y="1027"/>
                    </a:lnTo>
                    <a:lnTo>
                      <a:pt x="221" y="1057"/>
                    </a:lnTo>
                    <a:lnTo>
                      <a:pt x="310" y="1121"/>
                    </a:lnTo>
                    <a:lnTo>
                      <a:pt x="320" y="1146"/>
                    </a:lnTo>
                    <a:lnTo>
                      <a:pt x="312" y="1194"/>
                    </a:lnTo>
                    <a:lnTo>
                      <a:pt x="268" y="1232"/>
                    </a:lnTo>
                    <a:lnTo>
                      <a:pt x="251" y="1211"/>
                    </a:lnTo>
                    <a:lnTo>
                      <a:pt x="236" y="1159"/>
                    </a:lnTo>
                    <a:lnTo>
                      <a:pt x="194" y="1117"/>
                    </a:lnTo>
                    <a:lnTo>
                      <a:pt x="121" y="1069"/>
                    </a:lnTo>
                    <a:lnTo>
                      <a:pt x="74" y="1057"/>
                    </a:lnTo>
                    <a:lnTo>
                      <a:pt x="18" y="1057"/>
                    </a:lnTo>
                    <a:lnTo>
                      <a:pt x="18" y="1018"/>
                    </a:lnTo>
                    <a:lnTo>
                      <a:pt x="45" y="975"/>
                    </a:lnTo>
                    <a:lnTo>
                      <a:pt x="69" y="838"/>
                    </a:lnTo>
                    <a:lnTo>
                      <a:pt x="77" y="693"/>
                    </a:lnTo>
                    <a:lnTo>
                      <a:pt x="74" y="565"/>
                    </a:lnTo>
                    <a:lnTo>
                      <a:pt x="69" y="402"/>
                    </a:lnTo>
                    <a:lnTo>
                      <a:pt x="54" y="261"/>
                    </a:lnTo>
                    <a:lnTo>
                      <a:pt x="23" y="158"/>
                    </a:lnTo>
                    <a:lnTo>
                      <a:pt x="0" y="64"/>
                    </a:lnTo>
                    <a:lnTo>
                      <a:pt x="8" y="30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12"/>
              <p:cNvSpPr>
                <a:spLocks/>
              </p:cNvSpPr>
              <p:nvPr/>
            </p:nvSpPr>
            <p:spPr bwMode="auto">
              <a:xfrm>
                <a:off x="5136" y="2302"/>
                <a:ext cx="294" cy="1111"/>
              </a:xfrm>
              <a:custGeom>
                <a:avLst/>
                <a:gdLst/>
                <a:ahLst/>
                <a:cxnLst>
                  <a:cxn ang="0">
                    <a:pos x="0" y="88"/>
                  </a:cxn>
                  <a:cxn ang="0">
                    <a:pos x="0" y="17"/>
                  </a:cxn>
                  <a:cxn ang="0">
                    <a:pos x="30" y="0"/>
                  </a:cxn>
                  <a:cxn ang="0">
                    <a:pos x="77" y="0"/>
                  </a:cxn>
                  <a:cxn ang="0">
                    <a:pos x="111" y="41"/>
                  </a:cxn>
                  <a:cxn ang="0">
                    <a:pos x="118" y="78"/>
                  </a:cxn>
                  <a:cxn ang="0">
                    <a:pos x="111" y="159"/>
                  </a:cxn>
                  <a:cxn ang="0">
                    <a:pos x="88" y="260"/>
                  </a:cxn>
                  <a:cxn ang="0">
                    <a:pos x="77" y="416"/>
                  </a:cxn>
                  <a:cxn ang="0">
                    <a:pos x="71" y="517"/>
                  </a:cxn>
                  <a:cxn ang="0">
                    <a:pos x="71" y="534"/>
                  </a:cxn>
                  <a:cxn ang="0">
                    <a:pos x="81" y="676"/>
                  </a:cxn>
                  <a:cxn ang="0">
                    <a:pos x="98" y="757"/>
                  </a:cxn>
                  <a:cxn ang="0">
                    <a:pos x="111" y="821"/>
                  </a:cxn>
                  <a:cxn ang="0">
                    <a:pos x="108" y="848"/>
                  </a:cxn>
                  <a:cxn ang="0">
                    <a:pos x="152" y="922"/>
                  </a:cxn>
                  <a:cxn ang="0">
                    <a:pos x="199" y="969"/>
                  </a:cxn>
                  <a:cxn ang="0">
                    <a:pos x="250" y="1013"/>
                  </a:cxn>
                  <a:cxn ang="0">
                    <a:pos x="294" y="1034"/>
                  </a:cxn>
                  <a:cxn ang="0">
                    <a:pos x="294" y="1071"/>
                  </a:cxn>
                  <a:cxn ang="0">
                    <a:pos x="270" y="1101"/>
                  </a:cxn>
                  <a:cxn ang="0">
                    <a:pos x="213" y="1111"/>
                  </a:cxn>
                  <a:cxn ang="0">
                    <a:pos x="172" y="1091"/>
                  </a:cxn>
                  <a:cxn ang="0">
                    <a:pos x="172" y="1064"/>
                  </a:cxn>
                  <a:cxn ang="0">
                    <a:pos x="138" y="969"/>
                  </a:cxn>
                  <a:cxn ang="0">
                    <a:pos x="81" y="919"/>
                  </a:cxn>
                  <a:cxn ang="0">
                    <a:pos x="40" y="868"/>
                  </a:cxn>
                  <a:cxn ang="0">
                    <a:pos x="10" y="841"/>
                  </a:cxn>
                  <a:cxn ang="0">
                    <a:pos x="20" y="807"/>
                  </a:cxn>
                  <a:cxn ang="0">
                    <a:pos x="37" y="716"/>
                  </a:cxn>
                  <a:cxn ang="0">
                    <a:pos x="37" y="544"/>
                  </a:cxn>
                  <a:cxn ang="0">
                    <a:pos x="30" y="422"/>
                  </a:cxn>
                  <a:cxn ang="0">
                    <a:pos x="30" y="301"/>
                  </a:cxn>
                  <a:cxn ang="0">
                    <a:pos x="27" y="169"/>
                  </a:cxn>
                  <a:cxn ang="0">
                    <a:pos x="0" y="88"/>
                  </a:cxn>
                </a:cxnLst>
                <a:rect l="0" t="0" r="r" b="b"/>
                <a:pathLst>
                  <a:path w="294" h="1111">
                    <a:moveTo>
                      <a:pt x="0" y="88"/>
                    </a:moveTo>
                    <a:lnTo>
                      <a:pt x="0" y="17"/>
                    </a:lnTo>
                    <a:lnTo>
                      <a:pt x="30" y="0"/>
                    </a:lnTo>
                    <a:lnTo>
                      <a:pt x="77" y="0"/>
                    </a:lnTo>
                    <a:lnTo>
                      <a:pt x="111" y="41"/>
                    </a:lnTo>
                    <a:lnTo>
                      <a:pt x="118" y="78"/>
                    </a:lnTo>
                    <a:lnTo>
                      <a:pt x="111" y="159"/>
                    </a:lnTo>
                    <a:lnTo>
                      <a:pt x="88" y="260"/>
                    </a:lnTo>
                    <a:lnTo>
                      <a:pt x="77" y="416"/>
                    </a:lnTo>
                    <a:lnTo>
                      <a:pt x="71" y="517"/>
                    </a:lnTo>
                    <a:lnTo>
                      <a:pt x="71" y="534"/>
                    </a:lnTo>
                    <a:lnTo>
                      <a:pt x="81" y="676"/>
                    </a:lnTo>
                    <a:lnTo>
                      <a:pt x="98" y="757"/>
                    </a:lnTo>
                    <a:lnTo>
                      <a:pt x="111" y="821"/>
                    </a:lnTo>
                    <a:lnTo>
                      <a:pt x="108" y="848"/>
                    </a:lnTo>
                    <a:lnTo>
                      <a:pt x="152" y="922"/>
                    </a:lnTo>
                    <a:lnTo>
                      <a:pt x="199" y="969"/>
                    </a:lnTo>
                    <a:lnTo>
                      <a:pt x="250" y="1013"/>
                    </a:lnTo>
                    <a:lnTo>
                      <a:pt x="294" y="1034"/>
                    </a:lnTo>
                    <a:lnTo>
                      <a:pt x="294" y="1071"/>
                    </a:lnTo>
                    <a:lnTo>
                      <a:pt x="270" y="1101"/>
                    </a:lnTo>
                    <a:lnTo>
                      <a:pt x="213" y="1111"/>
                    </a:lnTo>
                    <a:lnTo>
                      <a:pt x="172" y="1091"/>
                    </a:lnTo>
                    <a:lnTo>
                      <a:pt x="172" y="1064"/>
                    </a:lnTo>
                    <a:lnTo>
                      <a:pt x="138" y="969"/>
                    </a:lnTo>
                    <a:lnTo>
                      <a:pt x="81" y="919"/>
                    </a:lnTo>
                    <a:lnTo>
                      <a:pt x="40" y="868"/>
                    </a:lnTo>
                    <a:lnTo>
                      <a:pt x="10" y="841"/>
                    </a:lnTo>
                    <a:lnTo>
                      <a:pt x="20" y="807"/>
                    </a:lnTo>
                    <a:lnTo>
                      <a:pt x="37" y="716"/>
                    </a:lnTo>
                    <a:lnTo>
                      <a:pt x="37" y="544"/>
                    </a:lnTo>
                    <a:lnTo>
                      <a:pt x="30" y="422"/>
                    </a:lnTo>
                    <a:lnTo>
                      <a:pt x="30" y="301"/>
                    </a:lnTo>
                    <a:lnTo>
                      <a:pt x="27" y="169"/>
                    </a:lnTo>
                    <a:lnTo>
                      <a:pt x="0" y="8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pic>
          <p:nvPicPr>
            <p:cNvPr id="27" name="Picture 26" descr="tree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9400" y="373380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389625" y="1894820"/>
            <a:ext cx="4029975" cy="2201757"/>
            <a:chOff x="389625" y="1894820"/>
            <a:chExt cx="4029975" cy="2201757"/>
          </a:xfrm>
        </p:grpSpPr>
        <p:pic>
          <p:nvPicPr>
            <p:cNvPr id="54" name="Picture 53" descr="stationary_handother_iperf_avg.png"/>
            <p:cNvPicPr>
              <a:picLocks noChangeAspect="1"/>
            </p:cNvPicPr>
            <p:nvPr/>
          </p:nvPicPr>
          <p:blipFill>
            <a:blip r:embed="rId3" cstate="print"/>
            <a:srcRect t="9710" b="71528"/>
            <a:stretch>
              <a:fillRect/>
            </a:stretch>
          </p:blipFill>
          <p:spPr>
            <a:xfrm rot="5400000">
              <a:off x="2709122" y="2386098"/>
              <a:ext cx="2201755" cy="1219200"/>
            </a:xfrm>
            <a:prstGeom prst="rect">
              <a:avLst/>
            </a:prstGeom>
          </p:spPr>
        </p:pic>
        <p:pic>
          <p:nvPicPr>
            <p:cNvPr id="20" name="Picture 19" descr="stationary_handother_iperf_avg.png"/>
            <p:cNvPicPr>
              <a:picLocks noChangeAspect="1"/>
            </p:cNvPicPr>
            <p:nvPr/>
          </p:nvPicPr>
          <p:blipFill>
            <a:blip r:embed="rId3" cstate="print"/>
            <a:srcRect t="57919"/>
            <a:stretch>
              <a:fillRect/>
            </a:stretch>
          </p:blipFill>
          <p:spPr>
            <a:xfrm rot="5400000">
              <a:off x="656035" y="1628412"/>
              <a:ext cx="2201755" cy="2734575"/>
            </a:xfrm>
            <a:prstGeom prst="rect">
              <a:avLst/>
            </a:prstGeom>
          </p:spPr>
        </p:pic>
        <p:pic>
          <p:nvPicPr>
            <p:cNvPr id="60" name="Picture 59" descr="stationary_handother_iperf_avg.png"/>
            <p:cNvPicPr>
              <a:picLocks noChangeAspect="1"/>
            </p:cNvPicPr>
            <p:nvPr/>
          </p:nvPicPr>
          <p:blipFill>
            <a:blip r:embed="rId3" cstate="print"/>
            <a:srcRect l="10383" t="41370" r="68852" b="44559"/>
            <a:stretch>
              <a:fillRect/>
            </a:stretch>
          </p:blipFill>
          <p:spPr>
            <a:xfrm rot="5400000">
              <a:off x="3067050" y="1723370"/>
              <a:ext cx="495300" cy="99060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Impact of Device Position</a:t>
            </a:r>
            <a:endParaRPr lang="en-US" dirty="0"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854641" y="4151293"/>
            <a:ext cx="3311292" cy="9541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&gt; 350Kbps difference</a:t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in some locations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pSp>
        <p:nvGrpSpPr>
          <p:cNvPr id="74" name="Group 73"/>
          <p:cNvGrpSpPr/>
          <p:nvPr/>
        </p:nvGrpSpPr>
        <p:grpSpPr>
          <a:xfrm>
            <a:off x="1313486" y="2199620"/>
            <a:ext cx="2761074" cy="1600200"/>
            <a:chOff x="1313486" y="2199620"/>
            <a:chExt cx="2761074" cy="1600200"/>
          </a:xfrm>
        </p:grpSpPr>
        <p:sp>
          <p:nvSpPr>
            <p:cNvPr id="51" name="Up-Down Arrow 50"/>
            <p:cNvSpPr/>
            <p:nvPr/>
          </p:nvSpPr>
          <p:spPr>
            <a:xfrm>
              <a:off x="3886200" y="2199620"/>
              <a:ext cx="188360" cy="341398"/>
            </a:xfrm>
            <a:prstGeom prst="up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Up-Down Arrow 55"/>
            <p:cNvSpPr/>
            <p:nvPr/>
          </p:nvSpPr>
          <p:spPr>
            <a:xfrm>
              <a:off x="1955084" y="3517281"/>
              <a:ext cx="188360" cy="282539"/>
            </a:xfrm>
            <a:prstGeom prst="up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Up-Down Arrow 56"/>
            <p:cNvSpPr/>
            <p:nvPr/>
          </p:nvSpPr>
          <p:spPr>
            <a:xfrm>
              <a:off x="1313486" y="2475416"/>
              <a:ext cx="188360" cy="282539"/>
            </a:xfrm>
            <a:prstGeom prst="up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4724400" y="1983932"/>
            <a:ext cx="3829570" cy="2196888"/>
            <a:chOff x="4724400" y="2286000"/>
            <a:chExt cx="3962400" cy="2273088"/>
          </a:xfrm>
        </p:grpSpPr>
        <p:pic>
          <p:nvPicPr>
            <p:cNvPr id="52" name="Picture 51" descr="stationary_handother_ping_med.png"/>
            <p:cNvPicPr>
              <a:picLocks noChangeAspect="1"/>
            </p:cNvPicPr>
            <p:nvPr/>
          </p:nvPicPr>
          <p:blipFill>
            <a:blip r:embed="rId4" cstate="print"/>
            <a:srcRect t="17742"/>
            <a:stretch>
              <a:fillRect/>
            </a:stretch>
          </p:blipFill>
          <p:spPr>
            <a:xfrm rot="5400000">
              <a:off x="5530956" y="1479444"/>
              <a:ext cx="2273088" cy="3886200"/>
            </a:xfrm>
            <a:prstGeom prst="rect">
              <a:avLst/>
            </a:prstGeom>
          </p:spPr>
        </p:pic>
        <p:pic>
          <p:nvPicPr>
            <p:cNvPr id="66" name="Picture 65" descr="stationary_handother_ping_med.png"/>
            <p:cNvPicPr>
              <a:picLocks noChangeAspect="1"/>
            </p:cNvPicPr>
            <p:nvPr/>
          </p:nvPicPr>
          <p:blipFill>
            <a:blip r:embed="rId4" cstate="print"/>
            <a:srcRect b="98387"/>
            <a:stretch>
              <a:fillRect/>
            </a:stretch>
          </p:blipFill>
          <p:spPr>
            <a:xfrm rot="5400000">
              <a:off x="7512156" y="3384444"/>
              <a:ext cx="2273088" cy="76200"/>
            </a:xfrm>
            <a:prstGeom prst="rect">
              <a:avLst/>
            </a:prstGeom>
          </p:spPr>
        </p:pic>
        <p:pic>
          <p:nvPicPr>
            <p:cNvPr id="68" name="Picture 67" descr="stationary_handother_iperf_avg.png"/>
            <p:cNvPicPr>
              <a:picLocks noChangeAspect="1"/>
            </p:cNvPicPr>
            <p:nvPr/>
          </p:nvPicPr>
          <p:blipFill>
            <a:blip r:embed="rId3" cstate="print"/>
            <a:srcRect l="10383" t="41370" r="68852" b="44559"/>
            <a:stretch>
              <a:fillRect/>
            </a:stretch>
          </p:blipFill>
          <p:spPr>
            <a:xfrm rot="5400000">
              <a:off x="7867650" y="2193209"/>
              <a:ext cx="495300" cy="990601"/>
            </a:xfrm>
            <a:prstGeom prst="rect">
              <a:avLst/>
            </a:prstGeom>
          </p:spPr>
        </p:pic>
      </p:grpSp>
      <p:sp>
        <p:nvSpPr>
          <p:cNvPr id="70" name="TextBox 69"/>
          <p:cNvSpPr txBox="1"/>
          <p:nvPr/>
        </p:nvSpPr>
        <p:spPr>
          <a:xfrm>
            <a:off x="5334000" y="1534180"/>
            <a:ext cx="1329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 smtClean="0"/>
              <a:t>Latency</a:t>
            </a:r>
            <a:endParaRPr lang="en-US" sz="2800" b="1" i="1" dirty="0"/>
          </a:p>
        </p:txBody>
      </p:sp>
      <p:sp>
        <p:nvSpPr>
          <p:cNvPr id="71" name="TextBox 70"/>
          <p:cNvSpPr txBox="1"/>
          <p:nvPr/>
        </p:nvSpPr>
        <p:spPr>
          <a:xfrm>
            <a:off x="5385765" y="4151293"/>
            <a:ext cx="2921890" cy="9541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&gt; 15ms difference </a:t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in some locations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105400"/>
            <a:ext cx="8229600" cy="10668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Devices in different positions may</a:t>
            </a:r>
            <a:br>
              <a:rPr lang="en-US" sz="3200" dirty="0" smtClean="0"/>
            </a:br>
            <a:r>
              <a:rPr lang="en-US" sz="3200" dirty="0" smtClean="0"/>
              <a:t>experience difference performance</a:t>
            </a:r>
            <a:endParaRPr lang="en-US" sz="3200" dirty="0"/>
          </a:p>
        </p:txBody>
      </p:sp>
      <p:sp>
        <p:nvSpPr>
          <p:cNvPr id="13" name="TextBox 12"/>
          <p:cNvSpPr txBox="1"/>
          <p:nvPr/>
        </p:nvSpPr>
        <p:spPr>
          <a:xfrm>
            <a:off x="965874" y="1534180"/>
            <a:ext cx="1938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 smtClean="0"/>
              <a:t>Throughput</a:t>
            </a:r>
            <a:endParaRPr lang="en-US" sz="2800" b="1" i="1" dirty="0"/>
          </a:p>
        </p:txBody>
      </p:sp>
      <p:sp>
        <p:nvSpPr>
          <p:cNvPr id="75" name="Oval 74"/>
          <p:cNvSpPr/>
          <p:nvPr/>
        </p:nvSpPr>
        <p:spPr>
          <a:xfrm>
            <a:off x="6019800" y="2819400"/>
            <a:ext cx="762000" cy="457200"/>
          </a:xfrm>
          <a:prstGeom prst="ellipse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70" grpId="0"/>
      <p:bldP spid="71" grpId="0"/>
      <p:bldP spid="73" grpId="0" animBg="1"/>
      <p:bldP spid="13" grpId="1"/>
      <p:bldP spid="7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causes the performance differences?</a:t>
            </a:r>
          </a:p>
          <a:p>
            <a:pPr lvl="1"/>
            <a:r>
              <a:rPr lang="en-US" dirty="0" smtClean="0"/>
              <a:t>Cell sector</a:t>
            </a:r>
          </a:p>
          <a:p>
            <a:pPr lvl="1"/>
            <a:r>
              <a:rPr lang="en-US" dirty="0" smtClean="0"/>
              <a:t>Signal strength</a:t>
            </a:r>
          </a:p>
          <a:p>
            <a:pPr lvl="1"/>
            <a:r>
              <a:rPr lang="en-US" dirty="0" smtClean="0"/>
              <a:t>Small scale fading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Impact of Device Position</a:t>
            </a:r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295400" y="2438400"/>
            <a:ext cx="1524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1295400" y="2971800"/>
            <a:ext cx="2209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20" name="Picture 19" descr="cell_tower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67400" y="2438400"/>
            <a:ext cx="1714500" cy="2286000"/>
          </a:xfrm>
          <a:prstGeom prst="rect">
            <a:avLst/>
          </a:prstGeom>
        </p:spPr>
      </p:pic>
      <p:pic>
        <p:nvPicPr>
          <p:cNvPr id="22" name="Picture 21" descr="alexofficepm_iperf_positions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5400000">
            <a:off x="2254759" y="3384041"/>
            <a:ext cx="2272289" cy="3429007"/>
          </a:xfrm>
          <a:prstGeom prst="rect">
            <a:avLst/>
          </a:prstGeom>
        </p:spPr>
      </p:pic>
      <p:pic>
        <p:nvPicPr>
          <p:cNvPr id="23" name="Picture 22" descr="alexofficepm_rssi-iperf_positions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5400000">
            <a:off x="5676901" y="3390899"/>
            <a:ext cx="2247143" cy="339014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0" y="3581400"/>
            <a:ext cx="2464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/>
              <a:t>Signal </a:t>
            </a:r>
            <a:r>
              <a:rPr lang="en-US" sz="2800" b="1" i="1" dirty="0" err="1" smtClean="0"/>
              <a:t>stength</a:t>
            </a:r>
            <a:endParaRPr lang="en-US" sz="2800" b="1" i="1" dirty="0"/>
          </a:p>
        </p:txBody>
      </p:sp>
      <p:sp>
        <p:nvSpPr>
          <p:cNvPr id="27" name="TextBox 26"/>
          <p:cNvSpPr txBox="1"/>
          <p:nvPr/>
        </p:nvSpPr>
        <p:spPr>
          <a:xfrm>
            <a:off x="2209800" y="3581400"/>
            <a:ext cx="1938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/>
              <a:t>Throughput</a:t>
            </a:r>
            <a:endParaRPr lang="en-US" sz="2800" b="1" i="1" dirty="0"/>
          </a:p>
        </p:txBody>
      </p:sp>
      <p:grpSp>
        <p:nvGrpSpPr>
          <p:cNvPr id="51" name="Group 50"/>
          <p:cNvGrpSpPr/>
          <p:nvPr/>
        </p:nvGrpSpPr>
        <p:grpSpPr>
          <a:xfrm>
            <a:off x="130965" y="3810000"/>
            <a:ext cx="8784435" cy="2286000"/>
            <a:chOff x="130965" y="3810000"/>
            <a:chExt cx="8784435" cy="2286000"/>
          </a:xfrm>
        </p:grpSpPr>
        <p:sp>
          <p:nvSpPr>
            <p:cNvPr id="47" name="Left Brace 46"/>
            <p:cNvSpPr/>
            <p:nvPr/>
          </p:nvSpPr>
          <p:spPr>
            <a:xfrm>
              <a:off x="1371600" y="3810000"/>
              <a:ext cx="304800" cy="2286000"/>
            </a:xfrm>
            <a:prstGeom prst="leftBrace">
              <a:avLst>
                <a:gd name="adj1" fmla="val 51318"/>
                <a:gd name="adj2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30965" y="4495800"/>
              <a:ext cx="1316835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800" b="1" dirty="0" smtClean="0"/>
                <a:t>Loc 1a</a:t>
              </a:r>
              <a:br>
                <a:rPr lang="en-US" sz="2800" b="1" dirty="0" smtClean="0"/>
              </a:br>
              <a:r>
                <a:rPr lang="en-US" sz="2800" b="1" dirty="0" smtClean="0"/>
                <a:t>Indoors</a:t>
              </a:r>
              <a:endParaRPr lang="en-US" sz="2800" b="1" dirty="0"/>
            </a:p>
          </p:txBody>
        </p:sp>
        <p:sp>
          <p:nvSpPr>
            <p:cNvPr id="50" name="Left Brace 49"/>
            <p:cNvSpPr/>
            <p:nvPr/>
          </p:nvSpPr>
          <p:spPr>
            <a:xfrm flipH="1">
              <a:off x="8610600" y="3810000"/>
              <a:ext cx="304800" cy="2286000"/>
            </a:xfrm>
            <a:prstGeom prst="leftBrace">
              <a:avLst>
                <a:gd name="adj1" fmla="val 51318"/>
                <a:gd name="adj2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Freeform 53"/>
          <p:cNvSpPr/>
          <p:nvPr/>
        </p:nvSpPr>
        <p:spPr>
          <a:xfrm>
            <a:off x="2191109" y="4054415"/>
            <a:ext cx="2363638" cy="1811547"/>
          </a:xfrm>
          <a:custGeom>
            <a:avLst/>
            <a:gdLst>
              <a:gd name="connsiteX0" fmla="*/ 0 w 2363638"/>
              <a:gd name="connsiteY0" fmla="*/ 1811547 h 1811547"/>
              <a:gd name="connsiteX1" fmla="*/ 60385 w 2363638"/>
              <a:gd name="connsiteY1" fmla="*/ 1647645 h 1811547"/>
              <a:gd name="connsiteX2" fmla="*/ 189782 w 2363638"/>
              <a:gd name="connsiteY2" fmla="*/ 1656272 h 1811547"/>
              <a:gd name="connsiteX3" fmla="*/ 250166 w 2363638"/>
              <a:gd name="connsiteY3" fmla="*/ 1595887 h 1811547"/>
              <a:gd name="connsiteX4" fmla="*/ 362310 w 2363638"/>
              <a:gd name="connsiteY4" fmla="*/ 1578634 h 1811547"/>
              <a:gd name="connsiteX5" fmla="*/ 534838 w 2363638"/>
              <a:gd name="connsiteY5" fmla="*/ 1518249 h 1811547"/>
              <a:gd name="connsiteX6" fmla="*/ 621102 w 2363638"/>
              <a:gd name="connsiteY6" fmla="*/ 1414732 h 1811547"/>
              <a:gd name="connsiteX7" fmla="*/ 638355 w 2363638"/>
              <a:gd name="connsiteY7" fmla="*/ 1371600 h 1811547"/>
              <a:gd name="connsiteX8" fmla="*/ 733246 w 2363638"/>
              <a:gd name="connsiteY8" fmla="*/ 1302589 h 1811547"/>
              <a:gd name="connsiteX9" fmla="*/ 767751 w 2363638"/>
              <a:gd name="connsiteY9" fmla="*/ 1199072 h 1811547"/>
              <a:gd name="connsiteX10" fmla="*/ 845389 w 2363638"/>
              <a:gd name="connsiteY10" fmla="*/ 1043796 h 1811547"/>
              <a:gd name="connsiteX11" fmla="*/ 888521 w 2363638"/>
              <a:gd name="connsiteY11" fmla="*/ 923027 h 1811547"/>
              <a:gd name="connsiteX12" fmla="*/ 923027 w 2363638"/>
              <a:gd name="connsiteY12" fmla="*/ 845389 h 1811547"/>
              <a:gd name="connsiteX13" fmla="*/ 1009291 w 2363638"/>
              <a:gd name="connsiteY13" fmla="*/ 802257 h 1811547"/>
              <a:gd name="connsiteX14" fmla="*/ 1043797 w 2363638"/>
              <a:gd name="connsiteY14" fmla="*/ 646981 h 1811547"/>
              <a:gd name="connsiteX15" fmla="*/ 1130061 w 2363638"/>
              <a:gd name="connsiteY15" fmla="*/ 612476 h 1811547"/>
              <a:gd name="connsiteX16" fmla="*/ 1190446 w 2363638"/>
              <a:gd name="connsiteY16" fmla="*/ 362310 h 1811547"/>
              <a:gd name="connsiteX17" fmla="*/ 1207699 w 2363638"/>
              <a:gd name="connsiteY17" fmla="*/ 250166 h 1811547"/>
              <a:gd name="connsiteX18" fmla="*/ 1311216 w 2363638"/>
              <a:gd name="connsiteY18" fmla="*/ 241540 h 1811547"/>
              <a:gd name="connsiteX19" fmla="*/ 1345721 w 2363638"/>
              <a:gd name="connsiteY19" fmla="*/ 112143 h 1811547"/>
              <a:gd name="connsiteX20" fmla="*/ 1475117 w 2363638"/>
              <a:gd name="connsiteY20" fmla="*/ 94891 h 1811547"/>
              <a:gd name="connsiteX21" fmla="*/ 1621766 w 2363638"/>
              <a:gd name="connsiteY21" fmla="*/ 0 h 1811547"/>
              <a:gd name="connsiteX22" fmla="*/ 2363638 w 2363638"/>
              <a:gd name="connsiteY22" fmla="*/ 0 h 1811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363638" h="1811547">
                <a:moveTo>
                  <a:pt x="0" y="1811547"/>
                </a:moveTo>
                <a:lnTo>
                  <a:pt x="60385" y="1647645"/>
                </a:lnTo>
                <a:lnTo>
                  <a:pt x="189782" y="1656272"/>
                </a:lnTo>
                <a:lnTo>
                  <a:pt x="250166" y="1595887"/>
                </a:lnTo>
                <a:lnTo>
                  <a:pt x="362310" y="1578634"/>
                </a:lnTo>
                <a:lnTo>
                  <a:pt x="534838" y="1518249"/>
                </a:lnTo>
                <a:lnTo>
                  <a:pt x="621102" y="1414732"/>
                </a:lnTo>
                <a:lnTo>
                  <a:pt x="638355" y="1371600"/>
                </a:lnTo>
                <a:lnTo>
                  <a:pt x="733246" y="1302589"/>
                </a:lnTo>
                <a:lnTo>
                  <a:pt x="767751" y="1199072"/>
                </a:lnTo>
                <a:lnTo>
                  <a:pt x="845389" y="1043796"/>
                </a:lnTo>
                <a:lnTo>
                  <a:pt x="888521" y="923027"/>
                </a:lnTo>
                <a:lnTo>
                  <a:pt x="923027" y="845389"/>
                </a:lnTo>
                <a:lnTo>
                  <a:pt x="1009291" y="802257"/>
                </a:lnTo>
                <a:lnTo>
                  <a:pt x="1043797" y="646981"/>
                </a:lnTo>
                <a:lnTo>
                  <a:pt x="1130061" y="612476"/>
                </a:lnTo>
                <a:lnTo>
                  <a:pt x="1190446" y="362310"/>
                </a:lnTo>
                <a:lnTo>
                  <a:pt x="1207699" y="250166"/>
                </a:lnTo>
                <a:lnTo>
                  <a:pt x="1311216" y="241540"/>
                </a:lnTo>
                <a:lnTo>
                  <a:pt x="1345721" y="112143"/>
                </a:lnTo>
                <a:lnTo>
                  <a:pt x="1475117" y="94891"/>
                </a:lnTo>
                <a:lnTo>
                  <a:pt x="1621766" y="0"/>
                </a:lnTo>
                <a:lnTo>
                  <a:pt x="2363638" y="0"/>
                </a:lnTo>
              </a:path>
            </a:pathLst>
          </a:cu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 59"/>
          <p:cNvSpPr/>
          <p:nvPr/>
        </p:nvSpPr>
        <p:spPr>
          <a:xfrm>
            <a:off x="6987396" y="4045789"/>
            <a:ext cx="836762" cy="1820173"/>
          </a:xfrm>
          <a:custGeom>
            <a:avLst/>
            <a:gdLst>
              <a:gd name="connsiteX0" fmla="*/ 0 w 836762"/>
              <a:gd name="connsiteY0" fmla="*/ 1820173 h 1820173"/>
              <a:gd name="connsiteX1" fmla="*/ 8627 w 836762"/>
              <a:gd name="connsiteY1" fmla="*/ 1518249 h 1820173"/>
              <a:gd name="connsiteX2" fmla="*/ 146649 w 836762"/>
              <a:gd name="connsiteY2" fmla="*/ 1518249 h 1820173"/>
              <a:gd name="connsiteX3" fmla="*/ 155276 w 836762"/>
              <a:gd name="connsiteY3" fmla="*/ 1173192 h 1820173"/>
              <a:gd name="connsiteX4" fmla="*/ 276046 w 836762"/>
              <a:gd name="connsiteY4" fmla="*/ 1173192 h 1820173"/>
              <a:gd name="connsiteX5" fmla="*/ 284672 w 836762"/>
              <a:gd name="connsiteY5" fmla="*/ 819509 h 1820173"/>
              <a:gd name="connsiteX6" fmla="*/ 405442 w 836762"/>
              <a:gd name="connsiteY6" fmla="*/ 819509 h 1820173"/>
              <a:gd name="connsiteX7" fmla="*/ 414068 w 836762"/>
              <a:gd name="connsiteY7" fmla="*/ 560717 h 1820173"/>
              <a:gd name="connsiteX8" fmla="*/ 552091 w 836762"/>
              <a:gd name="connsiteY8" fmla="*/ 569343 h 1820173"/>
              <a:gd name="connsiteX9" fmla="*/ 552091 w 836762"/>
              <a:gd name="connsiteY9" fmla="*/ 345056 h 1820173"/>
              <a:gd name="connsiteX10" fmla="*/ 690113 w 836762"/>
              <a:gd name="connsiteY10" fmla="*/ 353683 h 1820173"/>
              <a:gd name="connsiteX11" fmla="*/ 698740 w 836762"/>
              <a:gd name="connsiteY11" fmla="*/ 51758 h 1820173"/>
              <a:gd name="connsiteX12" fmla="*/ 836762 w 836762"/>
              <a:gd name="connsiteY12" fmla="*/ 69011 h 1820173"/>
              <a:gd name="connsiteX13" fmla="*/ 836762 w 836762"/>
              <a:gd name="connsiteY13" fmla="*/ 0 h 182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36762" h="1820173">
                <a:moveTo>
                  <a:pt x="0" y="1820173"/>
                </a:moveTo>
                <a:lnTo>
                  <a:pt x="8627" y="1518249"/>
                </a:lnTo>
                <a:lnTo>
                  <a:pt x="146649" y="1518249"/>
                </a:lnTo>
                <a:lnTo>
                  <a:pt x="155276" y="1173192"/>
                </a:lnTo>
                <a:lnTo>
                  <a:pt x="276046" y="1173192"/>
                </a:lnTo>
                <a:lnTo>
                  <a:pt x="284672" y="819509"/>
                </a:lnTo>
                <a:lnTo>
                  <a:pt x="405442" y="819509"/>
                </a:lnTo>
                <a:lnTo>
                  <a:pt x="414068" y="560717"/>
                </a:lnTo>
                <a:lnTo>
                  <a:pt x="552091" y="569343"/>
                </a:lnTo>
                <a:lnTo>
                  <a:pt x="552091" y="345056"/>
                </a:lnTo>
                <a:lnTo>
                  <a:pt x="690113" y="353683"/>
                </a:lnTo>
                <a:lnTo>
                  <a:pt x="698740" y="51758"/>
                </a:lnTo>
                <a:lnTo>
                  <a:pt x="836762" y="69011"/>
                </a:lnTo>
                <a:lnTo>
                  <a:pt x="836762" y="0"/>
                </a:lnTo>
              </a:path>
            </a:pathLst>
          </a:cu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/>
          <p:cNvGrpSpPr/>
          <p:nvPr/>
        </p:nvGrpSpPr>
        <p:grpSpPr>
          <a:xfrm>
            <a:off x="3683478" y="5105400"/>
            <a:ext cx="1117122" cy="184666"/>
            <a:chOff x="3683478" y="5105400"/>
            <a:chExt cx="1117122" cy="184666"/>
          </a:xfrm>
        </p:grpSpPr>
        <p:cxnSp>
          <p:nvCxnSpPr>
            <p:cNvPr id="56" name="Straight Connector 55"/>
            <p:cNvCxnSpPr/>
            <p:nvPr/>
          </p:nvCxnSpPr>
          <p:spPr>
            <a:xfrm>
              <a:off x="3683478" y="5216104"/>
              <a:ext cx="2286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4038600" y="5105400"/>
              <a:ext cx="762000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Hand</a:t>
              </a:r>
              <a:endParaRPr lang="en-US" sz="1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5749504" y="4114800"/>
            <a:ext cx="1108496" cy="184666"/>
            <a:chOff x="5749504" y="4114800"/>
            <a:chExt cx="1108496" cy="184666"/>
          </a:xfrm>
        </p:grpSpPr>
        <p:cxnSp>
          <p:nvCxnSpPr>
            <p:cNvPr id="59" name="Straight Connector 58"/>
            <p:cNvCxnSpPr/>
            <p:nvPr/>
          </p:nvCxnSpPr>
          <p:spPr>
            <a:xfrm>
              <a:off x="5749504" y="4208252"/>
              <a:ext cx="2286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6096000" y="4114800"/>
              <a:ext cx="762000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Hand</a:t>
              </a:r>
              <a:endParaRPr lang="en-US" sz="1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67" name="Freeform 66"/>
          <p:cNvSpPr/>
          <p:nvPr/>
        </p:nvSpPr>
        <p:spPr>
          <a:xfrm>
            <a:off x="2199736" y="4054415"/>
            <a:ext cx="2700068" cy="1820174"/>
          </a:xfrm>
          <a:custGeom>
            <a:avLst/>
            <a:gdLst>
              <a:gd name="connsiteX0" fmla="*/ 0 w 2700068"/>
              <a:gd name="connsiteY0" fmla="*/ 1820174 h 1820174"/>
              <a:gd name="connsiteX1" fmla="*/ 69011 w 2700068"/>
              <a:gd name="connsiteY1" fmla="*/ 1759789 h 1820174"/>
              <a:gd name="connsiteX2" fmla="*/ 414068 w 2700068"/>
              <a:gd name="connsiteY2" fmla="*/ 1777042 h 1820174"/>
              <a:gd name="connsiteX3" fmla="*/ 577970 w 2700068"/>
              <a:gd name="connsiteY3" fmla="*/ 1664898 h 1820174"/>
              <a:gd name="connsiteX4" fmla="*/ 664234 w 2700068"/>
              <a:gd name="connsiteY4" fmla="*/ 1621766 h 1820174"/>
              <a:gd name="connsiteX5" fmla="*/ 785004 w 2700068"/>
              <a:gd name="connsiteY5" fmla="*/ 1613140 h 1820174"/>
              <a:gd name="connsiteX6" fmla="*/ 845389 w 2700068"/>
              <a:gd name="connsiteY6" fmla="*/ 1518249 h 1820174"/>
              <a:gd name="connsiteX7" fmla="*/ 897147 w 2700068"/>
              <a:gd name="connsiteY7" fmla="*/ 1518249 h 1820174"/>
              <a:gd name="connsiteX8" fmla="*/ 948906 w 2700068"/>
              <a:gd name="connsiteY8" fmla="*/ 1406106 h 1820174"/>
              <a:gd name="connsiteX9" fmla="*/ 1017917 w 2700068"/>
              <a:gd name="connsiteY9" fmla="*/ 1345721 h 1820174"/>
              <a:gd name="connsiteX10" fmla="*/ 1086928 w 2700068"/>
              <a:gd name="connsiteY10" fmla="*/ 1337094 h 1820174"/>
              <a:gd name="connsiteX11" fmla="*/ 1147313 w 2700068"/>
              <a:gd name="connsiteY11" fmla="*/ 1250830 h 1820174"/>
              <a:gd name="connsiteX12" fmla="*/ 1199072 w 2700068"/>
              <a:gd name="connsiteY12" fmla="*/ 1130060 h 1820174"/>
              <a:gd name="connsiteX13" fmla="*/ 1250830 w 2700068"/>
              <a:gd name="connsiteY13" fmla="*/ 1043796 h 1820174"/>
              <a:gd name="connsiteX14" fmla="*/ 1319841 w 2700068"/>
              <a:gd name="connsiteY14" fmla="*/ 974785 h 1820174"/>
              <a:gd name="connsiteX15" fmla="*/ 1362973 w 2700068"/>
              <a:gd name="connsiteY15" fmla="*/ 871268 h 1820174"/>
              <a:gd name="connsiteX16" fmla="*/ 1362973 w 2700068"/>
              <a:gd name="connsiteY16" fmla="*/ 871268 h 1820174"/>
              <a:gd name="connsiteX17" fmla="*/ 1431985 w 2700068"/>
              <a:gd name="connsiteY17" fmla="*/ 759125 h 1820174"/>
              <a:gd name="connsiteX18" fmla="*/ 1535502 w 2700068"/>
              <a:gd name="connsiteY18" fmla="*/ 629728 h 1820174"/>
              <a:gd name="connsiteX19" fmla="*/ 1639019 w 2700068"/>
              <a:gd name="connsiteY19" fmla="*/ 517585 h 1820174"/>
              <a:gd name="connsiteX20" fmla="*/ 1725283 w 2700068"/>
              <a:gd name="connsiteY20" fmla="*/ 370936 h 1820174"/>
              <a:gd name="connsiteX21" fmla="*/ 1794294 w 2700068"/>
              <a:gd name="connsiteY21" fmla="*/ 301925 h 1820174"/>
              <a:gd name="connsiteX22" fmla="*/ 1863306 w 2700068"/>
              <a:gd name="connsiteY22" fmla="*/ 267419 h 1820174"/>
              <a:gd name="connsiteX23" fmla="*/ 1915064 w 2700068"/>
              <a:gd name="connsiteY23" fmla="*/ 146649 h 1820174"/>
              <a:gd name="connsiteX24" fmla="*/ 1966822 w 2700068"/>
              <a:gd name="connsiteY24" fmla="*/ 146649 h 1820174"/>
              <a:gd name="connsiteX25" fmla="*/ 1992702 w 2700068"/>
              <a:gd name="connsiteY25" fmla="*/ 120770 h 1820174"/>
              <a:gd name="connsiteX26" fmla="*/ 2053087 w 2700068"/>
              <a:gd name="connsiteY26" fmla="*/ 120770 h 1820174"/>
              <a:gd name="connsiteX27" fmla="*/ 2104845 w 2700068"/>
              <a:gd name="connsiteY27" fmla="*/ 25879 h 1820174"/>
              <a:gd name="connsiteX28" fmla="*/ 2700068 w 2700068"/>
              <a:gd name="connsiteY28" fmla="*/ 0 h 1820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700068" h="1820174">
                <a:moveTo>
                  <a:pt x="0" y="1820174"/>
                </a:moveTo>
                <a:lnTo>
                  <a:pt x="69011" y="1759789"/>
                </a:lnTo>
                <a:lnTo>
                  <a:pt x="414068" y="1777042"/>
                </a:lnTo>
                <a:lnTo>
                  <a:pt x="577970" y="1664898"/>
                </a:lnTo>
                <a:lnTo>
                  <a:pt x="664234" y="1621766"/>
                </a:lnTo>
                <a:lnTo>
                  <a:pt x="785004" y="1613140"/>
                </a:lnTo>
                <a:lnTo>
                  <a:pt x="845389" y="1518249"/>
                </a:lnTo>
                <a:lnTo>
                  <a:pt x="897147" y="1518249"/>
                </a:lnTo>
                <a:lnTo>
                  <a:pt x="948906" y="1406106"/>
                </a:lnTo>
                <a:lnTo>
                  <a:pt x="1017917" y="1345721"/>
                </a:lnTo>
                <a:lnTo>
                  <a:pt x="1086928" y="1337094"/>
                </a:lnTo>
                <a:lnTo>
                  <a:pt x="1147313" y="1250830"/>
                </a:lnTo>
                <a:lnTo>
                  <a:pt x="1199072" y="1130060"/>
                </a:lnTo>
                <a:lnTo>
                  <a:pt x="1250830" y="1043796"/>
                </a:lnTo>
                <a:lnTo>
                  <a:pt x="1319841" y="974785"/>
                </a:lnTo>
                <a:lnTo>
                  <a:pt x="1362973" y="871268"/>
                </a:lnTo>
                <a:lnTo>
                  <a:pt x="1362973" y="871268"/>
                </a:lnTo>
                <a:lnTo>
                  <a:pt x="1431985" y="759125"/>
                </a:lnTo>
                <a:lnTo>
                  <a:pt x="1535502" y="629728"/>
                </a:lnTo>
                <a:lnTo>
                  <a:pt x="1639019" y="517585"/>
                </a:lnTo>
                <a:lnTo>
                  <a:pt x="1725283" y="370936"/>
                </a:lnTo>
                <a:lnTo>
                  <a:pt x="1794294" y="301925"/>
                </a:lnTo>
                <a:lnTo>
                  <a:pt x="1863306" y="267419"/>
                </a:lnTo>
                <a:lnTo>
                  <a:pt x="1915064" y="146649"/>
                </a:lnTo>
                <a:lnTo>
                  <a:pt x="1966822" y="146649"/>
                </a:lnTo>
                <a:lnTo>
                  <a:pt x="1992702" y="120770"/>
                </a:lnTo>
                <a:lnTo>
                  <a:pt x="2053087" y="120770"/>
                </a:lnTo>
                <a:lnTo>
                  <a:pt x="2104845" y="25879"/>
                </a:lnTo>
                <a:lnTo>
                  <a:pt x="270006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Group 67"/>
          <p:cNvGrpSpPr/>
          <p:nvPr/>
        </p:nvGrpSpPr>
        <p:grpSpPr>
          <a:xfrm>
            <a:off x="3683478" y="5588478"/>
            <a:ext cx="1117122" cy="184666"/>
            <a:chOff x="3683478" y="5131278"/>
            <a:chExt cx="1117122" cy="184666"/>
          </a:xfrm>
        </p:grpSpPr>
        <p:cxnSp>
          <p:nvCxnSpPr>
            <p:cNvPr id="69" name="Straight Connector 68"/>
            <p:cNvCxnSpPr/>
            <p:nvPr/>
          </p:nvCxnSpPr>
          <p:spPr>
            <a:xfrm>
              <a:off x="3683478" y="5216104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0" name="TextBox 69"/>
            <p:cNvSpPr txBox="1"/>
            <p:nvPr/>
          </p:nvSpPr>
          <p:spPr>
            <a:xfrm>
              <a:off x="4038600" y="5131278"/>
              <a:ext cx="762000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dirty="0" smtClean="0">
                  <a:solidFill>
                    <a:schemeClr val="accent1"/>
                  </a:solidFill>
                  <a:latin typeface="Arial" pitchFamily="34" charset="0"/>
                  <a:cs typeface="Arial" pitchFamily="34" charset="0"/>
                </a:rPr>
                <a:t>Pocket</a:t>
              </a:r>
              <a:endParaRPr lang="en-US" sz="12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5749504" y="4580626"/>
            <a:ext cx="1117122" cy="184666"/>
            <a:chOff x="3683478" y="5131278"/>
            <a:chExt cx="1117122" cy="184666"/>
          </a:xfrm>
        </p:grpSpPr>
        <p:cxnSp>
          <p:nvCxnSpPr>
            <p:cNvPr id="72" name="Straight Connector 71"/>
            <p:cNvCxnSpPr/>
            <p:nvPr/>
          </p:nvCxnSpPr>
          <p:spPr>
            <a:xfrm>
              <a:off x="3683478" y="5216104"/>
              <a:ext cx="228600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3" name="TextBox 72"/>
            <p:cNvSpPr txBox="1"/>
            <p:nvPr/>
          </p:nvSpPr>
          <p:spPr>
            <a:xfrm>
              <a:off x="4038600" y="5131278"/>
              <a:ext cx="762000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dirty="0" smtClean="0">
                  <a:solidFill>
                    <a:schemeClr val="accent1"/>
                  </a:solidFill>
                  <a:latin typeface="Arial" pitchFamily="34" charset="0"/>
                  <a:cs typeface="Arial" pitchFamily="34" charset="0"/>
                </a:rPr>
                <a:t>Pocket</a:t>
              </a:r>
              <a:endParaRPr lang="en-US" sz="12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74" name="Freeform 73"/>
          <p:cNvSpPr/>
          <p:nvPr/>
        </p:nvSpPr>
        <p:spPr>
          <a:xfrm>
            <a:off x="6435306" y="4054415"/>
            <a:ext cx="828136" cy="1828800"/>
          </a:xfrm>
          <a:custGeom>
            <a:avLst/>
            <a:gdLst>
              <a:gd name="connsiteX0" fmla="*/ 8626 w 828136"/>
              <a:gd name="connsiteY0" fmla="*/ 1828800 h 1828800"/>
              <a:gd name="connsiteX1" fmla="*/ 8626 w 828136"/>
              <a:gd name="connsiteY1" fmla="*/ 1828800 h 1828800"/>
              <a:gd name="connsiteX2" fmla="*/ 0 w 828136"/>
              <a:gd name="connsiteY2" fmla="*/ 1742536 h 1828800"/>
              <a:gd name="connsiteX3" fmla="*/ 155275 w 828136"/>
              <a:gd name="connsiteY3" fmla="*/ 1751162 h 1828800"/>
              <a:gd name="connsiteX4" fmla="*/ 146649 w 828136"/>
              <a:gd name="connsiteY4" fmla="*/ 1544128 h 1828800"/>
              <a:gd name="connsiteX5" fmla="*/ 284671 w 828136"/>
              <a:gd name="connsiteY5" fmla="*/ 1544128 h 1828800"/>
              <a:gd name="connsiteX6" fmla="*/ 284671 w 828136"/>
              <a:gd name="connsiteY6" fmla="*/ 1311215 h 1828800"/>
              <a:gd name="connsiteX7" fmla="*/ 422694 w 828136"/>
              <a:gd name="connsiteY7" fmla="*/ 1311215 h 1828800"/>
              <a:gd name="connsiteX8" fmla="*/ 431320 w 828136"/>
              <a:gd name="connsiteY8" fmla="*/ 1104181 h 1828800"/>
              <a:gd name="connsiteX9" fmla="*/ 560717 w 828136"/>
              <a:gd name="connsiteY9" fmla="*/ 1104181 h 1828800"/>
              <a:gd name="connsiteX10" fmla="*/ 560717 w 828136"/>
              <a:gd name="connsiteY10" fmla="*/ 414068 h 1828800"/>
              <a:gd name="connsiteX11" fmla="*/ 690113 w 828136"/>
              <a:gd name="connsiteY11" fmla="*/ 414068 h 1828800"/>
              <a:gd name="connsiteX12" fmla="*/ 698739 w 828136"/>
              <a:gd name="connsiteY12" fmla="*/ 0 h 1828800"/>
              <a:gd name="connsiteX13" fmla="*/ 828136 w 828136"/>
              <a:gd name="connsiteY13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28136" h="1828800">
                <a:moveTo>
                  <a:pt x="8626" y="1828800"/>
                </a:moveTo>
                <a:lnTo>
                  <a:pt x="8626" y="1828800"/>
                </a:lnTo>
                <a:lnTo>
                  <a:pt x="0" y="1742536"/>
                </a:lnTo>
                <a:lnTo>
                  <a:pt x="155275" y="1751162"/>
                </a:lnTo>
                <a:lnTo>
                  <a:pt x="146649" y="1544128"/>
                </a:lnTo>
                <a:lnTo>
                  <a:pt x="284671" y="1544128"/>
                </a:lnTo>
                <a:lnTo>
                  <a:pt x="284671" y="1311215"/>
                </a:lnTo>
                <a:lnTo>
                  <a:pt x="422694" y="1311215"/>
                </a:lnTo>
                <a:lnTo>
                  <a:pt x="431320" y="1104181"/>
                </a:lnTo>
                <a:lnTo>
                  <a:pt x="560717" y="1104181"/>
                </a:lnTo>
                <a:lnTo>
                  <a:pt x="560717" y="414068"/>
                </a:lnTo>
                <a:lnTo>
                  <a:pt x="690113" y="414068"/>
                </a:lnTo>
                <a:lnTo>
                  <a:pt x="698739" y="0"/>
                </a:lnTo>
                <a:lnTo>
                  <a:pt x="82813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 uiExpand="1" build="p"/>
      <p:bldP spid="24" grpId="0"/>
      <p:bldP spid="27" grpId="0"/>
      <p:bldP spid="54" grpId="0" animBg="1"/>
      <p:bldP spid="60" grpId="0" animBg="1"/>
      <p:bldP spid="67" grpId="0" animBg="1"/>
      <p:bldP spid="7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of Guidelines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dirty="0" smtClean="0">
                <a:solidFill>
                  <a:srgbClr val="C00000"/>
                </a:solidFill>
              </a:rPr>
              <a:t>In-context measurements must be conducted:</a:t>
            </a:r>
            <a:endParaRPr lang="en-US" dirty="0" smtClean="0"/>
          </a:p>
          <a:p>
            <a:pPr marL="514350" indent="-514350">
              <a:spcBef>
                <a:spcPts val="1600"/>
              </a:spcBef>
              <a:spcAft>
                <a:spcPts val="1600"/>
              </a:spcAft>
              <a:buFont typeface="+mj-lt"/>
              <a:buAutoNum type="arabicParenR"/>
            </a:pPr>
            <a:r>
              <a:rPr lang="en-US" sz="3000" dirty="0" smtClean="0"/>
              <a:t>Only on devices which are actively used</a:t>
            </a:r>
            <a:endParaRPr lang="en-US" sz="2200" dirty="0" smtClean="0"/>
          </a:p>
          <a:p>
            <a:pPr marL="514350" indent="-514350">
              <a:spcBef>
                <a:spcPts val="1600"/>
              </a:spcBef>
              <a:spcAft>
                <a:spcPts val="1600"/>
              </a:spcAft>
              <a:buFont typeface="+mj-lt"/>
              <a:buAutoNum type="arabicParenR"/>
            </a:pPr>
            <a:r>
              <a:rPr lang="en-US" sz="3000" dirty="0" smtClean="0"/>
              <a:t>On devices in the same position and </a:t>
            </a:r>
            <a:br>
              <a:rPr lang="en-US" sz="3000" dirty="0" smtClean="0"/>
            </a:br>
            <a:r>
              <a:rPr lang="en-US" sz="3000" dirty="0" smtClean="0"/>
              <a:t>environment where they are actively used</a:t>
            </a:r>
            <a:endParaRPr lang="en-US" sz="2200" dirty="0" smtClean="0"/>
          </a:p>
          <a:p>
            <a:pPr marL="514350" indent="-514350">
              <a:spcBef>
                <a:spcPts val="1600"/>
              </a:spcBef>
              <a:spcAft>
                <a:spcPts val="1600"/>
              </a:spcAft>
              <a:buFont typeface="+mj-lt"/>
              <a:buAutoNum type="arabicParenR"/>
            </a:pPr>
            <a:r>
              <a:rPr lang="en-US" sz="3000" dirty="0" smtClean="0"/>
              <a:t>At times when only low-bandwidth, </a:t>
            </a:r>
            <a:br>
              <a:rPr lang="en-US" sz="3000" dirty="0" smtClean="0"/>
            </a:br>
            <a:r>
              <a:rPr lang="en-US" sz="3000" dirty="0" smtClean="0"/>
              <a:t>non-jitter-sensitive user traffic is present</a:t>
            </a: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7315200" y="2133600"/>
            <a:ext cx="1165412" cy="990600"/>
            <a:chOff x="5410200" y="1981200"/>
            <a:chExt cx="1524000" cy="1295400"/>
          </a:xfrm>
        </p:grpSpPr>
        <p:pic>
          <p:nvPicPr>
            <p:cNvPr id="5" name="Picture 4" descr="person_headphones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8800" y="1981200"/>
              <a:ext cx="1295400" cy="1295400"/>
            </a:xfrm>
            <a:prstGeom prst="rect">
              <a:avLst/>
            </a:prstGeom>
          </p:spPr>
        </p:pic>
        <p:pic>
          <p:nvPicPr>
            <p:cNvPr id="6" name="Picture 5" descr="iphone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200" y="2362200"/>
              <a:ext cx="685800" cy="768463"/>
            </a:xfrm>
            <a:prstGeom prst="rect">
              <a:avLst/>
            </a:prstGeom>
          </p:spPr>
        </p:pic>
      </p:grpSp>
      <p:pic>
        <p:nvPicPr>
          <p:cNvPr id="10" name="Picture 9" descr="email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162800" y="4572000"/>
            <a:ext cx="838200" cy="838200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848600" y="5029200"/>
            <a:ext cx="691737" cy="685800"/>
            <a:chOff x="5410200" y="5334000"/>
            <a:chExt cx="845457" cy="838200"/>
          </a:xfrm>
        </p:grpSpPr>
        <p:pic>
          <p:nvPicPr>
            <p:cNvPr id="11" name="Picture 10" descr="globe3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10200" y="5334000"/>
              <a:ext cx="698500" cy="698500"/>
            </a:xfrm>
            <a:prstGeom prst="rect">
              <a:avLst/>
            </a:prstGeom>
          </p:spPr>
        </p:pic>
        <p:pic>
          <p:nvPicPr>
            <p:cNvPr id="12" name="Picture 5" descr="C:\Users\agember\AppData\Local\Microsoft\Windows\Temporary Internet Files\Content.IE5\5EW569SU\MC900434828[1]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689600" y="5613400"/>
              <a:ext cx="566057" cy="558800"/>
            </a:xfrm>
            <a:prstGeom prst="rect">
              <a:avLst/>
            </a:prstGeom>
            <a:noFill/>
          </p:spPr>
        </p:pic>
      </p:grpSp>
      <p:pic>
        <p:nvPicPr>
          <p:cNvPr id="15" name="Picture 2" descr="C:\Users\agember\AppData\Local\Microsoft\Windows\Temporary Internet Files\Content.IE5\ZQE9104A\MC900078715[1].wmf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848600" y="3657600"/>
            <a:ext cx="674625" cy="838200"/>
          </a:xfrm>
          <a:prstGeom prst="rect">
            <a:avLst/>
          </a:prstGeom>
          <a:noFill/>
        </p:spPr>
      </p:pic>
      <p:grpSp>
        <p:nvGrpSpPr>
          <p:cNvPr id="14" name="Group 26"/>
          <p:cNvGrpSpPr/>
          <p:nvPr/>
        </p:nvGrpSpPr>
        <p:grpSpPr>
          <a:xfrm>
            <a:off x="7391400" y="3352800"/>
            <a:ext cx="711199" cy="533400"/>
            <a:chOff x="1981200" y="4582498"/>
            <a:chExt cx="838200" cy="609600"/>
          </a:xfrm>
        </p:grpSpPr>
        <p:pic>
          <p:nvPicPr>
            <p:cNvPr id="16" name="Picture 3" descr="C:\Users\agember\AppData\Local\Microsoft\Windows\Temporary Internet Files\Content.IE5\XXIPWUPS\MC900441733[1].png"/>
            <p:cNvPicPr>
              <a:picLocks noChangeAspect="1" noChangeArrowheads="1"/>
            </p:cNvPicPr>
            <p:nvPr/>
          </p:nvPicPr>
          <p:blipFill>
            <a:blip r:embed="rId8" cstate="print"/>
            <a:srcRect l="25000" r="25000"/>
            <a:stretch>
              <a:fillRect/>
            </a:stretch>
          </p:blipFill>
          <p:spPr bwMode="auto">
            <a:xfrm rot="2700000">
              <a:off x="2133600" y="4506298"/>
              <a:ext cx="533400" cy="838200"/>
            </a:xfrm>
            <a:prstGeom prst="rect">
              <a:avLst/>
            </a:prstGeom>
            <a:noFill/>
          </p:spPr>
        </p:pic>
        <p:pic>
          <p:nvPicPr>
            <p:cNvPr id="17" name="Picture 16" descr="iphone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3600" y="4582498"/>
              <a:ext cx="476023" cy="5334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Measurement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458200" cy="4525963"/>
          </a:xfrm>
        </p:spPr>
        <p:txBody>
          <a:bodyPr>
            <a:normAutofit lnSpcReduction="10000"/>
          </a:bodyPr>
          <a:lstStyle/>
          <a:p>
            <a:r>
              <a:rPr lang="en-US" dirty="0" err="1" smtClean="0"/>
              <a:t>Crowdsource</a:t>
            </a:r>
            <a:r>
              <a:rPr lang="en-US" dirty="0" smtClean="0"/>
              <a:t> in-context active measurements</a:t>
            </a:r>
          </a:p>
          <a:p>
            <a:pPr lvl="1"/>
            <a:r>
              <a:rPr lang="en-US" dirty="0" smtClean="0"/>
              <a:t>Android-based prototype run by 12 volunteers</a:t>
            </a:r>
            <a:br>
              <a:rPr lang="en-US" dirty="0" smtClean="0"/>
            </a:b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Throughput measurements gathered</a:t>
            </a:r>
          </a:p>
          <a:p>
            <a:pPr lvl="1"/>
            <a:r>
              <a:rPr lang="en-US" b="1" dirty="0" smtClean="0"/>
              <a:t>Ground Truth</a:t>
            </a:r>
            <a:r>
              <a:rPr lang="en-US" dirty="0" smtClean="0"/>
              <a:t>: screen on; no network activity</a:t>
            </a:r>
          </a:p>
          <a:p>
            <a:pPr lvl="1"/>
            <a:r>
              <a:rPr lang="en-US" b="1" dirty="0" smtClean="0"/>
              <a:t>In-Context</a:t>
            </a:r>
            <a:r>
              <a:rPr lang="en-US" dirty="0" smtClean="0"/>
              <a:t>: follows guidelines</a:t>
            </a:r>
          </a:p>
          <a:p>
            <a:pPr lvl="1"/>
            <a:r>
              <a:rPr lang="en-US" b="1" dirty="0" smtClean="0"/>
              <a:t>Random:</a:t>
            </a:r>
            <a:r>
              <a:rPr lang="en-US" dirty="0" smtClean="0"/>
              <a:t> every 2-4 hours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18</a:t>
            </a:fld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838200" y="2743200"/>
            <a:ext cx="7391400" cy="1054747"/>
            <a:chOff x="304800" y="2281237"/>
            <a:chExt cx="8610600" cy="1228726"/>
          </a:xfrm>
        </p:grpSpPr>
        <p:pic>
          <p:nvPicPr>
            <p:cNvPr id="7" name="Picture 6" descr="android_nexus_one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6150" y="2286000"/>
              <a:ext cx="662609" cy="1219200"/>
            </a:xfrm>
            <a:prstGeom prst="rect">
              <a:avLst/>
            </a:prstGeom>
          </p:spPr>
        </p:pic>
        <p:pic>
          <p:nvPicPr>
            <p:cNvPr id="8" name="Picture 7" descr="android_infuse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97445" y="2362200"/>
              <a:ext cx="620305" cy="1143000"/>
            </a:xfrm>
            <a:prstGeom prst="rect">
              <a:avLst/>
            </a:prstGeom>
          </p:spPr>
        </p:pic>
        <p:pic>
          <p:nvPicPr>
            <p:cNvPr id="9" name="Picture 8" descr="android_captivate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800" y="2362200"/>
              <a:ext cx="610964" cy="1143000"/>
            </a:xfrm>
            <a:prstGeom prst="rect">
              <a:avLst/>
            </a:prstGeom>
          </p:spPr>
        </p:pic>
        <p:pic>
          <p:nvPicPr>
            <p:cNvPr id="11" name="Picture 10" descr="android_bravo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93950" y="2286000"/>
              <a:ext cx="712858" cy="1223963"/>
            </a:xfrm>
            <a:prstGeom prst="rect">
              <a:avLst/>
            </a:prstGeom>
          </p:spPr>
        </p:pic>
        <p:pic>
          <p:nvPicPr>
            <p:cNvPr id="13" name="Picture 12" descr="android_aria.jp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55950" y="2286000"/>
              <a:ext cx="672662" cy="1219200"/>
            </a:xfrm>
            <a:prstGeom prst="rect">
              <a:avLst/>
            </a:prstGeom>
          </p:spPr>
        </p:pic>
        <p:pic>
          <p:nvPicPr>
            <p:cNvPr id="16" name="Picture 15" descr="android_captivate.jp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17950" y="2286000"/>
              <a:ext cx="641350" cy="1199846"/>
            </a:xfrm>
            <a:prstGeom prst="rect">
              <a:avLst/>
            </a:prstGeom>
          </p:spPr>
        </p:pic>
        <p:pic>
          <p:nvPicPr>
            <p:cNvPr id="19" name="Picture 18" descr="android_nexus_one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2250" y="2281237"/>
              <a:ext cx="662609" cy="1219200"/>
            </a:xfrm>
            <a:prstGeom prst="rect">
              <a:avLst/>
            </a:prstGeom>
          </p:spPr>
        </p:pic>
        <p:pic>
          <p:nvPicPr>
            <p:cNvPr id="20" name="Picture 19" descr="android_infuse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3545" y="2357437"/>
              <a:ext cx="620305" cy="1143000"/>
            </a:xfrm>
            <a:prstGeom prst="rect">
              <a:avLst/>
            </a:prstGeom>
          </p:spPr>
        </p:pic>
        <p:pic>
          <p:nvPicPr>
            <p:cNvPr id="22" name="Picture 21" descr="android_bravo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50050" y="2281237"/>
              <a:ext cx="712858" cy="1223963"/>
            </a:xfrm>
            <a:prstGeom prst="rect">
              <a:avLst/>
            </a:prstGeom>
          </p:spPr>
        </p:pic>
        <p:pic>
          <p:nvPicPr>
            <p:cNvPr id="23" name="Picture 22" descr="android_aria.jp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12050" y="2281237"/>
              <a:ext cx="672662" cy="1219200"/>
            </a:xfrm>
            <a:prstGeom prst="rect">
              <a:avLst/>
            </a:prstGeom>
          </p:spPr>
        </p:pic>
        <p:pic>
          <p:nvPicPr>
            <p:cNvPr id="24" name="Picture 23" descr="android_captivate.jp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4050" y="2281237"/>
              <a:ext cx="641350" cy="1199846"/>
            </a:xfrm>
            <a:prstGeom prst="rect">
              <a:avLst/>
            </a:prstGeom>
          </p:spPr>
        </p:pic>
        <p:pic>
          <p:nvPicPr>
            <p:cNvPr id="25" name="Picture 24" descr="android_bravo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0" y="2286000"/>
              <a:ext cx="712858" cy="1223963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Measurement Accuracy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i="1" dirty="0" smtClean="0"/>
              <a:t>Do in-context measurements gathered by our system accurately quantify experienced performance?</a:t>
            </a:r>
            <a:endParaRPr lang="en-US" sz="28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5" name="Picture 4" descr="hours_avg_norand.png"/>
          <p:cNvPicPr>
            <a:picLocks noChangeAspect="1"/>
          </p:cNvPicPr>
          <p:nvPr/>
        </p:nvPicPr>
        <p:blipFill>
          <a:blip r:embed="rId3" cstate="print"/>
          <a:srcRect t="11429" r="6000" b="8571"/>
          <a:stretch>
            <a:fillRect/>
          </a:stretch>
        </p:blipFill>
        <p:spPr>
          <a:xfrm>
            <a:off x="304800" y="2966125"/>
            <a:ext cx="8610600" cy="3206075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1143000" y="3042326"/>
            <a:ext cx="7772400" cy="2286000"/>
            <a:chOff x="1143000" y="3124200"/>
            <a:chExt cx="7772400" cy="2286000"/>
          </a:xfrm>
        </p:grpSpPr>
        <p:sp>
          <p:nvSpPr>
            <p:cNvPr id="7" name="Oval 6"/>
            <p:cNvSpPr/>
            <p:nvPr/>
          </p:nvSpPr>
          <p:spPr>
            <a:xfrm>
              <a:off x="1143000" y="4572000"/>
              <a:ext cx="381000" cy="3048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1524000" y="4648200"/>
              <a:ext cx="381000" cy="3048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828800" y="3124200"/>
              <a:ext cx="381000" cy="3048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2133600" y="4073856"/>
              <a:ext cx="381000" cy="6858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3124200" y="5105400"/>
              <a:ext cx="381000" cy="3048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3429000" y="3505200"/>
              <a:ext cx="381000" cy="3048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4038600" y="4384344"/>
              <a:ext cx="381000" cy="3048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4378656" y="4724400"/>
              <a:ext cx="381000" cy="3048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5001904" y="4114800"/>
              <a:ext cx="381000" cy="5334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5638800" y="4792640"/>
              <a:ext cx="381000" cy="3048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5965208" y="4626592"/>
              <a:ext cx="381000" cy="3048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6324600" y="4411640"/>
              <a:ext cx="304800" cy="3810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6602104" y="4308144"/>
              <a:ext cx="381000" cy="44924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6934200" y="4653888"/>
              <a:ext cx="381000" cy="3048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239000" y="4191000"/>
              <a:ext cx="381000" cy="3048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8202304" y="4079544"/>
              <a:ext cx="381000" cy="3048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8534400" y="4454856"/>
              <a:ext cx="381000" cy="3048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7848600" y="4343400"/>
              <a:ext cx="381000" cy="3048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981200" y="2753380"/>
            <a:ext cx="6934200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In-Context = Ground Truth for 18 hours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1600200"/>
            <a:ext cx="8229600" cy="10668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Accurately quantify performance experienced </a:t>
            </a:r>
            <a:br>
              <a:rPr lang="en-US" sz="3200" dirty="0" smtClean="0"/>
            </a:br>
            <a:r>
              <a:rPr lang="en-US" sz="3200" dirty="0" smtClean="0"/>
              <a:t>by users interacting with device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 descr="hours_avg_noincontext.png"/>
          <p:cNvPicPr>
            <a:picLocks noChangeAspect="1"/>
          </p:cNvPicPr>
          <p:nvPr/>
        </p:nvPicPr>
        <p:blipFill>
          <a:blip r:embed="rId2" cstate="print"/>
          <a:srcRect t="11143" r="5000" b="11143"/>
          <a:stretch>
            <a:fillRect/>
          </a:stretch>
        </p:blipFill>
        <p:spPr>
          <a:xfrm>
            <a:off x="262217" y="2971800"/>
            <a:ext cx="8729383" cy="3124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Measurement Accuracy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i="1" dirty="0" smtClean="0"/>
              <a:t>Do random measurements </a:t>
            </a:r>
            <a:br>
              <a:rPr lang="en-US" sz="2800" i="1" dirty="0" smtClean="0"/>
            </a:br>
            <a:r>
              <a:rPr lang="en-US" sz="2800" i="1" dirty="0" smtClean="0"/>
              <a:t>quantify experienced performance?</a:t>
            </a:r>
            <a:endParaRPr lang="en-US" sz="28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3048000" y="2819400"/>
            <a:ext cx="4267200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Random differs by &gt; 1Mbps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1191904" y="3048000"/>
            <a:ext cx="6678304" cy="2514600"/>
            <a:chOff x="1191904" y="3048000"/>
            <a:chExt cx="6678304" cy="2514600"/>
          </a:xfrm>
        </p:grpSpPr>
        <p:sp>
          <p:nvSpPr>
            <p:cNvPr id="45" name="Rectangle 44"/>
            <p:cNvSpPr/>
            <p:nvPr/>
          </p:nvSpPr>
          <p:spPr>
            <a:xfrm>
              <a:off x="1191904" y="3886200"/>
              <a:ext cx="304800" cy="106680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828800" y="3048000"/>
              <a:ext cx="304800" cy="99060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124200" y="3810000"/>
              <a:ext cx="291152" cy="152400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001904" y="4343400"/>
              <a:ext cx="304800" cy="99060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592704" y="4038600"/>
              <a:ext cx="277504" cy="83820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277968" y="4343400"/>
              <a:ext cx="304800" cy="106680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2784144" y="4267200"/>
              <a:ext cx="340056" cy="129540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Rectangle 55"/>
          <p:cNvSpPr/>
          <p:nvPr/>
        </p:nvSpPr>
        <p:spPr>
          <a:xfrm>
            <a:off x="457200" y="1600200"/>
            <a:ext cx="8229600" cy="10668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Analyses which ignore context will not accurately quantify experienced performance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1"/>
      <p:bldP spid="5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1"/>
            <a:ext cx="8686800" cy="12192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Quantify performance experienced when users are interacting with their device in specific contexts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8600" y="2819400"/>
            <a:ext cx="4419600" cy="3306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Empirical</a:t>
            </a:r>
            <a:r>
              <a:rPr kumimoji="0" lang="en-US" sz="3200" b="1" i="0" u="none" strike="noStrike" kern="120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Study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indent="-28575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 i="1" dirty="0" smtClean="0"/>
              <a:t>Idle devices</a:t>
            </a:r>
            <a:r>
              <a:rPr lang="en-US" sz="2800" dirty="0" smtClean="0"/>
              <a:t>: 6% less loss;</a:t>
            </a:r>
            <a:br>
              <a:rPr lang="en-US" sz="2800" dirty="0" smtClean="0"/>
            </a:br>
            <a:r>
              <a:rPr lang="en-US" sz="2800" dirty="0" smtClean="0"/>
              <a:t>16ms lower latency</a:t>
            </a:r>
          </a:p>
          <a:p>
            <a:pPr marL="285750" indent="-28575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 i="1" noProof="0" dirty="0" smtClean="0"/>
              <a:t>Physical context </a:t>
            </a:r>
            <a:r>
              <a:rPr kumimoji="0" lang="en-US" sz="28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change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lang="en-US" sz="2800" noProof="0" dirty="0" smtClean="0"/>
              <a:t/>
            </a:r>
            <a:br>
              <a:rPr lang="en-US" sz="2800" noProof="0" dirty="0" smtClean="0"/>
            </a:br>
            <a:r>
              <a:rPr lang="en-US" sz="2800" noProof="0" dirty="0" smtClean="0"/>
              <a:t>&gt;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350Kbps difference;</a:t>
            </a:r>
            <a:b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 15ms difference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0" y="2819400"/>
            <a:ext cx="4343400" cy="3306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 algn="ctr">
              <a:spcBef>
                <a:spcPct val="20000"/>
              </a:spcBef>
            </a:pPr>
            <a:r>
              <a:rPr lang="en-US" sz="3200" b="1" dirty="0" smtClean="0">
                <a:solidFill>
                  <a:srgbClr val="C00000"/>
                </a:solidFill>
              </a:rPr>
              <a:t>Measurement System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indent="-28575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Android-based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prototype</a:t>
            </a:r>
            <a:r>
              <a:rPr lang="en-US" sz="2800" noProof="0" dirty="0" smtClean="0"/>
              <a:t> deployed to 12 volunteers</a:t>
            </a:r>
            <a:endParaRPr lang="en-US" sz="2800" dirty="0" smtClean="0"/>
          </a:p>
          <a:p>
            <a:pPr marL="285750" indent="-28575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 dirty="0" smtClean="0"/>
              <a:t>Measurements depict performance experienced while user is active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Related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Cellular measurement tools</a:t>
            </a:r>
          </a:p>
          <a:p>
            <a:pPr lvl="1"/>
            <a:r>
              <a:rPr lang="en-US" dirty="0" smtClean="0"/>
              <a:t>Mark the Spot, </a:t>
            </a:r>
            <a:r>
              <a:rPr lang="en-US" dirty="0" err="1" smtClean="0"/>
              <a:t>MobiPerf</a:t>
            </a:r>
            <a:r>
              <a:rPr lang="en-US" dirty="0" smtClean="0"/>
              <a:t>, 3G Test, </a:t>
            </a:r>
            <a:r>
              <a:rPr lang="en-US" dirty="0" err="1" smtClean="0"/>
              <a:t>WiScape</a:t>
            </a: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Automated active measurement systems</a:t>
            </a:r>
          </a:p>
          <a:p>
            <a:pPr lvl="1"/>
            <a:r>
              <a:rPr lang="en-US" dirty="0" smtClean="0"/>
              <a:t>NIMI, </a:t>
            </a:r>
            <a:r>
              <a:rPr lang="en-US" dirty="0" err="1" smtClean="0"/>
              <a:t>Scriptroute</a:t>
            </a:r>
            <a:r>
              <a:rPr lang="en-US" dirty="0" smtClean="0"/>
              <a:t> , </a:t>
            </a:r>
            <a:r>
              <a:rPr lang="en-US" dirty="0" err="1" smtClean="0"/>
              <a:t>DipZoom</a:t>
            </a:r>
            <a:r>
              <a:rPr lang="en-US" dirty="0" smtClean="0"/>
              <a:t>, ATEM, CEM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Cellular network performance studies</a:t>
            </a:r>
          </a:p>
          <a:p>
            <a:pPr lvl="1"/>
            <a:r>
              <a:rPr lang="en-US" dirty="0" smtClean="0"/>
              <a:t>Latency, TCP performance, fairness,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5" name="Picture 4" descr="trend_graph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67600" y="4800600"/>
            <a:ext cx="1066800" cy="1066800"/>
          </a:xfrm>
          <a:prstGeom prst="rect">
            <a:avLst/>
          </a:prstGeom>
        </p:spPr>
      </p:pic>
      <p:pic>
        <p:nvPicPr>
          <p:cNvPr id="6" name="Picture 5" descr="iphon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315200" y="1524000"/>
            <a:ext cx="1014203" cy="1136451"/>
          </a:xfrm>
          <a:prstGeom prst="rect">
            <a:avLst/>
          </a:prstGeom>
        </p:spPr>
      </p:pic>
      <p:pic>
        <p:nvPicPr>
          <p:cNvPr id="7" name="Picture 6" descr="desktop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696200" y="3276600"/>
            <a:ext cx="990600" cy="10344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Impact of Context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i="1" dirty="0" smtClean="0"/>
              <a:t>Which contextual factors are most</a:t>
            </a:r>
            <a:br>
              <a:rPr lang="en-US" i="1" dirty="0" smtClean="0"/>
            </a:br>
            <a:r>
              <a:rPr lang="en-US" i="1" dirty="0" smtClean="0"/>
              <a:t>predictive of cellular network performance?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 rot="18000000">
            <a:off x="182365" y="4221034"/>
            <a:ext cx="17007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Cell sector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 rot="18000000">
            <a:off x="924616" y="4065402"/>
            <a:ext cx="21226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Phone model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 rot="18000000">
            <a:off x="1780206" y="3996570"/>
            <a:ext cx="2145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Location area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 rot="18000000">
            <a:off x="2655798" y="4105526"/>
            <a:ext cx="1890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Hour of day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 rot="18000000">
            <a:off x="3691441" y="4357683"/>
            <a:ext cx="11767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Month</a:t>
            </a:r>
            <a:endParaRPr lang="en-US" sz="2800" dirty="0"/>
          </a:p>
        </p:txBody>
      </p:sp>
      <p:sp>
        <p:nvSpPr>
          <p:cNvPr id="11" name="TextBox 10"/>
          <p:cNvSpPr txBox="1"/>
          <p:nvPr/>
        </p:nvSpPr>
        <p:spPr>
          <a:xfrm rot="18000000">
            <a:off x="4076271" y="3860033"/>
            <a:ext cx="25843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Connection type</a:t>
            </a:r>
            <a:endParaRPr lang="en-US" sz="2800" dirty="0"/>
          </a:p>
        </p:txBody>
      </p:sp>
      <p:sp>
        <p:nvSpPr>
          <p:cNvPr id="12" name="TextBox 11"/>
          <p:cNvSpPr txBox="1"/>
          <p:nvPr/>
        </p:nvSpPr>
        <p:spPr>
          <a:xfrm rot="18000000">
            <a:off x="4878364" y="3828645"/>
            <a:ext cx="27462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Indoors/outdoors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 rot="18000000">
            <a:off x="5716855" y="3827943"/>
            <a:ext cx="27442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Movement speed</a:t>
            </a:r>
            <a:endParaRPr lang="en-US" sz="2800" dirty="0"/>
          </a:p>
        </p:txBody>
      </p:sp>
      <p:sp>
        <p:nvSpPr>
          <p:cNvPr id="14" name="TextBox 13"/>
          <p:cNvSpPr txBox="1"/>
          <p:nvPr/>
        </p:nvSpPr>
        <p:spPr>
          <a:xfrm rot="18000000">
            <a:off x="6690319" y="3913949"/>
            <a:ext cx="23408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Signal strength</a:t>
            </a:r>
            <a:endParaRPr lang="en-US" sz="2800" dirty="0"/>
          </a:p>
        </p:txBody>
      </p:sp>
      <p:grpSp>
        <p:nvGrpSpPr>
          <p:cNvPr id="23" name="Group 22"/>
          <p:cNvGrpSpPr/>
          <p:nvPr/>
        </p:nvGrpSpPr>
        <p:grpSpPr>
          <a:xfrm>
            <a:off x="533400" y="5420380"/>
            <a:ext cx="7924800" cy="599420"/>
            <a:chOff x="304800" y="5257800"/>
            <a:chExt cx="7924800" cy="599420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304800" y="5257800"/>
              <a:ext cx="7924800" cy="0"/>
            </a:xfrm>
            <a:prstGeom prst="line">
              <a:avLst/>
            </a:prstGeom>
            <a:ln w="57150">
              <a:solidFill>
                <a:srgbClr val="C00000"/>
              </a:solidFill>
              <a:headEnd type="arrow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304800" y="5334000"/>
              <a:ext cx="25607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>
                  <a:solidFill>
                    <a:srgbClr val="C00000"/>
                  </a:solidFill>
                </a:rPr>
                <a:t>Most Influential</a:t>
              </a:r>
              <a:endParaRPr lang="en-US" sz="2800" b="1" dirty="0">
                <a:solidFill>
                  <a:srgbClr val="C00000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638800" y="5334000"/>
              <a:ext cx="25718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800" b="1" dirty="0" smtClean="0">
                  <a:solidFill>
                    <a:srgbClr val="C00000"/>
                  </a:solidFill>
                </a:rPr>
                <a:t>Least Influential</a:t>
              </a:r>
              <a:endParaRPr lang="en-US" sz="2800" b="1" dirty="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Measurement Opportunities</a:t>
            </a:r>
            <a:endParaRPr lang="en-US" dirty="0"/>
          </a:p>
        </p:txBody>
      </p:sp>
      <p:pic>
        <p:nvPicPr>
          <p:cNvPr id="5" name="Content Placeholder 4" descr="measurement_opportunities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281903"/>
            <a:ext cx="8229600" cy="3162557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Measurement Service</a:t>
            </a:r>
            <a:br>
              <a:rPr lang="en-US" dirty="0" smtClean="0"/>
            </a:br>
            <a:r>
              <a:rPr lang="en-US" dirty="0" smtClean="0"/>
              <a:t>Decision Process</a:t>
            </a:r>
            <a:endParaRPr lang="en-US" dirty="0"/>
          </a:p>
        </p:txBody>
      </p:sp>
      <p:pic>
        <p:nvPicPr>
          <p:cNvPr id="5" name="Content Placeholder 4" descr="device_service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782070"/>
            <a:ext cx="8229600" cy="2162223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Measurement Service Benchmarks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48307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Device position change detection</a:t>
            </a:r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			Energy overhead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800" y="1828800"/>
          <a:ext cx="4648201" cy="2590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97819"/>
                <a:gridCol w="871538"/>
                <a:gridCol w="1089422"/>
                <a:gridCol w="1089422"/>
              </a:tblGrid>
              <a:tr h="54505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Event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Correct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False</a:t>
                      </a:r>
                      <a:r>
                        <a:rPr lang="en-US" sz="1600" baseline="0" dirty="0" smtClean="0"/>
                        <a:t> Negatives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False Positives</a:t>
                      </a:r>
                      <a:endParaRPr lang="en-US" sz="1600" dirty="0"/>
                    </a:p>
                  </a:txBody>
                  <a:tcPr anchor="ctr"/>
                </a:tc>
              </a:tr>
              <a:tr h="315558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Desk → Hand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</a:tr>
              <a:tr h="3155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Web browsing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/>
                </a:tc>
              </a:tr>
              <a:tr h="3155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Hand → Pocket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</a:tr>
              <a:tr h="3155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In pocket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</a:tr>
              <a:tr h="3155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Pocket → 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</a:tr>
              <a:tr h="3155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Hand → Desk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895600" y="4648200"/>
          <a:ext cx="5715000" cy="1676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00400"/>
                <a:gridCol w="2514600"/>
              </a:tblGrid>
              <a:tr h="3200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Functionality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Energy</a:t>
                      </a:r>
                      <a:r>
                        <a:rPr lang="en-US" sz="1600" baseline="0" dirty="0" smtClean="0"/>
                        <a:t> Consumed in 1 Min</a:t>
                      </a:r>
                      <a:endParaRPr lang="en-US" sz="1600" dirty="0"/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Idle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 Joules</a:t>
                      </a:r>
                      <a:endParaRPr lang="en-US" sz="1600" dirty="0"/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Active Monitoring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0.44 Joules</a:t>
                      </a:r>
                      <a:endParaRPr lang="en-US" sz="1600" dirty="0"/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Environment</a:t>
                      </a:r>
                      <a:r>
                        <a:rPr lang="en-US" sz="1600" baseline="0" dirty="0" smtClean="0"/>
                        <a:t> Monitoring (with GPS)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16.85 Joules</a:t>
                      </a:r>
                      <a:endParaRPr lang="en-US" sz="1600" dirty="0"/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Environment</a:t>
                      </a:r>
                      <a:r>
                        <a:rPr lang="en-US" sz="1600" baseline="0" dirty="0" smtClean="0"/>
                        <a:t> Monitoring (no GPS)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0.15</a:t>
                      </a:r>
                      <a:r>
                        <a:rPr lang="en-US" sz="1600" baseline="0" dirty="0" smtClean="0"/>
                        <a:t> Joules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3" descr="C:\Users\agember\AppData\Local\Microsoft\Windows\Temporary Internet Files\Content.IE5\XXIPWUPS\MC900441733[1].png"/>
          <p:cNvPicPr>
            <a:picLocks noChangeAspect="1" noChangeArrowheads="1"/>
          </p:cNvPicPr>
          <p:nvPr/>
        </p:nvPicPr>
        <p:blipFill>
          <a:blip r:embed="rId3" cstate="print"/>
          <a:srcRect l="25000" r="25000"/>
          <a:stretch>
            <a:fillRect/>
          </a:stretch>
        </p:blipFill>
        <p:spPr bwMode="auto">
          <a:xfrm>
            <a:off x="7315200" y="2438400"/>
            <a:ext cx="571500" cy="1143000"/>
          </a:xfrm>
          <a:prstGeom prst="rect">
            <a:avLst/>
          </a:prstGeom>
          <a:noFill/>
        </p:spPr>
      </p:pic>
      <p:pic>
        <p:nvPicPr>
          <p:cNvPr id="88" name="Picture 3" descr="C:\Users\agember\AppData\Local\Microsoft\Windows\Temporary Internet Files\Content.IE5\XXIPWUPS\MC900441733[1].png"/>
          <p:cNvPicPr>
            <a:picLocks noChangeAspect="1" noChangeArrowheads="1"/>
          </p:cNvPicPr>
          <p:nvPr/>
        </p:nvPicPr>
        <p:blipFill>
          <a:blip r:embed="rId3" cstate="print"/>
          <a:srcRect l="25000" r="25000"/>
          <a:stretch>
            <a:fillRect/>
          </a:stretch>
        </p:blipFill>
        <p:spPr bwMode="auto">
          <a:xfrm>
            <a:off x="6934200" y="5029200"/>
            <a:ext cx="571500" cy="1143000"/>
          </a:xfrm>
          <a:prstGeom prst="rect">
            <a:avLst/>
          </a:prstGeom>
          <a:noFill/>
        </p:spPr>
      </p:pic>
      <p:pic>
        <p:nvPicPr>
          <p:cNvPr id="73" name="Picture 72" descr="person_plain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09800" y="3962400"/>
            <a:ext cx="1905000" cy="1905000"/>
          </a:xfrm>
          <a:prstGeom prst="rect">
            <a:avLst/>
          </a:prstGeom>
        </p:spPr>
      </p:pic>
      <p:pic>
        <p:nvPicPr>
          <p:cNvPr id="82" name="Picture 3" descr="C:\Users\agember\AppData\Local\Microsoft\Windows\Temporary Internet Files\Content.IE5\XXIPWUPS\MC900441733[1].png"/>
          <p:cNvPicPr>
            <a:picLocks noChangeAspect="1" noChangeArrowheads="1"/>
          </p:cNvPicPr>
          <p:nvPr/>
        </p:nvPicPr>
        <p:blipFill>
          <a:blip r:embed="rId3" cstate="print"/>
          <a:srcRect l="25000" r="25000"/>
          <a:stretch>
            <a:fillRect/>
          </a:stretch>
        </p:blipFill>
        <p:spPr bwMode="auto">
          <a:xfrm>
            <a:off x="3048000" y="5410200"/>
            <a:ext cx="571500" cy="1143000"/>
          </a:xfrm>
          <a:prstGeom prst="rect">
            <a:avLst/>
          </a:prstGeom>
          <a:noFill/>
        </p:spPr>
      </p:pic>
      <p:pic>
        <p:nvPicPr>
          <p:cNvPr id="74" name="Picture 73" descr="person_plain3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620000" y="1371600"/>
            <a:ext cx="1524000" cy="1524000"/>
          </a:xfrm>
          <a:prstGeom prst="rect">
            <a:avLst/>
          </a:prstGeom>
        </p:spPr>
      </p:pic>
      <p:pic>
        <p:nvPicPr>
          <p:cNvPr id="71" name="Picture 70" descr="person_with_headphones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010400" y="3505200"/>
            <a:ext cx="1905000" cy="190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Measurement System 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8AB0C-407B-47F8-BA5E-EF063E2B1E11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13" name="Picture 12" descr="iphone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1185544">
            <a:off x="7360897" y="2342941"/>
            <a:ext cx="762000" cy="853848"/>
          </a:xfrm>
          <a:prstGeom prst="rect">
            <a:avLst/>
          </a:prstGeom>
        </p:spPr>
      </p:pic>
      <p:pic>
        <p:nvPicPr>
          <p:cNvPr id="14" name="Picture 13" descr="wifi_signal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8598594">
            <a:off x="7037796" y="1953804"/>
            <a:ext cx="754833" cy="657225"/>
          </a:xfrm>
          <a:prstGeom prst="rect">
            <a:avLst/>
          </a:prstGeom>
        </p:spPr>
      </p:pic>
      <p:pic>
        <p:nvPicPr>
          <p:cNvPr id="17" name="Picture 16" descr="desktop1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438400" y="1524000"/>
            <a:ext cx="1250861" cy="1306209"/>
          </a:xfrm>
          <a:prstGeom prst="rect">
            <a:avLst/>
          </a:prstGeom>
        </p:spPr>
      </p:pic>
      <p:pic>
        <p:nvPicPr>
          <p:cNvPr id="18" name="Picture 17" descr="person_business_man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304800" y="1371600"/>
            <a:ext cx="1466850" cy="1466850"/>
          </a:xfrm>
          <a:prstGeom prst="rect">
            <a:avLst/>
          </a:prstGeom>
        </p:spPr>
      </p:pic>
      <p:sp>
        <p:nvSpPr>
          <p:cNvPr id="23" name="Folded Corner 22"/>
          <p:cNvSpPr/>
          <p:nvPr/>
        </p:nvSpPr>
        <p:spPr>
          <a:xfrm>
            <a:off x="762000" y="1981200"/>
            <a:ext cx="1066800" cy="106680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4" descr="C:\Users\agember\AppData\Local\Microsoft\Windows\Temporary Internet Files\Content.IE5\XXIPWUPS\MC900441468[1].png"/>
          <p:cNvPicPr>
            <a:picLocks noChangeAspect="1" noChangeArrowheads="1"/>
          </p:cNvPicPr>
          <p:nvPr/>
        </p:nvPicPr>
        <p:blipFill>
          <a:blip r:embed="rId11" cstate="print"/>
          <a:srcRect l="16545" t="-1273" r="13455" b="31273"/>
          <a:stretch>
            <a:fillRect/>
          </a:stretch>
        </p:blipFill>
        <p:spPr bwMode="auto">
          <a:xfrm>
            <a:off x="778625" y="2497975"/>
            <a:ext cx="533400" cy="533400"/>
          </a:xfrm>
          <a:prstGeom prst="rect">
            <a:avLst/>
          </a:prstGeom>
          <a:noFill/>
        </p:spPr>
      </p:pic>
      <p:pic>
        <p:nvPicPr>
          <p:cNvPr id="25" name="Picture 24" descr="google_maps_logo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278775" y="2040775"/>
            <a:ext cx="442686" cy="457200"/>
          </a:xfrm>
          <a:prstGeom prst="rect">
            <a:avLst/>
          </a:prstGeom>
        </p:spPr>
      </p:pic>
      <p:pic>
        <p:nvPicPr>
          <p:cNvPr id="26" name="Picture 25" descr="android_logo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269075" y="2497975"/>
            <a:ext cx="512714" cy="533400"/>
          </a:xfrm>
          <a:prstGeom prst="rect">
            <a:avLst/>
          </a:prstGeom>
        </p:spPr>
      </p:pic>
      <p:pic>
        <p:nvPicPr>
          <p:cNvPr id="28" name="Picture 27" descr="trend_graph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38200" y="2031075"/>
            <a:ext cx="457200" cy="457200"/>
          </a:xfrm>
          <a:prstGeom prst="rect">
            <a:avLst/>
          </a:prstGeom>
        </p:spPr>
      </p:pic>
      <p:grpSp>
        <p:nvGrpSpPr>
          <p:cNvPr id="34" name="Group 33"/>
          <p:cNvGrpSpPr/>
          <p:nvPr/>
        </p:nvGrpSpPr>
        <p:grpSpPr>
          <a:xfrm>
            <a:off x="762000" y="1981200"/>
            <a:ext cx="1066800" cy="1066800"/>
            <a:chOff x="914400" y="2514600"/>
            <a:chExt cx="1066800" cy="1066800"/>
          </a:xfrm>
        </p:grpSpPr>
        <p:sp>
          <p:nvSpPr>
            <p:cNvPr id="29" name="Folded Corner 28"/>
            <p:cNvSpPr/>
            <p:nvPr/>
          </p:nvSpPr>
          <p:spPr>
            <a:xfrm>
              <a:off x="914400" y="2514600"/>
              <a:ext cx="1066800" cy="1066800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4" descr="C:\Users\agember\AppData\Local\Microsoft\Windows\Temporary Internet Files\Content.IE5\XXIPWUPS\MC900441468[1].png"/>
            <p:cNvPicPr>
              <a:picLocks noChangeAspect="1" noChangeArrowheads="1"/>
            </p:cNvPicPr>
            <p:nvPr/>
          </p:nvPicPr>
          <p:blipFill>
            <a:blip r:embed="rId11" cstate="print"/>
            <a:srcRect l="16545" t="-1273" r="13455" b="31273"/>
            <a:stretch>
              <a:fillRect/>
            </a:stretch>
          </p:blipFill>
          <p:spPr bwMode="auto">
            <a:xfrm>
              <a:off x="931025" y="3031375"/>
              <a:ext cx="533400" cy="533400"/>
            </a:xfrm>
            <a:prstGeom prst="rect">
              <a:avLst/>
            </a:prstGeom>
            <a:noFill/>
          </p:spPr>
        </p:pic>
        <p:pic>
          <p:nvPicPr>
            <p:cNvPr id="31" name="Picture 30" descr="google_maps_logo.png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31175" y="2574175"/>
              <a:ext cx="442686" cy="457200"/>
            </a:xfrm>
            <a:prstGeom prst="rect">
              <a:avLst/>
            </a:prstGeom>
          </p:spPr>
        </p:pic>
        <p:pic>
          <p:nvPicPr>
            <p:cNvPr id="32" name="Picture 31" descr="android_logo.png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21475" y="3031375"/>
              <a:ext cx="512714" cy="533400"/>
            </a:xfrm>
            <a:prstGeom prst="rect">
              <a:avLst/>
            </a:prstGeom>
          </p:spPr>
        </p:pic>
        <p:pic>
          <p:nvPicPr>
            <p:cNvPr id="33" name="Picture 32" descr="trend_graph.png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90600" y="2564475"/>
              <a:ext cx="457200" cy="457200"/>
            </a:xfrm>
            <a:prstGeom prst="rect">
              <a:avLst/>
            </a:prstGeom>
          </p:spPr>
        </p:pic>
      </p:grpSp>
      <p:pic>
        <p:nvPicPr>
          <p:cNvPr id="35" name="Picture 34" descr="blackberry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990600" y="4378765"/>
            <a:ext cx="609600" cy="1039446"/>
          </a:xfrm>
          <a:prstGeom prst="rect">
            <a:avLst/>
          </a:prstGeom>
        </p:spPr>
      </p:pic>
      <p:pic>
        <p:nvPicPr>
          <p:cNvPr id="46" name="Picture 45" descr="iphone_4s.jp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7157561" y="4702198"/>
            <a:ext cx="577850" cy="1105814"/>
          </a:xfrm>
          <a:prstGeom prst="rect">
            <a:avLst/>
          </a:prstGeom>
        </p:spPr>
      </p:pic>
      <p:pic>
        <p:nvPicPr>
          <p:cNvPr id="47" name="Picture 46" descr="wifi_signal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20548417">
            <a:off x="6858000" y="4191000"/>
            <a:ext cx="754833" cy="657225"/>
          </a:xfrm>
          <a:prstGeom prst="rect">
            <a:avLst/>
          </a:prstGeom>
        </p:spPr>
      </p:pic>
      <p:pic>
        <p:nvPicPr>
          <p:cNvPr id="52" name="Picture 51" descr="android_htc_dream.jpg"/>
          <p:cNvPicPr>
            <a:picLocks noChangeAspect="1"/>
          </p:cNvPicPr>
          <p:nvPr/>
        </p:nvPicPr>
        <p:blipFill>
          <a:blip r:embed="rId17" cstate="print"/>
          <a:srcRect l="16265" r="18674"/>
          <a:stretch>
            <a:fillRect/>
          </a:stretch>
        </p:blipFill>
        <p:spPr>
          <a:xfrm>
            <a:off x="3352800" y="5008782"/>
            <a:ext cx="609600" cy="1247775"/>
          </a:xfrm>
          <a:prstGeom prst="rect">
            <a:avLst/>
          </a:prstGeom>
        </p:spPr>
      </p:pic>
      <p:pic>
        <p:nvPicPr>
          <p:cNvPr id="53" name="Picture 52" descr="wifi_signal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862992">
            <a:off x="3606883" y="4621844"/>
            <a:ext cx="754833" cy="657225"/>
          </a:xfrm>
          <a:prstGeom prst="rect">
            <a:avLst/>
          </a:prstGeom>
        </p:spPr>
      </p:pic>
      <p:pic>
        <p:nvPicPr>
          <p:cNvPr id="57" name="Picture 5" descr="C:\Users\agember\AppData\Local\Microsoft\Windows\Temporary Internet Files\Content.IE5\ZQE9104A\MC900432614[1].png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3352800" y="5257800"/>
            <a:ext cx="609600" cy="6096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0" name="Picture 5" descr="C:\Users\agember\AppData\Local\Microsoft\Windows\Temporary Internet Files\Content.IE5\ZQE9104A\MC900432614[1].png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7162800" y="4953000"/>
            <a:ext cx="609600" cy="6096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1" name="Picture 5" descr="C:\Users\agember\AppData\Local\Microsoft\Windows\Temporary Internet Files\Content.IE5\ZQE9104A\MC900432614[1].png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7467600" y="2514600"/>
            <a:ext cx="609600" cy="6096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2" name="Picture 5" descr="C:\Users\agember\AppData\Local\Microsoft\Windows\Temporary Internet Files\Content.IE5\ZQE9104A\MC900432614[1].png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990600" y="4572000"/>
            <a:ext cx="609600" cy="6096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3" name="Folded Corner 62"/>
          <p:cNvSpPr/>
          <p:nvPr/>
        </p:nvSpPr>
        <p:spPr>
          <a:xfrm>
            <a:off x="2667000" y="2286000"/>
            <a:ext cx="533400" cy="53340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olded Corner 63"/>
          <p:cNvSpPr/>
          <p:nvPr/>
        </p:nvSpPr>
        <p:spPr>
          <a:xfrm>
            <a:off x="2667000" y="2286000"/>
            <a:ext cx="533400" cy="53340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olded Corner 65"/>
          <p:cNvSpPr/>
          <p:nvPr/>
        </p:nvSpPr>
        <p:spPr>
          <a:xfrm>
            <a:off x="2667000" y="2286000"/>
            <a:ext cx="533400" cy="53340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olded Corner 66"/>
          <p:cNvSpPr/>
          <p:nvPr/>
        </p:nvSpPr>
        <p:spPr>
          <a:xfrm>
            <a:off x="2667000" y="2286000"/>
            <a:ext cx="533400" cy="53340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4" descr="C:\Users\agember\AppData\Local\Microsoft\Windows\Temporary Internet Files\Content.IE5\5EW569SU\MC900431535[1].png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315200" y="2362200"/>
            <a:ext cx="914400" cy="7010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8" name="Picture 57" descr="youtube_logo.png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7086600" y="4876800"/>
            <a:ext cx="762000" cy="762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68" name="Group 40"/>
          <p:cNvGrpSpPr/>
          <p:nvPr/>
        </p:nvGrpSpPr>
        <p:grpSpPr>
          <a:xfrm>
            <a:off x="3200400" y="5105400"/>
            <a:ext cx="845457" cy="838200"/>
            <a:chOff x="5105400" y="5029200"/>
            <a:chExt cx="922317" cy="914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69" name="Picture 68" descr="globe3.png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105400" y="5029200"/>
              <a:ext cx="762000" cy="762000"/>
            </a:xfrm>
            <a:prstGeom prst="rect">
              <a:avLst/>
            </a:prstGeom>
          </p:spPr>
        </p:pic>
        <p:pic>
          <p:nvPicPr>
            <p:cNvPr id="70" name="Picture 5" descr="C:\Users\agember\AppData\Local\Microsoft\Windows\Temporary Internet Files\Content.IE5\5EW569SU\MC900434828[1].png"/>
            <p:cNvPicPr>
              <a:picLocks noChangeAspect="1" noChangeArrowheads="1"/>
            </p:cNvPicPr>
            <p:nvPr/>
          </p:nvPicPr>
          <p:blipFill>
            <a:blip r:embed="rId22" cstate="print"/>
            <a:srcRect/>
            <a:stretch>
              <a:fillRect/>
            </a:stretch>
          </p:blipFill>
          <p:spPr bwMode="auto">
            <a:xfrm>
              <a:off x="5410200" y="5334000"/>
              <a:ext cx="617517" cy="609600"/>
            </a:xfrm>
            <a:prstGeom prst="rect">
              <a:avLst/>
            </a:prstGeom>
            <a:noFill/>
          </p:spPr>
        </p:pic>
      </p:grpSp>
      <p:pic>
        <p:nvPicPr>
          <p:cNvPr id="78" name="Picture 77" descr="trend_graph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276600" y="5181600"/>
            <a:ext cx="762000" cy="762000"/>
          </a:xfrm>
          <a:prstGeom prst="rect">
            <a:avLst/>
          </a:prstGeom>
        </p:spPr>
      </p:pic>
      <p:pic>
        <p:nvPicPr>
          <p:cNvPr id="79" name="Picture 78" descr="trend_graph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7162800" y="4800600"/>
            <a:ext cx="762000" cy="762000"/>
          </a:xfrm>
          <a:prstGeom prst="rect">
            <a:avLst/>
          </a:prstGeom>
        </p:spPr>
      </p:pic>
      <p:pic>
        <p:nvPicPr>
          <p:cNvPr id="80" name="Picture 79" descr="trend_graph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7391400" y="2362200"/>
            <a:ext cx="762000" cy="762000"/>
          </a:xfrm>
          <a:prstGeom prst="rect">
            <a:avLst/>
          </a:prstGeom>
        </p:spPr>
      </p:pic>
      <p:pic>
        <p:nvPicPr>
          <p:cNvPr id="81" name="Picture 80" descr="pocket.jpg"/>
          <p:cNvPicPr>
            <a:picLocks noChangeAspect="1"/>
          </p:cNvPicPr>
          <p:nvPr/>
        </p:nvPicPr>
        <p:blipFill>
          <a:blip r:embed="rId23" cstate="print"/>
          <a:srcRect l="15539" t="18000" r="15538" b="15538"/>
          <a:stretch>
            <a:fillRect/>
          </a:stretch>
        </p:blipFill>
        <p:spPr>
          <a:xfrm>
            <a:off x="4724400" y="5715000"/>
            <a:ext cx="948267" cy="914400"/>
          </a:xfrm>
          <a:prstGeom prst="rect">
            <a:avLst/>
          </a:prstGeom>
        </p:spPr>
      </p:pic>
      <p:pic>
        <p:nvPicPr>
          <p:cNvPr id="86" name="Picture 85" descr="x.png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4800600" y="5105400"/>
            <a:ext cx="762000" cy="762000"/>
          </a:xfrm>
          <a:prstGeom prst="rect">
            <a:avLst/>
          </a:prstGeom>
        </p:spPr>
      </p:pic>
      <p:sp>
        <p:nvSpPr>
          <p:cNvPr id="91" name="Folded Corner 90"/>
          <p:cNvSpPr/>
          <p:nvPr/>
        </p:nvSpPr>
        <p:spPr>
          <a:xfrm>
            <a:off x="7467600" y="2514600"/>
            <a:ext cx="533400" cy="53340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olded Corner 91"/>
          <p:cNvSpPr/>
          <p:nvPr/>
        </p:nvSpPr>
        <p:spPr>
          <a:xfrm>
            <a:off x="7239000" y="4953000"/>
            <a:ext cx="533400" cy="53340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/>
          <p:cNvGrpSpPr/>
          <p:nvPr/>
        </p:nvGrpSpPr>
        <p:grpSpPr>
          <a:xfrm>
            <a:off x="2362200" y="1981200"/>
            <a:ext cx="1066800" cy="914400"/>
            <a:chOff x="4419600" y="1295400"/>
            <a:chExt cx="1066800" cy="914400"/>
          </a:xfrm>
        </p:grpSpPr>
        <p:sp>
          <p:nvSpPr>
            <p:cNvPr id="94" name="Folded Corner 93"/>
            <p:cNvSpPr/>
            <p:nvPr/>
          </p:nvSpPr>
          <p:spPr>
            <a:xfrm>
              <a:off x="4419600" y="1295400"/>
              <a:ext cx="1066800" cy="914400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0" name="Picture 6" descr="C:\Users\agember\AppData\Local\Microsoft\Windows\Temporary Internet Files\Content.IE5\5EW569SU\MC900441458[1].png"/>
            <p:cNvPicPr>
              <a:picLocks noChangeAspect="1" noChangeArrowheads="1"/>
            </p:cNvPicPr>
            <p:nvPr/>
          </p:nvPicPr>
          <p:blipFill>
            <a:blip r:embed="rId25" cstate="print"/>
            <a:srcRect l="13891" t="5556" r="13878" b="38881"/>
            <a:stretch>
              <a:fillRect/>
            </a:stretch>
          </p:blipFill>
          <p:spPr bwMode="auto">
            <a:xfrm>
              <a:off x="4495800" y="1371600"/>
              <a:ext cx="914400" cy="70338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77457E-6 L 0.175 -2.77457E-6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8.67052E-7 L -0.18333 0.33295 " pathEditMode="relative" ptsTypes="AA">
                                      <p:cBhvr>
                                        <p:cTn id="5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7 -0.00555 L 0.08333 0.44393 " pathEditMode="relative" rAng="0" ptsTypes="AA">
                                      <p:cBhvr>
                                        <p:cTn id="5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" y="225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7 -0.00555 L 0.48333 0.38844 " pathEditMode="relative" rAng="0" ptsTypes="AA">
                                      <p:cBhvr>
                                        <p:cTn id="6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4" y="197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7 -0.00555 L 0.53333 0.0222 " pathEditMode="relative" rAng="0" ptsTypes="AA">
                                      <p:cBhvr>
                                        <p:cTn id="6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9" y="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0.00092 L 0.17083 0.00092 " pathEditMode="relative" rAng="0" ptsTypes="AA">
                                      <p:cBhvr>
                                        <p:cTn id="14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" y="0"/>
                                    </p:animMotion>
                                  </p:childTnLst>
                                </p:cTn>
                              </p:par>
                              <p:par>
                                <p:cTn id="14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7 0.00555 L 0.17083 0.00555 " pathEditMode="relative" rAng="0" ptsTypes="AA">
                                      <p:cBhvr>
                                        <p:cTn id="143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0"/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4.85549E-6 L 0.16424 -4.85549E-6 " pathEditMode="relative" rAng="0" ptsTypes="AA">
                                      <p:cBhvr>
                                        <p:cTn id="14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" y="0"/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0.00555 L 0.17084 0.00555 " pathEditMode="relative" rAng="0" ptsTypes="AA">
                                      <p:cBhvr>
                                        <p:cTn id="14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000"/>
                            </p:stCondLst>
                            <p:childTnLst>
                              <p:par>
                                <p:cTn id="1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 -0.38844 " pathEditMode="relative" ptsTypes="AA">
                                      <p:cBhvr>
                                        <p:cTn id="172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3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4166 -0.0444 " pathEditMode="relative" ptsTypes="AA">
                                      <p:cBhvr>
                                        <p:cTn id="174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000"/>
                            </p:stCondLst>
                            <p:childTnLst>
                              <p:par>
                                <p:cTn id="176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3000"/>
                            </p:stCondLst>
                            <p:childTnLst>
                              <p:par>
                                <p:cTn id="1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3000"/>
                            </p:stCondLst>
                            <p:childTnLst>
                              <p:par>
                                <p:cTn id="18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01109 L -0.175 0.0222 " pathEditMode="relative" ptsTypes="AA">
                                      <p:cBhvr>
                                        <p:cTn id="187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63" grpId="0" animBg="1"/>
      <p:bldP spid="63" grpId="1" animBg="1"/>
      <p:bldP spid="63" grpId="2" animBg="1"/>
      <p:bldP spid="64" grpId="0" animBg="1"/>
      <p:bldP spid="64" grpId="1" animBg="1"/>
      <p:bldP spid="64" grpId="2" animBg="1"/>
      <p:bldP spid="66" grpId="0" animBg="1"/>
      <p:bldP spid="66" grpId="1" animBg="1"/>
      <p:bldP spid="66" grpId="2" animBg="1"/>
      <p:bldP spid="67" grpId="0" animBg="1"/>
      <p:bldP spid="67" grpId="1" animBg="1"/>
      <p:bldP spid="67" grpId="2" animBg="1"/>
      <p:bldP spid="91" grpId="1" animBg="1"/>
      <p:bldP spid="91" grpId="2" animBg="1"/>
      <p:bldP spid="91" grpId="3" animBg="1"/>
      <p:bldP spid="92" grpId="0" animBg="1"/>
      <p:bldP spid="92" grpId="1" animBg="1"/>
      <p:bldP spid="92" grpId="2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1350</TotalTime>
  <Words>725</Words>
  <Application>Microsoft Office PowerPoint</Application>
  <PresentationFormat>On-screen Show (4:3)</PresentationFormat>
  <Paragraphs>271</Paragraphs>
  <Slides>27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Obtaining In-Context Measurements of Cellular Network Performance</vt:lpstr>
      <vt:lpstr>Performance During User Activity</vt:lpstr>
      <vt:lpstr>In-Context Measurements</vt:lpstr>
      <vt:lpstr>Use Cases</vt:lpstr>
      <vt:lpstr>Slide 5</vt:lpstr>
      <vt:lpstr>Existing Approaches</vt:lpstr>
      <vt:lpstr>Our Contributions</vt:lpstr>
      <vt:lpstr>Empirical Study</vt:lpstr>
      <vt:lpstr>Active vs. Idle Devices</vt:lpstr>
      <vt:lpstr>Active vs. Idle Devices</vt:lpstr>
      <vt:lpstr>Active vs. Idle Devices</vt:lpstr>
      <vt:lpstr>Impact of Low-Level Factors</vt:lpstr>
      <vt:lpstr>Impact of Physical Context</vt:lpstr>
      <vt:lpstr>Impact of Environment</vt:lpstr>
      <vt:lpstr>Impact of Device Position</vt:lpstr>
      <vt:lpstr>Impact of Device Position</vt:lpstr>
      <vt:lpstr>Summary of Guidelines</vt:lpstr>
      <vt:lpstr>Measurement System</vt:lpstr>
      <vt:lpstr>Measurement Accuracy</vt:lpstr>
      <vt:lpstr>Measurement Accuracy</vt:lpstr>
      <vt:lpstr>Conclusion</vt:lpstr>
      <vt:lpstr>Related Work</vt:lpstr>
      <vt:lpstr>Impact of Context</vt:lpstr>
      <vt:lpstr>Measurement Opportunities</vt:lpstr>
      <vt:lpstr>Measurement Service Decision Process</vt:lpstr>
      <vt:lpstr>Measurement Service Benchmarks</vt:lpstr>
      <vt:lpstr>Measurement System Design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Obtaining In-Context Measurements of Cellular Network Performance</dc:title>
  <dc:creator>Aaron Gember</dc:creator>
  <cp:lastModifiedBy>Aaron Gember</cp:lastModifiedBy>
  <cp:revision>629</cp:revision>
  <dcterms:created xsi:type="dcterms:W3CDTF">2012-10-31T21:11:32Z</dcterms:created>
  <dcterms:modified xsi:type="dcterms:W3CDTF">2012-11-18T20:06:58Z</dcterms:modified>
</cp:coreProperties>
</file>