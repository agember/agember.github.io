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Default Extension="jpeg" ContentType="image/jpeg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61" r:id="rId4"/>
    <p:sldId id="269" r:id="rId5"/>
    <p:sldId id="267" r:id="rId6"/>
    <p:sldId id="263" r:id="rId7"/>
    <p:sldId id="265" r:id="rId8"/>
    <p:sldId id="280" r:id="rId9"/>
    <p:sldId id="273" r:id="rId10"/>
    <p:sldId id="281" r:id="rId11"/>
    <p:sldId id="260" r:id="rId12"/>
    <p:sldId id="274" r:id="rId13"/>
    <p:sldId id="278" r:id="rId14"/>
    <p:sldId id="279" r:id="rId15"/>
    <p:sldId id="277" r:id="rId16"/>
    <p:sldId id="26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5EDC64E-3801-470E-B44E-767AD00D3A41}" type="datetimeFigureOut">
              <a:rPr lang="en-US" smtClean="0"/>
              <a:pPr/>
              <a:t>7/20/2012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12003F4-668B-4F45-99B9-6357092E70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Challenges in Unifying Control of </a:t>
            </a:r>
            <a:r>
              <a:rPr lang="en-US" dirty="0" err="1" smtClean="0"/>
              <a:t>Middlebox</a:t>
            </a:r>
            <a:r>
              <a:rPr lang="en-US" dirty="0" smtClean="0"/>
              <a:t> Traversals and Functionality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Aaron </a:t>
            </a:r>
            <a:r>
              <a:rPr lang="en-US" dirty="0" err="1" smtClean="0"/>
              <a:t>Gember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Theophilus Benson</a:t>
            </a:r>
            <a:r>
              <a:rPr lang="en-US" dirty="0" smtClean="0"/>
              <a:t>, </a:t>
            </a:r>
            <a:r>
              <a:rPr lang="en-US" dirty="0" err="1" smtClean="0"/>
              <a:t>Aditya</a:t>
            </a:r>
            <a:r>
              <a:rPr lang="en-US" dirty="0" smtClean="0"/>
              <a:t> </a:t>
            </a:r>
            <a:r>
              <a:rPr lang="en-US" dirty="0" err="1" smtClean="0"/>
              <a:t>Akella</a:t>
            </a:r>
            <a:endParaRPr lang="en-US" dirty="0" smtClean="0"/>
          </a:p>
          <a:p>
            <a:r>
              <a:rPr lang="en-US" dirty="0" smtClean="0"/>
              <a:t>University of Wisconsin-Madison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Components of Enterprise Networks</a:t>
            </a:r>
            <a:endParaRPr lang="en-US" dirty="0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 descr="serv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76950" y="1447800"/>
            <a:ext cx="1162050" cy="1162050"/>
          </a:xfrm>
          <a:prstGeom prst="rect">
            <a:avLst/>
          </a:prstGeom>
        </p:spPr>
      </p:pic>
      <p:pic>
        <p:nvPicPr>
          <p:cNvPr id="10" name="Picture 9" descr="serv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10350" y="1600200"/>
            <a:ext cx="1162050" cy="1162050"/>
          </a:xfrm>
          <a:prstGeom prst="rect">
            <a:avLst/>
          </a:prstGeom>
        </p:spPr>
      </p:pic>
      <p:pic>
        <p:nvPicPr>
          <p:cNvPr id="11" name="Picture 10" descr="serv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19950" y="1752600"/>
            <a:ext cx="1162050" cy="1162050"/>
          </a:xfrm>
          <a:prstGeom prst="rect">
            <a:avLst/>
          </a:prstGeom>
        </p:spPr>
      </p:pic>
      <p:pic>
        <p:nvPicPr>
          <p:cNvPr id="12" name="Picture 11" descr="desktop-and-monitor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2001" y="1981201"/>
            <a:ext cx="1143000" cy="786848"/>
          </a:xfrm>
          <a:prstGeom prst="rect">
            <a:avLst/>
          </a:prstGeom>
        </p:spPr>
      </p:pic>
      <p:pic>
        <p:nvPicPr>
          <p:cNvPr id="14" name="Picture 13" descr="laptop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85800" y="3048001"/>
            <a:ext cx="1066800" cy="743712"/>
          </a:xfrm>
          <a:prstGeom prst="rect">
            <a:avLst/>
          </a:prstGeom>
        </p:spPr>
      </p:pic>
      <p:pic>
        <p:nvPicPr>
          <p:cNvPr id="15" name="Picture 14" descr="iphon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8200" y="4038600"/>
            <a:ext cx="736423" cy="825188"/>
          </a:xfrm>
          <a:prstGeom prst="rect">
            <a:avLst/>
          </a:prstGeom>
        </p:spPr>
      </p:pic>
      <p:pic>
        <p:nvPicPr>
          <p:cNvPr id="17" name="Picture 16" descr="cisco_router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91000" y="1828800"/>
            <a:ext cx="919163" cy="542457"/>
          </a:xfrm>
          <a:prstGeom prst="rect">
            <a:avLst/>
          </a:prstGeom>
        </p:spPr>
      </p:pic>
      <p:pic>
        <p:nvPicPr>
          <p:cNvPr id="18" name="Picture 17" descr="cisco_switch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438400" y="2743200"/>
            <a:ext cx="952500" cy="399020"/>
          </a:xfrm>
          <a:prstGeom prst="rect">
            <a:avLst/>
          </a:prstGeom>
        </p:spPr>
      </p:pic>
      <p:pic>
        <p:nvPicPr>
          <p:cNvPr id="19" name="Picture 18" descr="cisco_switch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019800" y="3505200"/>
            <a:ext cx="952500" cy="399020"/>
          </a:xfrm>
          <a:prstGeom prst="rect">
            <a:avLst/>
          </a:prstGeom>
        </p:spPr>
      </p:pic>
      <p:pic>
        <p:nvPicPr>
          <p:cNvPr id="20" name="Picture 19" descr="cisco_router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91000" y="3276600"/>
            <a:ext cx="919163" cy="542457"/>
          </a:xfrm>
          <a:prstGeom prst="rect">
            <a:avLst/>
          </a:prstGeom>
        </p:spPr>
      </p:pic>
      <p:cxnSp>
        <p:nvCxnSpPr>
          <p:cNvPr id="27" name="Straight Connector 26"/>
          <p:cNvCxnSpPr>
            <a:stCxn id="12" idx="3"/>
            <a:endCxn id="18" idx="1"/>
          </p:cNvCxnSpPr>
          <p:nvPr/>
        </p:nvCxnSpPr>
        <p:spPr>
          <a:xfrm>
            <a:off x="1905001" y="2374625"/>
            <a:ext cx="533399" cy="5680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8" idx="1"/>
          </p:cNvCxnSpPr>
          <p:nvPr/>
        </p:nvCxnSpPr>
        <p:spPr>
          <a:xfrm flipH="1">
            <a:off x="1600200" y="2942710"/>
            <a:ext cx="838200" cy="562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8" idx="0"/>
            <a:endCxn id="17" idx="1"/>
          </p:cNvCxnSpPr>
          <p:nvPr/>
        </p:nvCxnSpPr>
        <p:spPr>
          <a:xfrm flipV="1">
            <a:off x="2914650" y="2100029"/>
            <a:ext cx="1276350" cy="6431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7" idx="2"/>
            <a:endCxn id="20" idx="0"/>
          </p:cNvCxnSpPr>
          <p:nvPr/>
        </p:nvCxnSpPr>
        <p:spPr>
          <a:xfrm>
            <a:off x="4650582" y="2371257"/>
            <a:ext cx="0" cy="9053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9" idx="1"/>
            <a:endCxn id="20" idx="3"/>
          </p:cNvCxnSpPr>
          <p:nvPr/>
        </p:nvCxnSpPr>
        <p:spPr>
          <a:xfrm flipH="1" flipV="1">
            <a:off x="5110163" y="3547829"/>
            <a:ext cx="909637" cy="1568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9" idx="0"/>
          </p:cNvCxnSpPr>
          <p:nvPr/>
        </p:nvCxnSpPr>
        <p:spPr>
          <a:xfrm>
            <a:off x="6400800" y="2514600"/>
            <a:ext cx="95250" cy="990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9" idx="0"/>
          </p:cNvCxnSpPr>
          <p:nvPr/>
        </p:nvCxnSpPr>
        <p:spPr>
          <a:xfrm flipV="1">
            <a:off x="6496050" y="2667000"/>
            <a:ext cx="438150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9" idx="0"/>
          </p:cNvCxnSpPr>
          <p:nvPr/>
        </p:nvCxnSpPr>
        <p:spPr>
          <a:xfrm flipV="1">
            <a:off x="6496050" y="2819400"/>
            <a:ext cx="1047750" cy="685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8"/>
          <p:cNvGrpSpPr/>
          <p:nvPr/>
        </p:nvGrpSpPr>
        <p:grpSpPr>
          <a:xfrm>
            <a:off x="3352800" y="2133600"/>
            <a:ext cx="457200" cy="457200"/>
            <a:chOff x="5791200" y="3276600"/>
            <a:chExt cx="685800" cy="685800"/>
          </a:xfrm>
        </p:grpSpPr>
        <p:sp>
          <p:nvSpPr>
            <p:cNvPr id="34" name="Rounded Rectangle 33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magnifying_glass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6" name="Group 8"/>
          <p:cNvGrpSpPr/>
          <p:nvPr/>
        </p:nvGrpSpPr>
        <p:grpSpPr>
          <a:xfrm>
            <a:off x="4419600" y="2514600"/>
            <a:ext cx="457200" cy="457200"/>
            <a:chOff x="5791200" y="3276600"/>
            <a:chExt cx="685800" cy="685800"/>
          </a:xfrm>
        </p:grpSpPr>
        <p:sp>
          <p:nvSpPr>
            <p:cNvPr id="37" name="Rounded Rectangle 36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 descr="magnifying_glass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0" name="Group 8"/>
          <p:cNvGrpSpPr/>
          <p:nvPr/>
        </p:nvGrpSpPr>
        <p:grpSpPr>
          <a:xfrm>
            <a:off x="5410200" y="3429000"/>
            <a:ext cx="457200" cy="457200"/>
            <a:chOff x="5791200" y="3276600"/>
            <a:chExt cx="685800" cy="685800"/>
          </a:xfrm>
        </p:grpSpPr>
        <p:sp>
          <p:nvSpPr>
            <p:cNvPr id="42" name="Rounded Rectangle 41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 descr="magnifying_glass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4" name="Group 8"/>
          <p:cNvGrpSpPr/>
          <p:nvPr/>
        </p:nvGrpSpPr>
        <p:grpSpPr>
          <a:xfrm>
            <a:off x="3505200" y="3657600"/>
            <a:ext cx="457200" cy="457200"/>
            <a:chOff x="5791200" y="3276600"/>
            <a:chExt cx="685800" cy="685800"/>
          </a:xfrm>
        </p:grpSpPr>
        <p:sp>
          <p:nvSpPr>
            <p:cNvPr id="46" name="Rounded Rectangle 45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magnifying_glass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49" name="Rectangle 48"/>
          <p:cNvSpPr/>
          <p:nvPr/>
        </p:nvSpPr>
        <p:spPr>
          <a:xfrm>
            <a:off x="228600" y="1600200"/>
            <a:ext cx="8458200" cy="1066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Middleboxes</a:t>
            </a:r>
            <a:r>
              <a:rPr lang="en-US" sz="2400" dirty="0" smtClean="0"/>
              <a:t> make up 40% of the network devices in large enterprises with over 200K hosts</a:t>
            </a:r>
            <a:r>
              <a:rPr lang="en-US" sz="2400" baseline="30000" dirty="0" smtClean="0"/>
              <a:t>1</a:t>
            </a:r>
            <a:endParaRPr lang="en-US" sz="2400" baseline="30000" dirty="0"/>
          </a:p>
        </p:txBody>
      </p:sp>
      <p:sp>
        <p:nvSpPr>
          <p:cNvPr id="50" name="Rectangle 49"/>
          <p:cNvSpPr/>
          <p:nvPr/>
        </p:nvSpPr>
        <p:spPr>
          <a:xfrm>
            <a:off x="228600" y="3429000"/>
            <a:ext cx="84582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Enterprises </a:t>
            </a:r>
            <a:r>
              <a:rPr lang="en-US" sz="2400" smtClean="0"/>
              <a:t>spent on average over1 </a:t>
            </a:r>
            <a:r>
              <a:rPr lang="en-US" sz="2400" dirty="0" smtClean="0"/>
              <a:t>million dollars over the last 5 years to acquire middleboxes</a:t>
            </a:r>
            <a:r>
              <a:rPr lang="en-US" sz="2400" baseline="30000" dirty="0" smtClean="0"/>
              <a:t>1</a:t>
            </a:r>
            <a:endParaRPr lang="en-US" sz="2400" baseline="30000" dirty="0"/>
          </a:p>
        </p:txBody>
      </p:sp>
      <p:sp>
        <p:nvSpPr>
          <p:cNvPr id="41" name="TextBox 40"/>
          <p:cNvSpPr txBox="1"/>
          <p:nvPr/>
        </p:nvSpPr>
        <p:spPr>
          <a:xfrm>
            <a:off x="4191000" y="6400801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 Survey of Enterprise </a:t>
            </a:r>
            <a:r>
              <a:rPr lang="en-US" sz="1200" dirty="0" err="1" smtClean="0"/>
              <a:t>Middlebox</a:t>
            </a:r>
            <a:r>
              <a:rPr lang="en-US" sz="1200" dirty="0" smtClean="0"/>
              <a:t> Deployments, Justine Sherry and Sylvia </a:t>
            </a:r>
            <a:r>
              <a:rPr lang="en-US" sz="1200" dirty="0" err="1" smtClean="0"/>
              <a:t>Ratnasamy</a:t>
            </a:r>
            <a:r>
              <a:rPr lang="en-US" sz="1200" dirty="0" smtClean="0"/>
              <a:t>, 2012</a:t>
            </a:r>
            <a:endParaRPr lang="en-US" sz="12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of Middleboxes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Additional component traffic passes through for examination and/or modification</a:t>
            </a:r>
          </a:p>
          <a:p>
            <a:pPr lvl="1">
              <a:buNone/>
            </a:pPr>
            <a:r>
              <a:rPr lang="en-US" dirty="0" smtClean="0"/>
              <a:t>	Not a connection endpoint</a:t>
            </a:r>
          </a:p>
          <a:p>
            <a:pPr lvl="1">
              <a:buNone/>
            </a:pPr>
            <a:r>
              <a:rPr lang="en-US" dirty="0" smtClean="0"/>
              <a:t>	Not responsible for path selection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Ensure security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Optimize performance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Facilitate remote access</a:t>
            </a:r>
          </a:p>
          <a:p>
            <a:endParaRPr lang="en-US" dirty="0"/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6" name="Group 35"/>
          <p:cNvGrpSpPr/>
          <p:nvPr/>
        </p:nvGrpSpPr>
        <p:grpSpPr>
          <a:xfrm>
            <a:off x="3505200" y="3810000"/>
            <a:ext cx="2667000" cy="781050"/>
            <a:chOff x="3505200" y="3276600"/>
            <a:chExt cx="2667000" cy="781050"/>
          </a:xfrm>
        </p:grpSpPr>
        <p:pic>
          <p:nvPicPr>
            <p:cNvPr id="4" name="Picture 3" descr="firewall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5800" y="3276600"/>
              <a:ext cx="762000" cy="762000"/>
            </a:xfrm>
            <a:prstGeom prst="rect">
              <a:avLst/>
            </a:prstGeom>
          </p:spPr>
        </p:pic>
        <p:pic>
          <p:nvPicPr>
            <p:cNvPr id="23" name="Picture 22" descr="magnifying_glass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5200" y="3276600"/>
              <a:ext cx="781050" cy="781050"/>
            </a:xfrm>
            <a:prstGeom prst="rect">
              <a:avLst/>
            </a:prstGeom>
          </p:spPr>
        </p:pic>
        <p:pic>
          <p:nvPicPr>
            <p:cNvPr id="24" name="Picture 23" descr="padlock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0200" y="3276600"/>
              <a:ext cx="762000" cy="762000"/>
            </a:xfrm>
            <a:prstGeom prst="rect">
              <a:avLst/>
            </a:prstGeom>
          </p:spPr>
        </p:pic>
      </p:grpSp>
      <p:grpSp>
        <p:nvGrpSpPr>
          <p:cNvPr id="8" name="Group 36"/>
          <p:cNvGrpSpPr/>
          <p:nvPr/>
        </p:nvGrpSpPr>
        <p:grpSpPr>
          <a:xfrm>
            <a:off x="4724400" y="4572000"/>
            <a:ext cx="1905000" cy="914400"/>
            <a:chOff x="4724400" y="4114800"/>
            <a:chExt cx="1905000" cy="914400"/>
          </a:xfrm>
        </p:grpSpPr>
        <p:pic>
          <p:nvPicPr>
            <p:cNvPr id="5" name="Picture 7" descr="C:\Users\agember\AppData\Local\Microsoft\Windows\Temporary Internet Files\Content.IE5\QZT0K7D8\MC900434719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724400" y="4191000"/>
              <a:ext cx="762000" cy="762000"/>
            </a:xfrm>
            <a:prstGeom prst="rect">
              <a:avLst/>
            </a:prstGeom>
            <a:noFill/>
          </p:spPr>
        </p:pic>
        <p:pic>
          <p:nvPicPr>
            <p:cNvPr id="25" name="Picture 24" descr="server_sync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5000" y="4114800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oup 39"/>
          <p:cNvGrpSpPr/>
          <p:nvPr/>
        </p:nvGrpSpPr>
        <p:grpSpPr>
          <a:xfrm>
            <a:off x="5029200" y="5486400"/>
            <a:ext cx="2209800" cy="781050"/>
            <a:chOff x="5029200" y="5105400"/>
            <a:chExt cx="2209800" cy="781050"/>
          </a:xfrm>
        </p:grpSpPr>
        <p:pic>
          <p:nvPicPr>
            <p:cNvPr id="7" name="Picture 6" descr="building_office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77000" y="5105400"/>
              <a:ext cx="762000" cy="762000"/>
            </a:xfrm>
            <a:prstGeom prst="rect">
              <a:avLst/>
            </a:prstGeom>
          </p:spPr>
        </p:pic>
        <p:cxnSp>
          <p:nvCxnSpPr>
            <p:cNvPr id="16" name="Straight Arrow Connector 15"/>
            <p:cNvCxnSpPr>
              <a:stCxn id="26" idx="3"/>
              <a:endCxn id="7" idx="1"/>
            </p:cNvCxnSpPr>
            <p:nvPr/>
          </p:nvCxnSpPr>
          <p:spPr>
            <a:xfrm flipV="1">
              <a:off x="5810250" y="5486400"/>
              <a:ext cx="666750" cy="9525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headEnd type="triangle" w="lg" len="med"/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pic>
          <p:nvPicPr>
            <p:cNvPr id="26" name="Picture 25" descr="monitor-and-user3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9200" y="5105400"/>
              <a:ext cx="781050" cy="781050"/>
            </a:xfrm>
            <a:prstGeom prst="rect">
              <a:avLst/>
            </a:prstGeom>
          </p:spPr>
        </p:pic>
      </p:grpSp>
      <p:pic>
        <p:nvPicPr>
          <p:cNvPr id="21" name="Picture 20" descr="x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14400" y="3156156"/>
            <a:ext cx="304800" cy="304800"/>
          </a:xfrm>
          <a:prstGeom prst="rect">
            <a:avLst/>
          </a:prstGeom>
        </p:spPr>
      </p:pic>
      <p:pic>
        <p:nvPicPr>
          <p:cNvPr id="22" name="Picture 21" descr="x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14400" y="2667000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Deploying </a:t>
            </a:r>
            <a:r>
              <a:rPr lang="en-US" dirty="0" err="1" smtClean="0"/>
              <a:t>Middlebox</a:t>
            </a:r>
            <a:r>
              <a:rPr lang="en-US" dirty="0" smtClean="0"/>
              <a:t> Topologies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525963"/>
          </a:xfrm>
        </p:spPr>
        <p:txBody>
          <a:bodyPr>
            <a:normAutofit/>
          </a:bodyPr>
          <a:lstStyle/>
          <a:p>
            <a:pPr marL="571500" indent="-514350">
              <a:buFont typeface="+mj-lt"/>
              <a:buAutoNum type="arabicParenR"/>
            </a:pPr>
            <a:r>
              <a:rPr lang="en-US" dirty="0" smtClean="0"/>
              <a:t>Determine objectives – 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conceptual </a:t>
            </a:r>
          </a:p>
          <a:p>
            <a:pPr marL="571500" indent="-514350">
              <a:buFont typeface="+mj-lt"/>
              <a:buAutoNum type="arabicParenR"/>
            </a:pPr>
            <a:r>
              <a:rPr lang="en-US" dirty="0" smtClean="0"/>
              <a:t>Select middleboxes, and ordering – 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logical </a:t>
            </a:r>
          </a:p>
          <a:p>
            <a:pPr marL="971550" lvl="1" indent="-514350">
              <a:buFont typeface="+mj-lt"/>
              <a:buAutoNum type="arabicParenR"/>
            </a:pPr>
            <a:endParaRPr lang="en-US" i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971550" lvl="1" indent="-514350">
              <a:buFont typeface="+mj-lt"/>
              <a:buAutoNum type="arabicParenR"/>
            </a:pPr>
            <a:endParaRPr lang="en-US" i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971550" lvl="1" indent="-514350"/>
            <a:r>
              <a:rPr lang="en-US" dirty="0" smtClean="0"/>
              <a:t>Select traffic to examine</a:t>
            </a:r>
          </a:p>
          <a:p>
            <a:pPr marL="571500" indent="-514350">
              <a:buFont typeface="+mj-lt"/>
              <a:buAutoNum type="arabicParenR"/>
            </a:pPr>
            <a:r>
              <a:rPr lang="en-US" dirty="0" smtClean="0"/>
              <a:t>Plan wiring and network </a:t>
            </a:r>
            <a:r>
              <a:rPr lang="en-US" dirty="0" err="1" smtClean="0"/>
              <a:t>config</a:t>
            </a:r>
            <a:r>
              <a:rPr lang="en-US" dirty="0" smtClean="0"/>
              <a:t> – 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physical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5" name="Group 13"/>
          <p:cNvGrpSpPr/>
          <p:nvPr/>
        </p:nvGrpSpPr>
        <p:grpSpPr>
          <a:xfrm>
            <a:off x="4419600" y="3052465"/>
            <a:ext cx="3733800" cy="609600"/>
            <a:chOff x="4114800" y="2514600"/>
            <a:chExt cx="3733800" cy="609600"/>
          </a:xfrm>
        </p:grpSpPr>
        <p:sp>
          <p:nvSpPr>
            <p:cNvPr id="15" name="Rounded Rectangle 14"/>
            <p:cNvSpPr/>
            <p:nvPr/>
          </p:nvSpPr>
          <p:spPr>
            <a:xfrm>
              <a:off x="4114800" y="2514600"/>
              <a:ext cx="18288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Flow Logger</a:t>
              </a:r>
              <a:endParaRPr lang="en-US" sz="2400" b="1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629400" y="2514600"/>
              <a:ext cx="12192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IDS</a:t>
              </a:r>
              <a:endParaRPr lang="en-US" sz="2400" b="1" dirty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6019800" y="2819400"/>
              <a:ext cx="53340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" name="Group 17"/>
          <p:cNvGrpSpPr/>
          <p:nvPr/>
        </p:nvGrpSpPr>
        <p:grpSpPr>
          <a:xfrm>
            <a:off x="1219200" y="2971800"/>
            <a:ext cx="3048000" cy="614065"/>
            <a:chOff x="1219200" y="2433935"/>
            <a:chExt cx="3048000" cy="614065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3124200" y="2819400"/>
              <a:ext cx="114300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200400" y="2433935"/>
              <a:ext cx="8414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smtClean="0"/>
                <a:t>HTTP</a:t>
              </a:r>
              <a:endParaRPr lang="en-US" sz="2400" i="1" dirty="0"/>
            </a:p>
          </p:txBody>
        </p:sp>
        <p:pic>
          <p:nvPicPr>
            <p:cNvPr id="21" name="Picture 20" descr="switch_hp_procurve_6600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2438400"/>
              <a:ext cx="1903752" cy="609600"/>
            </a:xfrm>
            <a:prstGeom prst="rect">
              <a:avLst/>
            </a:prstGeom>
          </p:spPr>
        </p:pic>
      </p:grpSp>
      <p:grpSp>
        <p:nvGrpSpPr>
          <p:cNvPr id="7" name="Group 47"/>
          <p:cNvGrpSpPr/>
          <p:nvPr/>
        </p:nvGrpSpPr>
        <p:grpSpPr>
          <a:xfrm>
            <a:off x="1176866" y="4953000"/>
            <a:ext cx="6766984" cy="1390650"/>
            <a:chOff x="1176866" y="4953000"/>
            <a:chExt cx="6766984" cy="1390650"/>
          </a:xfrm>
        </p:grpSpPr>
        <p:pic>
          <p:nvPicPr>
            <p:cNvPr id="23" name="Picture 22" descr="cisco_rout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6866" y="5486400"/>
              <a:ext cx="1032933" cy="609600"/>
            </a:xfrm>
            <a:prstGeom prst="rect">
              <a:avLst/>
            </a:prstGeom>
          </p:spPr>
        </p:pic>
        <p:pic>
          <p:nvPicPr>
            <p:cNvPr id="24" name="Picture 23" descr="cisco_router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800" y="4953000"/>
              <a:ext cx="903817" cy="533400"/>
            </a:xfrm>
            <a:prstGeom prst="rect">
              <a:avLst/>
            </a:prstGeom>
          </p:spPr>
        </p:pic>
        <p:cxnSp>
          <p:nvCxnSpPr>
            <p:cNvPr id="26" name="Straight Connector 25"/>
            <p:cNvCxnSpPr>
              <a:stCxn id="23" idx="3"/>
              <a:endCxn id="24" idx="1"/>
            </p:cNvCxnSpPr>
            <p:nvPr/>
          </p:nvCxnSpPr>
          <p:spPr>
            <a:xfrm flipV="1">
              <a:off x="2209799" y="5219700"/>
              <a:ext cx="1143001" cy="5715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23" idx="3"/>
            </p:cNvCxnSpPr>
            <p:nvPr/>
          </p:nvCxnSpPr>
          <p:spPr>
            <a:xfrm flipV="1">
              <a:off x="2209799" y="5715000"/>
              <a:ext cx="3048001" cy="762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 descr="server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5400" y="5181600"/>
              <a:ext cx="1162050" cy="1162050"/>
            </a:xfrm>
            <a:prstGeom prst="rect">
              <a:avLst/>
            </a:prstGeom>
          </p:spPr>
        </p:pic>
        <p:pic>
          <p:nvPicPr>
            <p:cNvPr id="35" name="Picture 34" descr="server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1800" y="5105400"/>
              <a:ext cx="1162050" cy="1162050"/>
            </a:xfrm>
            <a:prstGeom prst="rect">
              <a:avLst/>
            </a:prstGeom>
          </p:spPr>
        </p:pic>
        <p:cxnSp>
          <p:nvCxnSpPr>
            <p:cNvPr id="37" name="Straight Connector 36"/>
            <p:cNvCxnSpPr/>
            <p:nvPr/>
          </p:nvCxnSpPr>
          <p:spPr>
            <a:xfrm flipV="1">
              <a:off x="5943600" y="5715000"/>
              <a:ext cx="990600" cy="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2" descr="C:\Users\agember\AppData\Local\Microsoft\Windows\Temporary Internet Files\Content.IE5\L26VQG3E\MC900432599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219200" y="5562600"/>
              <a:ext cx="685800" cy="6858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2" name="Right Arrow 21"/>
          <p:cNvSpPr/>
          <p:nvPr/>
        </p:nvSpPr>
        <p:spPr>
          <a:xfrm>
            <a:off x="-457200" y="4191000"/>
            <a:ext cx="1295400" cy="53340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 Scenarios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Monitor all paths or </a:t>
            </a:r>
            <a:r>
              <a:rPr lang="en-US" b="1" dirty="0" smtClean="0"/>
              <a:t>specific link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On-path vs. Off-path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Enforcing traversals</a:t>
            </a:r>
          </a:p>
          <a:p>
            <a:pPr lvl="1"/>
            <a:r>
              <a:rPr lang="en-US" dirty="0" smtClean="0"/>
              <a:t>Physical chokepoint: wiring inline</a:t>
            </a:r>
          </a:p>
          <a:p>
            <a:pPr lvl="1"/>
            <a:r>
              <a:rPr lang="en-US" dirty="0" smtClean="0"/>
              <a:t>Logical chokepoints: routing hacks</a:t>
            </a:r>
          </a:p>
          <a:p>
            <a:pPr lvl="1"/>
            <a:r>
              <a:rPr lang="en-US" dirty="0" smtClean="0"/>
              <a:t>Software defined networking (SDN)</a:t>
            </a:r>
          </a:p>
          <a:p>
            <a:pPr lvl="1"/>
            <a:endParaRPr lang="en-US" dirty="0" smtClean="0"/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5" name="Group 36"/>
          <p:cNvGrpSpPr/>
          <p:nvPr/>
        </p:nvGrpSpPr>
        <p:grpSpPr>
          <a:xfrm>
            <a:off x="4800600" y="2286000"/>
            <a:ext cx="3676650" cy="933450"/>
            <a:chOff x="4800600" y="1447800"/>
            <a:chExt cx="3676650" cy="933450"/>
          </a:xfrm>
        </p:grpSpPr>
        <p:pic>
          <p:nvPicPr>
            <p:cNvPr id="4" name="Picture 3" descr="serv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3800" y="1447800"/>
              <a:ext cx="933450" cy="933450"/>
            </a:xfrm>
            <a:prstGeom prst="rect">
              <a:avLst/>
            </a:prstGeom>
          </p:spPr>
        </p:pic>
        <p:grpSp>
          <p:nvGrpSpPr>
            <p:cNvPr id="8" name="Group 8"/>
            <p:cNvGrpSpPr/>
            <p:nvPr/>
          </p:nvGrpSpPr>
          <p:grpSpPr>
            <a:xfrm>
              <a:off x="6324600" y="1600200"/>
              <a:ext cx="685800" cy="685800"/>
              <a:chOff x="5791200" y="3276600"/>
              <a:chExt cx="685800" cy="685800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" name="Picture 6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10" name="Picture 9" descr="monitor-and-user3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600" y="1447800"/>
              <a:ext cx="914400" cy="914400"/>
            </a:xfrm>
            <a:prstGeom prst="rect">
              <a:avLst/>
            </a:prstGeom>
          </p:spPr>
        </p:pic>
        <p:cxnSp>
          <p:nvCxnSpPr>
            <p:cNvPr id="12" name="Straight Arrow Connector 11"/>
            <p:cNvCxnSpPr>
              <a:stCxn id="10" idx="3"/>
            </p:cNvCxnSpPr>
            <p:nvPr/>
          </p:nvCxnSpPr>
          <p:spPr>
            <a:xfrm>
              <a:off x="5715000" y="1905000"/>
              <a:ext cx="53340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7086600" y="1905000"/>
              <a:ext cx="53340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" name="Group 37"/>
          <p:cNvGrpSpPr/>
          <p:nvPr/>
        </p:nvGrpSpPr>
        <p:grpSpPr>
          <a:xfrm>
            <a:off x="4800600" y="3276600"/>
            <a:ext cx="3676650" cy="1371600"/>
            <a:chOff x="4800600" y="2438400"/>
            <a:chExt cx="3676650" cy="1371600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6019800" y="2895600"/>
              <a:ext cx="533400" cy="53340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pic>
          <p:nvPicPr>
            <p:cNvPr id="18" name="Picture 17" descr="serv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3800" y="2438400"/>
              <a:ext cx="933450" cy="933450"/>
            </a:xfrm>
            <a:prstGeom prst="rect">
              <a:avLst/>
            </a:prstGeom>
          </p:spPr>
        </p:pic>
        <p:grpSp>
          <p:nvGrpSpPr>
            <p:cNvPr id="11" name="Group 18"/>
            <p:cNvGrpSpPr/>
            <p:nvPr/>
          </p:nvGrpSpPr>
          <p:grpSpPr>
            <a:xfrm>
              <a:off x="6705600" y="3124200"/>
              <a:ext cx="685800" cy="685800"/>
              <a:chOff x="5791200" y="3276600"/>
              <a:chExt cx="685800" cy="685800"/>
            </a:xfrm>
          </p:grpSpPr>
          <p:sp>
            <p:nvSpPr>
              <p:cNvPr id="20" name="Rounded Rectangle 19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1" name="Picture 20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22" name="Picture 21" descr="monitor-and-user3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600" y="2438400"/>
              <a:ext cx="914400" cy="914400"/>
            </a:xfrm>
            <a:prstGeom prst="rect">
              <a:avLst/>
            </a:prstGeom>
          </p:spPr>
        </p:pic>
        <p:cxnSp>
          <p:nvCxnSpPr>
            <p:cNvPr id="23" name="Straight Arrow Connector 22"/>
            <p:cNvCxnSpPr>
              <a:stCxn id="22" idx="3"/>
              <a:endCxn id="18" idx="1"/>
            </p:cNvCxnSpPr>
            <p:nvPr/>
          </p:nvCxnSpPr>
          <p:spPr>
            <a:xfrm>
              <a:off x="5715000" y="2895600"/>
              <a:ext cx="1828800" cy="9525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Enforcing Desired Traversals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Brittle networks: choke points</a:t>
            </a:r>
          </a:p>
          <a:p>
            <a:pPr lvl="1"/>
            <a:r>
              <a:rPr lang="en-US" dirty="0" smtClean="0"/>
              <a:t>Single point-of-failure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	Limited flexibility</a:t>
            </a:r>
          </a:p>
          <a:p>
            <a:pPr lvl="1"/>
            <a:r>
              <a:rPr lang="en-US" dirty="0" smtClean="0"/>
              <a:t>Unable to differentiate based on traffic type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	Difficult to expand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3" name="Picture 12" descr="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1676400"/>
            <a:ext cx="381000" cy="381000"/>
          </a:xfrm>
          <a:prstGeom prst="rect">
            <a:avLst/>
          </a:prstGeom>
        </p:spPr>
      </p:pic>
      <p:pic>
        <p:nvPicPr>
          <p:cNvPr id="14" name="Picture 13" descr="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3352800"/>
            <a:ext cx="381000" cy="381000"/>
          </a:xfrm>
          <a:prstGeom prst="rect">
            <a:avLst/>
          </a:prstGeom>
        </p:spPr>
      </p:pic>
      <p:grpSp>
        <p:nvGrpSpPr>
          <p:cNvPr id="5" name="Group 49"/>
          <p:cNvGrpSpPr/>
          <p:nvPr/>
        </p:nvGrpSpPr>
        <p:grpSpPr>
          <a:xfrm>
            <a:off x="6248400" y="1676400"/>
            <a:ext cx="2214563" cy="1837857"/>
            <a:chOff x="6248400" y="1676400"/>
            <a:chExt cx="2214563" cy="1837857"/>
          </a:xfrm>
        </p:grpSpPr>
        <p:pic>
          <p:nvPicPr>
            <p:cNvPr id="23" name="Picture 22" descr="cisco_router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3800" y="1676400"/>
              <a:ext cx="919163" cy="542457"/>
            </a:xfrm>
            <a:prstGeom prst="rect">
              <a:avLst/>
            </a:prstGeom>
          </p:spPr>
        </p:pic>
        <p:pic>
          <p:nvPicPr>
            <p:cNvPr id="24" name="Picture 23" descr="cisco_router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400" y="2971800"/>
              <a:ext cx="919163" cy="542457"/>
            </a:xfrm>
            <a:prstGeom prst="rect">
              <a:avLst/>
            </a:prstGeom>
          </p:spPr>
        </p:pic>
        <p:cxnSp>
          <p:nvCxnSpPr>
            <p:cNvPr id="25" name="Straight Connector 24"/>
            <p:cNvCxnSpPr>
              <a:stCxn id="28" idx="1"/>
              <a:endCxn id="24" idx="3"/>
            </p:cNvCxnSpPr>
            <p:nvPr/>
          </p:nvCxnSpPr>
          <p:spPr>
            <a:xfrm flipH="1">
              <a:off x="7167563" y="2981325"/>
              <a:ext cx="528637" cy="2617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8"/>
            <p:cNvGrpSpPr/>
            <p:nvPr/>
          </p:nvGrpSpPr>
          <p:grpSpPr>
            <a:xfrm>
              <a:off x="7696200" y="2667000"/>
              <a:ext cx="685800" cy="685800"/>
              <a:chOff x="5791200" y="3276600"/>
              <a:chExt cx="685800" cy="685800"/>
            </a:xfrm>
          </p:grpSpPr>
          <p:sp>
            <p:nvSpPr>
              <p:cNvPr id="27" name="Rounded Rectangle 26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" name="Picture 27" descr="magnifying_gla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cxnSp>
          <p:nvCxnSpPr>
            <p:cNvPr id="40" name="Straight Connector 39"/>
            <p:cNvCxnSpPr>
              <a:stCxn id="23" idx="2"/>
              <a:endCxn id="28" idx="0"/>
            </p:cNvCxnSpPr>
            <p:nvPr/>
          </p:nvCxnSpPr>
          <p:spPr>
            <a:xfrm>
              <a:off x="8003382" y="2218857"/>
              <a:ext cx="7143" cy="4481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2" descr="C:\Users\agember\AppData\Local\Microsoft\Windows\Temporary Internet Files\Content.IE5\L26VQG3E\MC900432599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477000" y="2819400"/>
              <a:ext cx="609600" cy="6096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" name="Group 58"/>
          <p:cNvGrpSpPr/>
          <p:nvPr/>
        </p:nvGrpSpPr>
        <p:grpSpPr>
          <a:xfrm>
            <a:off x="5715000" y="5592580"/>
            <a:ext cx="1981200" cy="304800"/>
            <a:chOff x="5715000" y="2209800"/>
            <a:chExt cx="1981200" cy="304800"/>
          </a:xfrm>
        </p:grpSpPr>
        <p:cxnSp>
          <p:nvCxnSpPr>
            <p:cNvPr id="60" name="Elbow Connector 59"/>
            <p:cNvCxnSpPr/>
            <p:nvPr/>
          </p:nvCxnSpPr>
          <p:spPr>
            <a:xfrm>
              <a:off x="5715000" y="2209800"/>
              <a:ext cx="990600" cy="304800"/>
            </a:xfrm>
            <a:prstGeom prst="bentConnector3">
              <a:avLst>
                <a:gd name="adj1" fmla="val 25788"/>
              </a:avLst>
            </a:prstGeom>
            <a:ln>
              <a:solidFill>
                <a:schemeClr val="accent6">
                  <a:lumMod val="75000"/>
                </a:schemeClr>
              </a:solidFill>
              <a:tailEnd type="non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1" name="Elbow Connector 60"/>
            <p:cNvCxnSpPr/>
            <p:nvPr/>
          </p:nvCxnSpPr>
          <p:spPr>
            <a:xfrm rot="10800000" flipV="1">
              <a:off x="6705600" y="2209800"/>
              <a:ext cx="990600" cy="304800"/>
            </a:xfrm>
            <a:prstGeom prst="bentConnector3">
              <a:avLst>
                <a:gd name="adj1" fmla="val 36381"/>
              </a:avLst>
            </a:prstGeom>
            <a:ln>
              <a:solidFill>
                <a:schemeClr val="accent6">
                  <a:lumMod val="75000"/>
                </a:schemeClr>
              </a:solidFill>
              <a:headEnd type="triangle" w="lg" len="med"/>
              <a:tailEnd type="non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8" name="Group 68"/>
          <p:cNvGrpSpPr/>
          <p:nvPr/>
        </p:nvGrpSpPr>
        <p:grpSpPr>
          <a:xfrm>
            <a:off x="4800600" y="4953000"/>
            <a:ext cx="3886200" cy="990600"/>
            <a:chOff x="4800600" y="4953000"/>
            <a:chExt cx="3886200" cy="990600"/>
          </a:xfrm>
        </p:grpSpPr>
        <p:cxnSp>
          <p:nvCxnSpPr>
            <p:cNvPr id="54" name="Straight Arrow Connector 53"/>
            <p:cNvCxnSpPr/>
            <p:nvPr/>
          </p:nvCxnSpPr>
          <p:spPr>
            <a:xfrm>
              <a:off x="7162800" y="5287780"/>
              <a:ext cx="53340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715000" y="5287780"/>
              <a:ext cx="53340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9" name="Group 61"/>
            <p:cNvGrpSpPr/>
            <p:nvPr/>
          </p:nvGrpSpPr>
          <p:grpSpPr>
            <a:xfrm>
              <a:off x="6324600" y="5029200"/>
              <a:ext cx="685800" cy="685800"/>
              <a:chOff x="5791200" y="3276600"/>
              <a:chExt cx="685800" cy="685800"/>
            </a:xfrm>
          </p:grpSpPr>
          <p:sp>
            <p:nvSpPr>
              <p:cNvPr id="63" name="Rounded Rectangle 62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4" name="Picture 63" descr="magnifying_gla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65" name="Picture 64" descr="server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0600" y="4953000"/>
              <a:ext cx="990600" cy="990600"/>
            </a:xfrm>
            <a:prstGeom prst="rect">
              <a:avLst/>
            </a:prstGeom>
          </p:spPr>
        </p:pic>
        <p:pic>
          <p:nvPicPr>
            <p:cNvPr id="66" name="Picture 65" descr="server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96200" y="4953000"/>
              <a:ext cx="990600" cy="990600"/>
            </a:xfrm>
            <a:prstGeom prst="rect">
              <a:avLst/>
            </a:prstGeom>
          </p:spPr>
        </p:pic>
      </p:grpSp>
      <p:pic>
        <p:nvPicPr>
          <p:cNvPr id="67" name="Picture 66" descr="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4724400"/>
            <a:ext cx="381000" cy="381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228600" y="1524000"/>
            <a:ext cx="8458200" cy="30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With SDN, still difficult to expand – need control over </a:t>
            </a:r>
            <a:r>
              <a:rPr lang="en-US" sz="2400" dirty="0" err="1" smtClean="0"/>
              <a:t>middlebox</a:t>
            </a:r>
            <a:r>
              <a:rPr lang="en-US" sz="2400" dirty="0" smtClean="0"/>
              <a:t> to expand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Configuring </a:t>
            </a:r>
            <a:r>
              <a:rPr lang="en-US" dirty="0" err="1" smtClean="0"/>
              <a:t>Middleboxes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Infrastructure dependence</a:t>
            </a:r>
          </a:p>
          <a:p>
            <a:pPr lvl="1"/>
            <a:r>
              <a:rPr lang="en-US" dirty="0" smtClean="0"/>
              <a:t>Distinct language for each vendor</a:t>
            </a:r>
          </a:p>
          <a:p>
            <a:pPr lvl="1"/>
            <a:r>
              <a:rPr lang="en-US" dirty="0" smtClean="0"/>
              <a:t>Hard to migrate between vendors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Topology dependence</a:t>
            </a:r>
          </a:p>
          <a:p>
            <a:pPr lvl="1"/>
            <a:r>
              <a:rPr lang="en-US" dirty="0" smtClean="0"/>
              <a:t>Tied to servers on path</a:t>
            </a:r>
          </a:p>
          <a:p>
            <a:pPr lvl="1"/>
            <a:r>
              <a:rPr lang="en-US" dirty="0" smtClean="0"/>
              <a:t>prevents mobility of server and </a:t>
            </a:r>
            <a:r>
              <a:rPr lang="en-US" dirty="0" err="1" smtClean="0"/>
              <a:t>middleboxes</a:t>
            </a:r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5" name="Picture 4" descr="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1752600"/>
            <a:ext cx="381000" cy="381000"/>
          </a:xfrm>
          <a:prstGeom prst="rect">
            <a:avLst/>
          </a:prstGeom>
        </p:spPr>
      </p:pic>
      <p:pic>
        <p:nvPicPr>
          <p:cNvPr id="6" name="Picture 5" descr="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3657600"/>
            <a:ext cx="381000" cy="381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4800" y="2971800"/>
            <a:ext cx="8458200" cy="1447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67% of the outages are caused by misconfiguration of these middleboxes</a:t>
            </a:r>
            <a:r>
              <a:rPr lang="en-US" sz="2400" baseline="30000" dirty="0" smtClean="0"/>
              <a:t>1</a:t>
            </a:r>
            <a:endParaRPr lang="en-US" sz="2400" baseline="30000" dirty="0"/>
          </a:p>
        </p:txBody>
      </p:sp>
      <p:grpSp>
        <p:nvGrpSpPr>
          <p:cNvPr id="7" name="Group 69"/>
          <p:cNvGrpSpPr/>
          <p:nvPr/>
        </p:nvGrpSpPr>
        <p:grpSpPr>
          <a:xfrm>
            <a:off x="0" y="533400"/>
            <a:ext cx="9372600" cy="5867400"/>
            <a:chOff x="228600" y="1295400"/>
            <a:chExt cx="8686800" cy="5334000"/>
          </a:xfrm>
        </p:grpSpPr>
        <p:sp>
          <p:nvSpPr>
            <p:cNvPr id="8" name="Rectangle 7"/>
            <p:cNvSpPr/>
            <p:nvPr/>
          </p:nvSpPr>
          <p:spPr>
            <a:xfrm>
              <a:off x="228600" y="1295400"/>
              <a:ext cx="8686800" cy="5334000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76350" y="2743200"/>
              <a:ext cx="6591300" cy="13716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Need unified control over </a:t>
              </a:r>
              <a:r>
                <a:rPr lang="en-US" sz="2800" b="1" dirty="0" err="1" smtClean="0"/>
                <a:t>middleboxes</a:t>
              </a:r>
              <a:r>
                <a:rPr lang="en-US" sz="2800" b="1" dirty="0" smtClean="0"/>
                <a:t> and network devices</a:t>
              </a:r>
              <a:endParaRPr lang="en-US" sz="2800" b="1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91000" y="6400801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 Survey of Enterprise </a:t>
            </a:r>
            <a:r>
              <a:rPr lang="en-US" sz="1200" dirty="0" err="1" smtClean="0"/>
              <a:t>Middlebox</a:t>
            </a:r>
            <a:r>
              <a:rPr lang="en-US" sz="1200" dirty="0" smtClean="0"/>
              <a:t> Deployments, Justine Sherry and Sylvia </a:t>
            </a:r>
            <a:r>
              <a:rPr lang="en-US" sz="1200" dirty="0" err="1" smtClean="0"/>
              <a:t>Ratnasamy</a:t>
            </a:r>
            <a:r>
              <a:rPr lang="en-US" sz="1200" dirty="0" smtClean="0"/>
              <a:t>, 2012</a:t>
            </a:r>
            <a:endParaRPr lang="en-US" sz="12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Unification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Easier to verify </a:t>
            </a:r>
            <a:r>
              <a:rPr lang="en-US" dirty="0" err="1" smtClean="0"/>
              <a:t>middlebox</a:t>
            </a:r>
            <a:r>
              <a:rPr lang="en-US" dirty="0" smtClean="0"/>
              <a:t> configuration</a:t>
            </a:r>
          </a:p>
          <a:p>
            <a:endParaRPr lang="en-US" dirty="0" smtClean="0"/>
          </a:p>
          <a:p>
            <a:r>
              <a:rPr lang="en-US" dirty="0" smtClean="0"/>
              <a:t>Easier to migrate between infrastructure</a:t>
            </a:r>
          </a:p>
          <a:p>
            <a:endParaRPr lang="en-US" dirty="0" smtClean="0"/>
          </a:p>
          <a:p>
            <a:r>
              <a:rPr lang="en-US" dirty="0" smtClean="0"/>
              <a:t>Automation leads to flexibility</a:t>
            </a:r>
          </a:p>
          <a:p>
            <a:pPr lvl="1"/>
            <a:r>
              <a:rPr lang="en-US" dirty="0" smtClean="0"/>
              <a:t>Implement energy saving</a:t>
            </a:r>
          </a:p>
          <a:p>
            <a:pPr lvl="1"/>
            <a:r>
              <a:rPr lang="en-US" dirty="0" smtClean="0"/>
              <a:t>Implement bottleneck detection and scaling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Centralized Unified Control</a:t>
            </a:r>
            <a:endParaRPr lang="en-US" dirty="0"/>
          </a:p>
        </p:txBody>
      </p:sp>
      <p:sp>
        <p:nvSpPr>
          <p:cNvPr id="85" name="Content Placeholder 2"/>
          <p:cNvSpPr>
            <a:spLocks noGrp="1"/>
          </p:cNvSpPr>
          <p:nvPr>
            <p:ph idx="1"/>
          </p:nvPr>
        </p:nvSpPr>
        <p:spPr>
          <a:xfrm>
            <a:off x="457200" y="4800600"/>
            <a:ext cx="8229600" cy="1630363"/>
          </a:xfrm>
        </p:spPr>
        <p:txBody>
          <a:bodyPr>
            <a:noAutofit/>
          </a:bodyPr>
          <a:lstStyle/>
          <a:p>
            <a:r>
              <a:rPr lang="en-US" sz="2800" dirty="0" smtClean="0"/>
              <a:t>Configures physical infrastructure</a:t>
            </a:r>
          </a:p>
          <a:p>
            <a:pPr lvl="1"/>
            <a:r>
              <a:rPr lang="en-US" sz="2400" dirty="0" smtClean="0"/>
              <a:t>Routers + Switches: </a:t>
            </a:r>
            <a:r>
              <a:rPr lang="en-US" sz="2400" dirty="0" err="1" smtClean="0"/>
              <a:t>OpenFlow</a:t>
            </a:r>
            <a:r>
              <a:rPr lang="en-US" sz="2400" dirty="0" smtClean="0"/>
              <a:t> + NOX</a:t>
            </a:r>
          </a:p>
          <a:p>
            <a:pPr lvl="1"/>
            <a:r>
              <a:rPr lang="en-US" sz="2400" dirty="0" err="1" smtClean="0"/>
              <a:t>Middleboxes</a:t>
            </a:r>
            <a:r>
              <a:rPr lang="en-US" sz="2400" dirty="0" smtClean="0"/>
              <a:t>: ??????</a:t>
            </a:r>
            <a:endParaRPr lang="en-US" sz="1800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3886200" y="1143000"/>
            <a:ext cx="3810000" cy="685800"/>
            <a:chOff x="685800" y="2514600"/>
            <a:chExt cx="7181850" cy="1371600"/>
          </a:xfrm>
        </p:grpSpPr>
        <p:pic>
          <p:nvPicPr>
            <p:cNvPr id="5" name="Picture 4" descr="server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600" y="2514600"/>
              <a:ext cx="1162050" cy="1162050"/>
            </a:xfrm>
            <a:prstGeom prst="rect">
              <a:avLst/>
            </a:prstGeom>
          </p:spPr>
        </p:pic>
        <p:pic>
          <p:nvPicPr>
            <p:cNvPr id="6" name="Picture 5" descr="desktop-and-monitor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2819400"/>
              <a:ext cx="1143000" cy="786848"/>
            </a:xfrm>
            <a:prstGeom prst="rect">
              <a:avLst/>
            </a:prstGeom>
          </p:spPr>
        </p:pic>
        <p:pic>
          <p:nvPicPr>
            <p:cNvPr id="7" name="Picture 6" descr="firewal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600" y="2590800"/>
              <a:ext cx="762000" cy="762000"/>
            </a:xfrm>
            <a:prstGeom prst="rect">
              <a:avLst/>
            </a:prstGeom>
          </p:spPr>
        </p:pic>
        <p:grpSp>
          <p:nvGrpSpPr>
            <p:cNvPr id="8" name="Group 8"/>
            <p:cNvGrpSpPr/>
            <p:nvPr/>
          </p:nvGrpSpPr>
          <p:grpSpPr>
            <a:xfrm>
              <a:off x="5715000" y="3200400"/>
              <a:ext cx="457200" cy="457200"/>
              <a:chOff x="5791200" y="3276600"/>
              <a:chExt cx="685800" cy="685800"/>
            </a:xfrm>
          </p:grpSpPr>
          <p:sp>
            <p:nvSpPr>
              <p:cNvPr id="16" name="Rounded Rectangle 7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" name="Picture 16" descr="magnifying_gla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9" name="Picture 7" descr="C:\Users\agember\AppData\Local\Microsoft\Windows\Temporary Internet Files\Content.IE5\QZT0K7D8\MC900434719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362200" y="3124200"/>
              <a:ext cx="762000" cy="762000"/>
            </a:xfrm>
            <a:prstGeom prst="rect">
              <a:avLst/>
            </a:prstGeom>
            <a:noFill/>
          </p:spPr>
        </p:pic>
        <p:grpSp>
          <p:nvGrpSpPr>
            <p:cNvPr id="10" name="Group 8"/>
            <p:cNvGrpSpPr/>
            <p:nvPr/>
          </p:nvGrpSpPr>
          <p:grpSpPr>
            <a:xfrm>
              <a:off x="2514600" y="2819400"/>
              <a:ext cx="457200" cy="457200"/>
              <a:chOff x="5791200" y="3276600"/>
              <a:chExt cx="685800" cy="685800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 descr="magnifying_gla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cxnSp>
          <p:nvCxnSpPr>
            <p:cNvPr id="11" name="Straight Connector 10"/>
            <p:cNvCxnSpPr>
              <a:stCxn id="6" idx="3"/>
            </p:cNvCxnSpPr>
            <p:nvPr/>
          </p:nvCxnSpPr>
          <p:spPr>
            <a:xfrm flipV="1">
              <a:off x="1828800" y="3200400"/>
              <a:ext cx="685800" cy="1242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6248400" y="3124200"/>
              <a:ext cx="6096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15" idx="3"/>
            </p:cNvCxnSpPr>
            <p:nvPr/>
          </p:nvCxnSpPr>
          <p:spPr>
            <a:xfrm>
              <a:off x="2933700" y="3028950"/>
              <a:ext cx="2628900" cy="952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4343400" y="2362200"/>
            <a:ext cx="30480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Control Plane</a:t>
            </a:r>
            <a:endParaRPr lang="en-US" sz="2400" b="1" dirty="0"/>
          </a:p>
        </p:txBody>
      </p:sp>
      <p:cxnSp>
        <p:nvCxnSpPr>
          <p:cNvPr id="20" name="Straight Arrow Connector 19"/>
          <p:cNvCxnSpPr>
            <a:stCxn id="19" idx="2"/>
            <a:endCxn id="30" idx="0"/>
          </p:cNvCxnSpPr>
          <p:nvPr/>
        </p:nvCxnSpPr>
        <p:spPr>
          <a:xfrm>
            <a:off x="5867400" y="3048000"/>
            <a:ext cx="62408" cy="341718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2514600" y="3144701"/>
            <a:ext cx="6629400" cy="1579699"/>
            <a:chOff x="685800" y="1447800"/>
            <a:chExt cx="7696200" cy="2456420"/>
          </a:xfrm>
        </p:grpSpPr>
        <p:pic>
          <p:nvPicPr>
            <p:cNvPr id="24" name="Picture 23" descr="server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6950" y="1447800"/>
              <a:ext cx="1162050" cy="1162050"/>
            </a:xfrm>
            <a:prstGeom prst="rect">
              <a:avLst/>
            </a:prstGeom>
          </p:spPr>
        </p:pic>
        <p:pic>
          <p:nvPicPr>
            <p:cNvPr id="25" name="Picture 24" descr="server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0350" y="1600200"/>
              <a:ext cx="1162050" cy="1162050"/>
            </a:xfrm>
            <a:prstGeom prst="rect">
              <a:avLst/>
            </a:prstGeom>
          </p:spPr>
        </p:pic>
        <p:pic>
          <p:nvPicPr>
            <p:cNvPr id="26" name="Picture 25" descr="server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50" y="1752600"/>
              <a:ext cx="1162050" cy="1162050"/>
            </a:xfrm>
            <a:prstGeom prst="rect">
              <a:avLst/>
            </a:prstGeom>
          </p:spPr>
        </p:pic>
        <p:pic>
          <p:nvPicPr>
            <p:cNvPr id="27" name="Picture 26" descr="desktop-and-monitor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1" y="1981201"/>
              <a:ext cx="1143000" cy="786848"/>
            </a:xfrm>
            <a:prstGeom prst="rect">
              <a:avLst/>
            </a:prstGeom>
          </p:spPr>
        </p:pic>
        <p:pic>
          <p:nvPicPr>
            <p:cNvPr id="28" name="Picture 27" descr="laptop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" y="3048001"/>
              <a:ext cx="1066800" cy="743712"/>
            </a:xfrm>
            <a:prstGeom prst="rect">
              <a:avLst/>
            </a:prstGeom>
          </p:spPr>
        </p:pic>
        <p:pic>
          <p:nvPicPr>
            <p:cNvPr id="30" name="Picture 29" descr="cisco_router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1000" y="1828800"/>
              <a:ext cx="919163" cy="542457"/>
            </a:xfrm>
            <a:prstGeom prst="rect">
              <a:avLst/>
            </a:prstGeom>
          </p:spPr>
        </p:pic>
        <p:pic>
          <p:nvPicPr>
            <p:cNvPr id="31" name="Picture 30" descr="cisco_switch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38400" y="2743200"/>
              <a:ext cx="952500" cy="399020"/>
            </a:xfrm>
            <a:prstGeom prst="rect">
              <a:avLst/>
            </a:prstGeom>
          </p:spPr>
        </p:pic>
        <p:pic>
          <p:nvPicPr>
            <p:cNvPr id="32" name="Picture 31" descr="cisco_switch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19800" y="3505200"/>
              <a:ext cx="952500" cy="399020"/>
            </a:xfrm>
            <a:prstGeom prst="rect">
              <a:avLst/>
            </a:prstGeom>
          </p:spPr>
        </p:pic>
        <p:cxnSp>
          <p:nvCxnSpPr>
            <p:cNvPr id="35" name="Straight Connector 34"/>
            <p:cNvCxnSpPr>
              <a:stCxn id="27" idx="3"/>
              <a:endCxn id="31" idx="1"/>
            </p:cNvCxnSpPr>
            <p:nvPr/>
          </p:nvCxnSpPr>
          <p:spPr>
            <a:xfrm>
              <a:off x="1905001" y="2374625"/>
              <a:ext cx="533399" cy="568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1" idx="1"/>
            </p:cNvCxnSpPr>
            <p:nvPr/>
          </p:nvCxnSpPr>
          <p:spPr>
            <a:xfrm flipH="1">
              <a:off x="1600200" y="2942710"/>
              <a:ext cx="838200" cy="56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1" idx="0"/>
              <a:endCxn id="30" idx="1"/>
            </p:cNvCxnSpPr>
            <p:nvPr/>
          </p:nvCxnSpPr>
          <p:spPr>
            <a:xfrm flipV="1">
              <a:off x="2914650" y="2100029"/>
              <a:ext cx="1276350" cy="6431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32" idx="1"/>
              <a:endCxn id="30" idx="3"/>
            </p:cNvCxnSpPr>
            <p:nvPr/>
          </p:nvCxnSpPr>
          <p:spPr>
            <a:xfrm flipH="1" flipV="1">
              <a:off x="5110163" y="2100029"/>
              <a:ext cx="909637" cy="16046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endCxn id="32" idx="0"/>
            </p:cNvCxnSpPr>
            <p:nvPr/>
          </p:nvCxnSpPr>
          <p:spPr>
            <a:xfrm>
              <a:off x="6400800" y="2514600"/>
              <a:ext cx="95250" cy="990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2" idx="0"/>
            </p:cNvCxnSpPr>
            <p:nvPr/>
          </p:nvCxnSpPr>
          <p:spPr>
            <a:xfrm flipV="1">
              <a:off x="6496050" y="2667000"/>
              <a:ext cx="438150" cy="838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32" idx="0"/>
            </p:cNvCxnSpPr>
            <p:nvPr/>
          </p:nvCxnSpPr>
          <p:spPr>
            <a:xfrm flipV="1">
              <a:off x="6496050" y="2819400"/>
              <a:ext cx="1047750" cy="685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45" descr="firewal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800" y="2819400"/>
              <a:ext cx="762000" cy="762000"/>
            </a:xfrm>
            <a:prstGeom prst="rect">
              <a:avLst/>
            </a:prstGeom>
          </p:spPr>
        </p:pic>
        <p:grpSp>
          <p:nvGrpSpPr>
            <p:cNvPr id="47" name="Group 8"/>
            <p:cNvGrpSpPr/>
            <p:nvPr/>
          </p:nvGrpSpPr>
          <p:grpSpPr>
            <a:xfrm>
              <a:off x="5410200" y="3429000"/>
              <a:ext cx="457200" cy="457200"/>
              <a:chOff x="5791200" y="3276600"/>
              <a:chExt cx="685800" cy="685800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3" name="Picture 52" descr="magnifying_gla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48" name="Picture 7" descr="C:\Users\agember\AppData\Local\Microsoft\Windows\Temporary Internet Files\Content.IE5\QZT0K7D8\MC900434719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276600" y="2286000"/>
              <a:ext cx="762000" cy="762000"/>
            </a:xfrm>
            <a:prstGeom prst="rect">
              <a:avLst/>
            </a:prstGeom>
            <a:noFill/>
          </p:spPr>
        </p:pic>
        <p:grpSp>
          <p:nvGrpSpPr>
            <p:cNvPr id="49" name="Group 8"/>
            <p:cNvGrpSpPr/>
            <p:nvPr/>
          </p:nvGrpSpPr>
          <p:grpSpPr>
            <a:xfrm>
              <a:off x="3429000" y="1981200"/>
              <a:ext cx="457200" cy="457200"/>
              <a:chOff x="5791200" y="3276600"/>
              <a:chExt cx="685800" cy="685800"/>
            </a:xfrm>
          </p:grpSpPr>
          <p:sp>
            <p:nvSpPr>
              <p:cNvPr id="50" name="Rounded Rectangle 49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1" name="Picture 50" descr="magnifying_gla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cxnSp>
        <p:nvCxnSpPr>
          <p:cNvPr id="61" name="Straight Arrow Connector 60"/>
          <p:cNvCxnSpPr>
            <a:stCxn id="19" idx="2"/>
            <a:endCxn id="31" idx="0"/>
          </p:cNvCxnSpPr>
          <p:nvPr/>
        </p:nvCxnSpPr>
        <p:spPr>
          <a:xfrm flipH="1">
            <a:off x="4434500" y="3048000"/>
            <a:ext cx="1432900" cy="929760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19" idx="2"/>
            <a:endCxn id="32" idx="0"/>
          </p:cNvCxnSpPr>
          <p:nvPr/>
        </p:nvCxnSpPr>
        <p:spPr>
          <a:xfrm>
            <a:off x="5867400" y="3048000"/>
            <a:ext cx="1652069" cy="1419794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9" idx="2"/>
            <a:endCxn id="51" idx="0"/>
          </p:cNvCxnSpPr>
          <p:nvPr/>
        </p:nvCxnSpPr>
        <p:spPr>
          <a:xfrm flipH="1">
            <a:off x="5058058" y="3048000"/>
            <a:ext cx="809342" cy="439725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19" idx="2"/>
            <a:endCxn id="46" idx="0"/>
          </p:cNvCxnSpPr>
          <p:nvPr/>
        </p:nvCxnSpPr>
        <p:spPr>
          <a:xfrm>
            <a:off x="5867400" y="3048000"/>
            <a:ext cx="913645" cy="978763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6" name="Content Placeholder 4" descr="C:\Users\Tbenson\AppData\Local\Microsoft\Windows\Temporary Internet Files\Content.IE5\WPV9BMM7\MC900434894[1]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flipH="1">
            <a:off x="3200400" y="1676400"/>
            <a:ext cx="939673" cy="1051259"/>
          </a:xfrm>
          <a:prstGeom prst="rect">
            <a:avLst/>
          </a:prstGeom>
          <a:noFill/>
        </p:spPr>
      </p:pic>
      <p:sp>
        <p:nvSpPr>
          <p:cNvPr id="97" name="Down Arrow 96"/>
          <p:cNvSpPr/>
          <p:nvPr/>
        </p:nvSpPr>
        <p:spPr>
          <a:xfrm>
            <a:off x="5562600" y="1752600"/>
            <a:ext cx="3810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76200" y="1524000"/>
            <a:ext cx="2438400" cy="914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High level Objectives</a:t>
            </a:r>
            <a:endParaRPr lang="en-US" b="1" dirty="0"/>
          </a:p>
        </p:txBody>
      </p:sp>
      <p:sp>
        <p:nvSpPr>
          <p:cNvPr id="99" name="Rectangle 98"/>
          <p:cNvSpPr/>
          <p:nvPr/>
        </p:nvSpPr>
        <p:spPr>
          <a:xfrm>
            <a:off x="76200" y="3581400"/>
            <a:ext cx="2438400" cy="914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Physical Infrastructure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Composing Middlebox Topologies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525963"/>
          </a:xfrm>
        </p:spPr>
        <p:txBody>
          <a:bodyPr>
            <a:normAutofit/>
          </a:bodyPr>
          <a:lstStyle/>
          <a:p>
            <a:pPr marL="571500" indent="-514350">
              <a:buFont typeface="+mj-lt"/>
              <a:buAutoNum type="arabicParenR"/>
            </a:pPr>
            <a:r>
              <a:rPr lang="en-US" dirty="0" smtClean="0"/>
              <a:t>Operator specifies </a:t>
            </a:r>
            <a:r>
              <a:rPr lang="en-US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logical topology</a:t>
            </a:r>
          </a:p>
          <a:p>
            <a:pPr marL="571500" indent="-514350">
              <a:buFont typeface="+mj-lt"/>
              <a:buAutoNum type="arabicParenR"/>
            </a:pPr>
            <a:endParaRPr lang="en-US" i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571500" indent="-514350">
              <a:buFont typeface="+mj-lt"/>
              <a:buAutoNum type="arabicParenR"/>
            </a:pPr>
            <a:endParaRPr lang="en-US" i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571500" indent="-514350">
              <a:buFont typeface="+mj-lt"/>
              <a:buAutoNum type="arabicParenR"/>
            </a:pPr>
            <a:endParaRPr lang="en-US" i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571500" indent="-514350">
              <a:buFont typeface="+mj-lt"/>
              <a:buAutoNum type="arabicParenR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Control plane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determines path</a:t>
            </a:r>
          </a:p>
          <a:p>
            <a:pPr marL="971550" lvl="1" indent="-514350">
              <a:buFont typeface="+mj-lt"/>
              <a:buAutoNum type="arabicParenR"/>
            </a:pPr>
            <a:endParaRPr lang="en-US" i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971550" lvl="1" indent="-514350">
              <a:buNone/>
            </a:pPr>
            <a:endParaRPr lang="en-US" i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674B-3BBF-4D1B-86EA-B49C8354B629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5" name="Group 13"/>
          <p:cNvGrpSpPr/>
          <p:nvPr/>
        </p:nvGrpSpPr>
        <p:grpSpPr>
          <a:xfrm>
            <a:off x="4419600" y="2438400"/>
            <a:ext cx="3733800" cy="1062335"/>
            <a:chOff x="4114800" y="2514600"/>
            <a:chExt cx="3733800" cy="609600"/>
          </a:xfrm>
        </p:grpSpPr>
        <p:sp>
          <p:nvSpPr>
            <p:cNvPr id="15" name="Rounded Rectangle 14"/>
            <p:cNvSpPr/>
            <p:nvPr/>
          </p:nvSpPr>
          <p:spPr>
            <a:xfrm>
              <a:off x="4114800" y="2514600"/>
              <a:ext cx="18288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Flow Logger</a:t>
              </a:r>
              <a:endParaRPr lang="en-US" sz="2400" b="1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629400" y="2514600"/>
              <a:ext cx="12192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IDS</a:t>
              </a:r>
              <a:endParaRPr lang="en-US" sz="2400" b="1" dirty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6019800" y="2819400"/>
              <a:ext cx="53340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" name="Group 17"/>
          <p:cNvGrpSpPr/>
          <p:nvPr/>
        </p:nvGrpSpPr>
        <p:grpSpPr>
          <a:xfrm>
            <a:off x="1219200" y="2590800"/>
            <a:ext cx="3048000" cy="614065"/>
            <a:chOff x="1219200" y="2433935"/>
            <a:chExt cx="3048000" cy="614065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3124200" y="2819400"/>
              <a:ext cx="114300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200400" y="2433935"/>
              <a:ext cx="8414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smtClean="0"/>
                <a:t>HTTP</a:t>
              </a:r>
              <a:endParaRPr lang="en-US" sz="2400" i="1" dirty="0"/>
            </a:p>
          </p:txBody>
        </p:sp>
        <p:pic>
          <p:nvPicPr>
            <p:cNvPr id="21" name="Picture 20" descr="switch_hp_procurve_6600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2438400"/>
              <a:ext cx="1903752" cy="609600"/>
            </a:xfrm>
            <a:prstGeom prst="rect">
              <a:avLst/>
            </a:prstGeom>
          </p:spPr>
        </p:pic>
      </p:grpSp>
      <p:grpSp>
        <p:nvGrpSpPr>
          <p:cNvPr id="84" name="Group 83"/>
          <p:cNvGrpSpPr/>
          <p:nvPr/>
        </p:nvGrpSpPr>
        <p:grpSpPr>
          <a:xfrm>
            <a:off x="1219200" y="4419600"/>
            <a:ext cx="6629400" cy="2101449"/>
            <a:chOff x="1219200" y="4419600"/>
            <a:chExt cx="6629400" cy="2101449"/>
          </a:xfrm>
        </p:grpSpPr>
        <p:pic>
          <p:nvPicPr>
            <p:cNvPr id="29" name="Picture 28" descr="serv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3062" y="4419600"/>
              <a:ext cx="1000974" cy="747303"/>
            </a:xfrm>
            <a:prstGeom prst="rect">
              <a:avLst/>
            </a:prstGeom>
          </p:spPr>
        </p:pic>
        <p:pic>
          <p:nvPicPr>
            <p:cNvPr id="30" name="Picture 29" descr="serv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2525" y="4517607"/>
              <a:ext cx="1000974" cy="747303"/>
            </a:xfrm>
            <a:prstGeom prst="rect">
              <a:avLst/>
            </a:prstGeom>
          </p:spPr>
        </p:pic>
        <p:pic>
          <p:nvPicPr>
            <p:cNvPr id="31" name="Picture 30" descr="serv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7626" y="4615614"/>
              <a:ext cx="1000974" cy="747303"/>
            </a:xfrm>
            <a:prstGeom prst="rect">
              <a:avLst/>
            </a:prstGeom>
          </p:spPr>
        </p:pic>
        <p:pic>
          <p:nvPicPr>
            <p:cNvPr id="32" name="Picture 31" descr="desktop-and-monitor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4838" y="4762625"/>
              <a:ext cx="984564" cy="506014"/>
            </a:xfrm>
            <a:prstGeom prst="rect">
              <a:avLst/>
            </a:prstGeom>
          </p:spPr>
        </p:pic>
        <p:pic>
          <p:nvPicPr>
            <p:cNvPr id="33" name="Picture 32" descr="laptop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9200" y="5448673"/>
              <a:ext cx="918927" cy="478274"/>
            </a:xfrm>
            <a:prstGeom prst="rect">
              <a:avLst/>
            </a:prstGeom>
          </p:spPr>
        </p:pic>
        <p:pic>
          <p:nvPicPr>
            <p:cNvPr id="34" name="Picture 33" descr="cisco_router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8531" y="4664617"/>
              <a:ext cx="791754" cy="348849"/>
            </a:xfrm>
            <a:prstGeom prst="rect">
              <a:avLst/>
            </a:prstGeom>
          </p:spPr>
        </p:pic>
        <p:pic>
          <p:nvPicPr>
            <p:cNvPr id="36" name="Picture 35" descr="cisco_switch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3834" y="5742693"/>
              <a:ext cx="820470" cy="256606"/>
            </a:xfrm>
            <a:prstGeom prst="rect">
              <a:avLst/>
            </a:prstGeom>
          </p:spPr>
        </p:pic>
        <p:cxnSp>
          <p:nvCxnSpPr>
            <p:cNvPr id="37" name="Straight Connector 36"/>
            <p:cNvCxnSpPr>
              <a:stCxn id="32" idx="3"/>
              <a:endCxn id="35" idx="1"/>
            </p:cNvCxnSpPr>
            <p:nvPr/>
          </p:nvCxnSpPr>
          <p:spPr>
            <a:xfrm>
              <a:off x="2269402" y="5015632"/>
              <a:ext cx="397598" cy="2942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35" idx="1"/>
            </p:cNvCxnSpPr>
            <p:nvPr/>
          </p:nvCxnSpPr>
          <p:spPr>
            <a:xfrm flipH="1">
              <a:off x="1944986" y="5309903"/>
              <a:ext cx="722014" cy="3617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35" idx="0"/>
              <a:endCxn id="34" idx="1"/>
            </p:cNvCxnSpPr>
            <p:nvPr/>
          </p:nvCxnSpPr>
          <p:spPr>
            <a:xfrm flipV="1">
              <a:off x="3077235" y="4839042"/>
              <a:ext cx="1161296" cy="34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36" idx="1"/>
              <a:endCxn id="34" idx="3"/>
            </p:cNvCxnSpPr>
            <p:nvPr/>
          </p:nvCxnSpPr>
          <p:spPr>
            <a:xfrm flipH="1" flipV="1">
              <a:off x="5030285" y="4839042"/>
              <a:ext cx="783549" cy="10319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endCxn id="36" idx="0"/>
            </p:cNvCxnSpPr>
            <p:nvPr/>
          </p:nvCxnSpPr>
          <p:spPr>
            <a:xfrm>
              <a:off x="6142022" y="5105648"/>
              <a:ext cx="82047" cy="6370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6" idx="0"/>
            </p:cNvCxnSpPr>
            <p:nvPr/>
          </p:nvCxnSpPr>
          <p:spPr>
            <a:xfrm flipV="1">
              <a:off x="6224069" y="5203655"/>
              <a:ext cx="377416" cy="5390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36" idx="0"/>
            </p:cNvCxnSpPr>
            <p:nvPr/>
          </p:nvCxnSpPr>
          <p:spPr>
            <a:xfrm flipV="1">
              <a:off x="6224069" y="5301662"/>
              <a:ext cx="902517" cy="4410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51" descr="cisco_router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14800" y="6172200"/>
              <a:ext cx="791754" cy="348849"/>
            </a:xfrm>
            <a:prstGeom prst="rect">
              <a:avLst/>
            </a:prstGeom>
          </p:spPr>
        </p:pic>
        <p:cxnSp>
          <p:nvCxnSpPr>
            <p:cNvPr id="53" name="Straight Connector 52"/>
            <p:cNvCxnSpPr/>
            <p:nvPr/>
          </p:nvCxnSpPr>
          <p:spPr>
            <a:xfrm>
              <a:off x="3291500" y="5405060"/>
              <a:ext cx="823300" cy="8433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36" idx="1"/>
              <a:endCxn id="52" idx="3"/>
            </p:cNvCxnSpPr>
            <p:nvPr/>
          </p:nvCxnSpPr>
          <p:spPr>
            <a:xfrm flipH="1">
              <a:off x="4906554" y="5870996"/>
              <a:ext cx="907280" cy="4756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/>
            <p:cNvGrpSpPr/>
            <p:nvPr/>
          </p:nvGrpSpPr>
          <p:grpSpPr>
            <a:xfrm>
              <a:off x="5181600" y="4953000"/>
              <a:ext cx="609600" cy="609600"/>
              <a:chOff x="4114800" y="1981200"/>
              <a:chExt cx="685800" cy="685800"/>
            </a:xfrm>
          </p:grpSpPr>
          <p:sp>
            <p:nvSpPr>
              <p:cNvPr id="61" name="Rounded Rectangle 60"/>
              <p:cNvSpPr/>
              <p:nvPr/>
            </p:nvSpPr>
            <p:spPr>
              <a:xfrm>
                <a:off x="4114800" y="19812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2" name="Picture 7" descr="C:\Users\agember\AppData\Local\Microsoft\Windows\Temporary Internet Files\Content.IE5\QZT0K7D8\MC900434719[1].png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114800" y="1981200"/>
                <a:ext cx="685800" cy="685800"/>
              </a:xfrm>
              <a:prstGeom prst="rect">
                <a:avLst/>
              </a:prstGeom>
              <a:noFill/>
            </p:spPr>
          </p:pic>
        </p:grpSp>
        <p:grpSp>
          <p:nvGrpSpPr>
            <p:cNvPr id="74" name="Group 73"/>
            <p:cNvGrpSpPr/>
            <p:nvPr/>
          </p:nvGrpSpPr>
          <p:grpSpPr>
            <a:xfrm>
              <a:off x="5105400" y="5867400"/>
              <a:ext cx="457200" cy="609600"/>
              <a:chOff x="4114800" y="1981200"/>
              <a:chExt cx="685800" cy="685800"/>
            </a:xfrm>
          </p:grpSpPr>
          <p:sp>
            <p:nvSpPr>
              <p:cNvPr id="75" name="Rounded Rectangle 74"/>
              <p:cNvSpPr/>
              <p:nvPr/>
            </p:nvSpPr>
            <p:spPr>
              <a:xfrm>
                <a:off x="4114800" y="19812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6" name="Picture 7" descr="C:\Users\agember\AppData\Local\Microsoft\Windows\Temporary Internet Files\Content.IE5\QZT0K7D8\MC900434719[1].png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114800" y="1981200"/>
                <a:ext cx="685800" cy="685800"/>
              </a:xfrm>
              <a:prstGeom prst="rect">
                <a:avLst/>
              </a:prstGeom>
              <a:noFill/>
            </p:spPr>
          </p:pic>
        </p:grpSp>
        <p:grpSp>
          <p:nvGrpSpPr>
            <p:cNvPr id="77" name="Group 76"/>
            <p:cNvGrpSpPr/>
            <p:nvPr/>
          </p:nvGrpSpPr>
          <p:grpSpPr>
            <a:xfrm>
              <a:off x="3505200" y="4648200"/>
              <a:ext cx="685800" cy="685800"/>
              <a:chOff x="6248400" y="1905000"/>
              <a:chExt cx="685800" cy="685800"/>
            </a:xfrm>
          </p:grpSpPr>
          <p:sp>
            <p:nvSpPr>
              <p:cNvPr id="78" name="Rounded Rectangle 77"/>
              <p:cNvSpPr/>
              <p:nvPr/>
            </p:nvSpPr>
            <p:spPr>
              <a:xfrm>
                <a:off x="6248400" y="19050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9" name="Picture 78" descr="firewall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278380" y="1951220"/>
                <a:ext cx="609600" cy="609600"/>
              </a:xfrm>
              <a:prstGeom prst="rect">
                <a:avLst/>
              </a:prstGeom>
            </p:spPr>
          </p:pic>
        </p:grpSp>
        <p:grpSp>
          <p:nvGrpSpPr>
            <p:cNvPr id="80" name="Group 12"/>
            <p:cNvGrpSpPr/>
            <p:nvPr/>
          </p:nvGrpSpPr>
          <p:grpSpPr>
            <a:xfrm>
              <a:off x="3429000" y="5638800"/>
              <a:ext cx="609600" cy="381000"/>
              <a:chOff x="5791200" y="3276600"/>
              <a:chExt cx="685800" cy="685800"/>
            </a:xfrm>
          </p:grpSpPr>
          <p:sp>
            <p:nvSpPr>
              <p:cNvPr id="81" name="Rounded Rectangle 80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2" name="Picture 81" descr="magnifying_glass.png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35" name="Picture 34" descr="cisco_switch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7000" y="5181600"/>
              <a:ext cx="820470" cy="256606"/>
            </a:xfrm>
            <a:prstGeom prst="rect">
              <a:avLst/>
            </a:prstGeom>
          </p:spPr>
        </p:pic>
      </p:grpSp>
      <p:sp>
        <p:nvSpPr>
          <p:cNvPr id="83" name="Freeform 82"/>
          <p:cNvSpPr/>
          <p:nvPr/>
        </p:nvSpPr>
        <p:spPr>
          <a:xfrm>
            <a:off x="1752600" y="4724400"/>
            <a:ext cx="4505092" cy="985024"/>
          </a:xfrm>
          <a:custGeom>
            <a:avLst/>
            <a:gdLst>
              <a:gd name="connsiteX0" fmla="*/ 4505092 w 4505092"/>
              <a:gd name="connsiteY0" fmla="*/ 985024 h 985024"/>
              <a:gd name="connsiteX1" fmla="*/ 3166946 w 4505092"/>
              <a:gd name="connsiteY1" fmla="*/ 70624 h 985024"/>
              <a:gd name="connsiteX2" fmla="*/ 1025912 w 4505092"/>
              <a:gd name="connsiteY2" fmla="*/ 561277 h 985024"/>
              <a:gd name="connsiteX3" fmla="*/ 0 w 4505092"/>
              <a:gd name="connsiteY3" fmla="*/ 271346 h 985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092" h="985024">
                <a:moveTo>
                  <a:pt x="4505092" y="985024"/>
                </a:moveTo>
                <a:cubicBezTo>
                  <a:pt x="4125950" y="563136"/>
                  <a:pt x="3746809" y="141248"/>
                  <a:pt x="3166946" y="70624"/>
                </a:cubicBezTo>
                <a:cubicBezTo>
                  <a:pt x="2587083" y="0"/>
                  <a:pt x="1553736" y="527823"/>
                  <a:pt x="1025912" y="561277"/>
                </a:cubicBezTo>
                <a:cubicBezTo>
                  <a:pt x="498088" y="594731"/>
                  <a:pt x="249044" y="433038"/>
                  <a:pt x="0" y="271346"/>
                </a:cubicBezTo>
              </a:path>
            </a:pathLst>
          </a:custGeom>
          <a:ln w="635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Middlebox</a:t>
            </a:r>
            <a:r>
              <a:rPr lang="en-US" dirty="0" smtClean="0"/>
              <a:t> deployments are based on 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high level objectives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 network of SDN switches</a:t>
            </a:r>
          </a:p>
          <a:p>
            <a:pPr lvl="1"/>
            <a:r>
              <a:rPr lang="en-US" dirty="0" smtClean="0"/>
              <a:t>Programmatic control over network</a:t>
            </a:r>
          </a:p>
          <a:p>
            <a:pPr lvl="1"/>
            <a:endParaRPr lang="en-US" dirty="0"/>
          </a:p>
        </p:txBody>
      </p:sp>
      <p:pic>
        <p:nvPicPr>
          <p:cNvPr id="4" name="Picture 3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05600" y="2514600"/>
            <a:ext cx="1162050" cy="1162050"/>
          </a:xfrm>
          <a:prstGeom prst="rect">
            <a:avLst/>
          </a:prstGeom>
        </p:spPr>
      </p:pic>
      <p:pic>
        <p:nvPicPr>
          <p:cNvPr id="5" name="Picture 4" descr="desktop-and-monitor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5800" y="2819400"/>
            <a:ext cx="1143000" cy="786848"/>
          </a:xfrm>
          <a:prstGeom prst="rect">
            <a:avLst/>
          </a:prstGeom>
        </p:spPr>
      </p:pic>
      <p:cxnSp>
        <p:nvCxnSpPr>
          <p:cNvPr id="15" name="Straight Connector 14"/>
          <p:cNvCxnSpPr>
            <a:stCxn id="5" idx="3"/>
          </p:cNvCxnSpPr>
          <p:nvPr/>
        </p:nvCxnSpPr>
        <p:spPr>
          <a:xfrm flipV="1">
            <a:off x="1828800" y="3200400"/>
            <a:ext cx="685800" cy="124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248400" y="3124200"/>
            <a:ext cx="609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3"/>
          </p:cNvCxnSpPr>
          <p:nvPr/>
        </p:nvCxnSpPr>
        <p:spPr>
          <a:xfrm>
            <a:off x="2933700" y="3028950"/>
            <a:ext cx="2628900" cy="952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5562600" y="2895600"/>
            <a:ext cx="914400" cy="838200"/>
            <a:chOff x="6248400" y="1905000"/>
            <a:chExt cx="685800" cy="685800"/>
          </a:xfrm>
        </p:grpSpPr>
        <p:sp>
          <p:nvSpPr>
            <p:cNvPr id="20" name="Rounded Rectangle 19"/>
            <p:cNvSpPr/>
            <p:nvPr/>
          </p:nvSpPr>
          <p:spPr>
            <a:xfrm>
              <a:off x="6248400" y="19050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 descr="firewal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380" y="1951220"/>
              <a:ext cx="609600" cy="609600"/>
            </a:xfrm>
            <a:prstGeom prst="rect">
              <a:avLst/>
            </a:prstGeom>
          </p:spPr>
        </p:pic>
      </p:grpSp>
      <p:grpSp>
        <p:nvGrpSpPr>
          <p:cNvPr id="23" name="Group 22"/>
          <p:cNvGrpSpPr/>
          <p:nvPr/>
        </p:nvGrpSpPr>
        <p:grpSpPr>
          <a:xfrm>
            <a:off x="2362200" y="2819400"/>
            <a:ext cx="914400" cy="762000"/>
            <a:chOff x="4114800" y="1981200"/>
            <a:chExt cx="685800" cy="685800"/>
          </a:xfrm>
        </p:grpSpPr>
        <p:sp>
          <p:nvSpPr>
            <p:cNvPr id="24" name="Rounded Rectangle 23"/>
            <p:cNvSpPr/>
            <p:nvPr/>
          </p:nvSpPr>
          <p:spPr>
            <a:xfrm>
              <a:off x="4114800" y="19812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7" descr="C:\Users\agember\AppData\Local\Microsoft\Windows\Temporary Internet Files\Content.IE5\QZT0K7D8\MC900434719[1]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114800" y="1981200"/>
              <a:ext cx="685800" cy="685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16"/>
          <p:cNvSpPr/>
          <p:nvPr/>
        </p:nvSpPr>
        <p:spPr>
          <a:xfrm rot="10800000">
            <a:off x="7924800" y="4648200"/>
            <a:ext cx="2286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0800000">
            <a:off x="7315200" y="4648200"/>
            <a:ext cx="2286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Abstractions for specifying high level constraints</a:t>
            </a:r>
          </a:p>
          <a:p>
            <a:pPr lvl="1"/>
            <a:r>
              <a:rPr lang="en-US" sz="2400" dirty="0" smtClean="0"/>
              <a:t>Simple yet flexible and powerful</a:t>
            </a:r>
          </a:p>
          <a:p>
            <a:pPr lvl="1"/>
            <a:r>
              <a:rPr lang="en-US" sz="2400" dirty="0" smtClean="0"/>
              <a:t>Oblivious to the separation between </a:t>
            </a:r>
            <a:r>
              <a:rPr lang="en-US" sz="2400" dirty="0" err="1" smtClean="0"/>
              <a:t>middleboxes</a:t>
            </a:r>
            <a:r>
              <a:rPr lang="en-US" sz="2400" dirty="0" smtClean="0"/>
              <a:t> and routers.</a:t>
            </a:r>
          </a:p>
          <a:p>
            <a:pPr lvl="1"/>
            <a:endParaRPr lang="en-US" sz="2400" dirty="0" smtClean="0"/>
          </a:p>
          <a:p>
            <a:r>
              <a:rPr lang="en-US" sz="2800" dirty="0" smtClean="0"/>
              <a:t>Common </a:t>
            </a:r>
            <a:r>
              <a:rPr lang="en-US" sz="2800" dirty="0" err="1" smtClean="0"/>
              <a:t>middlebox</a:t>
            </a:r>
            <a:r>
              <a:rPr lang="en-US" sz="2800" dirty="0" smtClean="0"/>
              <a:t> interface</a:t>
            </a:r>
          </a:p>
          <a:p>
            <a:pPr lvl="1"/>
            <a:r>
              <a:rPr lang="en-US" sz="2400" dirty="0" smtClean="0"/>
              <a:t>Extensible – support new </a:t>
            </a:r>
            <a:r>
              <a:rPr lang="en-US" sz="2400" dirty="0" err="1" smtClean="0"/>
              <a:t>middleboxes</a:t>
            </a:r>
            <a:endParaRPr lang="en-US" sz="2400" dirty="0" smtClean="0"/>
          </a:p>
          <a:p>
            <a:pPr lvl="1"/>
            <a:r>
              <a:rPr lang="en-US" sz="2400" dirty="0" smtClean="0"/>
              <a:t>Support for vendor specific functionality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6553200" y="2590800"/>
            <a:ext cx="24384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Control Plane</a:t>
            </a:r>
            <a:endParaRPr lang="en-US" sz="2400" b="1" dirty="0"/>
          </a:p>
        </p:txBody>
      </p:sp>
      <p:sp>
        <p:nvSpPr>
          <p:cNvPr id="6" name="Down Arrow 5"/>
          <p:cNvSpPr/>
          <p:nvPr/>
        </p:nvSpPr>
        <p:spPr>
          <a:xfrm>
            <a:off x="7696200" y="1981200"/>
            <a:ext cx="3810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4" descr="C:\Users\Tbenson\AppData\Local\Microsoft\Windows\Temporary Internet Files\Content.IE5\WPV9BMM7\MC900434894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7239000" y="1066800"/>
            <a:ext cx="939673" cy="1051259"/>
          </a:xfrm>
          <a:prstGeom prst="rect">
            <a:avLst/>
          </a:prstGeom>
          <a:noFill/>
        </p:spPr>
      </p:pic>
      <p:grpSp>
        <p:nvGrpSpPr>
          <p:cNvPr id="10" name="Group 9"/>
          <p:cNvGrpSpPr/>
          <p:nvPr/>
        </p:nvGrpSpPr>
        <p:grpSpPr>
          <a:xfrm>
            <a:off x="7239000" y="5105400"/>
            <a:ext cx="381000" cy="381000"/>
            <a:chOff x="4114800" y="1981200"/>
            <a:chExt cx="685800" cy="685800"/>
          </a:xfrm>
        </p:grpSpPr>
        <p:sp>
          <p:nvSpPr>
            <p:cNvPr id="11" name="Rounded Rectangle 10"/>
            <p:cNvSpPr/>
            <p:nvPr/>
          </p:nvSpPr>
          <p:spPr>
            <a:xfrm>
              <a:off x="4114800" y="19812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7" descr="C:\Users\agember\AppData\Local\Microsoft\Windows\Temporary Internet Files\Content.IE5\QZT0K7D8\MC900434719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4800" y="1981200"/>
              <a:ext cx="685800" cy="685800"/>
            </a:xfrm>
            <a:prstGeom prst="rect">
              <a:avLst/>
            </a:prstGeom>
            <a:noFill/>
          </p:spPr>
        </p:pic>
      </p:grpSp>
      <p:grpSp>
        <p:nvGrpSpPr>
          <p:cNvPr id="13" name="Group 12"/>
          <p:cNvGrpSpPr/>
          <p:nvPr/>
        </p:nvGrpSpPr>
        <p:grpSpPr>
          <a:xfrm>
            <a:off x="7696200" y="5105400"/>
            <a:ext cx="457200" cy="457200"/>
            <a:chOff x="6248400" y="1905000"/>
            <a:chExt cx="685800" cy="685800"/>
          </a:xfrm>
        </p:grpSpPr>
        <p:sp>
          <p:nvSpPr>
            <p:cNvPr id="14" name="Rounded Rectangle 13"/>
            <p:cNvSpPr/>
            <p:nvPr/>
          </p:nvSpPr>
          <p:spPr>
            <a:xfrm>
              <a:off x="6248400" y="19050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firewal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380" y="1951220"/>
              <a:ext cx="609600" cy="609600"/>
            </a:xfrm>
            <a:prstGeom prst="rect">
              <a:avLst/>
            </a:prstGeom>
          </p:spPr>
        </p:pic>
      </p:grpSp>
      <p:sp>
        <p:nvSpPr>
          <p:cNvPr id="16" name="Rectangle 15"/>
          <p:cNvSpPr/>
          <p:nvPr/>
        </p:nvSpPr>
        <p:spPr>
          <a:xfrm>
            <a:off x="6553200" y="4191000"/>
            <a:ext cx="24384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Control Plane</a:t>
            </a:r>
            <a:endParaRPr lang="en-US" sz="2400" b="1" dirty="0"/>
          </a:p>
        </p:txBody>
      </p:sp>
      <p:sp>
        <p:nvSpPr>
          <p:cNvPr id="19" name="Down Arrow 18"/>
          <p:cNvSpPr/>
          <p:nvPr/>
        </p:nvSpPr>
        <p:spPr>
          <a:xfrm rot="10800000">
            <a:off x="8458200" y="4648200"/>
            <a:ext cx="2286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12"/>
          <p:cNvGrpSpPr/>
          <p:nvPr/>
        </p:nvGrpSpPr>
        <p:grpSpPr>
          <a:xfrm>
            <a:off x="8305800" y="5181600"/>
            <a:ext cx="381000" cy="381000"/>
            <a:chOff x="5791200" y="3276600"/>
            <a:chExt cx="685800" cy="685800"/>
          </a:xfrm>
        </p:grpSpPr>
        <p:sp>
          <p:nvSpPr>
            <p:cNvPr id="8" name="Rounded Rectangle 7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magnifying_gla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6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Strawman</a:t>
            </a:r>
            <a:r>
              <a:rPr lang="en-US" dirty="0" smtClean="0"/>
              <a:t> for Abstracting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</a:t>
            </a:r>
            <a:r>
              <a:rPr lang="en-US" dirty="0" err="1" smtClean="0"/>
              <a:t>middlebox</a:t>
            </a:r>
            <a:r>
              <a:rPr lang="en-US" dirty="0" smtClean="0"/>
              <a:t> functionality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Middleboxes</a:t>
            </a:r>
            <a:r>
              <a:rPr lang="en-US" dirty="0" smtClean="0"/>
              <a:t> should expose:</a:t>
            </a:r>
          </a:p>
          <a:p>
            <a:pPr lvl="1"/>
            <a:r>
              <a:rPr lang="en-US" dirty="0" smtClean="0"/>
              <a:t>Ways to examine and match packets; e.g., regular-expression on payload, IP headers</a:t>
            </a:r>
          </a:p>
          <a:p>
            <a:pPr lvl="1"/>
            <a:r>
              <a:rPr lang="en-US" dirty="0" smtClean="0"/>
              <a:t>Transformations supported; e.g., encryption</a:t>
            </a:r>
          </a:p>
          <a:p>
            <a:pPr lvl="1"/>
            <a:r>
              <a:rPr lang="en-US" dirty="0" smtClean="0"/>
              <a:t>Way to forward; e.g., SSL tunnel, IP</a:t>
            </a:r>
          </a:p>
        </p:txBody>
      </p:sp>
      <p:sp>
        <p:nvSpPr>
          <p:cNvPr id="10" name="Rounded Rectangle 5"/>
          <p:cNvSpPr/>
          <p:nvPr/>
        </p:nvSpPr>
        <p:spPr>
          <a:xfrm>
            <a:off x="2895600" y="2590800"/>
            <a:ext cx="685800" cy="6858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286000" y="2895600"/>
            <a:ext cx="53340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657600" y="2895600"/>
            <a:ext cx="53340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6000" y="2514600"/>
            <a:ext cx="457200" cy="228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895600" y="2667000"/>
            <a:ext cx="457200" cy="228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magnifying_glas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00400" y="2590800"/>
            <a:ext cx="628650" cy="6286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/>
          <p:cNvSpPr/>
          <p:nvPr/>
        </p:nvSpPr>
        <p:spPr>
          <a:xfrm>
            <a:off x="6172200" y="2057400"/>
            <a:ext cx="2133600" cy="457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Examine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172200" y="2514600"/>
            <a:ext cx="2133600" cy="457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Transform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172200" y="2971800"/>
            <a:ext cx="2133600" cy="457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Forward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895600" y="2667000"/>
            <a:ext cx="457200" cy="228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0" y="2590800"/>
            <a:ext cx="457200" cy="228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3" grpId="0" animBg="1"/>
      <p:bldP spid="13" grpId="1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Challenges of </a:t>
            </a:r>
            <a:r>
              <a:rPr lang="en-US" dirty="0" smtClean="0"/>
              <a:t>Considering Underlying Infrastructure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Map constraints to physical infrastructure.</a:t>
            </a:r>
          </a:p>
          <a:p>
            <a:pPr lvl="1"/>
            <a:r>
              <a:rPr lang="en-US" sz="2400" dirty="0" smtClean="0"/>
              <a:t>Configure physical infrastructure</a:t>
            </a:r>
          </a:p>
          <a:p>
            <a:endParaRPr lang="en-US" sz="2800" dirty="0" smtClean="0"/>
          </a:p>
          <a:p>
            <a:r>
              <a:rPr lang="en-US" sz="2800" dirty="0" smtClean="0"/>
              <a:t>Re-adjust configuration to reflect dynamics</a:t>
            </a:r>
          </a:p>
          <a:p>
            <a:pPr lvl="1"/>
            <a:r>
              <a:rPr lang="en-US" sz="2400" dirty="0" smtClean="0"/>
              <a:t>Network topology, </a:t>
            </a:r>
            <a:r>
              <a:rPr lang="en-US" sz="2400" dirty="0" err="1" smtClean="0"/>
              <a:t>middlebox</a:t>
            </a:r>
            <a:r>
              <a:rPr lang="en-US" sz="2400" dirty="0" smtClean="0"/>
              <a:t> features, and network load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Strawman</a:t>
            </a:r>
            <a:r>
              <a:rPr lang="en-US" dirty="0" smtClean="0"/>
              <a:t> for Considering Underlying Infrastructure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LP that matches constraints to exposed MB functionality</a:t>
            </a:r>
          </a:p>
          <a:p>
            <a:pPr lvl="2"/>
            <a:r>
              <a:rPr lang="en-US" dirty="0" smtClean="0"/>
              <a:t>Minimize latency (# of links) or Minimize resource utilization (# of MBs)</a:t>
            </a:r>
          </a:p>
          <a:p>
            <a:pPr lvl="2"/>
            <a:r>
              <a:rPr lang="en-US" dirty="0" smtClean="0"/>
              <a:t>Subject to high level constraints</a:t>
            </a:r>
          </a:p>
          <a:p>
            <a:pPr lvl="1"/>
            <a:r>
              <a:rPr lang="en-US" dirty="0" smtClean="0"/>
              <a:t>Input to LP</a:t>
            </a:r>
          </a:p>
          <a:p>
            <a:pPr lvl="2"/>
            <a:r>
              <a:rPr lang="en-US" dirty="0" smtClean="0"/>
              <a:t>High level goals</a:t>
            </a:r>
          </a:p>
          <a:p>
            <a:pPr lvl="2"/>
            <a:r>
              <a:rPr lang="en-US" dirty="0" smtClean="0"/>
              <a:t>Functionality supported by </a:t>
            </a:r>
            <a:r>
              <a:rPr lang="en-US" dirty="0" err="1" smtClean="0"/>
              <a:t>Middleboxes</a:t>
            </a:r>
            <a:endParaRPr lang="en-US" dirty="0" smtClean="0"/>
          </a:p>
          <a:p>
            <a:pPr lvl="2"/>
            <a:r>
              <a:rPr lang="en-US" dirty="0" smtClean="0"/>
              <a:t>Network topology</a:t>
            </a:r>
          </a:p>
          <a:p>
            <a:pPr lvl="2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State-of-the-Art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SDN, Policy-Switch, CloudNaaS</a:t>
            </a:r>
          </a:p>
          <a:p>
            <a:pPr lvl="1"/>
            <a:r>
              <a:rPr lang="en-US" dirty="0" smtClean="0"/>
              <a:t>Flexible interposition of </a:t>
            </a:r>
            <a:r>
              <a:rPr lang="en-US" dirty="0" err="1" smtClean="0"/>
              <a:t>middlebox</a:t>
            </a:r>
            <a:endParaRPr lang="en-US" dirty="0" smtClean="0"/>
          </a:p>
          <a:p>
            <a:pPr lvl="1"/>
            <a:r>
              <a:rPr lang="en-US" dirty="0" smtClean="0"/>
              <a:t>No control over 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configuration</a:t>
            </a:r>
          </a:p>
          <a:p>
            <a:pPr lvl="2"/>
            <a:r>
              <a:rPr lang="en-US" dirty="0" smtClean="0"/>
              <a:t>Difficult to setup rules for flows without knowledge of </a:t>
            </a:r>
            <a:r>
              <a:rPr lang="en-US" dirty="0" err="1" smtClean="0"/>
              <a:t>middlebox</a:t>
            </a:r>
            <a:r>
              <a:rPr lang="en-US" dirty="0" smtClean="0"/>
              <a:t> transformations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MIDCOM</a:t>
            </a:r>
          </a:p>
          <a:p>
            <a:pPr lvl="1"/>
            <a:r>
              <a:rPr lang="en-US" dirty="0" smtClean="0"/>
              <a:t>Specify which traffic traverses a </a:t>
            </a:r>
            <a:r>
              <a:rPr lang="en-US" dirty="0" err="1" smtClean="0"/>
              <a:t>middlebox</a:t>
            </a:r>
            <a:endParaRPr lang="en-US" dirty="0" smtClean="0"/>
          </a:p>
          <a:p>
            <a:pPr lvl="1"/>
            <a:r>
              <a:rPr lang="en-US" dirty="0" smtClean="0"/>
              <a:t>Doesn’t support 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specification of functionality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Discussed challenges of deploying </a:t>
            </a:r>
            <a:r>
              <a:rPr lang="en-US" dirty="0" err="1" smtClean="0"/>
              <a:t>middleboxes</a:t>
            </a:r>
            <a:endParaRPr lang="en-US" dirty="0" smtClean="0"/>
          </a:p>
          <a:p>
            <a:pPr lvl="1"/>
            <a:r>
              <a:rPr lang="en-US" dirty="0" smtClean="0"/>
              <a:t>Enforcing traversals</a:t>
            </a:r>
          </a:p>
          <a:p>
            <a:pPr lvl="1"/>
            <a:r>
              <a:rPr lang="en-US" dirty="0" smtClean="0"/>
              <a:t>Configuration management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Described outline for unified control </a:t>
            </a:r>
          </a:p>
          <a:p>
            <a:pPr lvl="1"/>
            <a:r>
              <a:rPr lang="en-US" dirty="0" smtClean="0"/>
              <a:t>Presented advantages and challenges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1|0.2|0.5|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3|0.2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1|0.2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|0.1|0.1|0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5"/>
</p:tagLst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9386</TotalTime>
  <Words>512</Words>
  <Application>Microsoft Office PowerPoint</Application>
  <PresentationFormat>On-screen Show (4:3)</PresentationFormat>
  <Paragraphs>141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Technic</vt:lpstr>
      <vt:lpstr>Challenges in Unifying Control of Middlebox Traversals and Functionality</vt:lpstr>
      <vt:lpstr>Components of Enterprise Networks</vt:lpstr>
      <vt:lpstr>Importance of Middleboxes</vt:lpstr>
      <vt:lpstr>Deploying Middlebox Topologies</vt:lpstr>
      <vt:lpstr>Deployment Scenarios</vt:lpstr>
      <vt:lpstr>Enforcing Desired Traversals</vt:lpstr>
      <vt:lpstr>Configuring Middleboxes</vt:lpstr>
      <vt:lpstr>Benefits of Unification</vt:lpstr>
      <vt:lpstr>Centralized Unified Control</vt:lpstr>
      <vt:lpstr>Composing Middlebox Topologies</vt:lpstr>
      <vt:lpstr>Assumptions</vt:lpstr>
      <vt:lpstr>Challenges</vt:lpstr>
      <vt:lpstr>Strawman for Abstracting Configuration</vt:lpstr>
      <vt:lpstr>Challenges of Considering Underlying Infrastructure</vt:lpstr>
      <vt:lpstr>Strawman for Considering Underlying Infrastructure</vt:lpstr>
      <vt:lpstr>State-of-the-Art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in Unifying Control of Middlebox Traversals and Functionality</dc:title>
  <dc:creator>Tbenson</dc:creator>
  <cp:lastModifiedBy>Tbenson</cp:lastModifiedBy>
  <cp:revision>60</cp:revision>
  <dcterms:created xsi:type="dcterms:W3CDTF">2012-07-14T11:51:24Z</dcterms:created>
  <dcterms:modified xsi:type="dcterms:W3CDTF">2012-07-21T04:25:41Z</dcterms:modified>
</cp:coreProperties>
</file>