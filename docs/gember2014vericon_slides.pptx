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3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02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D1109-D464-412F-B544-2F223F8FA6C4}" type="datetimeFigureOut">
              <a:rPr lang="en-US" smtClean="0"/>
              <a:pPr/>
              <a:t>5/5/2014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5A3C1-75FF-48A3-AE5C-F08A22C456B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83EB-6DA1-4B9C-BFBB-F73FABF5A20F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50E1D-3D5D-4146-8F75-DB829F1AF22F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F9E0-28DD-45B6-9FD4-E34D93802600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A6AA-7A70-4593-8FDA-C12855185452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E6E5-E5ED-4FF9-ACA3-F2939882A748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5E04-B47B-4765-986F-3268BC25BED5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1A2D4-8301-4338-A8D8-DE242B3965DD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6B59-F14F-4660-A577-3315613F52ED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A1E06-5732-4BEF-95C9-84C3C6FA0296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7AF29-C469-42B1-8AD3-9928ED8AE225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1AB1E-F09A-47E3-BC9B-EF6FA29B67A0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6146C-6D3C-4473-8EB2-C335E04231C8}" type="datetime1">
              <a:rPr lang="en-US" smtClean="0"/>
              <a:pPr/>
              <a:t>5/5/2014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DD2FE-83A4-4A6D-9CF7-DD546508498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gif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990600"/>
            <a:ext cx="9144000" cy="1828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7772400" cy="1470025"/>
          </a:xfrm>
        </p:spPr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VeriCon</a:t>
            </a:r>
            <a:r>
              <a:rPr lang="en-US" b="1" dirty="0" smtClean="0">
                <a:solidFill>
                  <a:schemeClr val="bg1"/>
                </a:solidFill>
              </a:rPr>
              <a:t>: Towards Verifying Controller Programs in SDNs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2800"/>
            <a:ext cx="9144000" cy="1752600"/>
          </a:xfrm>
        </p:spPr>
        <p:txBody>
          <a:bodyPr>
            <a:normAutofit/>
          </a:bodyPr>
          <a:lstStyle/>
          <a:p>
            <a:r>
              <a:rPr lang="en-US" dirty="0" smtClean="0"/>
              <a:t>Thomas Ball, </a:t>
            </a:r>
            <a:r>
              <a:rPr lang="en-US" dirty="0" err="1" smtClean="0"/>
              <a:t>Nikolaj</a:t>
            </a:r>
            <a:r>
              <a:rPr lang="en-US" dirty="0" smtClean="0"/>
              <a:t> </a:t>
            </a:r>
            <a:r>
              <a:rPr lang="en-US" dirty="0" err="1" smtClean="0"/>
              <a:t>Bjorner</a:t>
            </a:r>
            <a:r>
              <a:rPr lang="en-US" dirty="0" smtClean="0"/>
              <a:t>, </a:t>
            </a:r>
            <a:r>
              <a:rPr lang="en-US" b="1" u="sng" dirty="0" smtClean="0"/>
              <a:t>Aaron </a:t>
            </a:r>
            <a:r>
              <a:rPr lang="en-US" b="1" u="sng" dirty="0" err="1" smtClean="0"/>
              <a:t>Gember</a:t>
            </a:r>
            <a:r>
              <a:rPr lang="en-US" dirty="0" smtClean="0"/>
              <a:t>, </a:t>
            </a:r>
            <a:br>
              <a:rPr lang="en-US" dirty="0" smtClean="0"/>
            </a:br>
            <a:r>
              <a:rPr lang="en-US" dirty="0" err="1" smtClean="0"/>
              <a:t>Shachar</a:t>
            </a:r>
            <a:r>
              <a:rPr lang="en-US" dirty="0" smtClean="0"/>
              <a:t> </a:t>
            </a:r>
            <a:r>
              <a:rPr lang="en-US" dirty="0" err="1" smtClean="0"/>
              <a:t>Itzhaky</a:t>
            </a:r>
            <a:r>
              <a:rPr lang="en-US" dirty="0" smtClean="0"/>
              <a:t>, </a:t>
            </a:r>
            <a:r>
              <a:rPr lang="en-US" dirty="0" err="1" smtClean="0"/>
              <a:t>Aleksandr</a:t>
            </a:r>
            <a:r>
              <a:rPr lang="en-US" dirty="0" smtClean="0"/>
              <a:t> </a:t>
            </a:r>
            <a:r>
              <a:rPr lang="en-US" dirty="0" err="1" smtClean="0"/>
              <a:t>Karbyshev</a:t>
            </a:r>
            <a:r>
              <a:rPr lang="en-US" dirty="0" smtClean="0"/>
              <a:t>, </a:t>
            </a:r>
            <a:r>
              <a:rPr lang="en-US" dirty="0" err="1" smtClean="0"/>
              <a:t>Mooly</a:t>
            </a:r>
            <a:r>
              <a:rPr lang="en-US" dirty="0" smtClean="0"/>
              <a:t> </a:t>
            </a:r>
            <a:r>
              <a:rPr lang="en-US" dirty="0" err="1" smtClean="0"/>
              <a:t>Sagiv</a:t>
            </a:r>
            <a:r>
              <a:rPr lang="en-US" dirty="0" smtClean="0"/>
              <a:t>, </a:t>
            </a:r>
            <a:br>
              <a:rPr lang="en-US" dirty="0" smtClean="0"/>
            </a:br>
            <a:r>
              <a:rPr lang="en-US" dirty="0" smtClean="0"/>
              <a:t>Michael </a:t>
            </a:r>
            <a:r>
              <a:rPr lang="en-US" dirty="0" err="1" smtClean="0"/>
              <a:t>Schapira</a:t>
            </a:r>
            <a:r>
              <a:rPr lang="en-US" dirty="0" smtClean="0"/>
              <a:t>, </a:t>
            </a:r>
            <a:r>
              <a:rPr lang="en-US" dirty="0" err="1" smtClean="0"/>
              <a:t>Asaf</a:t>
            </a:r>
            <a:r>
              <a:rPr lang="en-US" dirty="0" smtClean="0"/>
              <a:t> </a:t>
            </a:r>
            <a:r>
              <a:rPr lang="en-US" dirty="0" err="1" smtClean="0"/>
              <a:t>Valadarsky</a:t>
            </a:r>
            <a:endParaRPr lang="en-US" dirty="0"/>
          </a:p>
        </p:txBody>
      </p:sp>
      <p:pic>
        <p:nvPicPr>
          <p:cNvPr id="6" name="Picture 5" descr="uwlogo_web_sm_ct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90800" y="5105400"/>
            <a:ext cx="1447800" cy="968397"/>
          </a:xfrm>
          <a:prstGeom prst="rect">
            <a:avLst/>
          </a:prstGeom>
        </p:spPr>
      </p:pic>
      <p:pic>
        <p:nvPicPr>
          <p:cNvPr id="7" name="Picture 6" descr="ms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7894" y="5410200"/>
            <a:ext cx="1911906" cy="533400"/>
          </a:xfrm>
          <a:prstGeom prst="rect">
            <a:avLst/>
          </a:prstGeom>
        </p:spPr>
      </p:pic>
      <p:pic>
        <p:nvPicPr>
          <p:cNvPr id="8" name="Picture 7" descr="tel-aviv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67200" y="5105400"/>
            <a:ext cx="2057400" cy="1040306"/>
          </a:xfrm>
          <a:prstGeom prst="rect">
            <a:avLst/>
          </a:prstGeom>
        </p:spPr>
      </p:pic>
      <p:pic>
        <p:nvPicPr>
          <p:cNvPr id="9" name="Picture 8" descr="hebrew_university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53200" y="5029200"/>
            <a:ext cx="1066800" cy="1162812"/>
          </a:xfrm>
          <a:prstGeom prst="rect">
            <a:avLst/>
          </a:prstGeom>
        </p:spPr>
      </p:pic>
      <p:pic>
        <p:nvPicPr>
          <p:cNvPr id="10" name="Picture 9" descr="Technical_University_Munich_178313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934191" y="5181600"/>
            <a:ext cx="752609" cy="971550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3200400" y="2057400"/>
            <a:ext cx="2743200" cy="2743200"/>
            <a:chOff x="5029200" y="1981200"/>
            <a:chExt cx="2743200" cy="2743200"/>
          </a:xfrm>
        </p:grpSpPr>
        <p:pic>
          <p:nvPicPr>
            <p:cNvPr id="40" name="Picture 39" descr="Black_Hole.jpg"/>
            <p:cNvPicPr>
              <a:picLocks noChangeAspect="1"/>
            </p:cNvPicPr>
            <p:nvPr/>
          </p:nvPicPr>
          <p:blipFill>
            <a:blip r:embed="rId2" cstate="print"/>
            <a:srcRect l="12500" r="12500"/>
            <a:stretch>
              <a:fillRect/>
            </a:stretch>
          </p:blipFill>
          <p:spPr>
            <a:xfrm>
              <a:off x="5257800" y="2209800"/>
              <a:ext cx="2286000" cy="2286000"/>
            </a:xfrm>
            <a:prstGeom prst="rect">
              <a:avLst/>
            </a:prstGeom>
          </p:spPr>
        </p:pic>
        <p:sp>
          <p:nvSpPr>
            <p:cNvPr id="43" name="Oval 42"/>
            <p:cNvSpPr/>
            <p:nvPr/>
          </p:nvSpPr>
          <p:spPr>
            <a:xfrm>
              <a:off x="5029200" y="1981200"/>
              <a:ext cx="2743200" cy="2743200"/>
            </a:xfrm>
            <a:prstGeom prst="ellipse">
              <a:avLst/>
            </a:prstGeom>
            <a:noFill/>
            <a:ln w="508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943600" y="2057400"/>
            <a:ext cx="2743200" cy="2743200"/>
            <a:chOff x="6096000" y="1905000"/>
            <a:chExt cx="2743200" cy="2743200"/>
          </a:xfrm>
        </p:grpSpPr>
        <p:sp>
          <p:nvSpPr>
            <p:cNvPr id="55" name="Oval 54"/>
            <p:cNvSpPr/>
            <p:nvPr/>
          </p:nvSpPr>
          <p:spPr>
            <a:xfrm>
              <a:off x="6096000" y="1905000"/>
              <a:ext cx="2743200" cy="27432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508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3" name="Picture 52" descr="cisco_programmable_switch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8900" y="3048000"/>
              <a:ext cx="495300" cy="492824"/>
            </a:xfrm>
            <a:prstGeom prst="rect">
              <a:avLst/>
            </a:prstGeom>
          </p:spPr>
        </p:pic>
        <p:pic>
          <p:nvPicPr>
            <p:cNvPr id="54" name="Picture 53" descr="middlebox_firewall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10400" y="2819400"/>
              <a:ext cx="917521" cy="914400"/>
            </a:xfrm>
            <a:prstGeom prst="rect">
              <a:avLst/>
            </a:prstGeom>
          </p:spPr>
        </p:pic>
        <p:pic>
          <p:nvPicPr>
            <p:cNvPr id="56" name="Picture 55" descr="cisco_programmable_switch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9100" y="3012376"/>
              <a:ext cx="495300" cy="492824"/>
            </a:xfrm>
            <a:prstGeom prst="rect">
              <a:avLst/>
            </a:prstGeom>
          </p:spPr>
        </p:pic>
        <p:cxnSp>
          <p:nvCxnSpPr>
            <p:cNvPr id="58" name="Straight Connector 57"/>
            <p:cNvCxnSpPr/>
            <p:nvPr/>
          </p:nvCxnSpPr>
          <p:spPr>
            <a:xfrm>
              <a:off x="6705600" y="3276600"/>
              <a:ext cx="1752600" cy="0"/>
            </a:xfrm>
            <a:prstGeom prst="line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457200" y="2057400"/>
            <a:ext cx="2743200" cy="2743200"/>
            <a:chOff x="152400" y="2438400"/>
            <a:chExt cx="2743200" cy="2743200"/>
          </a:xfrm>
        </p:grpSpPr>
        <p:pic>
          <p:nvPicPr>
            <p:cNvPr id="45" name="Picture 44" descr="chicago-map.gif"/>
            <p:cNvPicPr>
              <a:picLocks noChangeAspect="1"/>
            </p:cNvPicPr>
            <p:nvPr/>
          </p:nvPicPr>
          <p:blipFill>
            <a:blip r:embed="rId5" cstate="print"/>
            <a:srcRect l="7692" t="72948" r="69232" b="8110"/>
            <a:stretch>
              <a:fillRect/>
            </a:stretch>
          </p:blipFill>
          <p:spPr>
            <a:xfrm>
              <a:off x="381000" y="2590800"/>
              <a:ext cx="2286000" cy="2362200"/>
            </a:xfrm>
            <a:prstGeom prst="rect">
              <a:avLst/>
            </a:prstGeom>
          </p:spPr>
        </p:pic>
        <p:sp>
          <p:nvSpPr>
            <p:cNvPr id="48" name="Oval 47"/>
            <p:cNvSpPr/>
            <p:nvPr/>
          </p:nvSpPr>
          <p:spPr>
            <a:xfrm>
              <a:off x="152400" y="2438400"/>
              <a:ext cx="2743200" cy="2743200"/>
            </a:xfrm>
            <a:prstGeom prst="ellipse">
              <a:avLst/>
            </a:prstGeom>
            <a:noFill/>
            <a:ln w="508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Network should always satisfy some invariants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Difficult to write an SDN application </a:t>
            </a:r>
            <a:br>
              <a:rPr lang="en-US" dirty="0" smtClean="0"/>
            </a:br>
            <a:r>
              <a:rPr lang="en-US" dirty="0" smtClean="0"/>
              <a:t>that always guarantees such invariants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Guaranteeing network invariants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1" name="&quot;No&quot; Symbol 60"/>
          <p:cNvSpPr/>
          <p:nvPr/>
        </p:nvSpPr>
        <p:spPr>
          <a:xfrm>
            <a:off x="3429000" y="2286000"/>
            <a:ext cx="2286000" cy="2286000"/>
          </a:xfrm>
          <a:prstGeom prst="noSmoking">
            <a:avLst>
              <a:gd name="adj" fmla="val 654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&quot;No&quot; Symbol 61"/>
          <p:cNvSpPr/>
          <p:nvPr/>
        </p:nvSpPr>
        <p:spPr>
          <a:xfrm>
            <a:off x="685800" y="2286000"/>
            <a:ext cx="2286000" cy="2286000"/>
          </a:xfrm>
          <a:prstGeom prst="noSmoking">
            <a:avLst>
              <a:gd name="adj" fmla="val 654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3" name="Picture 62" descr="check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248400" y="3581400"/>
            <a:ext cx="1219200" cy="121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1" grpId="0" animBg="1"/>
      <p:bldP spid="6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 of </a:t>
            </a:r>
            <a:r>
              <a:rPr lang="en-US" dirty="0" smtClean="0"/>
              <a:t>existing </a:t>
            </a:r>
            <a:r>
              <a:rPr lang="en-US" dirty="0" smtClean="0"/>
              <a:t>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Establish existence, but not absence, of bugs</a:t>
            </a:r>
          </a:p>
          <a:p>
            <a:pPr lvl="1"/>
            <a:r>
              <a:rPr lang="en-US" b="1" dirty="0" smtClean="0"/>
              <a:t>NICE</a:t>
            </a:r>
            <a:r>
              <a:rPr lang="en-US" dirty="0" smtClean="0"/>
              <a:t> </a:t>
            </a:r>
            <a:r>
              <a:rPr lang="en-US" i="1" dirty="0" smtClean="0"/>
              <a:t>(finite-state model checking</a:t>
            </a:r>
            <a:r>
              <a:rPr lang="en-US" dirty="0" smtClean="0"/>
              <a:t>): unexplored topologies may cause bugs to be missed</a:t>
            </a:r>
          </a:p>
          <a:p>
            <a:pPr lvl="1"/>
            <a:r>
              <a:rPr lang="en-US" b="1" dirty="0" smtClean="0"/>
              <a:t>HSA</a:t>
            </a:r>
            <a:r>
              <a:rPr lang="en-US" dirty="0" smtClean="0"/>
              <a:t> (</a:t>
            </a:r>
            <a:r>
              <a:rPr lang="en-US" i="1" dirty="0" smtClean="0"/>
              <a:t>check network snapshots</a:t>
            </a:r>
            <a:r>
              <a:rPr lang="en-US" dirty="0" smtClean="0"/>
              <a:t>): snapshots may not capture situations in which bugs exist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dirty="0" smtClean="0"/>
              <a:t>Runtime overhead</a:t>
            </a:r>
          </a:p>
          <a:p>
            <a:pPr lvl="1"/>
            <a:r>
              <a:rPr lang="en-US" b="1" dirty="0" err="1" smtClean="0"/>
              <a:t>VeriFlow</a:t>
            </a:r>
            <a:r>
              <a:rPr lang="en-US" dirty="0" smtClean="0"/>
              <a:t> &amp; </a:t>
            </a:r>
            <a:r>
              <a:rPr lang="en-US" b="1" dirty="0" err="1" smtClean="0"/>
              <a:t>NetPlumber</a:t>
            </a:r>
            <a:r>
              <a:rPr lang="en-US" dirty="0" smtClean="0"/>
              <a:t> (</a:t>
            </a:r>
            <a:r>
              <a:rPr lang="en-US" i="1" dirty="0" smtClean="0"/>
              <a:t>check in real-time</a:t>
            </a:r>
            <a:r>
              <a:rPr lang="en-US" dirty="0" smtClean="0"/>
              <a:t>): </a:t>
            </a:r>
            <a:br>
              <a:rPr lang="en-US" dirty="0" smtClean="0"/>
            </a:br>
            <a:r>
              <a:rPr lang="en-US" dirty="0" smtClean="0"/>
              <a:t>bugs only identified when app is actually running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VeriCon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/>
              <a:t>Verifies network-wide invariants for </a:t>
            </a:r>
            <a:r>
              <a:rPr lang="en-US" b="1" i="1" dirty="0" smtClean="0"/>
              <a:t>any</a:t>
            </a:r>
            <a:r>
              <a:rPr lang="en-US" dirty="0" smtClean="0"/>
              <a:t> event sequence and </a:t>
            </a:r>
            <a:r>
              <a:rPr lang="en-US" b="1" i="1" dirty="0" smtClean="0"/>
              <a:t>all</a:t>
            </a:r>
            <a:r>
              <a:rPr lang="en-US" dirty="0" smtClean="0"/>
              <a:t> admissible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57200" y="3048000"/>
            <a:ext cx="2438400" cy="9570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smtClean="0"/>
              <a:t>SDN application in </a:t>
            </a:r>
            <a:r>
              <a:rPr lang="en-US" sz="2600" b="1" i="1" dirty="0" smtClean="0"/>
              <a:t>Core SDN</a:t>
            </a:r>
            <a:endParaRPr lang="en-US" sz="2600" b="1" dirty="0"/>
          </a:p>
        </p:txBody>
      </p:sp>
      <p:sp>
        <p:nvSpPr>
          <p:cNvPr id="17" name="Rectangle 16"/>
          <p:cNvSpPr/>
          <p:nvPr/>
        </p:nvSpPr>
        <p:spPr>
          <a:xfrm>
            <a:off x="457200" y="4484176"/>
            <a:ext cx="2438400" cy="1611824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smtClean="0"/>
              <a:t>Topology constraints &amp; invariants in first order logic</a:t>
            </a:r>
            <a:endParaRPr lang="en-US" sz="2600" b="1" dirty="0"/>
          </a:p>
        </p:txBody>
      </p:sp>
      <p:sp>
        <p:nvSpPr>
          <p:cNvPr id="18" name="Rectangle 17"/>
          <p:cNvSpPr/>
          <p:nvPr/>
        </p:nvSpPr>
        <p:spPr>
          <a:xfrm>
            <a:off x="6748220" y="3048000"/>
            <a:ext cx="1862380" cy="125923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smtClean="0"/>
              <a:t>Guarantee invariants </a:t>
            </a:r>
            <a:br>
              <a:rPr lang="en-US" sz="2600" b="1" dirty="0" smtClean="0"/>
            </a:br>
            <a:r>
              <a:rPr lang="en-US" sz="2600" b="1" dirty="0" smtClean="0"/>
              <a:t>are satisfied</a:t>
            </a:r>
            <a:endParaRPr lang="en-US" sz="2600" b="1" dirty="0"/>
          </a:p>
        </p:txBody>
      </p:sp>
      <p:sp>
        <p:nvSpPr>
          <p:cNvPr id="19" name="Rectangle 18"/>
          <p:cNvSpPr/>
          <p:nvPr/>
        </p:nvSpPr>
        <p:spPr>
          <a:xfrm>
            <a:off x="6748220" y="4760563"/>
            <a:ext cx="1862380" cy="125923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smtClean="0"/>
              <a:t>Concrete counter-example</a:t>
            </a:r>
            <a:endParaRPr lang="en-US" sz="2600" b="1" dirty="0"/>
          </a:p>
        </p:txBody>
      </p:sp>
      <p:sp>
        <p:nvSpPr>
          <p:cNvPr id="20" name="Rectangle 19"/>
          <p:cNvSpPr/>
          <p:nvPr/>
        </p:nvSpPr>
        <p:spPr>
          <a:xfrm>
            <a:off x="3581400" y="3803542"/>
            <a:ext cx="2564970" cy="141034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smtClean="0"/>
              <a:t>Verify conditions using the Z3 theorem </a:t>
            </a:r>
            <a:r>
              <a:rPr lang="en-US" sz="2600" b="1" dirty="0" err="1" smtClean="0"/>
              <a:t>prover</a:t>
            </a:r>
            <a:endParaRPr lang="en-US" sz="2600" b="1" dirty="0"/>
          </a:p>
        </p:txBody>
      </p:sp>
      <p:sp>
        <p:nvSpPr>
          <p:cNvPr id="21" name="TextBox 4"/>
          <p:cNvSpPr txBox="1">
            <a:spLocks noChangeArrowheads="1"/>
          </p:cNvSpPr>
          <p:nvPr/>
        </p:nvSpPr>
        <p:spPr bwMode="auto">
          <a:xfrm>
            <a:off x="457200" y="4009782"/>
            <a:ext cx="2438400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74320" tIns="45720" rIns="274320" bIns="228600">
            <a:spAutoFit/>
          </a:bodyPr>
          <a:lstStyle/>
          <a:p>
            <a:pPr algn="ctr"/>
            <a:r>
              <a:rPr lang="en-US" sz="2600" b="1" dirty="0" smtClean="0"/>
              <a:t>+</a:t>
            </a:r>
          </a:p>
        </p:txBody>
      </p:sp>
      <p:sp>
        <p:nvSpPr>
          <p:cNvPr id="22" name="TextBox 4"/>
          <p:cNvSpPr txBox="1">
            <a:spLocks noChangeArrowheads="1"/>
          </p:cNvSpPr>
          <p:nvPr/>
        </p:nvSpPr>
        <p:spPr bwMode="auto">
          <a:xfrm>
            <a:off x="6781800" y="4307237"/>
            <a:ext cx="1828800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74320" tIns="45720" rIns="274320" bIns="228600">
            <a:spAutoFit/>
          </a:bodyPr>
          <a:lstStyle/>
          <a:p>
            <a:pPr algn="ctr"/>
            <a:r>
              <a:rPr lang="en-US" sz="2600" b="1" dirty="0" smtClean="0"/>
              <a:t>OR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048000" y="4357607"/>
            <a:ext cx="302217" cy="32035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24" name="Right Arrow 23"/>
          <p:cNvSpPr/>
          <p:nvPr/>
        </p:nvSpPr>
        <p:spPr>
          <a:xfrm rot="19800000">
            <a:off x="6308241" y="3864096"/>
            <a:ext cx="302217" cy="32035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  <p:sp>
        <p:nvSpPr>
          <p:cNvPr id="25" name="Right Arrow 24"/>
          <p:cNvSpPr/>
          <p:nvPr/>
        </p:nvSpPr>
        <p:spPr>
          <a:xfrm rot="1800000" flipV="1">
            <a:off x="6308243" y="4778495"/>
            <a:ext cx="302217" cy="32035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dirty="0" err="1" smtClean="0"/>
              <a:t>stateful</a:t>
            </a:r>
            <a:r>
              <a:rPr lang="en-US" dirty="0" smtClean="0"/>
              <a:t> firewall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810000" y="1600200"/>
            <a:ext cx="5105400" cy="4525963"/>
          </a:xfrm>
        </p:spPr>
        <p:txBody>
          <a:bodyPr>
            <a:noAutofit/>
          </a:bodyPr>
          <a:lstStyle/>
          <a:p>
            <a:pPr marL="344488" indent="-344488"/>
            <a:r>
              <a:rPr lang="en-US" sz="3200" dirty="0" smtClean="0"/>
              <a:t>Always forward from trusted to untrusted hosts</a:t>
            </a:r>
          </a:p>
          <a:p>
            <a:pPr marL="344488" indent="-344488"/>
            <a:r>
              <a:rPr lang="en-US" sz="3200" dirty="0" smtClean="0"/>
              <a:t>Only forward from untrusted to trusted hosts if a trusted host previously sent a packet to the untrusted host</a:t>
            </a:r>
            <a:endParaRPr lang="en-US" sz="3200" dirty="0"/>
          </a:p>
        </p:txBody>
      </p:sp>
      <p:pic>
        <p:nvPicPr>
          <p:cNvPr id="11" name="Picture 10" descr="cisco_programmable_swit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61369" y="3429000"/>
            <a:ext cx="1029083" cy="1023938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927969" y="1600200"/>
            <a:ext cx="2165465" cy="1828800"/>
            <a:chOff x="927969" y="1600200"/>
            <a:chExt cx="2165465" cy="1828800"/>
          </a:xfrm>
        </p:grpSpPr>
        <p:sp>
          <p:nvSpPr>
            <p:cNvPr id="6" name="Rectangle 5"/>
            <p:cNvSpPr/>
            <p:nvPr/>
          </p:nvSpPr>
          <p:spPr>
            <a:xfrm>
              <a:off x="1308969" y="2209800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070969" y="2209800"/>
              <a:ext cx="609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/>
            </a:p>
          </p:txBody>
        </p:sp>
        <p:cxnSp>
          <p:nvCxnSpPr>
            <p:cNvPr id="22" name="Shape 12"/>
            <p:cNvCxnSpPr>
              <a:stCxn id="6" idx="2"/>
              <a:endCxn id="11" idx="0"/>
            </p:cNvCxnSpPr>
            <p:nvPr/>
          </p:nvCxnSpPr>
          <p:spPr>
            <a:xfrm rot="16200000" flipH="1">
              <a:off x="1413840" y="2866929"/>
              <a:ext cx="762000" cy="362142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hape 12"/>
            <p:cNvCxnSpPr>
              <a:stCxn id="7" idx="2"/>
              <a:endCxn id="11" idx="0"/>
            </p:cNvCxnSpPr>
            <p:nvPr/>
          </p:nvCxnSpPr>
          <p:spPr>
            <a:xfrm rot="5400000">
              <a:off x="1794840" y="2848071"/>
              <a:ext cx="762000" cy="399858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927969" y="1600200"/>
              <a:ext cx="21654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smtClean="0"/>
                <a:t>Trusted Hosts</a:t>
              </a:r>
              <a:endParaRPr lang="en-US" sz="28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13052" y="4452938"/>
            <a:ext cx="2549865" cy="1795462"/>
            <a:chOff x="713052" y="4452938"/>
            <a:chExt cx="2549865" cy="1795462"/>
          </a:xfrm>
        </p:grpSpPr>
        <p:sp>
          <p:nvSpPr>
            <p:cNvPr id="8" name="Rectangle 7"/>
            <p:cNvSpPr/>
            <p:nvPr/>
          </p:nvSpPr>
          <p:spPr>
            <a:xfrm>
              <a:off x="897989" y="5191780"/>
              <a:ext cx="6096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59989" y="5191780"/>
              <a:ext cx="6096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421989" y="5191780"/>
              <a:ext cx="609600" cy="4572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/>
            </a:p>
          </p:txBody>
        </p:sp>
        <p:cxnSp>
          <p:nvCxnSpPr>
            <p:cNvPr id="13" name="Shape 12"/>
            <p:cNvCxnSpPr>
              <a:stCxn id="11" idx="2"/>
              <a:endCxn id="8" idx="0"/>
            </p:cNvCxnSpPr>
            <p:nvPr/>
          </p:nvCxnSpPr>
          <p:spPr>
            <a:xfrm rot="5400000">
              <a:off x="1219929" y="4435798"/>
              <a:ext cx="738842" cy="773122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hape 12"/>
            <p:cNvCxnSpPr>
              <a:stCxn id="11" idx="2"/>
              <a:endCxn id="10" idx="0"/>
            </p:cNvCxnSpPr>
            <p:nvPr/>
          </p:nvCxnSpPr>
          <p:spPr>
            <a:xfrm rot="16200000" flipH="1">
              <a:off x="1981929" y="4446920"/>
              <a:ext cx="738842" cy="750878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hape 12"/>
            <p:cNvCxnSpPr>
              <a:stCxn id="11" idx="2"/>
              <a:endCxn id="9" idx="0"/>
            </p:cNvCxnSpPr>
            <p:nvPr/>
          </p:nvCxnSpPr>
          <p:spPr>
            <a:xfrm rot="5400000">
              <a:off x="1600929" y="4816798"/>
              <a:ext cx="738842" cy="11122"/>
            </a:xfrm>
            <a:prstGeom prst="bentConnector3">
              <a:avLst>
                <a:gd name="adj1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713052" y="5725180"/>
              <a:ext cx="25498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smtClean="0"/>
                <a:t>Untrusted </a:t>
              </a:r>
              <a:r>
                <a:rPr lang="en-US" sz="2800" dirty="0" smtClean="0"/>
                <a:t>Hosts</a:t>
              </a:r>
              <a:endParaRPr lang="en-US" sz="2800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905000" y="2998220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1</a:t>
            </a:r>
            <a:endParaRPr lang="en-US" sz="28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994792" y="43535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/>
              <a:t>2</a:t>
            </a:r>
            <a:endParaRPr lang="en-US" sz="2800" b="1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600200" y="2819400"/>
            <a:ext cx="0" cy="213360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2362200" y="2819400"/>
            <a:ext cx="0" cy="213360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1" name="Picture 30" descr="x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3600" y="3657600"/>
            <a:ext cx="5334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SDN (CSDN) language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Define and initialize relations</a:t>
            </a:r>
            <a:endParaRPr lang="en-US" sz="28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tabLst>
                <a:tab pos="2633663" algn="l"/>
                <a:tab pos="5254625" algn="l"/>
              </a:tabLst>
            </a:pPr>
            <a:r>
              <a:rPr lang="en-US" dirty="0" smtClean="0"/>
              <a:t>Topology: 	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/>
              <a:t>	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>
              <a:tabLst>
                <a:tab pos="2633663" algn="l"/>
                <a:tab pos="4859338" algn="l"/>
              </a:tabLst>
            </a:pPr>
            <a:r>
              <a:rPr lang="en-US" dirty="0" smtClean="0"/>
              <a:t>Forwarding:	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ft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Dst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S.sent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Dst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 smtClean="0"/>
              <a:t>Write event handlers: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pktIn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Pkt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>
              <a:tabLst>
                <a:tab pos="4121150" algn="l"/>
              </a:tabLst>
            </a:pPr>
            <a:r>
              <a:rPr lang="en-US" dirty="0" smtClean="0"/>
              <a:t>Update relation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tabLst>
                <a:tab pos="4121150" algn="l"/>
              </a:tabLst>
            </a:pPr>
            <a:r>
              <a:rPr lang="en-US" dirty="0" smtClean="0"/>
              <a:t>Install rule (insert into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ft</a:t>
            </a:r>
            <a:r>
              <a:rPr lang="en-US" dirty="0" smtClean="0"/>
              <a:t>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tabLst>
                <a:tab pos="4121150" algn="l"/>
              </a:tabLst>
            </a:pPr>
            <a:r>
              <a:rPr lang="en-US" dirty="0" smtClean="0"/>
              <a:t>Forward packet (insert into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sent</a:t>
            </a:r>
            <a:r>
              <a:rPr lang="en-US" dirty="0" smtClean="0"/>
              <a:t>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tabLst>
                <a:tab pos="4121150" algn="l"/>
              </a:tabLst>
            </a:pPr>
            <a:r>
              <a:rPr lang="en-US" dirty="0" smtClean="0"/>
              <a:t>If-then-else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i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Stateful</a:t>
            </a:r>
            <a:r>
              <a:rPr lang="en-US" dirty="0" smtClean="0"/>
              <a:t> firewall in CSDN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2514600" y="1600200"/>
            <a:ext cx="6172200" cy="4525963"/>
          </a:xfrm>
        </p:spPr>
        <p:txBody>
          <a:bodyPr>
            <a:noAutofit/>
          </a:bodyPr>
          <a:lstStyle/>
          <a:p>
            <a:pPr marL="0" indent="0">
              <a:buNone/>
              <a:tabLst>
                <a:tab pos="344488" algn="l"/>
                <a:tab pos="688975" algn="l"/>
                <a:tab pos="1035050" algn="l"/>
                <a:tab pos="1379538" algn="l"/>
              </a:tabLst>
            </a:pP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rel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SW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HO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) = {}</a:t>
            </a:r>
          </a:p>
          <a:p>
            <a:pPr marL="0" indent="0">
              <a:buNone/>
              <a:tabLst>
                <a:tab pos="344488" algn="l"/>
                <a:tab pos="688975" algn="l"/>
                <a:tab pos="1035050" algn="l"/>
                <a:tab pos="1379538" algn="l"/>
              </a:tabLst>
            </a:pP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pktIn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pkt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(1)) →</a:t>
            </a:r>
          </a:p>
          <a:p>
            <a:pPr marL="0" indent="0">
              <a:buNone/>
              <a:tabLst>
                <a:tab pos="344488" algn="l"/>
                <a:tab pos="688975" algn="l"/>
                <a:tab pos="1035050" algn="l"/>
                <a:tab pos="1379538" algn="l"/>
              </a:tabLst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forward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pkt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(1),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(2))</a:t>
            </a:r>
          </a:p>
          <a:p>
            <a:pPr marL="0" indent="0">
              <a:buNone/>
              <a:tabLst>
                <a:tab pos="344488" algn="l"/>
                <a:tab pos="688975" algn="l"/>
                <a:tab pos="1035050" algn="l"/>
                <a:tab pos="1379538" algn="l"/>
              </a:tabLst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tr.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insert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pkt.dst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  <a:tabLst>
                <a:tab pos="344488" algn="l"/>
                <a:tab pos="688975" algn="l"/>
                <a:tab pos="1035050" algn="l"/>
                <a:tab pos="1379538" algn="l"/>
              </a:tabLst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install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pkt.src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pkt.dst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(1),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(2))</a:t>
            </a:r>
          </a:p>
          <a:p>
            <a:pPr marL="0" indent="0">
              <a:buNone/>
              <a:tabLst>
                <a:tab pos="344488" algn="l"/>
                <a:tab pos="688975" algn="l"/>
                <a:tab pos="1035050" algn="l"/>
                <a:tab pos="1379538" algn="l"/>
              </a:tabLst>
            </a:pP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pktIn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pkt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(2)) →</a:t>
            </a:r>
          </a:p>
          <a:p>
            <a:pPr marL="0" indent="0">
              <a:buNone/>
              <a:tabLst>
                <a:tab pos="344488" algn="l"/>
                <a:tab pos="688975" algn="l"/>
                <a:tab pos="1035050" algn="l"/>
                <a:tab pos="1379538" algn="l"/>
              </a:tabLst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pkt.src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then</a:t>
            </a:r>
          </a:p>
          <a:p>
            <a:pPr marL="0" indent="0">
              <a:buNone/>
              <a:tabLst>
                <a:tab pos="344488" algn="l"/>
                <a:tab pos="688975" algn="l"/>
                <a:tab pos="1035050" algn="l"/>
                <a:tab pos="1379538" algn="l"/>
              </a:tabLst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forward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pkt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(2),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(1))</a:t>
            </a:r>
          </a:p>
          <a:p>
            <a:pPr marL="0" indent="0">
              <a:buNone/>
              <a:tabLst>
                <a:tab pos="344488" algn="l"/>
                <a:tab pos="688975" algn="l"/>
                <a:tab pos="1035050" algn="l"/>
                <a:tab pos="1379538" algn="l"/>
              </a:tabLst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600" b="1" dirty="0" err="1" smtClean="0">
                <a:latin typeface="Times New Roman" pitchFamily="18" charset="0"/>
                <a:cs typeface="Times New Roman" pitchFamily="18" charset="0"/>
              </a:rPr>
              <a:t>install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pkt.src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pkt.dst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(2),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(1))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7" name="Rectangle 6"/>
          <p:cNvSpPr/>
          <p:nvPr/>
        </p:nvSpPr>
        <p:spPr>
          <a:xfrm>
            <a:off x="1447800" y="2209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533400" y="5191780"/>
            <a:ext cx="4572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9" name="Rectangle 8"/>
          <p:cNvSpPr/>
          <p:nvPr/>
        </p:nvSpPr>
        <p:spPr>
          <a:xfrm>
            <a:off x="1129352" y="5191780"/>
            <a:ext cx="4572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10" name="Rectangle 9"/>
          <p:cNvSpPr/>
          <p:nvPr/>
        </p:nvSpPr>
        <p:spPr>
          <a:xfrm>
            <a:off x="1738952" y="5191780"/>
            <a:ext cx="4572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pic>
        <p:nvPicPr>
          <p:cNvPr id="11" name="Picture 10" descr="cisco_programmable_swit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3429000"/>
            <a:ext cx="1029083" cy="1023938"/>
          </a:xfrm>
          <a:prstGeom prst="rect">
            <a:avLst/>
          </a:prstGeom>
        </p:spPr>
      </p:pic>
      <p:cxnSp>
        <p:nvCxnSpPr>
          <p:cNvPr id="13" name="Shape 12"/>
          <p:cNvCxnSpPr>
            <a:stCxn id="11" idx="2"/>
            <a:endCxn id="8" idx="0"/>
          </p:cNvCxnSpPr>
          <p:nvPr/>
        </p:nvCxnSpPr>
        <p:spPr>
          <a:xfrm rot="5400000">
            <a:off x="687950" y="4526988"/>
            <a:ext cx="738842" cy="590742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hape 12"/>
          <p:cNvCxnSpPr>
            <a:stCxn id="11" idx="2"/>
            <a:endCxn id="10" idx="0"/>
          </p:cNvCxnSpPr>
          <p:nvPr/>
        </p:nvCxnSpPr>
        <p:spPr>
          <a:xfrm rot="16200000" flipH="1">
            <a:off x="1290726" y="4514954"/>
            <a:ext cx="738842" cy="61481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hape 12"/>
          <p:cNvCxnSpPr>
            <a:stCxn id="11" idx="2"/>
            <a:endCxn id="9" idx="0"/>
          </p:cNvCxnSpPr>
          <p:nvPr/>
        </p:nvCxnSpPr>
        <p:spPr>
          <a:xfrm rot="16200000" flipH="1">
            <a:off x="985926" y="4819754"/>
            <a:ext cx="738842" cy="521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hape 12"/>
          <p:cNvCxnSpPr>
            <a:stCxn id="6" idx="2"/>
            <a:endCxn id="11" idx="0"/>
          </p:cNvCxnSpPr>
          <p:nvPr/>
        </p:nvCxnSpPr>
        <p:spPr>
          <a:xfrm rot="16200000" flipH="1">
            <a:off x="828771" y="2905029"/>
            <a:ext cx="762000" cy="285942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hape 12"/>
          <p:cNvCxnSpPr>
            <a:stCxn id="7" idx="2"/>
            <a:endCxn id="11" idx="0"/>
          </p:cNvCxnSpPr>
          <p:nvPr/>
        </p:nvCxnSpPr>
        <p:spPr>
          <a:xfrm rot="5400000">
            <a:off x="1133571" y="2886171"/>
            <a:ext cx="762000" cy="323658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85192" y="2998220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1</a:t>
            </a:r>
            <a:endParaRPr lang="en-US" sz="28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371600" y="43535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/>
              <a:t>2</a:t>
            </a:r>
            <a:endParaRPr lang="en-US" sz="2800" b="1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Invariants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b="1" dirty="0" smtClean="0"/>
              <a:t>Topology</a:t>
            </a:r>
            <a:r>
              <a:rPr lang="en-US" dirty="0" smtClean="0"/>
              <a:t>: define </a:t>
            </a:r>
            <a:br>
              <a:rPr lang="en-US" dirty="0" smtClean="0"/>
            </a:br>
            <a:r>
              <a:rPr lang="en-US" dirty="0" smtClean="0"/>
              <a:t>admissible topologies</a:t>
            </a:r>
          </a:p>
          <a:p>
            <a:pPr>
              <a:spcBef>
                <a:spcPts val="1800"/>
              </a:spcBef>
            </a:pPr>
            <a:r>
              <a:rPr lang="en-US" b="1" dirty="0" smtClean="0"/>
              <a:t>Safety</a:t>
            </a:r>
            <a:r>
              <a:rPr lang="en-US" dirty="0" smtClean="0"/>
              <a:t>: define the </a:t>
            </a:r>
            <a:br>
              <a:rPr lang="en-US" dirty="0" smtClean="0"/>
            </a:br>
            <a:r>
              <a:rPr lang="en-US" dirty="0" smtClean="0"/>
              <a:t>required consistency of </a:t>
            </a:r>
            <a:br>
              <a:rPr lang="en-US" dirty="0" smtClean="0"/>
            </a:br>
            <a:r>
              <a:rPr lang="en-US" dirty="0" smtClean="0"/>
              <a:t>network-wide states</a:t>
            </a:r>
          </a:p>
          <a:p>
            <a:pPr>
              <a:spcBef>
                <a:spcPts val="1800"/>
              </a:spcBef>
            </a:pPr>
            <a:r>
              <a:rPr lang="en-US" b="1" dirty="0" smtClean="0"/>
              <a:t>Transition</a:t>
            </a:r>
            <a:r>
              <a:rPr lang="en-US" dirty="0" smtClean="0"/>
              <a:t>: define the effect </a:t>
            </a:r>
            <a:br>
              <a:rPr lang="en-US" dirty="0" smtClean="0"/>
            </a:br>
            <a:r>
              <a:rPr lang="en-US" dirty="0" smtClean="0"/>
              <a:t>of executing event handlers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633532" y="1676400"/>
            <a:ext cx="3977068" cy="914400"/>
            <a:chOff x="4633532" y="1676400"/>
            <a:chExt cx="3977068" cy="914400"/>
          </a:xfrm>
        </p:grpSpPr>
        <p:sp>
          <p:nvSpPr>
            <p:cNvPr id="9" name="Rectangle 8"/>
            <p:cNvSpPr/>
            <p:nvPr/>
          </p:nvSpPr>
          <p:spPr>
            <a:xfrm>
              <a:off x="4900482" y="1905000"/>
              <a:ext cx="371011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i="1" dirty="0" smtClean="0"/>
                <a:t>assumed to hold initially</a:t>
              </a:r>
              <a:endParaRPr lang="en-US" sz="2800" i="1" dirty="0"/>
            </a:p>
          </p:txBody>
        </p:sp>
        <p:sp>
          <p:nvSpPr>
            <p:cNvPr id="10" name="Right Brace 9"/>
            <p:cNvSpPr/>
            <p:nvPr/>
          </p:nvSpPr>
          <p:spPr>
            <a:xfrm>
              <a:off x="4633532" y="1676400"/>
              <a:ext cx="228600" cy="914400"/>
            </a:xfrm>
            <a:prstGeom prst="rightBrace">
              <a:avLst>
                <a:gd name="adj1" fmla="val 43333"/>
                <a:gd name="adj2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562600" y="2895600"/>
            <a:ext cx="3193886" cy="2667000"/>
            <a:chOff x="5562600" y="2895600"/>
            <a:chExt cx="3193886" cy="2667000"/>
          </a:xfrm>
        </p:grpSpPr>
        <p:sp>
          <p:nvSpPr>
            <p:cNvPr id="8" name="Rectangle 7"/>
            <p:cNvSpPr/>
            <p:nvPr/>
          </p:nvSpPr>
          <p:spPr>
            <a:xfrm>
              <a:off x="5943600" y="3810000"/>
              <a:ext cx="2812886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i="1" dirty="0" smtClean="0"/>
                <a:t>checked initially &amp;</a:t>
              </a:r>
              <a:br>
                <a:rPr lang="en-US" sz="2800" i="1" dirty="0" smtClean="0"/>
              </a:br>
              <a:r>
                <a:rPr lang="en-US" sz="2800" i="1" dirty="0" smtClean="0"/>
                <a:t>after each event </a:t>
              </a:r>
              <a:endParaRPr lang="en-US" sz="2800" i="1" dirty="0"/>
            </a:p>
          </p:txBody>
        </p:sp>
        <p:sp>
          <p:nvSpPr>
            <p:cNvPr id="11" name="Right Brace 10"/>
            <p:cNvSpPr/>
            <p:nvPr/>
          </p:nvSpPr>
          <p:spPr>
            <a:xfrm>
              <a:off x="5562600" y="2895600"/>
              <a:ext cx="304800" cy="2667000"/>
            </a:xfrm>
            <a:prstGeom prst="rightBrace">
              <a:avLst>
                <a:gd name="adj1" fmla="val 43333"/>
                <a:gd name="adj2" fmla="val 5000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b="1" dirty="0" smtClean="0"/>
              <a:t>Topology</a:t>
            </a:r>
            <a:r>
              <a:rPr lang="en-US" dirty="0" smtClean="0"/>
              <a:t>: At least one switch with two ports,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dirty="0" smtClean="0"/>
              <a:t> &amp;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(2)</a:t>
            </a:r>
            <a:r>
              <a:rPr lang="en-US" dirty="0" smtClean="0"/>
              <a:t>; a packet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smtClean="0"/>
              <a:t> is forwarded from </a:t>
            </a:r>
            <a:br>
              <a:rPr lang="en-US" dirty="0" smtClean="0"/>
            </a:br>
            <a:r>
              <a:rPr lang="en-US" dirty="0" smtClean="0"/>
              <a:t>an untrusted host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dirty="0" smtClean="0"/>
              <a:t> to a trusted host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T</a:t>
            </a:r>
          </a:p>
          <a:p>
            <a:endParaRPr lang="en-US" sz="3600" i="1" dirty="0" smtClean="0"/>
          </a:p>
          <a:p>
            <a:endParaRPr lang="en-US" sz="3600" i="1" dirty="0" smtClean="0"/>
          </a:p>
          <a:p>
            <a:r>
              <a:rPr lang="en-US" b="1" dirty="0" smtClean="0"/>
              <a:t>Safety</a:t>
            </a:r>
            <a:r>
              <a:rPr lang="en-US" dirty="0" smtClean="0"/>
              <a:t>: For every packet sent from a host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dirty="0" smtClean="0"/>
              <a:t> to a host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 smtClean="0"/>
              <a:t> there exists a packet sent to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T’</a:t>
            </a:r>
            <a:r>
              <a:rPr lang="en-US" dirty="0" smtClean="0"/>
              <a:t> from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U</a:t>
            </a:r>
          </a:p>
          <a:p>
            <a:endParaRPr lang="en-US" sz="3000" dirty="0" smtClean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Stateful</a:t>
            </a:r>
            <a:r>
              <a:rPr lang="en-US" dirty="0" smtClean="0"/>
              <a:t> firewall invariants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1676400" y="3276601"/>
            <a:ext cx="6019800" cy="1066799"/>
            <a:chOff x="1447800" y="3200401"/>
            <a:chExt cx="6019800" cy="1066799"/>
          </a:xfrm>
        </p:grpSpPr>
        <p:sp>
          <p:nvSpPr>
            <p:cNvPr id="11" name="Rounded Rectangle 10"/>
            <p:cNvSpPr/>
            <p:nvPr/>
          </p:nvSpPr>
          <p:spPr>
            <a:xfrm>
              <a:off x="1447800" y="3200401"/>
              <a:ext cx="6019800" cy="1066799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1524000" y="3276600"/>
            <a:ext cx="5890342" cy="950006"/>
          </p:xfrm>
          <a:graphic>
            <a:graphicData uri="http://schemas.openxmlformats.org/presentationml/2006/ole">
              <p:oleObj spid="_x0000_s1026" name="Equation" r:id="rId3" imgW="3149280" imgH="507960" progId="Equation.3">
                <p:embed/>
              </p:oleObj>
            </a:graphicData>
          </a:graphic>
        </p:graphicFrame>
      </p:grpSp>
      <p:grpSp>
        <p:nvGrpSpPr>
          <p:cNvPr id="19" name="Group 18"/>
          <p:cNvGrpSpPr/>
          <p:nvPr/>
        </p:nvGrpSpPr>
        <p:grpSpPr>
          <a:xfrm>
            <a:off x="1447800" y="5562600"/>
            <a:ext cx="6248400" cy="838200"/>
            <a:chOff x="1447800" y="5562600"/>
            <a:chExt cx="6248400" cy="838200"/>
          </a:xfrm>
        </p:grpSpPr>
        <p:sp>
          <p:nvSpPr>
            <p:cNvPr id="14" name="Rounded Rectangle 13"/>
            <p:cNvSpPr/>
            <p:nvPr/>
          </p:nvSpPr>
          <p:spPr>
            <a:xfrm>
              <a:off x="1447800" y="5562600"/>
              <a:ext cx="6248400" cy="83820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5" name="Object 14"/>
            <p:cNvGraphicFramePr>
              <a:graphicFrameLocks noChangeAspect="1"/>
            </p:cNvGraphicFramePr>
            <p:nvPr/>
          </p:nvGraphicFramePr>
          <p:xfrm>
            <a:off x="1485900" y="5638800"/>
            <a:ext cx="6173788" cy="706438"/>
          </p:xfrm>
          <a:graphic>
            <a:graphicData uri="http://schemas.openxmlformats.org/presentationml/2006/ole">
              <p:oleObj spid="_x0000_s1027" name="Equation" r:id="rId4" imgW="3377880" imgH="38088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29200"/>
            <a:ext cx="8229600" cy="1096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i="1" dirty="0" smtClean="0">
                <a:latin typeface="Times New Roman"/>
                <a:cs typeface="Times New Roman"/>
              </a:rPr>
              <a:t>I</a:t>
            </a:r>
            <a:r>
              <a:rPr lang="en-US" baseline="-25000" dirty="0" smtClean="0">
                <a:latin typeface="Times New Roman"/>
                <a:cs typeface="Times New Roman"/>
              </a:rPr>
              <a:t>1</a:t>
            </a:r>
            <a:r>
              <a:rPr lang="en-US" dirty="0" smtClean="0"/>
              <a:t> is not inductive—not all executions starting from an arbitrary state satisfy the invariant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810024" y="4038600"/>
            <a:ext cx="457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in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14239" y="4114800"/>
            <a:ext cx="738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out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533400" y="2510135"/>
            <a:ext cx="902811" cy="1071265"/>
            <a:chOff x="228600" y="2743200"/>
            <a:chExt cx="902811" cy="1071265"/>
          </a:xfrm>
        </p:grpSpPr>
        <p:pic>
          <p:nvPicPr>
            <p:cNvPr id="20" name="Picture 19" descr="desktop-and-monitor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2743200"/>
              <a:ext cx="885524" cy="60960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28600" y="3352800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smtClean="0">
                  <a:latin typeface="Times New Roman" pitchFamily="18" charset="0"/>
                  <a:cs typeface="Times New Roman" pitchFamily="18" charset="0"/>
                </a:rPr>
                <a:t>HO:0</a:t>
              </a:r>
              <a:endParaRPr lang="en-US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286000" y="2057400"/>
            <a:ext cx="2895600" cy="1524000"/>
            <a:chOff x="4648200" y="2590800"/>
            <a:chExt cx="2895600" cy="1524000"/>
          </a:xfrm>
        </p:grpSpPr>
        <p:sp>
          <p:nvSpPr>
            <p:cNvPr id="32" name="Rounded Rectangle 31"/>
            <p:cNvSpPr/>
            <p:nvPr/>
          </p:nvSpPr>
          <p:spPr>
            <a:xfrm>
              <a:off x="4648200" y="2590800"/>
              <a:ext cx="2895600" cy="152400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648200" y="3124200"/>
              <a:ext cx="914400" cy="457200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err="1" smtClean="0">
                  <a:latin typeface="Times New Roman" pitchFamily="18" charset="0"/>
                  <a:cs typeface="Times New Roman" pitchFamily="18" charset="0"/>
                </a:rPr>
                <a:t>prt</a:t>
              </a:r>
              <a:r>
                <a:rPr lang="en-US" sz="2400" i="1" dirty="0" smtClean="0">
                  <a:latin typeface="Times New Roman" pitchFamily="18" charset="0"/>
                  <a:cs typeface="Times New Roman" pitchFamily="18" charset="0"/>
                </a:rPr>
                <a:t>(3)</a:t>
              </a:r>
              <a:endParaRPr lang="en-US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638800" y="3657600"/>
              <a:ext cx="914400" cy="457200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err="1" smtClean="0">
                  <a:latin typeface="Times New Roman" pitchFamily="18" charset="0"/>
                  <a:cs typeface="Times New Roman" pitchFamily="18" charset="0"/>
                </a:rPr>
                <a:t>prt</a:t>
              </a:r>
              <a:r>
                <a:rPr lang="en-US" sz="2400" i="1" dirty="0" smtClean="0">
                  <a:latin typeface="Times New Roman" pitchFamily="18" charset="0"/>
                  <a:cs typeface="Times New Roman" pitchFamily="18" charset="0"/>
                </a:rPr>
                <a:t>(2)</a:t>
              </a:r>
              <a:endParaRPr lang="en-US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629400" y="3124200"/>
              <a:ext cx="914400" cy="457200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400" i="1" dirty="0" err="1" smtClean="0">
                  <a:latin typeface="Times New Roman" pitchFamily="18" charset="0"/>
                  <a:cs typeface="Times New Roman" pitchFamily="18" charset="0"/>
                </a:rPr>
                <a:t>prt</a:t>
              </a:r>
              <a:r>
                <a:rPr lang="en-US" sz="2400" i="1" dirty="0" smtClean="0">
                  <a:latin typeface="Times New Roman" pitchFamily="18" charset="0"/>
                  <a:cs typeface="Times New Roman" pitchFamily="18" charset="0"/>
                </a:rPr>
                <a:t>(1)</a:t>
              </a:r>
              <a:endParaRPr lang="en-US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638800" y="2590800"/>
              <a:ext cx="914400" cy="457200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err="1" smtClean="0">
                  <a:latin typeface="Times New Roman" pitchFamily="18" charset="0"/>
                  <a:cs typeface="Times New Roman" pitchFamily="18" charset="0"/>
                </a:rPr>
                <a:t>prt</a:t>
              </a:r>
              <a:r>
                <a:rPr lang="en-US" sz="2400" i="1" dirty="0" smtClean="0">
                  <a:latin typeface="Times New Roman" pitchFamily="18" charset="0"/>
                  <a:cs typeface="Times New Roman" pitchFamily="18" charset="0"/>
                </a:rPr>
                <a:t>(0)</a:t>
              </a:r>
              <a:endParaRPr lang="en-US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638800" y="3124200"/>
              <a:ext cx="914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 smtClean="0">
                  <a:latin typeface="Times New Roman" pitchFamily="18" charset="0"/>
                  <a:cs typeface="Times New Roman" pitchFamily="18" charset="0"/>
                </a:rPr>
                <a:t>SW:0</a:t>
              </a:r>
              <a:endParaRPr lang="en-US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44" name="Shape 43"/>
          <p:cNvCxnSpPr>
            <a:stCxn id="20" idx="3"/>
            <a:endCxn id="36" idx="0"/>
          </p:cNvCxnSpPr>
          <p:nvPr/>
        </p:nvCxnSpPr>
        <p:spPr>
          <a:xfrm flipV="1">
            <a:off x="1418924" y="2057400"/>
            <a:ext cx="2314876" cy="757535"/>
          </a:xfrm>
          <a:prstGeom prst="bentConnector4">
            <a:avLst>
              <a:gd name="adj1" fmla="val 14774"/>
              <a:gd name="adj2" fmla="val 130177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Shape 45"/>
          <p:cNvCxnSpPr>
            <a:stCxn id="20" idx="3"/>
            <a:endCxn id="34" idx="2"/>
          </p:cNvCxnSpPr>
          <p:nvPr/>
        </p:nvCxnSpPr>
        <p:spPr>
          <a:xfrm>
            <a:off x="1418924" y="2814935"/>
            <a:ext cx="2314876" cy="766465"/>
          </a:xfrm>
          <a:prstGeom prst="bentConnector4">
            <a:avLst>
              <a:gd name="adj1" fmla="val 15363"/>
              <a:gd name="adj2" fmla="val 129825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0" idx="3"/>
            <a:endCxn id="33" idx="1"/>
          </p:cNvCxnSpPr>
          <p:nvPr/>
        </p:nvCxnSpPr>
        <p:spPr>
          <a:xfrm>
            <a:off x="1418924" y="2814935"/>
            <a:ext cx="867076" cy="4465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4038600" y="3581400"/>
            <a:ext cx="12" cy="5334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15" idx="0"/>
          </p:cNvCxnSpPr>
          <p:nvPr/>
        </p:nvCxnSpPr>
        <p:spPr>
          <a:xfrm flipV="1">
            <a:off x="2983520" y="3048000"/>
            <a:ext cx="11719" cy="10668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495800" y="4034134"/>
            <a:ext cx="43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3" name="Straight Arrow Connector 72"/>
          <p:cNvCxnSpPr>
            <a:stCxn id="72" idx="0"/>
          </p:cNvCxnSpPr>
          <p:nvPr/>
        </p:nvCxnSpPr>
        <p:spPr>
          <a:xfrm flipH="1" flipV="1">
            <a:off x="4699588" y="3505200"/>
            <a:ext cx="12406" cy="52893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1" name="Group 90"/>
          <p:cNvGrpSpPr/>
          <p:nvPr/>
        </p:nvGrpSpPr>
        <p:grpSpPr>
          <a:xfrm>
            <a:off x="5334000" y="3048000"/>
            <a:ext cx="3352800" cy="1295400"/>
            <a:chOff x="5562600" y="2438400"/>
            <a:chExt cx="3352800" cy="1295400"/>
          </a:xfrm>
        </p:grpSpPr>
        <p:sp>
          <p:nvSpPr>
            <p:cNvPr id="81" name="Rectangular Callout 80"/>
            <p:cNvSpPr/>
            <p:nvPr/>
          </p:nvSpPr>
          <p:spPr>
            <a:xfrm>
              <a:off x="5562600" y="2819400"/>
              <a:ext cx="3352800" cy="914400"/>
            </a:xfrm>
            <a:prstGeom prst="wedgeRectCallout">
              <a:avLst>
                <a:gd name="adj1" fmla="val -60756"/>
                <a:gd name="adj2" fmla="val -5101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562600" y="2438400"/>
              <a:ext cx="3352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flow-table</a:t>
              </a:r>
              <a:endParaRPr lang="en-US" sz="2000" dirty="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5562600" y="3200400"/>
              <a:ext cx="914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latin typeface="Times New Roman" pitchFamily="18" charset="0"/>
                  <a:cs typeface="Times New Roman" pitchFamily="18" charset="0"/>
                </a:rPr>
                <a:t>HO:0</a:t>
              </a:r>
              <a:endParaRPr lang="en-US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477000" y="3200400"/>
              <a:ext cx="914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latin typeface="Times New Roman" pitchFamily="18" charset="0"/>
                  <a:cs typeface="Times New Roman" pitchFamily="18" charset="0"/>
                </a:rPr>
                <a:t>HO:0</a:t>
              </a:r>
              <a:endParaRPr lang="en-US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5562600" y="2819400"/>
              <a:ext cx="914400" cy="3810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 smtClean="0">
                  <a:latin typeface="Arial" pitchFamily="34" charset="0"/>
                  <a:cs typeface="Arial" pitchFamily="34" charset="0"/>
                </a:rPr>
                <a:t>Src</a:t>
              </a:r>
              <a:endParaRPr lang="en-US" sz="20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477000" y="2819400"/>
              <a:ext cx="9144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 smtClean="0">
                  <a:latin typeface="Arial" pitchFamily="34" charset="0"/>
                  <a:cs typeface="Arial" pitchFamily="34" charset="0"/>
                </a:rPr>
                <a:t>Dst</a:t>
              </a:r>
              <a:endParaRPr lang="en-US" sz="20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391400" y="2819400"/>
              <a:ext cx="7620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Arial" pitchFamily="34" charset="0"/>
                  <a:cs typeface="Arial" pitchFamily="34" charset="0"/>
                </a:rPr>
                <a:t>In</a:t>
              </a:r>
              <a:endParaRPr lang="en-US" sz="20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8153400" y="2819400"/>
              <a:ext cx="7620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Arial" pitchFamily="34" charset="0"/>
                  <a:cs typeface="Arial" pitchFamily="34" charset="0"/>
                </a:rPr>
                <a:t>Out</a:t>
              </a:r>
              <a:endParaRPr lang="en-US" sz="20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7391400" y="3200400"/>
              <a:ext cx="7620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latin typeface="Times New Roman" pitchFamily="18" charset="0"/>
                  <a:cs typeface="Times New Roman" pitchFamily="18" charset="0"/>
                </a:rPr>
                <a:t>*</a:t>
              </a:r>
              <a:endParaRPr lang="en-US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8153400" y="3200400"/>
              <a:ext cx="7620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latin typeface="Times New Roman" pitchFamily="18" charset="0"/>
                  <a:cs typeface="Times New Roman" pitchFamily="18" charset="0"/>
                </a:rPr>
                <a:t>*</a:t>
              </a:r>
              <a:endParaRPr lang="en-US" sz="2400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92" name="Oval 91"/>
          <p:cNvSpPr/>
          <p:nvPr/>
        </p:nvSpPr>
        <p:spPr>
          <a:xfrm>
            <a:off x="5181600" y="3048000"/>
            <a:ext cx="3733800" cy="1600200"/>
          </a:xfrm>
          <a:prstGeom prst="ellipse">
            <a:avLst/>
          </a:prstGeom>
          <a:noFill/>
          <a:ln w="762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381000" y="403860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pkt.src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6" name="Straight Arrow Connector 95"/>
          <p:cNvCxnSpPr>
            <a:stCxn id="94" idx="0"/>
            <a:endCxn id="21" idx="2"/>
          </p:cNvCxnSpPr>
          <p:nvPr/>
        </p:nvCxnSpPr>
        <p:spPr>
          <a:xfrm flipH="1" flipV="1">
            <a:off x="984806" y="3581400"/>
            <a:ext cx="5794" cy="4572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04800" y="144780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pkt.dst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1" name="Straight Arrow Connector 100"/>
          <p:cNvCxnSpPr>
            <a:stCxn id="100" idx="2"/>
          </p:cNvCxnSpPr>
          <p:nvPr/>
        </p:nvCxnSpPr>
        <p:spPr>
          <a:xfrm>
            <a:off x="914400" y="1909465"/>
            <a:ext cx="0" cy="45273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firewall invariants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Flow table entries only contain </a:t>
            </a:r>
            <a:br>
              <a:rPr lang="en-US" dirty="0" smtClean="0"/>
            </a:br>
            <a:r>
              <a:rPr lang="en-US" dirty="0" smtClean="0"/>
              <a:t>forwarding rules from trusted hosts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Controller relation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dirty="0" smtClean="0"/>
              <a:t> records the correct hosts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i="1" dirty="0" smtClean="0">
                <a:latin typeface="Times New Roman"/>
                <a:cs typeface="Times New Roman"/>
              </a:rPr>
              <a:t>I</a:t>
            </a:r>
            <a:r>
              <a:rPr lang="en-US" baseline="-25000" dirty="0" smtClean="0">
                <a:latin typeface="Times New Roman"/>
                <a:cs typeface="Times New Roman"/>
              </a:rPr>
              <a:t>1</a:t>
            </a:r>
            <a:r>
              <a:rPr lang="en-US" dirty="0" smtClean="0">
                <a:latin typeface="Times New Roman"/>
                <a:cs typeface="Times New Roman"/>
              </a:rPr>
              <a:t> ˄ </a:t>
            </a:r>
            <a:r>
              <a:rPr lang="en-US" i="1" dirty="0" smtClean="0">
                <a:latin typeface="Times New Roman"/>
                <a:cs typeface="Times New Roman"/>
              </a:rPr>
              <a:t>I</a:t>
            </a:r>
            <a:r>
              <a:rPr lang="en-US" baseline="-25000" dirty="0" smtClean="0">
                <a:latin typeface="Times New Roman"/>
                <a:cs typeface="Times New Roman"/>
              </a:rPr>
              <a:t>2</a:t>
            </a:r>
            <a:r>
              <a:rPr lang="en-US" dirty="0" smtClean="0">
                <a:latin typeface="Times New Roman"/>
                <a:cs typeface="Times New Roman"/>
              </a:rPr>
              <a:t> ˄ </a:t>
            </a:r>
            <a:r>
              <a:rPr lang="en-US" i="1" dirty="0" smtClean="0">
                <a:latin typeface="Times New Roman"/>
                <a:cs typeface="Times New Roman"/>
              </a:rPr>
              <a:t>I</a:t>
            </a:r>
            <a:r>
              <a:rPr lang="en-US" baseline="-25000" dirty="0" smtClean="0">
                <a:latin typeface="Times New Roman"/>
                <a:cs typeface="Times New Roman"/>
              </a:rPr>
              <a:t>3</a:t>
            </a: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+mj-lt"/>
                <a:cs typeface="Times New Roman"/>
              </a:rPr>
              <a:t>is inductive</a:t>
            </a:r>
            <a:endParaRPr lang="en-US" dirty="0" smtClean="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524000" y="2743200"/>
            <a:ext cx="6172200" cy="838200"/>
            <a:chOff x="3429000" y="1066800"/>
            <a:chExt cx="6172200" cy="838200"/>
          </a:xfrm>
        </p:grpSpPr>
        <p:sp>
          <p:nvSpPr>
            <p:cNvPr id="10" name="Rounded Rectangle 9"/>
            <p:cNvSpPr/>
            <p:nvPr/>
          </p:nvSpPr>
          <p:spPr>
            <a:xfrm>
              <a:off x="3429000" y="1066800"/>
              <a:ext cx="6172200" cy="83820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/>
          </p:nvGraphicFramePr>
          <p:xfrm>
            <a:off x="3505200" y="1143000"/>
            <a:ext cx="5984875" cy="706438"/>
          </p:xfrm>
          <a:graphic>
            <a:graphicData uri="http://schemas.openxmlformats.org/presentationml/2006/ole">
              <p:oleObj spid="_x0000_s2050" name="Equation" r:id="rId3" imgW="3276360" imgH="380880" progId="Equation.3">
                <p:embed/>
              </p:oleObj>
            </a:graphicData>
          </a:graphic>
        </p:graphicFrame>
      </p:grpSp>
      <p:grpSp>
        <p:nvGrpSpPr>
          <p:cNvPr id="16" name="Group 15"/>
          <p:cNvGrpSpPr/>
          <p:nvPr/>
        </p:nvGrpSpPr>
        <p:grpSpPr>
          <a:xfrm>
            <a:off x="1752600" y="4267200"/>
            <a:ext cx="5867400" cy="838200"/>
            <a:chOff x="4114800" y="5638800"/>
            <a:chExt cx="5867400" cy="838200"/>
          </a:xfrm>
        </p:grpSpPr>
        <p:sp>
          <p:nvSpPr>
            <p:cNvPr id="14" name="Rounded Rectangle 13"/>
            <p:cNvSpPr/>
            <p:nvPr/>
          </p:nvSpPr>
          <p:spPr>
            <a:xfrm>
              <a:off x="4114800" y="5638800"/>
              <a:ext cx="5867400" cy="83820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5" name="Object 14"/>
            <p:cNvGraphicFramePr>
              <a:graphicFrameLocks noChangeAspect="1"/>
            </p:cNvGraphicFramePr>
            <p:nvPr/>
          </p:nvGraphicFramePr>
          <p:xfrm>
            <a:off x="4232275" y="5715000"/>
            <a:ext cx="5707063" cy="706438"/>
          </p:xfrm>
          <a:graphic>
            <a:graphicData uri="http://schemas.openxmlformats.org/presentationml/2006/ole">
              <p:oleObj spid="_x0000_s2051" name="Equation" r:id="rId4" imgW="3124080" imgH="38088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Non-buggy verification examples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38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990600"/>
                <a:gridCol w="990600"/>
                <a:gridCol w="1600200"/>
                <a:gridCol w="990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Program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LOCs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Topo</a:t>
                      </a:r>
                      <a:r>
                        <a:rPr lang="en-US" sz="2800" dirty="0" smtClean="0"/>
                        <a:t/>
                      </a:r>
                      <a:br>
                        <a:rPr lang="en-US" sz="2800" dirty="0" smtClean="0"/>
                      </a:br>
                      <a:r>
                        <a:rPr lang="en-US" sz="2800" dirty="0" smtClean="0"/>
                        <a:t>Inv.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Safety + Trans Inv.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Time</a:t>
                      </a:r>
                      <a:br>
                        <a:rPr lang="en-US" sz="2800" dirty="0" smtClean="0"/>
                      </a:br>
                      <a:r>
                        <a:rPr lang="en-US" sz="2800" dirty="0" smtClean="0"/>
                        <a:t>(sec)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Firewall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3 + 0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0.12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Stateless Firewall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 + 0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0.06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Firewall + Host Migration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9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3 + 0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0.16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Learning</a:t>
                      </a:r>
                      <a:r>
                        <a:rPr lang="en-US" sz="2800" baseline="0" dirty="0" smtClean="0"/>
                        <a:t> Switch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4</a:t>
                      </a:r>
                      <a:r>
                        <a:rPr lang="en-US" sz="2800" baseline="0" dirty="0" smtClean="0"/>
                        <a:t> + 2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0.16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Learning</a:t>
                      </a:r>
                      <a:r>
                        <a:rPr lang="en-US" sz="2800" baseline="0" dirty="0" smtClean="0"/>
                        <a:t> Switch + Auth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5 + 3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0.21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Resonance</a:t>
                      </a:r>
                      <a:r>
                        <a:rPr lang="en-US" sz="2800" baseline="0" dirty="0" smtClean="0"/>
                        <a:t> (simplified)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93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5 + 2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0.21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Stratos</a:t>
                      </a:r>
                      <a:r>
                        <a:rPr lang="en-US" sz="2800" dirty="0" smtClean="0"/>
                        <a:t> (simplified)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29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3 +</a:t>
                      </a:r>
                      <a:r>
                        <a:rPr lang="en-US" sz="2800" baseline="0" dirty="0" smtClean="0"/>
                        <a:t> 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0.09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67200" y="1524000"/>
            <a:ext cx="990600" cy="472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257800" y="1524000"/>
            <a:ext cx="2590800" cy="472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848600" y="1524000"/>
            <a:ext cx="990600" cy="472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81000" y="4572000"/>
            <a:ext cx="8458200" cy="1143000"/>
          </a:xfrm>
          <a:prstGeom prst="roundRect">
            <a:avLst>
              <a:gd name="adj" fmla="val 19865"/>
            </a:avLst>
          </a:prstGeom>
          <a:noFill/>
          <a:ln w="762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Buggy verification examples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38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0"/>
                <a:gridCol w="1752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Benchmark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err="1" smtClean="0"/>
                        <a:t>Counterex</a:t>
                      </a:r>
                      <a:r>
                        <a:rPr lang="en-US" sz="2800" baseline="0" dirty="0" smtClean="0"/>
                        <a:t/>
                      </a:r>
                      <a:br>
                        <a:rPr lang="en-US" sz="2800" baseline="0" dirty="0" smtClean="0"/>
                      </a:br>
                      <a:r>
                        <a:rPr lang="en-US" sz="2800" baseline="0" dirty="0" smtClean="0"/>
                        <a:t>Host + </a:t>
                      </a:r>
                      <a:r>
                        <a:rPr lang="en-US" sz="2800" baseline="0" dirty="0" err="1" smtClean="0"/>
                        <a:t>Sw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Auth: Rules</a:t>
                      </a:r>
                      <a:r>
                        <a:rPr lang="en-US" sz="2800" baseline="0" dirty="0" smtClean="0"/>
                        <a:t> for </a:t>
                      </a:r>
                      <a:r>
                        <a:rPr lang="en-US" sz="2800" baseline="0" dirty="0" err="1" smtClean="0"/>
                        <a:t>unauth</a:t>
                      </a:r>
                      <a:r>
                        <a:rPr lang="en-US" sz="2800" baseline="0" dirty="0" smtClean="0"/>
                        <a:t> host not removed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3</a:t>
                      </a:r>
                      <a:r>
                        <a:rPr lang="en-US" sz="2800" baseline="0" dirty="0" smtClean="0"/>
                        <a:t> + 2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Firewall</a:t>
                      </a:r>
                      <a:r>
                        <a:rPr lang="en-US" sz="2800" baseline="0" dirty="0" smtClean="0"/>
                        <a:t>: Forgot part of consistency inv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5 +</a:t>
                      </a:r>
                      <a:r>
                        <a:rPr lang="en-US" sz="2800" baseline="0" dirty="0" smtClean="0"/>
                        <a:t> 3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Firewall: No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dirty="0" smtClean="0"/>
                        <a:t>check if host</a:t>
                      </a:r>
                      <a:r>
                        <a:rPr lang="en-US" sz="2800" baseline="0" dirty="0" smtClean="0"/>
                        <a:t> is trusted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6</a:t>
                      </a:r>
                      <a:r>
                        <a:rPr lang="en-US" sz="2800" baseline="0" dirty="0" smtClean="0"/>
                        <a:t> + 4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Firewall:</a:t>
                      </a:r>
                      <a:r>
                        <a:rPr lang="en-US" sz="2800" baseline="0" dirty="0" smtClean="0"/>
                        <a:t> No inv defining trusted host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6</a:t>
                      </a:r>
                      <a:r>
                        <a:rPr lang="en-US" sz="2800" baseline="0" dirty="0" smtClean="0"/>
                        <a:t> + 4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Learning</a:t>
                      </a:r>
                      <a:r>
                        <a:rPr lang="en-US" sz="2800" baseline="0" dirty="0" smtClean="0"/>
                        <a:t>: Packets not forwarded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r>
                        <a:rPr lang="en-US" sz="2800" baseline="0" dirty="0" smtClean="0"/>
                        <a:t> + 1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Resonance</a:t>
                      </a:r>
                      <a:r>
                        <a:rPr lang="en-US" sz="2800" baseline="0" dirty="0" smtClean="0"/>
                        <a:t>: No inv for host to have one state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11</a:t>
                      </a:r>
                      <a:r>
                        <a:rPr lang="en-US" sz="2800" baseline="0" dirty="0" smtClean="0"/>
                        <a:t> + 4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StatelessFW</a:t>
                      </a:r>
                      <a:r>
                        <a:rPr lang="en-US" sz="2800" baseline="0" dirty="0" smtClean="0"/>
                        <a:t>: Rule allowing all port 2 traffic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4</a:t>
                      </a:r>
                      <a:r>
                        <a:rPr lang="en-US" sz="2800" baseline="0" dirty="0" smtClean="0"/>
                        <a:t> + 2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81000" y="5105400"/>
            <a:ext cx="8458200" cy="609600"/>
          </a:xfrm>
          <a:prstGeom prst="roundRect">
            <a:avLst>
              <a:gd name="adj" fmla="val 30100"/>
            </a:avLst>
          </a:prstGeom>
          <a:noFill/>
          <a:ln w="762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Assume events are executed atomically</a:t>
            </a:r>
          </a:p>
          <a:p>
            <a:pPr lvl="1"/>
            <a:r>
              <a:rPr lang="en-US" dirty="0" smtClean="0"/>
              <a:t>Enforceable using barriers, with performance hit</a:t>
            </a:r>
          </a:p>
          <a:p>
            <a:pPr lvl="1"/>
            <a:r>
              <a:rPr lang="en-US" dirty="0" smtClean="0"/>
              <a:t>Consider out-of-order rule installs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Rule timeouts</a:t>
            </a:r>
          </a:p>
          <a:p>
            <a:pPr lvl="1"/>
            <a:r>
              <a:rPr lang="en-US" dirty="0" smtClean="0"/>
              <a:t>App handles timeout events to update </a:t>
            </a:r>
            <a:br>
              <a:rPr lang="en-US" dirty="0" smtClean="0"/>
            </a:br>
            <a:r>
              <a:rPr lang="en-US" dirty="0" smtClean="0"/>
              <a:t>its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ft</a:t>
            </a:r>
            <a:r>
              <a:rPr lang="en-US" dirty="0" smtClean="0"/>
              <a:t> relation and check invariants</a:t>
            </a:r>
          </a:p>
          <a:p>
            <a:pPr lvl="1"/>
            <a:r>
              <a:rPr lang="en-US" dirty="0" smtClean="0"/>
              <a:t>Need to reason about event ordering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</a:t>
            </a:r>
            <a:r>
              <a:rPr lang="en-US" dirty="0" err="1" smtClean="0"/>
              <a:t>VeriCon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Verifies network-wide invariants for </a:t>
            </a:r>
            <a:r>
              <a:rPr lang="en-US" b="1" i="1" dirty="0" smtClean="0"/>
              <a:t>any</a:t>
            </a:r>
            <a:r>
              <a:rPr lang="en-US" dirty="0" smtClean="0"/>
              <a:t> event sequence and </a:t>
            </a:r>
            <a:r>
              <a:rPr lang="en-US" b="1" i="1" dirty="0" smtClean="0"/>
              <a:t>all</a:t>
            </a:r>
            <a:r>
              <a:rPr lang="en-US" dirty="0" smtClean="0"/>
              <a:t> admissible topologies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Guarantees invariants are satisfied, or </a:t>
            </a:r>
            <a:br>
              <a:rPr lang="en-US" dirty="0" smtClean="0"/>
            </a:br>
            <a:r>
              <a:rPr lang="en-US" dirty="0" smtClean="0"/>
              <a:t>provides a concrete counterexample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Application with 93 LOC and </a:t>
            </a:r>
            <a:br>
              <a:rPr lang="en-US" dirty="0" smtClean="0"/>
            </a:br>
            <a:r>
              <a:rPr lang="en-US" dirty="0" smtClean="0"/>
              <a:t>13 invariants is verified in 0.21s</a:t>
            </a:r>
          </a:p>
          <a:p>
            <a:pPr>
              <a:spcBef>
                <a:spcPts val="1800"/>
              </a:spcBef>
              <a:buNone/>
            </a:pPr>
            <a:r>
              <a:rPr lang="en-US" b="1" dirty="0" smtClean="0"/>
              <a:t>  http://agember.com/go/vericon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DD2FE-83A4-4A6D-9CF7-DD546508498D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 descr="qrcode.2203340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53200" y="4038600"/>
            <a:ext cx="1905000" cy="190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487</Words>
  <Application>Microsoft Office PowerPoint</Application>
  <PresentationFormat>On-screen Show (4:3)</PresentationFormat>
  <Paragraphs>175</Paragraphs>
  <Slides>15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Equation</vt:lpstr>
      <vt:lpstr>VeriCon: Towards Verifying Controller Programs in SDNs</vt:lpstr>
      <vt:lpstr>Guaranteeing network invariants</vt:lpstr>
      <vt:lpstr>Limitations of existing approaches</vt:lpstr>
      <vt:lpstr>VeriCon</vt:lpstr>
      <vt:lpstr>Example: stateful firewall</vt:lpstr>
      <vt:lpstr>Core SDN (CSDN) language</vt:lpstr>
      <vt:lpstr>Stateful firewall in CSDN</vt:lpstr>
      <vt:lpstr>Invariants</vt:lpstr>
      <vt:lpstr>Stateful firewall invariants</vt:lpstr>
      <vt:lpstr>Counterexample</vt:lpstr>
      <vt:lpstr>Additional firewall invariants</vt:lpstr>
      <vt:lpstr>Non-buggy verification examples</vt:lpstr>
      <vt:lpstr>Buggy verification examples</vt:lpstr>
      <vt:lpstr>Future work</vt:lpstr>
      <vt:lpstr>Summary of VeriCon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VeriCon: Towards Verifying Controller Programs in SDNs</dc:title>
  <dc:creator>Aaron Gember</dc:creator>
  <cp:lastModifiedBy>Aaron Gember</cp:lastModifiedBy>
  <cp:revision>127</cp:revision>
  <dcterms:created xsi:type="dcterms:W3CDTF">2013-12-17T01:53:04Z</dcterms:created>
  <dcterms:modified xsi:type="dcterms:W3CDTF">2014-05-06T03:11:30Z</dcterms:modified>
</cp:coreProperties>
</file>