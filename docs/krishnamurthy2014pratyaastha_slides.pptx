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58" r:id="rId3"/>
    <p:sldId id="267" r:id="rId4"/>
    <p:sldId id="262" r:id="rId5"/>
    <p:sldId id="266" r:id="rId6"/>
    <p:sldId id="263" r:id="rId7"/>
    <p:sldId id="265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76302" autoAdjust="0"/>
  </p:normalViewPr>
  <p:slideViewPr>
    <p:cSldViewPr snapToGrid="0">
      <p:cViewPr varScale="1">
        <p:scale>
          <a:sx n="57" d="100"/>
          <a:sy n="57" d="100"/>
        </p:scale>
        <p:origin x="708" y="6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F114CD-448A-4582-912E-5B5D99E8F32F}" type="datetimeFigureOut">
              <a:rPr lang="en-US" smtClean="0"/>
              <a:t>8/20/2014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C61D8-76DD-43DB-9F57-42991FB8B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22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Thanks </a:t>
            </a:r>
            <a:r>
              <a:rPr lang="en-US" dirty="0" err="1" smtClean="0"/>
              <a:t>Anees</a:t>
            </a:r>
            <a:r>
              <a:rPr lang="en-US" dirty="0" smtClean="0"/>
              <a:t>.</a:t>
            </a:r>
            <a:r>
              <a:rPr lang="en-US" smtClean="0"/>
              <a:t> Today </a:t>
            </a:r>
            <a:r>
              <a:rPr lang="en-US" dirty="0" smtClean="0"/>
              <a:t>I will be talking about </a:t>
            </a:r>
            <a:r>
              <a:rPr lang="en-US" dirty="0" err="1" smtClean="0"/>
              <a:t>Pratyaastha</a:t>
            </a:r>
            <a:r>
              <a:rPr lang="en-US" dirty="0" smtClean="0"/>
              <a:t>, a system for optimally distributing control application state and network switches among SDN controllers to satisfy operator goals.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178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At a high level, network operators running a software defined network have two important goals:-</a:t>
            </a:r>
          </a:p>
          <a:p>
            <a:r>
              <a:rPr lang="en-US" baseline="0" dirty="0" smtClean="0"/>
              <a:t>They want to achieve good performance for applications running in the network. And minimizing flow setup latency is a key factor for getting good performance of SDN applications that depend on reactive model of rule installation.</a:t>
            </a:r>
          </a:p>
          <a:p>
            <a:r>
              <a:rPr lang="en-US" baseline="0" dirty="0" smtClean="0"/>
              <a:t>They also want to efficiently allocate resources for the control plane to have lower operating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78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However, there a few challenges in current controller architectures in achieving the mentioned</a:t>
            </a:r>
            <a:r>
              <a:rPr lang="en-US" baseline="0" dirty="0" smtClean="0"/>
              <a:t> goals.</a:t>
            </a:r>
          </a:p>
          <a:p>
            <a:r>
              <a:rPr lang="en-US" baseline="0" dirty="0" smtClean="0"/>
              <a:t>First, statically assigning switches to controller instances can lead to overload and inefficient resource utilization because of their inability to adapt to traffic load variations in the datacenter.</a:t>
            </a:r>
          </a:p>
          <a:p>
            <a:r>
              <a:rPr lang="en-US" baseline="0" dirty="0" smtClean="0"/>
              <a:t>Next, accessing state of an SDN application from a distributed data store and accessing another controller instance to setup a flow in a switch increases flow setup latency and impacts the performance of applications running in the datacenter.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97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However, there </a:t>
            </a:r>
            <a:r>
              <a:rPr lang="en-US" dirty="0" smtClean="0"/>
              <a:t>are</a:t>
            </a:r>
            <a:r>
              <a:rPr lang="en-US" baseline="0" dirty="0" smtClean="0"/>
              <a:t> major</a:t>
            </a:r>
            <a:r>
              <a:rPr lang="en-US" dirty="0" smtClean="0"/>
              <a:t> </a:t>
            </a:r>
            <a:r>
              <a:rPr lang="en-US" dirty="0" smtClean="0"/>
              <a:t>challenges in current controller architectures in achieving the mentioned</a:t>
            </a:r>
            <a:r>
              <a:rPr lang="en-US" baseline="0" dirty="0" smtClean="0"/>
              <a:t> goals.</a:t>
            </a:r>
          </a:p>
          <a:p>
            <a:r>
              <a:rPr lang="en-US" baseline="0" dirty="0" smtClean="0"/>
              <a:t>First, statically assigning switches to controller instances can lead to overload </a:t>
            </a:r>
            <a:r>
              <a:rPr lang="en-US" baseline="0" dirty="0" smtClean="0"/>
              <a:t>or inefficient </a:t>
            </a:r>
            <a:r>
              <a:rPr lang="en-US" baseline="0" dirty="0" smtClean="0"/>
              <a:t>resource utilization because of their inability to adapt to traffic load variations in the datacenter.</a:t>
            </a:r>
          </a:p>
          <a:p>
            <a:r>
              <a:rPr lang="en-US" baseline="0" dirty="0" smtClean="0"/>
              <a:t>Next, accessing state of an SDN application from a distributed data store </a:t>
            </a:r>
            <a:r>
              <a:rPr lang="en-US" baseline="0" dirty="0" smtClean="0"/>
              <a:t>or accessing </a:t>
            </a:r>
            <a:r>
              <a:rPr lang="en-US" baseline="0" dirty="0" smtClean="0"/>
              <a:t>another controller instance to setup a flow in a switch increases flow setup latency and impacts the performance of applications running in the datacenter.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19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solve this, we propose </a:t>
            </a:r>
            <a:r>
              <a:rPr lang="en-US" dirty="0" err="1" smtClean="0"/>
              <a:t>Pratyaastha</a:t>
            </a:r>
            <a:r>
              <a:rPr lang="en-US" dirty="0" smtClean="0"/>
              <a:t>, which jointly minimizes</a:t>
            </a:r>
            <a:r>
              <a:rPr lang="en-US" baseline="0" dirty="0" smtClean="0"/>
              <a:t> the inter-controller communication and resource consumption.</a:t>
            </a:r>
          </a:p>
          <a:p>
            <a:r>
              <a:rPr lang="en-US" baseline="0" dirty="0" smtClean="0"/>
              <a:t>SDN applications partition application state into pools at a suitable granularity and tag each state partition with the pertinent switches. We use this to construct the dependency graph between switches and application state partitions.</a:t>
            </a:r>
          </a:p>
          <a:p>
            <a:r>
              <a:rPr lang="en-US" baseline="0" dirty="0" smtClean="0"/>
              <a:t>We track the memory used by each application state partition which adds to the memory requirements of a controller storing it.</a:t>
            </a:r>
          </a:p>
          <a:p>
            <a:r>
              <a:rPr lang="en-US" baseline="0" dirty="0" smtClean="0"/>
              <a:t>We also measure the flow arrival rate from each switch which corresponds to the CPU requirements of a controller  connected to it.</a:t>
            </a:r>
          </a:p>
          <a:p>
            <a:r>
              <a:rPr lang="en-US" baseline="0" dirty="0" smtClean="0"/>
              <a:t>Virtual machines of various CPU, memory configurations are available for running controllers.</a:t>
            </a:r>
          </a:p>
          <a:p>
            <a:r>
              <a:rPr lang="en-US" baseline="0" dirty="0" smtClean="0"/>
              <a:t>We impose additional costs to inter-controller communication when state partitions and pertinent switches are assigned to different controllers.</a:t>
            </a:r>
          </a:p>
          <a:p>
            <a:r>
              <a:rPr lang="en-US" baseline="0" dirty="0" smtClean="0"/>
              <a:t>We periodically check if controllers are overloaded and if so we run the controller assignment algorithm. </a:t>
            </a:r>
          </a:p>
          <a:p>
            <a:r>
              <a:rPr lang="en-US" baseline="0" dirty="0" smtClean="0"/>
              <a:t>Accurately solving the Integer Linear Program for a large topology is not scalable and hence we use an Artificial Intelligence search algorithm.</a:t>
            </a:r>
          </a:p>
          <a:p>
            <a:r>
              <a:rPr lang="en-US" baseline="0" dirty="0" smtClean="0"/>
              <a:t>This gives the assignment of application state partitions and switches to controller instances as output, </a:t>
            </a:r>
          </a:p>
          <a:p>
            <a:r>
              <a:rPr lang="en-US" baseline="0" dirty="0" smtClean="0"/>
              <a:t>And they are migrated accordingly.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99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solve this, we propose </a:t>
            </a:r>
            <a:r>
              <a:rPr lang="en-US" dirty="0" err="1" smtClean="0"/>
              <a:t>Pratyaastha</a:t>
            </a:r>
            <a:r>
              <a:rPr lang="en-US" dirty="0" smtClean="0"/>
              <a:t>, which jointly minimizes</a:t>
            </a:r>
            <a:r>
              <a:rPr lang="en-US" baseline="0" dirty="0" smtClean="0"/>
              <a:t> the inter-controller communication and resource consumption.</a:t>
            </a:r>
          </a:p>
          <a:p>
            <a:r>
              <a:rPr lang="en-US" baseline="0" dirty="0" smtClean="0"/>
              <a:t>SDN applications partition application state into pools at a suitable granularity and tag each state partition with the pertinent switches. We use this to construct the dependency graph between switches and application state partitions.</a:t>
            </a:r>
          </a:p>
          <a:p>
            <a:r>
              <a:rPr lang="en-US" baseline="0" dirty="0" smtClean="0"/>
              <a:t>We track the memory used by each application state partition which adds to the memory requirements of a controller storing it.</a:t>
            </a:r>
          </a:p>
          <a:p>
            <a:r>
              <a:rPr lang="en-US" baseline="0" dirty="0" smtClean="0"/>
              <a:t>We also measure the flow arrival rate from each switch which corresponds to the CPU requirements of a controller  connected to it.</a:t>
            </a:r>
          </a:p>
          <a:p>
            <a:r>
              <a:rPr lang="en-US" baseline="0" dirty="0" smtClean="0"/>
              <a:t>Virtual machines of various CPU, memory configurations are available for running controllers.</a:t>
            </a:r>
          </a:p>
          <a:p>
            <a:r>
              <a:rPr lang="en-US" baseline="0" dirty="0" smtClean="0"/>
              <a:t>We impose additional costs to inter-controller communication when state partitions and pertinent switches are assigned to different controllers.</a:t>
            </a:r>
          </a:p>
          <a:p>
            <a:r>
              <a:rPr lang="en-US" baseline="0" dirty="0" smtClean="0"/>
              <a:t>We periodically check if controllers are overloaded and if so we run the controller assignment algorithm. </a:t>
            </a:r>
          </a:p>
          <a:p>
            <a:r>
              <a:rPr lang="en-US" baseline="0" dirty="0" smtClean="0"/>
              <a:t>Accurately solving the Integer Linear Program for a large topology is not scalable and hence we use an Artificial Intelligence search algorithm.</a:t>
            </a:r>
          </a:p>
          <a:p>
            <a:r>
              <a:rPr lang="en-US" baseline="0" dirty="0" smtClean="0"/>
              <a:t>This gives the assignment of application state partitions and switches to controller instances as output, </a:t>
            </a:r>
          </a:p>
          <a:p>
            <a:r>
              <a:rPr lang="en-US" baseline="0" dirty="0" smtClean="0"/>
              <a:t>And they are migrated accordingly.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908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38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 smtClean="0"/>
          </a:p>
          <a:p>
            <a:r>
              <a:rPr lang="en-US" dirty="0" smtClean="0"/>
              <a:t>We built</a:t>
            </a:r>
            <a:r>
              <a:rPr lang="en-US" baseline="0" dirty="0" smtClean="0"/>
              <a:t> a simulator and evaluated </a:t>
            </a:r>
            <a:r>
              <a:rPr lang="en-US" baseline="0" dirty="0" err="1" smtClean="0"/>
              <a:t>Pratyaastha</a:t>
            </a:r>
            <a:r>
              <a:rPr lang="en-US" baseline="0" dirty="0" smtClean="0"/>
              <a:t> with the topology and traffic from a private datacenter and cost from Amazon EC2 instances.</a:t>
            </a:r>
          </a:p>
          <a:p>
            <a:r>
              <a:rPr lang="en-US" baseline="0" dirty="0" smtClean="0"/>
              <a:t>We compared </a:t>
            </a:r>
            <a:r>
              <a:rPr lang="en-US" baseline="0" dirty="0" err="1" smtClean="0"/>
              <a:t>Pratyaastha</a:t>
            </a:r>
            <a:r>
              <a:rPr lang="en-US" baseline="0" dirty="0" smtClean="0"/>
              <a:t> with two other controller-assignment approaches:- ‘CPU only’ a system which considers only the flow arrival rate during scaling and stores all state in a distributed</a:t>
            </a:r>
          </a:p>
          <a:p>
            <a:r>
              <a:rPr lang="en-US" baseline="0" dirty="0" err="1" smtClean="0"/>
              <a:t>Datastore</a:t>
            </a:r>
            <a:r>
              <a:rPr lang="en-US" baseline="0" dirty="0" smtClean="0"/>
              <a:t>  and ‘Local CPU + Mem’ which is similar to ‘CPU only’ except that some dynamic application state is stored locally. </a:t>
            </a:r>
          </a:p>
          <a:p>
            <a:r>
              <a:rPr lang="en-US" baseline="0" dirty="0" smtClean="0"/>
              <a:t>Overall with </a:t>
            </a:r>
            <a:r>
              <a:rPr lang="en-US" baseline="0" dirty="0" err="1" smtClean="0"/>
              <a:t>Pratyaastha</a:t>
            </a:r>
            <a:r>
              <a:rPr lang="en-US" baseline="0" dirty="0" smtClean="0"/>
              <a:t>, we were able to get </a:t>
            </a:r>
            <a:r>
              <a:rPr lang="en-US" baseline="0" dirty="0" err="1" smtClean="0"/>
              <a:t>upto</a:t>
            </a:r>
            <a:r>
              <a:rPr lang="en-US" baseline="0" dirty="0" smtClean="0"/>
              <a:t> 33% and 42% decrease in operating costs and </a:t>
            </a:r>
            <a:r>
              <a:rPr lang="en-US" baseline="0" dirty="0" err="1" smtClean="0"/>
              <a:t>upto</a:t>
            </a:r>
            <a:r>
              <a:rPr lang="en-US" baseline="0" dirty="0" smtClean="0"/>
              <a:t> 44% decrease in flow-setup latency.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51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To summarize, we proposed</a:t>
            </a:r>
            <a:r>
              <a:rPr lang="en-US" altLang="en-US" baseline="0" dirty="0" smtClean="0"/>
              <a:t> </a:t>
            </a:r>
            <a:r>
              <a:rPr lang="en-US" altLang="en-US" baseline="0" dirty="0" err="1" smtClean="0"/>
              <a:t>Pratyaastha</a:t>
            </a:r>
            <a:r>
              <a:rPr lang="en-US" altLang="en-US" baseline="0" dirty="0" smtClean="0"/>
              <a:t>, an elastic distributed SDN control plane for </a:t>
            </a:r>
            <a:r>
              <a:rPr lang="en-US" altLang="en-US" baseline="0" smtClean="0"/>
              <a:t>optimally distributing control </a:t>
            </a:r>
            <a:r>
              <a:rPr lang="en-US" altLang="en-US" baseline="0" dirty="0" smtClean="0"/>
              <a:t>application state and network switches to distributed controller instances to minimize flow setup latency and operating costs. With this, I conclude and I am happy to take questions. Thank you.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49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5C07-F909-4E4C-857F-6DF220B86F08}" type="datetime1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8/20/2014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675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76200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483076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719A-3198-41AB-ACEE-D2815FDFDE9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682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0A865-12E5-4591-8908-42DCCB0E0C2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40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73FC-D776-4F90-AAFF-295D4AF55FA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475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CAE77-A8C2-4E02-BA3E-A94CA507A01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32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B206-CA76-4E23-A36C-808E3A0C299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392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87457-4835-4413-B4D9-DA3BC12B63C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540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9681C-7A0F-46E7-91F4-AF5933859B7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520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05EC-5B40-4A56-9F10-FE7466FC58D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470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38F37-285E-41BE-8F82-7E646603D4E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394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A402-D7BB-448D-9EC4-D47FC053245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97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766D8-9CB3-4E61-8857-AC034ADE422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8/20/2014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94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3.png"/><Relationship Id="rId5" Type="http://schemas.openxmlformats.org/officeDocument/2006/relationships/image" Target="../media/image9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3.png"/><Relationship Id="rId5" Type="http://schemas.openxmlformats.org/officeDocument/2006/relationships/image" Target="../media/image9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5800" y="5181600"/>
            <a:ext cx="7211096" cy="1143000"/>
          </a:xfrm>
        </p:spPr>
        <p:txBody>
          <a:bodyPr>
            <a:normAutofit/>
          </a:bodyPr>
          <a:lstStyle/>
          <a:p>
            <a:r>
              <a:rPr lang="en-US" sz="3000" b="1" u="sng" dirty="0"/>
              <a:t>Anand </a:t>
            </a:r>
            <a:r>
              <a:rPr lang="en-US" sz="3000" b="1" u="sng" dirty="0" smtClean="0"/>
              <a:t>Krishnamurthy</a:t>
            </a:r>
            <a:r>
              <a:rPr lang="en-US" sz="3000" b="1" dirty="0"/>
              <a:t>, Shoban P. </a:t>
            </a:r>
            <a:r>
              <a:rPr lang="en-US" sz="3000" b="1" dirty="0" smtClean="0"/>
              <a:t>Chandrabose and Aaron Gember-</a:t>
            </a:r>
            <a:r>
              <a:rPr lang="en-US" sz="3000" b="1" dirty="0" err="1" smtClean="0"/>
              <a:t>Jackobson</a:t>
            </a:r>
            <a:endParaRPr lang="en-US" sz="3000" b="1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0" y="2345029"/>
            <a:ext cx="12191999" cy="2133600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3616" y="2377854"/>
            <a:ext cx="10444765" cy="2133600"/>
          </a:xfrm>
        </p:spPr>
        <p:txBody>
          <a:bodyPr>
            <a:normAutofit/>
          </a:bodyPr>
          <a:lstStyle/>
          <a:p>
            <a:r>
              <a:rPr lang="en-US" dirty="0" err="1" smtClean="0"/>
              <a:t>Pratyaastha</a:t>
            </a:r>
            <a:r>
              <a:rPr lang="en-US" dirty="0"/>
              <a:t>: An Efficient Elastic Distributed SDN Control Plane</a:t>
            </a:r>
            <a:endParaRPr lang="en-US" b="1" dirty="0"/>
          </a:p>
        </p:txBody>
      </p:sp>
      <p:pic>
        <p:nvPicPr>
          <p:cNvPr id="30" name="Picture 5" descr="UWlogo_fl_4c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20" y="5014772"/>
            <a:ext cx="3573887" cy="1219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4149316" y="679505"/>
            <a:ext cx="3928150" cy="1346863"/>
            <a:chOff x="4149316" y="679505"/>
            <a:chExt cx="3928150" cy="1346863"/>
          </a:xfrm>
        </p:grpSpPr>
        <p:grpSp>
          <p:nvGrpSpPr>
            <p:cNvPr id="24" name="Group 23"/>
            <p:cNvGrpSpPr/>
            <p:nvPr/>
          </p:nvGrpSpPr>
          <p:grpSpPr>
            <a:xfrm>
              <a:off x="4149316" y="679505"/>
              <a:ext cx="3594245" cy="1346863"/>
              <a:chOff x="4149316" y="679505"/>
              <a:chExt cx="3594245" cy="1346863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49316" y="679505"/>
                <a:ext cx="1346863" cy="1346863"/>
              </a:xfrm>
              <a:prstGeom prst="rect">
                <a:avLst/>
              </a:prstGeom>
            </p:spPr>
          </p:pic>
          <p:cxnSp>
            <p:nvCxnSpPr>
              <p:cNvPr id="11" name="Straight Connector 10"/>
              <p:cNvCxnSpPr/>
              <p:nvPr/>
            </p:nvCxnSpPr>
            <p:spPr>
              <a:xfrm flipV="1">
                <a:off x="6023837" y="1299788"/>
                <a:ext cx="392464" cy="30962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H="1" flipV="1">
                <a:off x="6416301" y="1299788"/>
                <a:ext cx="425994" cy="30961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H="1" flipV="1">
                <a:off x="7410519" y="1320722"/>
                <a:ext cx="333042" cy="296096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26" name="Picture 25" descr="cisco_switch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85717" y="1634043"/>
              <a:ext cx="741045" cy="310437"/>
            </a:xfrm>
            <a:prstGeom prst="rect">
              <a:avLst/>
            </a:prstGeom>
          </p:spPr>
        </p:pic>
        <p:pic>
          <p:nvPicPr>
            <p:cNvPr id="27" name="Picture 26" descr="cisco_switch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6300" y="1632157"/>
              <a:ext cx="741045" cy="310437"/>
            </a:xfrm>
            <a:prstGeom prst="rect">
              <a:avLst/>
            </a:prstGeom>
          </p:spPr>
        </p:pic>
        <p:pic>
          <p:nvPicPr>
            <p:cNvPr id="28" name="Picture 27" descr="cisco_switch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36421" y="1630956"/>
              <a:ext cx="741045" cy="310437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012" y="704133"/>
              <a:ext cx="688847" cy="663589"/>
            </a:xfrm>
            <a:prstGeom prst="rect">
              <a:avLst/>
            </a:prstGeom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6095" y="702939"/>
              <a:ext cx="688847" cy="6635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0647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74"/>
    </mc:Choice>
    <mc:Fallback xmlns="">
      <p:transition spd="slow" advTm="4474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1520"/>
            <a:ext cx="10972800" cy="762000"/>
          </a:xfrm>
        </p:spPr>
        <p:txBody>
          <a:bodyPr/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SDN Control Plane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5246076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Operator goals:</a:t>
            </a:r>
            <a:br>
              <a:rPr lang="en-US" dirty="0" smtClean="0"/>
            </a:br>
            <a:endParaRPr lang="en-US" dirty="0" smtClean="0"/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Better Performance – Minimizing flow setup latency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 smtClean="0"/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Lower Operating Cost – Efficient controller resource </a:t>
            </a:r>
          </a:p>
          <a:p>
            <a:pPr marL="40005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 allocation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30" name="Picture 70" descr="trend_graph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2530" y="2472640"/>
            <a:ext cx="1274763" cy="127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106" y="4032331"/>
            <a:ext cx="1404472" cy="140447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991" y="4290051"/>
            <a:ext cx="889032" cy="8890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-18686"/>
            <a:ext cx="12191999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37983" y="-18686"/>
            <a:ext cx="3154016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Summary</a:t>
            </a:r>
            <a:endParaRPr lang="en-US" sz="2200" kern="0" dirty="0"/>
          </a:p>
        </p:txBody>
      </p:sp>
      <p:sp>
        <p:nvSpPr>
          <p:cNvPr id="12" name="Rectangle 11"/>
          <p:cNvSpPr/>
          <p:nvPr/>
        </p:nvSpPr>
        <p:spPr>
          <a:xfrm>
            <a:off x="5883967" y="-18686"/>
            <a:ext cx="3154016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Evaluation</a:t>
            </a:r>
            <a:endParaRPr lang="en-US" sz="2200" kern="0" dirty="0"/>
          </a:p>
        </p:txBody>
      </p:sp>
      <p:sp>
        <p:nvSpPr>
          <p:cNvPr id="13" name="Rectangle 12"/>
          <p:cNvSpPr/>
          <p:nvPr/>
        </p:nvSpPr>
        <p:spPr>
          <a:xfrm>
            <a:off x="3154015" y="-18686"/>
            <a:ext cx="2729951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Architecture</a:t>
            </a:r>
            <a:endParaRPr lang="en-US" sz="2200" kern="0" dirty="0"/>
          </a:p>
        </p:txBody>
      </p:sp>
      <p:sp>
        <p:nvSpPr>
          <p:cNvPr id="16" name="Rectangle 15"/>
          <p:cNvSpPr/>
          <p:nvPr/>
        </p:nvSpPr>
        <p:spPr>
          <a:xfrm>
            <a:off x="0" y="-18686"/>
            <a:ext cx="3154016" cy="502012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600" b="1" kern="0" dirty="0" smtClean="0"/>
              <a:t>Motivation</a:t>
            </a:r>
            <a:endParaRPr lang="en-US" sz="2600" b="1" kern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473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1"/>
    </mc:Choice>
    <mc:Fallback xmlns="">
      <p:transition spd="slow" advTm="468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27734"/>
            <a:ext cx="10972800" cy="7620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Challenges faced by operators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-18686"/>
            <a:ext cx="12191999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037983" y="-18686"/>
            <a:ext cx="3154016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Summary</a:t>
            </a:r>
            <a:endParaRPr lang="en-US" sz="2200" kern="0" dirty="0"/>
          </a:p>
        </p:txBody>
      </p:sp>
      <p:sp>
        <p:nvSpPr>
          <p:cNvPr id="40" name="Rectangle 39"/>
          <p:cNvSpPr/>
          <p:nvPr/>
        </p:nvSpPr>
        <p:spPr>
          <a:xfrm>
            <a:off x="5883967" y="-18686"/>
            <a:ext cx="3154016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Evaluation</a:t>
            </a:r>
            <a:endParaRPr lang="en-US" sz="2200" kern="0" dirty="0"/>
          </a:p>
        </p:txBody>
      </p:sp>
      <p:sp>
        <p:nvSpPr>
          <p:cNvPr id="44" name="Rectangle 43"/>
          <p:cNvSpPr/>
          <p:nvPr/>
        </p:nvSpPr>
        <p:spPr>
          <a:xfrm>
            <a:off x="3154015" y="-18686"/>
            <a:ext cx="2729951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Architecture</a:t>
            </a:r>
            <a:endParaRPr lang="en-US" sz="2200" kern="0" dirty="0"/>
          </a:p>
        </p:txBody>
      </p:sp>
      <p:sp>
        <p:nvSpPr>
          <p:cNvPr id="49" name="Rectangle 48"/>
          <p:cNvSpPr/>
          <p:nvPr/>
        </p:nvSpPr>
        <p:spPr>
          <a:xfrm>
            <a:off x="0" y="-18686"/>
            <a:ext cx="3154016" cy="502012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600" b="1" kern="0" dirty="0" smtClean="0"/>
              <a:t>Motivation</a:t>
            </a:r>
            <a:endParaRPr lang="en-US" sz="2600" b="1" kern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172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1"/>
    </mc:Choice>
    <mc:Fallback xmlns="">
      <p:transition spd="slow" advTm="468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728" y="6208111"/>
            <a:ext cx="963860" cy="617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682" y="3213081"/>
            <a:ext cx="963860" cy="617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27734"/>
            <a:ext cx="10972800" cy="7620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Challenges faced by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5246076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6" name="Picture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224" y="2202527"/>
            <a:ext cx="614861" cy="59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823" y="3213081"/>
            <a:ext cx="963860" cy="617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" name="Straight Connector 18"/>
          <p:cNvCxnSpPr/>
          <p:nvPr/>
        </p:nvCxnSpPr>
        <p:spPr>
          <a:xfrm flipH="1">
            <a:off x="1731469" y="2782252"/>
            <a:ext cx="752317" cy="558692"/>
          </a:xfrm>
          <a:prstGeom prst="line">
            <a:avLst/>
          </a:prstGeom>
          <a:ln w="5715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971975" y="2793598"/>
            <a:ext cx="595328" cy="547346"/>
          </a:xfrm>
          <a:prstGeom prst="line">
            <a:avLst/>
          </a:prstGeom>
          <a:ln w="5715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825884" y="2274476"/>
            <a:ext cx="180523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i="1" dirty="0" smtClean="0"/>
              <a:t>Controllers</a:t>
            </a:r>
            <a:endParaRPr lang="en-US" sz="2500" b="1" i="1" dirty="0"/>
          </a:p>
          <a:p>
            <a:endParaRPr lang="en-US" dirty="0"/>
          </a:p>
        </p:txBody>
      </p:sp>
      <p:sp>
        <p:nvSpPr>
          <p:cNvPr id="46" name="Content Placeholder 2"/>
          <p:cNvSpPr txBox="1">
            <a:spLocks/>
          </p:cNvSpPr>
          <p:nvPr/>
        </p:nvSpPr>
        <p:spPr>
          <a:xfrm>
            <a:off x="8504780" y="2422995"/>
            <a:ext cx="3543650" cy="1295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/>
              </a:rPr>
              <a:t>Overload </a:t>
            </a:r>
            <a:r>
              <a:rPr lang="en-US" sz="3200" b="1" dirty="0" smtClean="0">
                <a:solidFill>
                  <a:srgbClr val="C00000"/>
                </a:solidFill>
                <a:sym typeface="Wingdings"/>
              </a:rPr>
              <a:t>or</a:t>
            </a:r>
            <a:endParaRPr kumimoji="0" lang="en-US" sz="3200" b="1" i="0" u="none" strike="noStrike" kern="1200" cap="none" spc="0" normalizeH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  <a:sym typeface="Wingding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>
                <a:solidFill>
                  <a:srgbClr val="C00000"/>
                </a:solidFill>
                <a:sym typeface="Wingdings"/>
              </a:rPr>
              <a:t>Inefficient Resource Utilization</a:t>
            </a:r>
            <a:endParaRPr kumimoji="0" lang="en-US" sz="3200" b="1" i="0" u="none" strike="noStrike" kern="1200" cap="none" spc="0" normalizeH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  <a:sym typeface="Wingdings"/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914" y="4811094"/>
            <a:ext cx="988967" cy="791173"/>
          </a:xfrm>
          <a:prstGeom prst="rect">
            <a:avLst/>
          </a:prstGeom>
        </p:spPr>
      </p:pic>
      <p:cxnSp>
        <p:nvCxnSpPr>
          <p:cNvPr id="58" name="Straight Arrow Connector 57"/>
          <p:cNvCxnSpPr/>
          <p:nvPr/>
        </p:nvCxnSpPr>
        <p:spPr>
          <a:xfrm flipH="1" flipV="1">
            <a:off x="1577008" y="5475935"/>
            <a:ext cx="5049" cy="88041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Content Placeholder 2"/>
          <p:cNvSpPr txBox="1">
            <a:spLocks/>
          </p:cNvSpPr>
          <p:nvPr/>
        </p:nvSpPr>
        <p:spPr>
          <a:xfrm>
            <a:off x="8553370" y="5053472"/>
            <a:ext cx="2624791" cy="8449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/>
              </a:rPr>
              <a:t>Increases flow setup latency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245" y="4105319"/>
            <a:ext cx="506526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State Storage and Access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  <a:p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60809" y="1303227"/>
            <a:ext cx="506526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Static switch </a:t>
            </a:r>
            <a:r>
              <a:rPr lang="en-US" sz="3200" dirty="0" smtClean="0"/>
              <a:t>assignment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  <a:p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0" y="-18686"/>
            <a:ext cx="12191999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037983" y="-18686"/>
            <a:ext cx="3154016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Summary</a:t>
            </a:r>
            <a:endParaRPr lang="en-US" sz="2200" kern="0" dirty="0"/>
          </a:p>
        </p:txBody>
      </p:sp>
      <p:sp>
        <p:nvSpPr>
          <p:cNvPr id="40" name="Rectangle 39"/>
          <p:cNvSpPr/>
          <p:nvPr/>
        </p:nvSpPr>
        <p:spPr>
          <a:xfrm>
            <a:off x="5883967" y="-18686"/>
            <a:ext cx="3154016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Evaluation</a:t>
            </a:r>
            <a:endParaRPr lang="en-US" sz="2200" kern="0" dirty="0"/>
          </a:p>
        </p:txBody>
      </p:sp>
      <p:sp>
        <p:nvSpPr>
          <p:cNvPr id="44" name="Rectangle 43"/>
          <p:cNvSpPr/>
          <p:nvPr/>
        </p:nvSpPr>
        <p:spPr>
          <a:xfrm>
            <a:off x="3154015" y="-18686"/>
            <a:ext cx="2729951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Architecture</a:t>
            </a:r>
            <a:endParaRPr lang="en-US" sz="2200" kern="0" dirty="0"/>
          </a:p>
        </p:txBody>
      </p:sp>
      <p:sp>
        <p:nvSpPr>
          <p:cNvPr id="49" name="Rectangle 48"/>
          <p:cNvSpPr/>
          <p:nvPr/>
        </p:nvSpPr>
        <p:spPr>
          <a:xfrm>
            <a:off x="0" y="-18686"/>
            <a:ext cx="3154016" cy="502012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600" b="1" kern="0" dirty="0" smtClean="0"/>
              <a:t>Motivation</a:t>
            </a:r>
            <a:endParaRPr lang="en-US" sz="2600" b="1" kern="0" dirty="0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515" y="2225174"/>
            <a:ext cx="569786" cy="548894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55" name="TextBox 54"/>
          <p:cNvSpPr txBox="1"/>
          <p:nvPr/>
        </p:nvSpPr>
        <p:spPr>
          <a:xfrm>
            <a:off x="77087" y="2580818"/>
            <a:ext cx="180523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i="1" dirty="0" smtClean="0"/>
              <a:t>Load shifts</a:t>
            </a:r>
            <a:endParaRPr lang="en-US" sz="2500" b="1" i="1" dirty="0"/>
          </a:p>
          <a:p>
            <a:endParaRPr lang="en-US" dirty="0"/>
          </a:p>
        </p:txBody>
      </p:sp>
      <p:cxnSp>
        <p:nvCxnSpPr>
          <p:cNvPr id="76" name="Straight Connector 75"/>
          <p:cNvCxnSpPr/>
          <p:nvPr/>
        </p:nvCxnSpPr>
        <p:spPr>
          <a:xfrm flipH="1">
            <a:off x="1724658" y="2777442"/>
            <a:ext cx="752317" cy="558692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2951085" y="2774068"/>
            <a:ext cx="663637" cy="591446"/>
          </a:xfrm>
          <a:prstGeom prst="line">
            <a:avLst/>
          </a:prstGeom>
          <a:ln w="5715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78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846" y="3220340"/>
            <a:ext cx="963860" cy="617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Picture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388" y="2209786"/>
            <a:ext cx="614861" cy="59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987" y="3220340"/>
            <a:ext cx="963860" cy="617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1" name="Straight Connector 80"/>
          <p:cNvCxnSpPr/>
          <p:nvPr/>
        </p:nvCxnSpPr>
        <p:spPr>
          <a:xfrm flipH="1">
            <a:off x="5715633" y="2789511"/>
            <a:ext cx="752317" cy="558692"/>
          </a:xfrm>
          <a:prstGeom prst="line">
            <a:avLst/>
          </a:prstGeom>
          <a:ln w="5715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6956139" y="2800857"/>
            <a:ext cx="607937" cy="560462"/>
          </a:xfrm>
          <a:prstGeom prst="line">
            <a:avLst/>
          </a:prstGeom>
          <a:ln w="5715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flipH="1">
            <a:off x="5722392" y="2782252"/>
            <a:ext cx="752317" cy="558692"/>
          </a:xfrm>
          <a:prstGeom prst="line">
            <a:avLst/>
          </a:prstGeom>
          <a:ln w="1905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6962898" y="2794016"/>
            <a:ext cx="607937" cy="560462"/>
          </a:xfrm>
          <a:prstGeom prst="line">
            <a:avLst/>
          </a:prstGeom>
          <a:ln w="1905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95" name="Picture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519" y="4911146"/>
            <a:ext cx="614861" cy="59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3" name="Straight Arrow Connector 102"/>
          <p:cNvCxnSpPr/>
          <p:nvPr/>
        </p:nvCxnSpPr>
        <p:spPr>
          <a:xfrm>
            <a:off x="2025167" y="5087892"/>
            <a:ext cx="1168274" cy="681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 flipH="1" flipV="1">
            <a:off x="1968966" y="5335827"/>
            <a:ext cx="1115948" cy="445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>
            <a:off x="1867806" y="5560386"/>
            <a:ext cx="0" cy="78145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0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895" y="6124955"/>
            <a:ext cx="963860" cy="617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1" name="Straight Arrow Connector 120"/>
          <p:cNvCxnSpPr/>
          <p:nvPr/>
        </p:nvCxnSpPr>
        <p:spPr>
          <a:xfrm flipH="1" flipV="1">
            <a:off x="5486175" y="5392779"/>
            <a:ext cx="5049" cy="88041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2" name="Picture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3686" y="4827990"/>
            <a:ext cx="614861" cy="59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3" name="Straight Arrow Connector 122"/>
          <p:cNvCxnSpPr/>
          <p:nvPr/>
        </p:nvCxnSpPr>
        <p:spPr>
          <a:xfrm>
            <a:off x="5934334" y="5148168"/>
            <a:ext cx="1168274" cy="681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>
            <a:off x="5776973" y="5477230"/>
            <a:ext cx="0" cy="78145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6" name="Picture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8352" y="4808355"/>
            <a:ext cx="614861" cy="59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7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689" y="6101149"/>
            <a:ext cx="963860" cy="617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8" name="Straight Arrow Connector 127"/>
          <p:cNvCxnSpPr/>
          <p:nvPr/>
        </p:nvCxnSpPr>
        <p:spPr>
          <a:xfrm>
            <a:off x="7507547" y="5443827"/>
            <a:ext cx="0" cy="78145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556736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1"/>
    </mc:Choice>
    <mc:Fallback xmlns="">
      <p:transition spd="slow" advTm="46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66" grpId="0"/>
      <p:bldP spid="30" grpId="0"/>
      <p:bldP spid="5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187" y="432894"/>
            <a:ext cx="10972800" cy="762000"/>
          </a:xfrm>
        </p:spPr>
        <p:txBody>
          <a:bodyPr/>
          <a:lstStyle/>
          <a:p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Pratyaastha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- Architecture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2" name="Rectangle 201"/>
          <p:cNvSpPr/>
          <p:nvPr/>
        </p:nvSpPr>
        <p:spPr>
          <a:xfrm>
            <a:off x="0" y="-18686"/>
            <a:ext cx="12191999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</a:endParaRPr>
          </a:p>
        </p:txBody>
      </p:sp>
      <p:sp>
        <p:nvSpPr>
          <p:cNvPr id="203" name="Rectangle 202"/>
          <p:cNvSpPr/>
          <p:nvPr/>
        </p:nvSpPr>
        <p:spPr>
          <a:xfrm>
            <a:off x="9037983" y="-18686"/>
            <a:ext cx="3154016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Summary</a:t>
            </a:r>
            <a:endParaRPr lang="en-US" sz="2200" kern="0" dirty="0"/>
          </a:p>
        </p:txBody>
      </p:sp>
      <p:sp>
        <p:nvSpPr>
          <p:cNvPr id="204" name="Rectangle 203"/>
          <p:cNvSpPr/>
          <p:nvPr/>
        </p:nvSpPr>
        <p:spPr>
          <a:xfrm>
            <a:off x="5883967" y="-18686"/>
            <a:ext cx="3154016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Evaluation</a:t>
            </a:r>
            <a:endParaRPr lang="en-US" sz="2200" kern="0" dirty="0"/>
          </a:p>
        </p:txBody>
      </p:sp>
      <p:sp>
        <p:nvSpPr>
          <p:cNvPr id="205" name="Rectangle 204"/>
          <p:cNvSpPr/>
          <p:nvPr/>
        </p:nvSpPr>
        <p:spPr>
          <a:xfrm>
            <a:off x="3154015" y="-18686"/>
            <a:ext cx="2729951" cy="502012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600" b="1" kern="0" dirty="0" smtClean="0"/>
              <a:t>Architecture</a:t>
            </a:r>
            <a:endParaRPr lang="en-US" sz="2600" b="1" kern="0" dirty="0"/>
          </a:p>
        </p:txBody>
      </p:sp>
      <p:sp>
        <p:nvSpPr>
          <p:cNvPr id="206" name="Rectangle 205"/>
          <p:cNvSpPr/>
          <p:nvPr/>
        </p:nvSpPr>
        <p:spPr>
          <a:xfrm>
            <a:off x="0" y="-18686"/>
            <a:ext cx="3154016" cy="502012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Motivation</a:t>
            </a:r>
            <a:endParaRPr lang="en-US" sz="2200" kern="0" dirty="0"/>
          </a:p>
        </p:txBody>
      </p:sp>
      <p:sp>
        <p:nvSpPr>
          <p:cNvPr id="9" name="TextBox 8"/>
          <p:cNvSpPr txBox="1"/>
          <p:nvPr/>
        </p:nvSpPr>
        <p:spPr>
          <a:xfrm>
            <a:off x="571809" y="2764074"/>
            <a:ext cx="1088155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 smtClean="0"/>
              <a:t>Joint optimization of Inter-controller communication and Resource consumption</a:t>
            </a:r>
            <a:endParaRPr lang="en-US" sz="3200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6565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1"/>
    </mc:Choice>
    <mc:Fallback xmlns="">
      <p:transition spd="slow" advTm="468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187" y="432894"/>
            <a:ext cx="10972800" cy="762000"/>
          </a:xfrm>
        </p:spPr>
        <p:txBody>
          <a:bodyPr/>
          <a:lstStyle/>
          <a:p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Pratyaastha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- Architecture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453515" y="1184947"/>
            <a:ext cx="5028158" cy="2091603"/>
          </a:xfrm>
          <a:prstGeom prst="round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3000" dirty="0"/>
          </a:p>
        </p:txBody>
      </p:sp>
      <p:sp>
        <p:nvSpPr>
          <p:cNvPr id="91" name="TextBox 4"/>
          <p:cNvSpPr txBox="1">
            <a:spLocks noChangeArrowheads="1"/>
          </p:cNvSpPr>
          <p:nvPr/>
        </p:nvSpPr>
        <p:spPr bwMode="auto">
          <a:xfrm>
            <a:off x="1480003" y="1142804"/>
            <a:ext cx="3448522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3200" dirty="0"/>
              <a:t>Application state</a:t>
            </a:r>
          </a:p>
          <a:p>
            <a:endParaRPr lang="en-US" altLang="en-US" sz="3600" dirty="0"/>
          </a:p>
        </p:txBody>
      </p:sp>
      <p:sp>
        <p:nvSpPr>
          <p:cNvPr id="202" name="Rectangle 201"/>
          <p:cNvSpPr/>
          <p:nvPr/>
        </p:nvSpPr>
        <p:spPr>
          <a:xfrm>
            <a:off x="0" y="-18686"/>
            <a:ext cx="12191999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</a:endParaRPr>
          </a:p>
        </p:txBody>
      </p:sp>
      <p:sp>
        <p:nvSpPr>
          <p:cNvPr id="203" name="Rectangle 202"/>
          <p:cNvSpPr/>
          <p:nvPr/>
        </p:nvSpPr>
        <p:spPr>
          <a:xfrm>
            <a:off x="9037983" y="-18686"/>
            <a:ext cx="3154016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Summary</a:t>
            </a:r>
            <a:endParaRPr lang="en-US" sz="2200" kern="0" dirty="0"/>
          </a:p>
        </p:txBody>
      </p:sp>
      <p:sp>
        <p:nvSpPr>
          <p:cNvPr id="204" name="Rectangle 203"/>
          <p:cNvSpPr/>
          <p:nvPr/>
        </p:nvSpPr>
        <p:spPr>
          <a:xfrm>
            <a:off x="5883967" y="-18686"/>
            <a:ext cx="3154016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Evaluation</a:t>
            </a:r>
            <a:endParaRPr lang="en-US" sz="2200" kern="0" dirty="0"/>
          </a:p>
        </p:txBody>
      </p:sp>
      <p:sp>
        <p:nvSpPr>
          <p:cNvPr id="205" name="Rectangle 204"/>
          <p:cNvSpPr/>
          <p:nvPr/>
        </p:nvSpPr>
        <p:spPr>
          <a:xfrm>
            <a:off x="3154015" y="-18686"/>
            <a:ext cx="2729951" cy="502012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600" b="1" kern="0" dirty="0" smtClean="0"/>
              <a:t>Architecture</a:t>
            </a:r>
            <a:endParaRPr lang="en-US" sz="2600" b="1" kern="0" dirty="0"/>
          </a:p>
        </p:txBody>
      </p:sp>
      <p:sp>
        <p:nvSpPr>
          <p:cNvPr id="206" name="Rectangle 205"/>
          <p:cNvSpPr/>
          <p:nvPr/>
        </p:nvSpPr>
        <p:spPr>
          <a:xfrm>
            <a:off x="0" y="-18686"/>
            <a:ext cx="3154016" cy="502012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Motivation</a:t>
            </a:r>
            <a:endParaRPr lang="en-US" sz="2200" kern="0" dirty="0"/>
          </a:p>
        </p:txBody>
      </p:sp>
      <p:pic>
        <p:nvPicPr>
          <p:cNvPr id="95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17" y="2724707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412" y="2724706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293" y="2726294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688" y="2726293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569" y="2724707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964" y="2724706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929220" y="1730743"/>
            <a:ext cx="731395" cy="48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 smtClean="0"/>
              <a:t>AS1</a:t>
            </a:r>
            <a:endParaRPr lang="en-US" sz="2600" dirty="0"/>
          </a:p>
        </p:txBody>
      </p:sp>
      <p:sp>
        <p:nvSpPr>
          <p:cNvPr id="52" name="Rectangle 51"/>
          <p:cNvSpPr/>
          <p:nvPr/>
        </p:nvSpPr>
        <p:spPr>
          <a:xfrm>
            <a:off x="2048187" y="1730743"/>
            <a:ext cx="731395" cy="48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 smtClean="0"/>
              <a:t>AS2</a:t>
            </a:r>
            <a:endParaRPr lang="en-US" sz="2600" dirty="0"/>
          </a:p>
        </p:txBody>
      </p:sp>
      <p:sp>
        <p:nvSpPr>
          <p:cNvPr id="53" name="Rectangle 52"/>
          <p:cNvSpPr/>
          <p:nvPr/>
        </p:nvSpPr>
        <p:spPr>
          <a:xfrm>
            <a:off x="3246293" y="1730743"/>
            <a:ext cx="731395" cy="48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 smtClean="0"/>
              <a:t>AS3</a:t>
            </a:r>
            <a:endParaRPr lang="en-US" sz="2600" dirty="0"/>
          </a:p>
        </p:txBody>
      </p:sp>
      <p:sp>
        <p:nvSpPr>
          <p:cNvPr id="54" name="Rectangle 53"/>
          <p:cNvSpPr/>
          <p:nvPr/>
        </p:nvSpPr>
        <p:spPr>
          <a:xfrm>
            <a:off x="4437063" y="1730743"/>
            <a:ext cx="731395" cy="48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 smtClean="0"/>
              <a:t>AS4</a:t>
            </a:r>
            <a:endParaRPr lang="en-US" sz="2600" dirty="0"/>
          </a:p>
        </p:txBody>
      </p:sp>
      <p:cxnSp>
        <p:nvCxnSpPr>
          <p:cNvPr id="6" name="Straight Connector 5"/>
          <p:cNvCxnSpPr>
            <a:stCxn id="3" idx="2"/>
            <a:endCxn id="95" idx="0"/>
          </p:cNvCxnSpPr>
          <p:nvPr/>
        </p:nvCxnSpPr>
        <p:spPr>
          <a:xfrm flipH="1">
            <a:off x="1142668" y="2210803"/>
            <a:ext cx="152250" cy="5139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3" idx="2"/>
            <a:endCxn id="45" idx="0"/>
          </p:cNvCxnSpPr>
          <p:nvPr/>
        </p:nvCxnSpPr>
        <p:spPr>
          <a:xfrm>
            <a:off x="1294918" y="2210803"/>
            <a:ext cx="2062421" cy="51549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3" idx="2"/>
            <a:endCxn id="46" idx="0"/>
          </p:cNvCxnSpPr>
          <p:nvPr/>
        </p:nvCxnSpPr>
        <p:spPr>
          <a:xfrm>
            <a:off x="3611991" y="2210803"/>
            <a:ext cx="497229" cy="5139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54" idx="2"/>
            <a:endCxn id="47" idx="0"/>
          </p:cNvCxnSpPr>
          <p:nvPr/>
        </p:nvCxnSpPr>
        <p:spPr>
          <a:xfrm>
            <a:off x="4802761" y="2210803"/>
            <a:ext cx="37854" cy="5139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44" idx="0"/>
          </p:cNvCxnSpPr>
          <p:nvPr/>
        </p:nvCxnSpPr>
        <p:spPr>
          <a:xfrm flipH="1">
            <a:off x="2625944" y="2210803"/>
            <a:ext cx="2150575" cy="515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52" idx="2"/>
            <a:endCxn id="46" idx="0"/>
          </p:cNvCxnSpPr>
          <p:nvPr/>
        </p:nvCxnSpPr>
        <p:spPr>
          <a:xfrm>
            <a:off x="2413885" y="2210803"/>
            <a:ext cx="1695335" cy="5139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53" idx="2"/>
          </p:cNvCxnSpPr>
          <p:nvPr/>
        </p:nvCxnSpPr>
        <p:spPr>
          <a:xfrm flipH="1">
            <a:off x="1850016" y="2210803"/>
            <a:ext cx="1761975" cy="5139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endCxn id="42" idx="0"/>
          </p:cNvCxnSpPr>
          <p:nvPr/>
        </p:nvCxnSpPr>
        <p:spPr>
          <a:xfrm flipH="1">
            <a:off x="1874063" y="2229312"/>
            <a:ext cx="497228" cy="4953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1315403" y="2229312"/>
            <a:ext cx="579145" cy="5139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endCxn id="44" idx="0"/>
          </p:cNvCxnSpPr>
          <p:nvPr/>
        </p:nvCxnSpPr>
        <p:spPr>
          <a:xfrm>
            <a:off x="2392587" y="2192797"/>
            <a:ext cx="233357" cy="53349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H="1">
            <a:off x="4096099" y="2232484"/>
            <a:ext cx="667300" cy="5139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endCxn id="45" idx="0"/>
          </p:cNvCxnSpPr>
          <p:nvPr/>
        </p:nvCxnSpPr>
        <p:spPr>
          <a:xfrm flipH="1">
            <a:off x="3357339" y="2254166"/>
            <a:ext cx="242166" cy="47212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537793" y="3470738"/>
            <a:ext cx="4943880" cy="1917461"/>
          </a:xfrm>
          <a:prstGeom prst="round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3000" dirty="0"/>
          </a:p>
        </p:txBody>
      </p:sp>
      <p:sp>
        <p:nvSpPr>
          <p:cNvPr id="124" name="TextBox 86"/>
          <p:cNvSpPr txBox="1">
            <a:spLocks noChangeArrowheads="1"/>
          </p:cNvSpPr>
          <p:nvPr/>
        </p:nvSpPr>
        <p:spPr bwMode="auto">
          <a:xfrm>
            <a:off x="1470299" y="3409882"/>
            <a:ext cx="344999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3200" dirty="0"/>
              <a:t>Flow arrival rate</a:t>
            </a:r>
          </a:p>
        </p:txBody>
      </p:sp>
      <p:pic>
        <p:nvPicPr>
          <p:cNvPr id="126" name="Picture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184" y="3901552"/>
            <a:ext cx="614861" cy="59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111" y="4925347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0506" y="4925346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387" y="4926934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1" name="Straight Arrow Connector 50"/>
          <p:cNvCxnSpPr/>
          <p:nvPr/>
        </p:nvCxnSpPr>
        <p:spPr>
          <a:xfrm flipV="1">
            <a:off x="1187435" y="4470540"/>
            <a:ext cx="341651" cy="5067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 flipV="1">
            <a:off x="1363336" y="4600953"/>
            <a:ext cx="297278" cy="383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/>
          <p:nvPr/>
        </p:nvCxnSpPr>
        <p:spPr>
          <a:xfrm flipV="1">
            <a:off x="1007609" y="4362210"/>
            <a:ext cx="403395" cy="608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134" idx="0"/>
          </p:cNvCxnSpPr>
          <p:nvPr/>
        </p:nvCxnSpPr>
        <p:spPr>
          <a:xfrm flipH="1" flipV="1">
            <a:off x="1850016" y="4600953"/>
            <a:ext cx="72141" cy="324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H="1" flipV="1">
            <a:off x="1906114" y="4524707"/>
            <a:ext cx="751882" cy="434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/>
          <p:nvPr/>
        </p:nvCxnSpPr>
        <p:spPr>
          <a:xfrm flipH="1" flipV="1">
            <a:off x="1931182" y="4374233"/>
            <a:ext cx="914609" cy="5671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8" name="Picture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029" y="3879469"/>
            <a:ext cx="614861" cy="59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9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56" y="4903264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0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351" y="4903263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232" y="4904851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4" name="Straight Arrow Connector 153"/>
          <p:cNvCxnSpPr/>
          <p:nvPr/>
        </p:nvCxnSpPr>
        <p:spPr>
          <a:xfrm flipV="1">
            <a:off x="3299454" y="4340127"/>
            <a:ext cx="403395" cy="608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stCxn id="150" idx="0"/>
          </p:cNvCxnSpPr>
          <p:nvPr/>
        </p:nvCxnSpPr>
        <p:spPr>
          <a:xfrm flipH="1" flipV="1">
            <a:off x="4141861" y="4578870"/>
            <a:ext cx="72141" cy="324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 flipH="1" flipV="1">
            <a:off x="4197959" y="4502624"/>
            <a:ext cx="751882" cy="434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H="1" flipV="1">
            <a:off x="4223027" y="4352150"/>
            <a:ext cx="914609" cy="5671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1" name="Rounded Rectangle 160"/>
          <p:cNvSpPr/>
          <p:nvPr/>
        </p:nvSpPr>
        <p:spPr>
          <a:xfrm>
            <a:off x="537793" y="5574777"/>
            <a:ext cx="4943879" cy="1193174"/>
          </a:xfrm>
          <a:prstGeom prst="round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3000" dirty="0"/>
          </a:p>
        </p:txBody>
      </p:sp>
      <p:sp>
        <p:nvSpPr>
          <p:cNvPr id="162" name="TextBox 87"/>
          <p:cNvSpPr txBox="1">
            <a:spLocks noChangeArrowheads="1"/>
          </p:cNvSpPr>
          <p:nvPr/>
        </p:nvSpPr>
        <p:spPr bwMode="auto">
          <a:xfrm>
            <a:off x="1470683" y="5600418"/>
            <a:ext cx="383685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3200" dirty="0"/>
              <a:t>VM configurations</a:t>
            </a:r>
          </a:p>
          <a:p>
            <a:endParaRPr lang="en-US" altLang="en-US" sz="3600" dirty="0"/>
          </a:p>
        </p:txBody>
      </p:sp>
      <p:pic>
        <p:nvPicPr>
          <p:cNvPr id="163" name="Picture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887" y="5829438"/>
            <a:ext cx="1192258" cy="1192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" name="Picture 1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038" y="6034478"/>
            <a:ext cx="704712" cy="70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5" name="Rounded Rectangle 164"/>
          <p:cNvSpPr/>
          <p:nvPr/>
        </p:nvSpPr>
        <p:spPr>
          <a:xfrm>
            <a:off x="5972438" y="1198519"/>
            <a:ext cx="5733467" cy="1944364"/>
          </a:xfrm>
          <a:prstGeom prst="round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3000" dirty="0"/>
          </a:p>
        </p:txBody>
      </p:sp>
      <p:sp>
        <p:nvSpPr>
          <p:cNvPr id="166" name="TextBox 87"/>
          <p:cNvSpPr txBox="1">
            <a:spLocks noChangeArrowheads="1"/>
          </p:cNvSpPr>
          <p:nvPr/>
        </p:nvSpPr>
        <p:spPr bwMode="auto">
          <a:xfrm>
            <a:off x="6068896" y="1325156"/>
            <a:ext cx="5594513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3200" dirty="0" smtClean="0"/>
              <a:t>Controller assignment algorithm</a:t>
            </a:r>
            <a:endParaRPr lang="en-US" altLang="en-US" sz="3200" dirty="0"/>
          </a:p>
          <a:p>
            <a:endParaRPr lang="en-US" altLang="en-US" sz="3600" dirty="0"/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2" y="1887862"/>
            <a:ext cx="2286335" cy="998096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6260791" y="1984390"/>
            <a:ext cx="309830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i="1" dirty="0" smtClean="0"/>
              <a:t>AI – Hill Climbing with simulated annealing</a:t>
            </a:r>
            <a:endParaRPr lang="en-US" sz="2500" b="1" i="1" dirty="0"/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481672" y="1730743"/>
            <a:ext cx="49076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23" idx="3"/>
          </p:cNvCxnSpPr>
          <p:nvPr/>
        </p:nvCxnSpPr>
        <p:spPr>
          <a:xfrm flipV="1">
            <a:off x="5481673" y="2192797"/>
            <a:ext cx="402293" cy="223667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5481672" y="3123163"/>
            <a:ext cx="587224" cy="291131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766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1"/>
    </mc:Choice>
    <mc:Fallback xmlns="">
      <p:transition spd="slow" advTm="46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nimBg="1"/>
      <p:bldP spid="124" grpId="0"/>
      <p:bldP spid="161" grpId="0" animBg="1"/>
      <p:bldP spid="162" grpId="0"/>
      <p:bldP spid="165" grpId="0" animBg="1"/>
      <p:bldP spid="166" grpId="0"/>
      <p:bldP spid="16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187" y="432894"/>
            <a:ext cx="10972800" cy="762000"/>
          </a:xfrm>
        </p:spPr>
        <p:txBody>
          <a:bodyPr/>
          <a:lstStyle/>
          <a:p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Pratyaastha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- Architecture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453515" y="1184947"/>
            <a:ext cx="5028158" cy="2091603"/>
          </a:xfrm>
          <a:prstGeom prst="round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3000" dirty="0"/>
          </a:p>
        </p:txBody>
      </p:sp>
      <p:sp>
        <p:nvSpPr>
          <p:cNvPr id="91" name="TextBox 4"/>
          <p:cNvSpPr txBox="1">
            <a:spLocks noChangeArrowheads="1"/>
          </p:cNvSpPr>
          <p:nvPr/>
        </p:nvSpPr>
        <p:spPr bwMode="auto">
          <a:xfrm>
            <a:off x="1480003" y="1142804"/>
            <a:ext cx="3448522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3200" dirty="0"/>
              <a:t>Application state</a:t>
            </a:r>
          </a:p>
          <a:p>
            <a:endParaRPr lang="en-US" altLang="en-US" sz="3600" dirty="0"/>
          </a:p>
        </p:txBody>
      </p:sp>
      <p:sp>
        <p:nvSpPr>
          <p:cNvPr id="202" name="Rectangle 201"/>
          <p:cNvSpPr/>
          <p:nvPr/>
        </p:nvSpPr>
        <p:spPr>
          <a:xfrm>
            <a:off x="0" y="-18686"/>
            <a:ext cx="12191999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</a:endParaRPr>
          </a:p>
        </p:txBody>
      </p:sp>
      <p:sp>
        <p:nvSpPr>
          <p:cNvPr id="203" name="Rectangle 202"/>
          <p:cNvSpPr/>
          <p:nvPr/>
        </p:nvSpPr>
        <p:spPr>
          <a:xfrm>
            <a:off x="9037983" y="-18686"/>
            <a:ext cx="3154016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Summary</a:t>
            </a:r>
            <a:endParaRPr lang="en-US" sz="2200" kern="0" dirty="0"/>
          </a:p>
        </p:txBody>
      </p:sp>
      <p:sp>
        <p:nvSpPr>
          <p:cNvPr id="204" name="Rectangle 203"/>
          <p:cNvSpPr/>
          <p:nvPr/>
        </p:nvSpPr>
        <p:spPr>
          <a:xfrm>
            <a:off x="5883967" y="-18686"/>
            <a:ext cx="3154016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Evaluation</a:t>
            </a:r>
            <a:endParaRPr lang="en-US" sz="2200" kern="0" dirty="0"/>
          </a:p>
        </p:txBody>
      </p:sp>
      <p:sp>
        <p:nvSpPr>
          <p:cNvPr id="205" name="Rectangle 204"/>
          <p:cNvSpPr/>
          <p:nvPr/>
        </p:nvSpPr>
        <p:spPr>
          <a:xfrm>
            <a:off x="3154015" y="-18686"/>
            <a:ext cx="2729951" cy="502012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600" b="1" kern="0" dirty="0" smtClean="0"/>
              <a:t>Architecture</a:t>
            </a:r>
            <a:endParaRPr lang="en-US" sz="2600" b="1" kern="0" dirty="0"/>
          </a:p>
        </p:txBody>
      </p:sp>
      <p:sp>
        <p:nvSpPr>
          <p:cNvPr id="206" name="Rectangle 205"/>
          <p:cNvSpPr/>
          <p:nvPr/>
        </p:nvSpPr>
        <p:spPr>
          <a:xfrm>
            <a:off x="0" y="-18686"/>
            <a:ext cx="3154016" cy="502012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Motivation</a:t>
            </a:r>
            <a:endParaRPr lang="en-US" sz="2200" kern="0" dirty="0"/>
          </a:p>
        </p:txBody>
      </p:sp>
      <p:pic>
        <p:nvPicPr>
          <p:cNvPr id="95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17" y="2724707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412" y="2724706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293" y="2726294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688" y="2726293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569" y="2724707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964" y="2724706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929220" y="1730743"/>
            <a:ext cx="731395" cy="48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 smtClean="0"/>
              <a:t>AS1</a:t>
            </a:r>
            <a:endParaRPr lang="en-US" sz="2600" dirty="0"/>
          </a:p>
        </p:txBody>
      </p:sp>
      <p:sp>
        <p:nvSpPr>
          <p:cNvPr id="52" name="Rectangle 51"/>
          <p:cNvSpPr/>
          <p:nvPr/>
        </p:nvSpPr>
        <p:spPr>
          <a:xfrm>
            <a:off x="2048187" y="1730743"/>
            <a:ext cx="731395" cy="48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 smtClean="0"/>
              <a:t>AS2</a:t>
            </a:r>
            <a:endParaRPr lang="en-US" sz="2600" dirty="0"/>
          </a:p>
        </p:txBody>
      </p:sp>
      <p:sp>
        <p:nvSpPr>
          <p:cNvPr id="53" name="Rectangle 52"/>
          <p:cNvSpPr/>
          <p:nvPr/>
        </p:nvSpPr>
        <p:spPr>
          <a:xfrm>
            <a:off x="3246293" y="1730743"/>
            <a:ext cx="731395" cy="48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 smtClean="0"/>
              <a:t>AS3</a:t>
            </a:r>
            <a:endParaRPr lang="en-US" sz="2600" dirty="0"/>
          </a:p>
        </p:txBody>
      </p:sp>
      <p:sp>
        <p:nvSpPr>
          <p:cNvPr id="54" name="Rectangle 53"/>
          <p:cNvSpPr/>
          <p:nvPr/>
        </p:nvSpPr>
        <p:spPr>
          <a:xfrm>
            <a:off x="4437063" y="1730743"/>
            <a:ext cx="731395" cy="48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 smtClean="0"/>
              <a:t>AS4</a:t>
            </a:r>
            <a:endParaRPr lang="en-US" sz="2600" dirty="0"/>
          </a:p>
        </p:txBody>
      </p:sp>
      <p:cxnSp>
        <p:nvCxnSpPr>
          <p:cNvPr id="6" name="Straight Connector 5"/>
          <p:cNvCxnSpPr>
            <a:stCxn id="3" idx="2"/>
            <a:endCxn id="95" idx="0"/>
          </p:cNvCxnSpPr>
          <p:nvPr/>
        </p:nvCxnSpPr>
        <p:spPr>
          <a:xfrm flipH="1">
            <a:off x="1142668" y="2210803"/>
            <a:ext cx="152250" cy="5139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3" idx="2"/>
            <a:endCxn id="46" idx="0"/>
          </p:cNvCxnSpPr>
          <p:nvPr/>
        </p:nvCxnSpPr>
        <p:spPr>
          <a:xfrm>
            <a:off x="3611991" y="2210803"/>
            <a:ext cx="497229" cy="5139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54" idx="2"/>
            <a:endCxn id="47" idx="0"/>
          </p:cNvCxnSpPr>
          <p:nvPr/>
        </p:nvCxnSpPr>
        <p:spPr>
          <a:xfrm>
            <a:off x="4802761" y="2210803"/>
            <a:ext cx="37854" cy="5139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endCxn id="42" idx="0"/>
          </p:cNvCxnSpPr>
          <p:nvPr/>
        </p:nvCxnSpPr>
        <p:spPr>
          <a:xfrm flipH="1">
            <a:off x="1874063" y="2229312"/>
            <a:ext cx="497228" cy="4953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1315403" y="2229312"/>
            <a:ext cx="579145" cy="5139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endCxn id="44" idx="0"/>
          </p:cNvCxnSpPr>
          <p:nvPr/>
        </p:nvCxnSpPr>
        <p:spPr>
          <a:xfrm>
            <a:off x="2392587" y="2192797"/>
            <a:ext cx="233357" cy="53349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H="1">
            <a:off x="4096099" y="2232484"/>
            <a:ext cx="667300" cy="5139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endCxn id="45" idx="0"/>
          </p:cNvCxnSpPr>
          <p:nvPr/>
        </p:nvCxnSpPr>
        <p:spPr>
          <a:xfrm flipH="1">
            <a:off x="3357339" y="2254166"/>
            <a:ext cx="242166" cy="47212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537793" y="3470738"/>
            <a:ext cx="4943880" cy="1917461"/>
          </a:xfrm>
          <a:prstGeom prst="round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3000" dirty="0"/>
          </a:p>
        </p:txBody>
      </p:sp>
      <p:sp>
        <p:nvSpPr>
          <p:cNvPr id="124" name="TextBox 86"/>
          <p:cNvSpPr txBox="1">
            <a:spLocks noChangeArrowheads="1"/>
          </p:cNvSpPr>
          <p:nvPr/>
        </p:nvSpPr>
        <p:spPr bwMode="auto">
          <a:xfrm>
            <a:off x="1470299" y="3409882"/>
            <a:ext cx="344999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3200" dirty="0"/>
              <a:t>Flow arrival rate</a:t>
            </a:r>
          </a:p>
        </p:txBody>
      </p:sp>
      <p:pic>
        <p:nvPicPr>
          <p:cNvPr id="126" name="Picture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184" y="3901552"/>
            <a:ext cx="614861" cy="59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111" y="4925347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0506" y="4925346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387" y="4926934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1" name="Straight Arrow Connector 50"/>
          <p:cNvCxnSpPr/>
          <p:nvPr/>
        </p:nvCxnSpPr>
        <p:spPr>
          <a:xfrm flipV="1">
            <a:off x="1187435" y="4470540"/>
            <a:ext cx="341651" cy="5067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 flipV="1">
            <a:off x="1363336" y="4600953"/>
            <a:ext cx="297278" cy="383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/>
          <p:nvPr/>
        </p:nvCxnSpPr>
        <p:spPr>
          <a:xfrm flipV="1">
            <a:off x="1007609" y="4362210"/>
            <a:ext cx="403395" cy="608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134" idx="0"/>
          </p:cNvCxnSpPr>
          <p:nvPr/>
        </p:nvCxnSpPr>
        <p:spPr>
          <a:xfrm flipH="1" flipV="1">
            <a:off x="1850016" y="4600953"/>
            <a:ext cx="72141" cy="324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H="1" flipV="1">
            <a:off x="1906114" y="4524707"/>
            <a:ext cx="751882" cy="434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/>
          <p:nvPr/>
        </p:nvCxnSpPr>
        <p:spPr>
          <a:xfrm flipH="1" flipV="1">
            <a:off x="1931182" y="4374233"/>
            <a:ext cx="914609" cy="5671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8" name="Picture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029" y="3879469"/>
            <a:ext cx="614861" cy="59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9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56" y="4903264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0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351" y="4903263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232" y="4904851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4" name="Straight Arrow Connector 153"/>
          <p:cNvCxnSpPr/>
          <p:nvPr/>
        </p:nvCxnSpPr>
        <p:spPr>
          <a:xfrm flipV="1">
            <a:off x="3299454" y="4340127"/>
            <a:ext cx="403395" cy="608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stCxn id="150" idx="0"/>
          </p:cNvCxnSpPr>
          <p:nvPr/>
        </p:nvCxnSpPr>
        <p:spPr>
          <a:xfrm flipH="1" flipV="1">
            <a:off x="4141861" y="4578870"/>
            <a:ext cx="72141" cy="324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 flipH="1" flipV="1">
            <a:off x="4197959" y="4502624"/>
            <a:ext cx="751882" cy="434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H="1" flipV="1">
            <a:off x="4223027" y="4352150"/>
            <a:ext cx="914609" cy="5671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1" name="Rounded Rectangle 160"/>
          <p:cNvSpPr/>
          <p:nvPr/>
        </p:nvSpPr>
        <p:spPr>
          <a:xfrm>
            <a:off x="537793" y="5574777"/>
            <a:ext cx="4943879" cy="1193174"/>
          </a:xfrm>
          <a:prstGeom prst="round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3000" dirty="0"/>
          </a:p>
        </p:txBody>
      </p:sp>
      <p:sp>
        <p:nvSpPr>
          <p:cNvPr id="162" name="TextBox 87"/>
          <p:cNvSpPr txBox="1">
            <a:spLocks noChangeArrowheads="1"/>
          </p:cNvSpPr>
          <p:nvPr/>
        </p:nvSpPr>
        <p:spPr bwMode="auto">
          <a:xfrm>
            <a:off x="1470683" y="5600418"/>
            <a:ext cx="383685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3200" dirty="0"/>
              <a:t>VM configurations</a:t>
            </a:r>
          </a:p>
          <a:p>
            <a:endParaRPr lang="en-US" altLang="en-US" sz="3600" dirty="0"/>
          </a:p>
        </p:txBody>
      </p:sp>
      <p:pic>
        <p:nvPicPr>
          <p:cNvPr id="163" name="Picture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887" y="5829438"/>
            <a:ext cx="1192258" cy="1192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" name="Picture 1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038" y="6034478"/>
            <a:ext cx="704712" cy="70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5" name="Rounded Rectangle 164"/>
          <p:cNvSpPr/>
          <p:nvPr/>
        </p:nvSpPr>
        <p:spPr>
          <a:xfrm>
            <a:off x="5972438" y="1198519"/>
            <a:ext cx="5733467" cy="1944364"/>
          </a:xfrm>
          <a:prstGeom prst="round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3000" dirty="0"/>
          </a:p>
        </p:txBody>
      </p:sp>
      <p:sp>
        <p:nvSpPr>
          <p:cNvPr id="166" name="TextBox 87"/>
          <p:cNvSpPr txBox="1">
            <a:spLocks noChangeArrowheads="1"/>
          </p:cNvSpPr>
          <p:nvPr/>
        </p:nvSpPr>
        <p:spPr bwMode="auto">
          <a:xfrm>
            <a:off x="6068896" y="1325156"/>
            <a:ext cx="5594513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3200" dirty="0" smtClean="0"/>
              <a:t>Controller assignment algorithm</a:t>
            </a:r>
            <a:endParaRPr lang="en-US" altLang="en-US" sz="3200" dirty="0"/>
          </a:p>
          <a:p>
            <a:endParaRPr lang="en-US" altLang="en-US" sz="3600" dirty="0"/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2" y="1887862"/>
            <a:ext cx="2286335" cy="998096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6260791" y="1984390"/>
            <a:ext cx="309830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i="1" dirty="0" smtClean="0"/>
              <a:t>AI – Hill Climbing with simulated annealing</a:t>
            </a:r>
            <a:endParaRPr lang="en-US" sz="2500" b="1" i="1" dirty="0"/>
          </a:p>
          <a:p>
            <a:endParaRPr lang="en-US" dirty="0"/>
          </a:p>
        </p:txBody>
      </p:sp>
      <p:sp>
        <p:nvSpPr>
          <p:cNvPr id="169" name="Rounded Rectangle 168"/>
          <p:cNvSpPr/>
          <p:nvPr/>
        </p:nvSpPr>
        <p:spPr>
          <a:xfrm>
            <a:off x="6034820" y="3606048"/>
            <a:ext cx="5637009" cy="2971215"/>
          </a:xfrm>
          <a:prstGeom prst="round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3000" dirty="0"/>
          </a:p>
        </p:txBody>
      </p:sp>
      <p:sp>
        <p:nvSpPr>
          <p:cNvPr id="170" name="TextBox 86"/>
          <p:cNvSpPr txBox="1">
            <a:spLocks noChangeArrowheads="1"/>
          </p:cNvSpPr>
          <p:nvPr/>
        </p:nvSpPr>
        <p:spPr bwMode="auto">
          <a:xfrm>
            <a:off x="7057857" y="3609164"/>
            <a:ext cx="421601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3200" dirty="0" smtClean="0"/>
              <a:t>Scaling and Migration</a:t>
            </a:r>
            <a:endParaRPr lang="en-US" altLang="en-US" sz="3200" dirty="0"/>
          </a:p>
        </p:txBody>
      </p:sp>
      <p:pic>
        <p:nvPicPr>
          <p:cNvPr id="171" name="Picture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1148" y="5001438"/>
            <a:ext cx="614861" cy="59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2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140" y="5959009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3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535" y="5959008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416" y="5960596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1" name="Picture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2" y="4975394"/>
            <a:ext cx="614861" cy="59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2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4985" y="5936926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3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6380" y="5936925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" name="Picture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261" y="5938513"/>
            <a:ext cx="683301" cy="4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9" name="Rectangle 188"/>
          <p:cNvSpPr/>
          <p:nvPr/>
        </p:nvSpPr>
        <p:spPr>
          <a:xfrm>
            <a:off x="6847713" y="4231910"/>
            <a:ext cx="731395" cy="48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 smtClean="0"/>
              <a:t>P1</a:t>
            </a:r>
            <a:endParaRPr lang="en-US" sz="2600" dirty="0"/>
          </a:p>
        </p:txBody>
      </p:sp>
      <p:sp>
        <p:nvSpPr>
          <p:cNvPr id="190" name="Rectangle 189"/>
          <p:cNvSpPr/>
          <p:nvPr/>
        </p:nvSpPr>
        <p:spPr>
          <a:xfrm>
            <a:off x="7966680" y="4231910"/>
            <a:ext cx="731395" cy="48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/>
              <a:t>P</a:t>
            </a:r>
            <a:r>
              <a:rPr lang="en-US" sz="2600" dirty="0" smtClean="0"/>
              <a:t>2</a:t>
            </a:r>
            <a:endParaRPr lang="en-US" sz="2600" dirty="0"/>
          </a:p>
        </p:txBody>
      </p:sp>
      <p:sp>
        <p:nvSpPr>
          <p:cNvPr id="191" name="Rectangle 190"/>
          <p:cNvSpPr/>
          <p:nvPr/>
        </p:nvSpPr>
        <p:spPr>
          <a:xfrm>
            <a:off x="9164786" y="4231910"/>
            <a:ext cx="731395" cy="48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/>
              <a:t>P</a:t>
            </a:r>
            <a:r>
              <a:rPr lang="en-US" sz="2600" dirty="0" smtClean="0"/>
              <a:t>3</a:t>
            </a:r>
            <a:endParaRPr lang="en-US" sz="2600" dirty="0"/>
          </a:p>
        </p:txBody>
      </p:sp>
      <p:sp>
        <p:nvSpPr>
          <p:cNvPr id="192" name="Rectangle 191"/>
          <p:cNvSpPr/>
          <p:nvPr/>
        </p:nvSpPr>
        <p:spPr>
          <a:xfrm>
            <a:off x="10355556" y="4231910"/>
            <a:ext cx="731395" cy="48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/>
              <a:t>P</a:t>
            </a:r>
            <a:r>
              <a:rPr lang="en-US" sz="2600" dirty="0" smtClean="0"/>
              <a:t>4</a:t>
            </a:r>
            <a:endParaRPr lang="en-US" sz="2600" dirty="0"/>
          </a:p>
        </p:txBody>
      </p:sp>
      <p:cxnSp>
        <p:nvCxnSpPr>
          <p:cNvPr id="70" name="Straight Connector 69"/>
          <p:cNvCxnSpPr/>
          <p:nvPr/>
        </p:nvCxnSpPr>
        <p:spPr>
          <a:xfrm>
            <a:off x="7213410" y="4741066"/>
            <a:ext cx="365698" cy="2603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>
            <a:off x="7966680" y="4741066"/>
            <a:ext cx="365698" cy="2179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9400606" y="4692058"/>
            <a:ext cx="50826" cy="2448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 flipH="1">
            <a:off x="9720903" y="4719779"/>
            <a:ext cx="1123385" cy="31808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172" idx="0"/>
          </p:cNvCxnSpPr>
          <p:nvPr/>
        </p:nvCxnSpPr>
        <p:spPr>
          <a:xfrm flipV="1">
            <a:off x="7074791" y="5540553"/>
            <a:ext cx="504317" cy="4184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>
            <a:stCxn id="173" idx="0"/>
            <a:endCxn id="171" idx="2"/>
          </p:cNvCxnSpPr>
          <p:nvPr/>
        </p:nvCxnSpPr>
        <p:spPr>
          <a:xfrm flipV="1">
            <a:off x="7806186" y="5592509"/>
            <a:ext cx="42393" cy="36649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>
            <a:stCxn id="174" idx="0"/>
          </p:cNvCxnSpPr>
          <p:nvPr/>
        </p:nvCxnSpPr>
        <p:spPr>
          <a:xfrm flipH="1" flipV="1">
            <a:off x="8080686" y="5566466"/>
            <a:ext cx="477381" cy="3941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8" name="Straight Connector 207"/>
          <p:cNvCxnSpPr>
            <a:stCxn id="182" idx="0"/>
            <a:endCxn id="181" idx="2"/>
          </p:cNvCxnSpPr>
          <p:nvPr/>
        </p:nvCxnSpPr>
        <p:spPr>
          <a:xfrm flipV="1">
            <a:off x="9366636" y="5566465"/>
            <a:ext cx="84797" cy="3704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/>
          <p:cNvCxnSpPr>
            <a:stCxn id="183" idx="0"/>
          </p:cNvCxnSpPr>
          <p:nvPr/>
        </p:nvCxnSpPr>
        <p:spPr>
          <a:xfrm flipH="1" flipV="1">
            <a:off x="9708286" y="5540553"/>
            <a:ext cx="389745" cy="3963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>
            <a:stCxn id="184" idx="0"/>
            <a:endCxn id="181" idx="3"/>
          </p:cNvCxnSpPr>
          <p:nvPr/>
        </p:nvCxnSpPr>
        <p:spPr>
          <a:xfrm flipH="1" flipV="1">
            <a:off x="9758863" y="5270930"/>
            <a:ext cx="1091049" cy="66758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1" name="Picture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6856" y="4949482"/>
            <a:ext cx="614861" cy="59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5" name="Straight Connector 84"/>
          <p:cNvCxnSpPr>
            <a:endCxn id="221" idx="0"/>
          </p:cNvCxnSpPr>
          <p:nvPr/>
        </p:nvCxnSpPr>
        <p:spPr>
          <a:xfrm>
            <a:off x="10839957" y="4749941"/>
            <a:ext cx="214330" cy="1995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74" idx="0"/>
          </p:cNvCxnSpPr>
          <p:nvPr/>
        </p:nvCxnSpPr>
        <p:spPr>
          <a:xfrm flipV="1">
            <a:off x="8558067" y="5353673"/>
            <a:ext cx="2163186" cy="6069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184" idx="0"/>
          </p:cNvCxnSpPr>
          <p:nvPr/>
        </p:nvCxnSpPr>
        <p:spPr>
          <a:xfrm flipV="1">
            <a:off x="10849912" y="5540553"/>
            <a:ext cx="204375" cy="39796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5481672" y="1730743"/>
            <a:ext cx="49076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V="1">
            <a:off x="5481673" y="2192797"/>
            <a:ext cx="402293" cy="223667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flipV="1">
            <a:off x="5481672" y="3123163"/>
            <a:ext cx="587224" cy="291131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165" idx="2"/>
          </p:cNvCxnSpPr>
          <p:nvPr/>
        </p:nvCxnSpPr>
        <p:spPr>
          <a:xfrm flipH="1">
            <a:off x="8839171" y="3142883"/>
            <a:ext cx="1" cy="48078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58601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1"/>
    </mc:Choice>
    <mc:Fallback xmlns="">
      <p:transition spd="slow" advTm="46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500"/>
                            </p:stCondLst>
                            <p:childTnLst>
                              <p:par>
                                <p:cTn id="12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500"/>
                            </p:stCondLst>
                            <p:childTnLst>
                              <p:par>
                                <p:cTn id="2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60512"/>
            <a:ext cx="10972800" cy="762000"/>
          </a:xfrm>
        </p:spPr>
        <p:txBody>
          <a:bodyPr/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Evaluation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2" name="Line 38"/>
          <p:cNvSpPr>
            <a:spLocks noChangeShapeType="1"/>
          </p:cNvSpPr>
          <p:nvPr/>
        </p:nvSpPr>
        <p:spPr bwMode="auto">
          <a:xfrm>
            <a:off x="6843713" y="2508250"/>
            <a:ext cx="1323975" cy="0"/>
          </a:xfrm>
          <a:prstGeom prst="line">
            <a:avLst/>
          </a:prstGeom>
          <a:noFill/>
          <a:ln w="38100" cap="flat" cmpd="sng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3" name="Line 37"/>
          <p:cNvSpPr>
            <a:spLocks noChangeShapeType="1"/>
          </p:cNvSpPr>
          <p:nvPr/>
        </p:nvSpPr>
        <p:spPr bwMode="auto">
          <a:xfrm>
            <a:off x="8167687" y="2498271"/>
            <a:ext cx="1385888" cy="0"/>
          </a:xfrm>
          <a:prstGeom prst="line">
            <a:avLst/>
          </a:prstGeom>
          <a:noFill/>
          <a:ln w="38100" cap="flat" cmpd="sng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4" name="Line 80"/>
          <p:cNvSpPr>
            <a:spLocks noChangeShapeType="1"/>
          </p:cNvSpPr>
          <p:nvPr/>
        </p:nvSpPr>
        <p:spPr bwMode="auto">
          <a:xfrm>
            <a:off x="8167688" y="2139950"/>
            <a:ext cx="0" cy="368300"/>
          </a:xfrm>
          <a:prstGeom prst="line">
            <a:avLst/>
          </a:prstGeom>
          <a:noFill/>
          <a:ln w="38100" cap="flat" cmpd="sng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SimSun" pitchFamily="2" charset="-122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135" y="1234600"/>
            <a:ext cx="7803556" cy="54868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21691" y="1645645"/>
            <a:ext cx="3219752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i="1" dirty="0" smtClean="0"/>
              <a:t>Topology and traffic from a private datacenter</a:t>
            </a:r>
            <a:endParaRPr lang="en-US" sz="2500" dirty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621691" y="3086688"/>
            <a:ext cx="3219752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i="1" dirty="0" smtClean="0"/>
              <a:t>33% and 42% decrease in cost when compared with ‘Local CPU + Mem’ and ‘CPU only’</a:t>
            </a:r>
          </a:p>
          <a:p>
            <a:r>
              <a:rPr lang="en-US" sz="2500" b="1" i="1" dirty="0" smtClean="0"/>
              <a:t>respectively</a:t>
            </a:r>
            <a:endParaRPr lang="en-US" sz="2500" dirty="0"/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621691" y="5501681"/>
            <a:ext cx="321975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i="1" dirty="0"/>
              <a:t>44% decrease </a:t>
            </a:r>
          </a:p>
          <a:p>
            <a:r>
              <a:rPr lang="en-US" sz="2500" b="1" i="1" dirty="0"/>
              <a:t>in flow-setup latency</a:t>
            </a:r>
          </a:p>
          <a:p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0" y="-18686"/>
            <a:ext cx="12191999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37983" y="-18686"/>
            <a:ext cx="3154016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Summary</a:t>
            </a:r>
            <a:endParaRPr lang="en-US" sz="2200" kern="0" dirty="0"/>
          </a:p>
        </p:txBody>
      </p:sp>
      <p:sp>
        <p:nvSpPr>
          <p:cNvPr id="20" name="Rectangle 19"/>
          <p:cNvSpPr/>
          <p:nvPr/>
        </p:nvSpPr>
        <p:spPr>
          <a:xfrm>
            <a:off x="5883967" y="-18686"/>
            <a:ext cx="3154016" cy="502012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600" b="1" kern="0" dirty="0" smtClean="0"/>
              <a:t>Evaluation</a:t>
            </a:r>
            <a:endParaRPr lang="en-US" sz="2600" b="1" kern="0" dirty="0"/>
          </a:p>
        </p:txBody>
      </p:sp>
      <p:sp>
        <p:nvSpPr>
          <p:cNvPr id="21" name="Rectangle 20"/>
          <p:cNvSpPr/>
          <p:nvPr/>
        </p:nvSpPr>
        <p:spPr>
          <a:xfrm>
            <a:off x="3154015" y="-18686"/>
            <a:ext cx="2729951" cy="502012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Architecture</a:t>
            </a:r>
            <a:endParaRPr lang="en-US" sz="2200" kern="0" dirty="0"/>
          </a:p>
        </p:txBody>
      </p:sp>
      <p:sp>
        <p:nvSpPr>
          <p:cNvPr id="22" name="Rectangle 21"/>
          <p:cNvSpPr/>
          <p:nvPr/>
        </p:nvSpPr>
        <p:spPr>
          <a:xfrm>
            <a:off x="0" y="-18686"/>
            <a:ext cx="3154016" cy="502012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Motivation</a:t>
            </a:r>
            <a:endParaRPr lang="en-US" sz="2200" kern="0" dirty="0"/>
          </a:p>
        </p:txBody>
      </p:sp>
    </p:spTree>
    <p:extLst>
      <p:ext uri="{BB962C8B-B14F-4D97-AF65-F5344CB8AC3E}">
        <p14:creationId xmlns:p14="http://schemas.microsoft.com/office/powerpoint/2010/main" val="264584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"/>
    </mc:Choice>
    <mc:Fallback xmlns="">
      <p:transition spd="slow" advTm="119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98" y="512313"/>
            <a:ext cx="10972800" cy="762000"/>
          </a:xfrm>
        </p:spPr>
        <p:txBody>
          <a:bodyPr/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051" y="1426963"/>
            <a:ext cx="10807349" cy="5025352"/>
          </a:xfrm>
        </p:spPr>
        <p:txBody>
          <a:bodyPr>
            <a:normAutofit fontScale="92500" lnSpcReduction="20000"/>
          </a:bodyPr>
          <a:lstStyle/>
          <a:p>
            <a:pPr marL="2968625" indent="0">
              <a:spcAft>
                <a:spcPts val="2400"/>
              </a:spcAft>
              <a:buNone/>
            </a:pPr>
            <a:r>
              <a:rPr lang="en-US" b="1" i="1" dirty="0" smtClean="0"/>
              <a:t>        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Novel assignment of application state partitions and switches to controller instances</a:t>
            </a:r>
          </a:p>
          <a:p>
            <a:r>
              <a:rPr lang="en-US" dirty="0" smtClean="0"/>
              <a:t>Minimizes flow setup latency</a:t>
            </a:r>
          </a:p>
          <a:p>
            <a:r>
              <a:rPr lang="en-US" dirty="0" smtClean="0"/>
              <a:t>Minimizes controller operating costs</a:t>
            </a:r>
          </a:p>
          <a:p>
            <a:pPr>
              <a:buNone/>
            </a:pPr>
            <a:r>
              <a:rPr lang="en-US" dirty="0" smtClean="0"/>
              <a:t>			</a:t>
            </a:r>
          </a:p>
          <a:p>
            <a:pPr>
              <a:buNone/>
            </a:pPr>
            <a:r>
              <a:rPr lang="en-US" b="1" dirty="0" smtClean="0"/>
              <a:t>		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289778" y="1524946"/>
            <a:ext cx="625533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 err="1"/>
              <a:t>Praytaastha</a:t>
            </a:r>
            <a:r>
              <a:rPr lang="en-US" sz="3200" b="1" i="1" dirty="0"/>
              <a:t>: An Efficient Elastic Distributed </a:t>
            </a:r>
            <a:r>
              <a:rPr lang="en-US" sz="3200" b="1" i="1" dirty="0" smtClean="0"/>
              <a:t>SDN </a:t>
            </a:r>
            <a:r>
              <a:rPr lang="en-US" sz="3200" b="1" i="1" dirty="0"/>
              <a:t>Control Plane</a:t>
            </a:r>
            <a:endParaRPr lang="en-US" sz="3200" dirty="0"/>
          </a:p>
          <a:p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1026883" y="1426963"/>
            <a:ext cx="3928150" cy="1346863"/>
            <a:chOff x="4149316" y="679505"/>
            <a:chExt cx="3928150" cy="1346863"/>
          </a:xfrm>
        </p:grpSpPr>
        <p:grpSp>
          <p:nvGrpSpPr>
            <p:cNvPr id="17" name="Group 16"/>
            <p:cNvGrpSpPr/>
            <p:nvPr/>
          </p:nvGrpSpPr>
          <p:grpSpPr>
            <a:xfrm>
              <a:off x="4149316" y="679505"/>
              <a:ext cx="3594245" cy="1346863"/>
              <a:chOff x="4149316" y="679505"/>
              <a:chExt cx="3594245" cy="1346863"/>
            </a:xfrm>
          </p:grpSpPr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49316" y="679505"/>
                <a:ext cx="1346863" cy="1346863"/>
              </a:xfrm>
              <a:prstGeom prst="rect">
                <a:avLst/>
              </a:prstGeom>
            </p:spPr>
          </p:pic>
          <p:cxnSp>
            <p:nvCxnSpPr>
              <p:cNvPr id="34" name="Straight Connector 33"/>
              <p:cNvCxnSpPr/>
              <p:nvPr/>
            </p:nvCxnSpPr>
            <p:spPr>
              <a:xfrm flipV="1">
                <a:off x="6023837" y="1299788"/>
                <a:ext cx="392464" cy="30962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 flipH="1" flipV="1">
                <a:off x="6416301" y="1299788"/>
                <a:ext cx="425994" cy="30961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flipH="1" flipV="1">
                <a:off x="7410519" y="1320722"/>
                <a:ext cx="333042" cy="296096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18" name="Picture 17" descr="cisco_switch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85717" y="1634043"/>
              <a:ext cx="741045" cy="310437"/>
            </a:xfrm>
            <a:prstGeom prst="rect">
              <a:avLst/>
            </a:prstGeom>
          </p:spPr>
        </p:pic>
        <p:pic>
          <p:nvPicPr>
            <p:cNvPr id="19" name="Picture 18" descr="cisco_switch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6300" y="1632157"/>
              <a:ext cx="741045" cy="310437"/>
            </a:xfrm>
            <a:prstGeom prst="rect">
              <a:avLst/>
            </a:prstGeom>
          </p:spPr>
        </p:pic>
        <p:pic>
          <p:nvPicPr>
            <p:cNvPr id="30" name="Picture 29" descr="cisco_switch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6421" y="1630956"/>
              <a:ext cx="741045" cy="310437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012" y="704133"/>
              <a:ext cx="688847" cy="663589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6095" y="702939"/>
              <a:ext cx="688847" cy="663589"/>
            </a:xfrm>
            <a:prstGeom prst="rect">
              <a:avLst/>
            </a:prstGeom>
          </p:spPr>
        </p:pic>
      </p:grpSp>
      <p:sp>
        <p:nvSpPr>
          <p:cNvPr id="42" name="Rectangle 41"/>
          <p:cNvSpPr/>
          <p:nvPr/>
        </p:nvSpPr>
        <p:spPr>
          <a:xfrm>
            <a:off x="0" y="-18686"/>
            <a:ext cx="12191999" cy="502012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037983" y="-18686"/>
            <a:ext cx="3154016" cy="502012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600" b="1" kern="0" dirty="0" smtClean="0"/>
              <a:t>Summary</a:t>
            </a:r>
            <a:endParaRPr lang="en-US" sz="2600" b="1" kern="0" dirty="0"/>
          </a:p>
        </p:txBody>
      </p:sp>
      <p:sp>
        <p:nvSpPr>
          <p:cNvPr id="44" name="Rectangle 43"/>
          <p:cNvSpPr/>
          <p:nvPr/>
        </p:nvSpPr>
        <p:spPr>
          <a:xfrm>
            <a:off x="5883967" y="-18686"/>
            <a:ext cx="3154016" cy="502012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Evaluation</a:t>
            </a:r>
            <a:endParaRPr lang="en-US" sz="2200" kern="0" dirty="0"/>
          </a:p>
        </p:txBody>
      </p:sp>
      <p:sp>
        <p:nvSpPr>
          <p:cNvPr id="45" name="Rectangle 44"/>
          <p:cNvSpPr/>
          <p:nvPr/>
        </p:nvSpPr>
        <p:spPr>
          <a:xfrm>
            <a:off x="3154015" y="-18686"/>
            <a:ext cx="2729951" cy="502012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Architecture</a:t>
            </a:r>
            <a:endParaRPr lang="en-US" sz="2200" kern="0" dirty="0"/>
          </a:p>
        </p:txBody>
      </p:sp>
      <p:sp>
        <p:nvSpPr>
          <p:cNvPr id="46" name="Rectangle 45"/>
          <p:cNvSpPr/>
          <p:nvPr/>
        </p:nvSpPr>
        <p:spPr>
          <a:xfrm>
            <a:off x="0" y="-18686"/>
            <a:ext cx="3154016" cy="502012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200" kern="0" dirty="0" smtClean="0"/>
              <a:t>Motivation</a:t>
            </a:r>
            <a:endParaRPr lang="en-US" sz="2200" kern="0" dirty="0"/>
          </a:p>
        </p:txBody>
      </p:sp>
    </p:spTree>
    <p:extLst>
      <p:ext uri="{BB962C8B-B14F-4D97-AF65-F5344CB8AC3E}">
        <p14:creationId xmlns:p14="http://schemas.microsoft.com/office/powerpoint/2010/main" val="1010850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"/>
    </mc:Choice>
    <mc:Fallback xmlns="">
      <p:transition spd="slow" advTm="116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1|0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1|0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1|0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1|0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1|0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1|0.8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1583</TotalTime>
  <Words>1025</Words>
  <Application>Microsoft Office PowerPoint</Application>
  <PresentationFormat>Widescreen</PresentationFormat>
  <Paragraphs>148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SimSun</vt:lpstr>
      <vt:lpstr>Arial</vt:lpstr>
      <vt:lpstr>Calibri</vt:lpstr>
      <vt:lpstr>Wingdings</vt:lpstr>
      <vt:lpstr>1_Office Theme</vt:lpstr>
      <vt:lpstr>Pratyaastha: An Efficient Elastic Distributed SDN Control Plane</vt:lpstr>
      <vt:lpstr>SDN Control Plane</vt:lpstr>
      <vt:lpstr>Challenges faced by operators</vt:lpstr>
      <vt:lpstr>Challenges faced by operators</vt:lpstr>
      <vt:lpstr>Pratyaastha - Architecture</vt:lpstr>
      <vt:lpstr>Pratyaastha - Architecture</vt:lpstr>
      <vt:lpstr>Pratyaastha - Architecture</vt:lpstr>
      <vt:lpstr>Evaluation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Anand Krishnamurthy</dc:creator>
  <cp:lastModifiedBy>Anand Krishnamurthy</cp:lastModifiedBy>
  <cp:revision>286</cp:revision>
  <dcterms:created xsi:type="dcterms:W3CDTF">2014-08-01T03:20:41Z</dcterms:created>
  <dcterms:modified xsi:type="dcterms:W3CDTF">2014-08-21T04:51:16Z</dcterms:modified>
</cp:coreProperties>
</file>