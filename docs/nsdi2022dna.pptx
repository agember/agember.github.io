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24" r:id="rId3"/>
    <p:sldId id="299" r:id="rId4"/>
    <p:sldId id="327" r:id="rId5"/>
    <p:sldId id="262" r:id="rId6"/>
    <p:sldId id="328" r:id="rId7"/>
    <p:sldId id="263" r:id="rId8"/>
    <p:sldId id="330" r:id="rId9"/>
    <p:sldId id="329" r:id="rId10"/>
    <p:sldId id="316" r:id="rId11"/>
    <p:sldId id="331" r:id="rId12"/>
    <p:sldId id="332" r:id="rId13"/>
    <p:sldId id="301" r:id="rId14"/>
    <p:sldId id="321" r:id="rId15"/>
    <p:sldId id="326" r:id="rId16"/>
    <p:sldId id="333" r:id="rId17"/>
    <p:sldId id="334" r:id="rId18"/>
    <p:sldId id="335" r:id="rId19"/>
    <p:sldId id="339" r:id="rId20"/>
    <p:sldId id="338" r:id="rId21"/>
    <p:sldId id="336" r:id="rId22"/>
    <p:sldId id="337" r:id="rId23"/>
    <p:sldId id="269" r:id="rId24"/>
    <p:sldId id="270" r:id="rId25"/>
    <p:sldId id="30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45" autoAdjust="0"/>
    <p:restoredTop sz="93804" autoAdjust="0"/>
  </p:normalViewPr>
  <p:slideViewPr>
    <p:cSldViewPr snapToGrid="0">
      <p:cViewPr varScale="1">
        <p:scale>
          <a:sx n="117" d="100"/>
          <a:sy n="117" d="100"/>
        </p:scale>
        <p:origin x="139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1B48C-01AC-4D30-B462-E140A8C5752E}" type="datetimeFigureOut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2F58D-52CF-4DCB-81CE-7F1F9B2C33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032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288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5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957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21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2F58D-52CF-4DCB-81CE-7F1F9B2C339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68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75FD0-4A04-42DC-BF3D-7D1752031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098" y="1273754"/>
            <a:ext cx="11299805" cy="2002341"/>
          </a:xfrm>
        </p:spPr>
        <p:txBody>
          <a:bodyPr anchor="b"/>
          <a:lstStyle>
            <a:lvl1pPr algn="ctr">
              <a:lnSpc>
                <a:spcPct val="120000"/>
              </a:lnSpc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DFC96B-A884-4136-9659-0A29BC14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097" y="4020937"/>
            <a:ext cx="11299805" cy="138825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2085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DCFE1-5554-45A2-A181-ACE1D23C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A6D73-8F28-4DAB-8281-A150B69DD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5471160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20000"/>
              </a:lnSpc>
              <a:defRPr lang="zh-CN" altLang="en-US" sz="2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800" indent="-22860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85800" indent="-22860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marL="685800" lvl="1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32956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FCB036-317A-4E64-89BF-A878AFF3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D6D0BC-7AF3-4931-9913-53DB44525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2E00C-A567-4C3D-9A95-7A061A19C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A1DC6-31BC-4B5B-BD78-7A4D1A06AEB2}" type="datetime1">
              <a:rPr lang="zh-CN" altLang="en-US" smtClean="0"/>
              <a:t>2021/12/7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28174-2229-4AA9-8DAC-45330B055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HotNets 2020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52CA4C-A319-49CE-A261-0D3E1F005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C41B6-63AC-4E19-AA16-D977E57DBF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21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4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5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Visio_Drawing6.vsdx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package" Target="../embeddings/Microsoft_Visio_Drawing7.vsdx"/><Relationship Id="rId7" Type="http://schemas.openxmlformats.org/officeDocument/2006/relationships/package" Target="../embeddings/Microsoft_Visio_Drawing9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Visio_Drawing8.vsdx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12.vsdx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Microsoft_Visio_Drawing11.vsdx"/><Relationship Id="rId5" Type="http://schemas.openxmlformats.org/officeDocument/2006/relationships/image" Target="../media/image17.emf"/><Relationship Id="rId10" Type="http://schemas.openxmlformats.org/officeDocument/2006/relationships/image" Target="../media/image20.png"/><Relationship Id="rId4" Type="http://schemas.openxmlformats.org/officeDocument/2006/relationships/package" Target="../embeddings/Microsoft_Visio_Drawing10.vsdx"/><Relationship Id="rId9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461BD-F4D7-47C5-BB9D-467B07112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47821"/>
            <a:ext cx="12192000" cy="8831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4000" b="1" dirty="0"/>
              <a:t>Differential Network Analysis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0782FD-EF00-4991-84DB-10B73E45A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605" y="3367030"/>
            <a:ext cx="10232789" cy="1981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Peng Zhang</a:t>
            </a:r>
            <a:r>
              <a:rPr lang="en-US" altLang="zh-CN" sz="2800" baseline="30000" dirty="0">
                <a:solidFill>
                  <a:schemeClr val="tx1"/>
                </a:solidFill>
              </a:rPr>
              <a:t>∗</a:t>
            </a:r>
            <a:r>
              <a:rPr lang="en-US" altLang="zh-CN" dirty="0">
                <a:solidFill>
                  <a:schemeClr val="tx1"/>
                </a:solidFill>
              </a:rPr>
              <a:t>, Aaron </a:t>
            </a:r>
            <a:r>
              <a:rPr lang="en-US" altLang="zh-CN" dirty="0" err="1">
                <a:solidFill>
                  <a:schemeClr val="tx1"/>
                </a:solidFill>
              </a:rPr>
              <a:t>Gember</a:t>
            </a:r>
            <a:r>
              <a:rPr lang="en-US" altLang="zh-CN" dirty="0">
                <a:solidFill>
                  <a:schemeClr val="tx1"/>
                </a:solidFill>
              </a:rPr>
              <a:t>-Jacobson</a:t>
            </a:r>
            <a:r>
              <a:rPr lang="en-US" altLang="zh-CN" sz="2000" baseline="30000" dirty="0">
                <a:solidFill>
                  <a:schemeClr val="tx1"/>
                </a:solidFill>
              </a:rPr>
              <a:t>□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Yueshang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Zuo</a:t>
            </a:r>
            <a:r>
              <a:rPr lang="en-US" altLang="zh-CN" sz="2800" baseline="30000" dirty="0">
                <a:solidFill>
                  <a:schemeClr val="tx1"/>
                </a:solidFill>
              </a:rPr>
              <a:t>∗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Yuhao</a:t>
            </a:r>
            <a:r>
              <a:rPr lang="en-US" altLang="zh-CN" dirty="0">
                <a:solidFill>
                  <a:schemeClr val="tx1"/>
                </a:solidFill>
              </a:rPr>
              <a:t> Huang</a:t>
            </a:r>
            <a:r>
              <a:rPr lang="en-US" altLang="zh-CN" sz="2800" baseline="30000" dirty="0">
                <a:solidFill>
                  <a:schemeClr val="tx1"/>
                </a:solidFill>
              </a:rPr>
              <a:t>∗</a:t>
            </a:r>
            <a:r>
              <a:rPr lang="en-US" altLang="zh-CN" dirty="0">
                <a:solidFill>
                  <a:schemeClr val="tx1"/>
                </a:solidFill>
              </a:rPr>
              <a:t>, Xu Liu</a:t>
            </a:r>
            <a:r>
              <a:rPr lang="en-US" altLang="zh-CN" sz="2800" baseline="30000" dirty="0">
                <a:solidFill>
                  <a:schemeClr val="tx1"/>
                </a:solidFill>
              </a:rPr>
              <a:t>∗</a:t>
            </a:r>
            <a:r>
              <a:rPr lang="en-US" altLang="zh-CN" dirty="0">
                <a:solidFill>
                  <a:schemeClr val="tx1"/>
                </a:solidFill>
              </a:rPr>
              <a:t>, Hao Li</a:t>
            </a:r>
            <a:r>
              <a:rPr lang="en-US" altLang="zh-CN" sz="2800" baseline="30000" dirty="0">
                <a:solidFill>
                  <a:schemeClr val="tx1"/>
                </a:solidFill>
              </a:rPr>
              <a:t>∗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baseline="30000" dirty="0"/>
              <a:t>∗ </a:t>
            </a:r>
            <a:r>
              <a:rPr lang="en-US" altLang="zh-CN" sz="2000" dirty="0"/>
              <a:t>Xi’an </a:t>
            </a:r>
            <a:r>
              <a:rPr lang="en-US" altLang="zh-CN" sz="2000" dirty="0" err="1"/>
              <a:t>Jiaotong</a:t>
            </a:r>
            <a:r>
              <a:rPr lang="en-US" altLang="zh-CN" sz="2000" dirty="0"/>
              <a:t> University</a:t>
            </a:r>
            <a:r>
              <a:rPr lang="zh-CN" altLang="en-US" sz="2000" dirty="0"/>
              <a:t>               </a:t>
            </a:r>
            <a:r>
              <a:rPr lang="en-US" altLang="zh-CN" sz="2000" baseline="30000" dirty="0">
                <a:solidFill>
                  <a:schemeClr val="tx1"/>
                </a:solidFill>
              </a:rPr>
              <a:t>□ </a:t>
            </a:r>
            <a:r>
              <a:rPr lang="en-US" altLang="zh-CN" sz="2000" dirty="0"/>
              <a:t>Colgate University</a:t>
            </a:r>
            <a:endParaRPr lang="en-US" altLang="zh-CN" dirty="0"/>
          </a:p>
        </p:txBody>
      </p:sp>
      <p:pic>
        <p:nvPicPr>
          <p:cNvPr id="2050" name="Picture 2" descr="西安交通大学- 维基百科，自由的百科全书">
            <a:extLst>
              <a:ext uri="{FF2B5EF4-FFF2-40B4-BE49-F238E27FC236}">
                <a16:creationId xmlns:a16="http://schemas.microsoft.com/office/drawing/2014/main" id="{3C8BC4FF-A980-2C41-A7FD-C47C3718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502" y="5022721"/>
            <a:ext cx="1360341" cy="136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Colgate University - Wikipedia">
            <a:extLst>
              <a:ext uri="{FF2B5EF4-FFF2-40B4-BE49-F238E27FC236}">
                <a16:creationId xmlns:a16="http://schemas.microsoft.com/office/drawing/2014/main" id="{79934D68-996B-E14C-A50D-4F390F1B23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6" name="Picture 8" descr="Colgate University - Wikipedia">
            <a:extLst>
              <a:ext uri="{FF2B5EF4-FFF2-40B4-BE49-F238E27FC236}">
                <a16:creationId xmlns:a16="http://schemas.microsoft.com/office/drawing/2014/main" id="{CBCABAA8-FB1E-DE4A-AC46-59FD3B1D8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48" y="5022721"/>
            <a:ext cx="1360341" cy="136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53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F92FD5E-97AD-47C2-9573-3451E354F25B}"/>
              </a:ext>
            </a:extLst>
          </p:cNvPr>
          <p:cNvSpPr/>
          <p:nvPr/>
        </p:nvSpPr>
        <p:spPr>
          <a:xfrm>
            <a:off x="619397" y="2274838"/>
            <a:ext cx="10953205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4800" cap="small" dirty="0">
                <a:solidFill>
                  <a:srgbClr val="333333"/>
                </a:solidFill>
                <a:latin typeface="Times New Roman" panose="02020603050405020304" pitchFamily="18" charset="0"/>
              </a:rPr>
              <a:t>“Change is the only constant in life.”</a:t>
            </a:r>
          </a:p>
          <a:p>
            <a:endParaRPr lang="en-US" altLang="zh-CN" sz="4800" cap="small" dirty="0">
              <a:solidFill>
                <a:srgbClr val="333333"/>
              </a:solidFill>
              <a:latin typeface="Times New Roman" panose="02020603050405020304" pitchFamily="18" charset="0"/>
            </a:endParaRPr>
          </a:p>
          <a:p>
            <a:r>
              <a:rPr lang="en-US" altLang="zh-CN" sz="4800" cap="small" dirty="0">
                <a:solidFill>
                  <a:srgbClr val="333333"/>
                </a:solidFill>
                <a:latin typeface="Times New Roman" panose="02020603050405020304" pitchFamily="18" charset="0"/>
              </a:rPr>
              <a:t>								     </a:t>
            </a:r>
            <a:r>
              <a:rPr lang="en-US" altLang="zh-CN" sz="3600" cap="small" dirty="0">
                <a:solidFill>
                  <a:srgbClr val="333333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3600" cap="small" dirty="0">
                <a:solidFill>
                  <a:srgbClr val="3333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cap="small" dirty="0">
                <a:solidFill>
                  <a:srgbClr val="333333"/>
                </a:solidFill>
                <a:latin typeface="Times New Roman" panose="02020603050405020304" pitchFamily="18" charset="0"/>
              </a:rPr>
              <a:t>Heraclitus</a:t>
            </a:r>
            <a:endParaRPr lang="en-US" altLang="zh-CN" sz="4800" cap="small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77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3CEBF-936D-4CF3-8D49-C3C6FF9B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994542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Change is the Only Constant in Life</a:t>
            </a:r>
            <a:endParaRPr lang="zh-CN" altLang="en-US" dirty="0"/>
          </a:p>
        </p:txBody>
      </p:sp>
      <p:sp>
        <p:nvSpPr>
          <p:cNvPr id="4" name="圆角矩形 4">
            <a:extLst>
              <a:ext uri="{FF2B5EF4-FFF2-40B4-BE49-F238E27FC236}">
                <a16:creationId xmlns:a16="http://schemas.microsoft.com/office/drawing/2014/main" id="{7F1C16CD-A02E-40E7-8782-F03F7E74534E}"/>
              </a:ext>
            </a:extLst>
          </p:cNvPr>
          <p:cNvSpPr/>
          <p:nvPr/>
        </p:nvSpPr>
        <p:spPr>
          <a:xfrm>
            <a:off x="964953" y="2169096"/>
            <a:ext cx="1523521" cy="69163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/>
              <a:t>Config.</a:t>
            </a:r>
            <a:endParaRPr kumimoji="1" lang="zh-CN" altLang="en-US" sz="2000" b="1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0D35A65-E912-4FB0-ABEE-A4C525DD6C2A}"/>
              </a:ext>
            </a:extLst>
          </p:cNvPr>
          <p:cNvSpPr/>
          <p:nvPr/>
        </p:nvSpPr>
        <p:spPr>
          <a:xfrm>
            <a:off x="964953" y="3469194"/>
            <a:ext cx="1523521" cy="69163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/>
              <a:t>Routes</a:t>
            </a:r>
            <a:endParaRPr kumimoji="1" lang="zh-CN" altLang="en-US" sz="2400" b="1" dirty="0"/>
          </a:p>
        </p:txBody>
      </p:sp>
      <p:sp>
        <p:nvSpPr>
          <p:cNvPr id="6" name="圆角矩形 4">
            <a:extLst>
              <a:ext uri="{FF2B5EF4-FFF2-40B4-BE49-F238E27FC236}">
                <a16:creationId xmlns:a16="http://schemas.microsoft.com/office/drawing/2014/main" id="{02F6F511-44D8-46AD-8006-2ED18619B11F}"/>
              </a:ext>
            </a:extLst>
          </p:cNvPr>
          <p:cNvSpPr/>
          <p:nvPr/>
        </p:nvSpPr>
        <p:spPr>
          <a:xfrm>
            <a:off x="964952" y="4769293"/>
            <a:ext cx="1523522" cy="69163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Links</a:t>
            </a:r>
            <a:endParaRPr kumimoji="1" lang="zh-CN" altLang="en-US" sz="20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071910-3317-48FC-A9AF-4AC8977C8AB7}"/>
              </a:ext>
            </a:extLst>
          </p:cNvPr>
          <p:cNvSpPr/>
          <p:nvPr/>
        </p:nvSpPr>
        <p:spPr>
          <a:xfrm>
            <a:off x="2710545" y="3599568"/>
            <a:ext cx="79160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 Tier-1 ISPs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median of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100K route updates 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day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11BD51-B9BD-4041-A890-A571727FAE1F}"/>
              </a:ext>
            </a:extLst>
          </p:cNvPr>
          <p:cNvSpPr/>
          <p:nvPr/>
        </p:nvSpPr>
        <p:spPr>
          <a:xfrm>
            <a:off x="2710545" y="2091721"/>
            <a:ext cx="895458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12.5 configuration changes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device per week</a:t>
            </a:r>
          </a:p>
          <a:p>
            <a:pPr>
              <a:spcAft>
                <a:spcPts val="600"/>
              </a:spcAft>
            </a:pPr>
            <a:r>
              <a:rPr lang="en-US" altLang="zh-CN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large universities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up to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 stanzas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router per month</a:t>
            </a:r>
            <a:endParaRPr lang="zh-CN" altLang="en-US" sz="2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067410C-1AFA-4A48-89C9-6A70E1931A92}"/>
              </a:ext>
            </a:extLst>
          </p:cNvPr>
          <p:cNvCxnSpPr>
            <a:cxnSpLocks/>
          </p:cNvCxnSpPr>
          <p:nvPr/>
        </p:nvCxnSpPr>
        <p:spPr>
          <a:xfrm>
            <a:off x="8904173" y="696523"/>
            <a:ext cx="1103812" cy="70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96DBD056-A389-400B-9980-D7346AD8CAC0}"/>
              </a:ext>
            </a:extLst>
          </p:cNvPr>
          <p:cNvSpPr/>
          <p:nvPr/>
        </p:nvSpPr>
        <p:spPr>
          <a:xfrm>
            <a:off x="8957317" y="949447"/>
            <a:ext cx="18774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511BB9-E147-4DFE-ABA9-A50B72EB0C00}"/>
              </a:ext>
            </a:extLst>
          </p:cNvPr>
          <p:cNvSpPr/>
          <p:nvPr/>
        </p:nvSpPr>
        <p:spPr>
          <a:xfrm>
            <a:off x="2710545" y="4691917"/>
            <a:ext cx="8895803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large service provider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median of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18.5 link outages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day</a:t>
            </a:r>
          </a:p>
          <a:p>
            <a:pPr>
              <a:spcAft>
                <a:spcPts val="600"/>
              </a:spcAft>
            </a:pPr>
            <a:r>
              <a:rPr lang="en-US" altLang="zh-CN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CENIC research network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median of 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38.5 outages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link per year</a:t>
            </a:r>
            <a:endParaRPr lang="zh-CN" altLang="en-US" sz="2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3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3CEBF-936D-4CF3-8D49-C3C6FF9B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994542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Change is Risky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11BD51-B9BD-4041-A890-A571727FAE1F}"/>
              </a:ext>
            </a:extLst>
          </p:cNvPr>
          <p:cNvSpPr/>
          <p:nvPr/>
        </p:nvSpPr>
        <p:spPr>
          <a:xfrm>
            <a:off x="838199" y="1589187"/>
            <a:ext cx="10630987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Each change poses a risk of network outages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Alibaba: Configuration update error accounts for 56% of network incidents in 2016 and 2017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84CF38-E016-4B2D-BAFC-BAAD907B9FAC}"/>
              </a:ext>
            </a:extLst>
          </p:cNvPr>
          <p:cNvSpPr/>
          <p:nvPr/>
        </p:nvSpPr>
        <p:spPr>
          <a:xfrm>
            <a:off x="838199" y="3347732"/>
            <a:ext cx="1082822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Operators need to know whether changes in the control plane will cause (un)desired changes in end-to-end forwarding behavior</a:t>
            </a:r>
          </a:p>
          <a:p>
            <a:pPr marL="360000" lvl="1" indent="-3429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Would a link failure break isolation? </a:t>
            </a:r>
          </a:p>
          <a:p>
            <a:pPr marL="360000" lvl="1" indent="-3429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Would a configuration change reduce reachability?</a:t>
            </a:r>
          </a:p>
          <a:p>
            <a:pPr marL="360000" lvl="1" indent="-3429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Would an external route withdrawal degrade load balancing?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8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9FA4-442F-4D36-AEFE-5AC44E6D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1020424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Verify the Changes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32A08-58F2-4650-B5D6-ECFDC0BB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0160"/>
            <a:ext cx="11020425" cy="5471160"/>
          </a:xfrm>
        </p:spPr>
        <p:txBody>
          <a:bodyPr/>
          <a:lstStyle/>
          <a:p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configuration</a:t>
            </a:r>
            <a:r>
              <a:rPr lang="zh-CN" altLang="en-US" dirty="0"/>
              <a:t> </a:t>
            </a:r>
            <a:r>
              <a:rPr lang="en-US" altLang="zh-CN" dirty="0"/>
              <a:t>verifiers</a:t>
            </a:r>
          </a:p>
          <a:p>
            <a:pPr lvl="1"/>
            <a:r>
              <a:rPr lang="en-US" altLang="zh-CN" dirty="0"/>
              <a:t>Batfish </a:t>
            </a:r>
            <a:r>
              <a:rPr lang="en-US" altLang="zh-CN" baseline="30000" dirty="0"/>
              <a:t>[NSDI ’15]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ARC</a:t>
            </a:r>
            <a:r>
              <a:rPr lang="en-US" altLang="zh-CN" baseline="30000" dirty="0"/>
              <a:t> [SIGCOMM ’16]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ERA</a:t>
            </a:r>
            <a:r>
              <a:rPr lang="en-US" altLang="zh-CN" baseline="30000" dirty="0"/>
              <a:t> [OSDI ’16]</a:t>
            </a:r>
            <a:r>
              <a:rPr lang="en-US" altLang="zh-CN" dirty="0"/>
              <a:t>, Minesweeper</a:t>
            </a:r>
            <a:r>
              <a:rPr lang="en-US" altLang="zh-CN" baseline="30000" dirty="0"/>
              <a:t> [SIGCOMM ’17]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Tiramisu</a:t>
            </a:r>
            <a:r>
              <a:rPr lang="en-US" altLang="zh-CN" baseline="30000" dirty="0"/>
              <a:t> [NSDI ’20]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Plankton </a:t>
            </a:r>
            <a:r>
              <a:rPr lang="en-US" altLang="zh-CN" baseline="30000" dirty="0"/>
              <a:t>[NSDI ’20]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Hoyan</a:t>
            </a:r>
            <a:r>
              <a:rPr lang="en-US" altLang="zh-CN" dirty="0"/>
              <a:t> </a:t>
            </a:r>
            <a:r>
              <a:rPr lang="en-US" altLang="zh-CN" baseline="30000" dirty="0"/>
              <a:t>[SIGCOMM’20]</a:t>
            </a:r>
            <a:r>
              <a:rPr lang="en-US" altLang="zh-CN" dirty="0"/>
              <a:t>...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650A733E-AAD1-4E6A-8B19-D5ECF0227E35}"/>
              </a:ext>
            </a:extLst>
          </p:cNvPr>
          <p:cNvSpPr/>
          <p:nvPr/>
        </p:nvSpPr>
        <p:spPr>
          <a:xfrm>
            <a:off x="7795964" y="4551302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4200EF0-6B80-41A6-A5BD-27DFDE55A82C}"/>
              </a:ext>
            </a:extLst>
          </p:cNvPr>
          <p:cNvSpPr/>
          <p:nvPr/>
        </p:nvSpPr>
        <p:spPr>
          <a:xfrm>
            <a:off x="2749841" y="5365911"/>
            <a:ext cx="1467394" cy="406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rPr>
              <a:t>snapshot (t)</a:t>
            </a:r>
            <a:endParaRPr lang="zh-CN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3012E0-83E6-4EB8-AD3B-67D72F75612C}"/>
              </a:ext>
            </a:extLst>
          </p:cNvPr>
          <p:cNvSpPr/>
          <p:nvPr/>
        </p:nvSpPr>
        <p:spPr>
          <a:xfrm>
            <a:off x="8463499" y="5317987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rPr>
              <a:t>roperties (t)</a:t>
            </a:r>
            <a:endParaRPr lang="zh-CN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67A5DAE-F875-4A23-8182-F59A83219246}"/>
              </a:ext>
            </a:extLst>
          </p:cNvPr>
          <p:cNvGrpSpPr/>
          <p:nvPr/>
        </p:nvGrpSpPr>
        <p:grpSpPr>
          <a:xfrm>
            <a:off x="1970572" y="3856728"/>
            <a:ext cx="2682795" cy="1482797"/>
            <a:chOff x="806831" y="2610421"/>
            <a:chExt cx="2924894" cy="1649727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89B0F26C-E6FB-458E-A655-B57F977F1187}"/>
                </a:ext>
              </a:extLst>
            </p:cNvPr>
            <p:cNvGrpSpPr/>
            <p:nvPr/>
          </p:nvGrpSpPr>
          <p:grpSpPr>
            <a:xfrm>
              <a:off x="806831" y="2824315"/>
              <a:ext cx="2924894" cy="1435833"/>
              <a:chOff x="357389" y="2721530"/>
              <a:chExt cx="3445013" cy="1693545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1596D725-57D3-472A-9884-99ACA467E976}"/>
                  </a:ext>
                </a:extLst>
              </p:cNvPr>
              <p:cNvGrpSpPr/>
              <p:nvPr/>
            </p:nvGrpSpPr>
            <p:grpSpPr>
              <a:xfrm>
                <a:off x="357389" y="2721530"/>
                <a:ext cx="3445013" cy="1660170"/>
                <a:chOff x="463423" y="3253412"/>
                <a:chExt cx="4045757" cy="1867413"/>
              </a:xfrm>
            </p:grpSpPr>
            <p:sp>
              <p:nvSpPr>
                <p:cNvPr id="58" name="云形 57">
                  <a:extLst>
                    <a:ext uri="{FF2B5EF4-FFF2-40B4-BE49-F238E27FC236}">
                      <a16:creationId xmlns:a16="http://schemas.microsoft.com/office/drawing/2014/main" id="{467A6C55-68D6-4EC2-BC06-A575273791B2}"/>
                    </a:ext>
                  </a:extLst>
                </p:cNvPr>
                <p:cNvSpPr/>
                <p:nvPr/>
              </p:nvSpPr>
              <p:spPr>
                <a:xfrm>
                  <a:off x="591744" y="3296989"/>
                  <a:ext cx="3917436" cy="1823836"/>
                </a:xfrm>
                <a:prstGeom prst="cloud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9" name="Straight Connector 12">
                  <a:extLst>
                    <a:ext uri="{FF2B5EF4-FFF2-40B4-BE49-F238E27FC236}">
                      <a16:creationId xmlns:a16="http://schemas.microsoft.com/office/drawing/2014/main" id="{82E3C3B3-2862-42B0-9A6F-161C671C841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622298" y="3746003"/>
                  <a:ext cx="604837" cy="33020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pic>
              <p:nvPicPr>
                <p:cNvPr id="60" name="Picture 14" descr="router.png">
                  <a:extLst>
                    <a:ext uri="{FF2B5EF4-FFF2-40B4-BE49-F238E27FC236}">
                      <a16:creationId xmlns:a16="http://schemas.microsoft.com/office/drawing/2014/main" id="{DCE5CDC9-95AA-44F1-8625-0B541FB20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4748" y="3746003"/>
                  <a:ext cx="817562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14" descr="router.png">
                  <a:extLst>
                    <a:ext uri="{FF2B5EF4-FFF2-40B4-BE49-F238E27FC236}">
                      <a16:creationId xmlns:a16="http://schemas.microsoft.com/office/drawing/2014/main" id="{4FD62F69-5F92-4DA2-BCAD-E9A35EDAF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7585" y="3253412"/>
                  <a:ext cx="817563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14" descr="router.png">
                  <a:extLst>
                    <a:ext uri="{FF2B5EF4-FFF2-40B4-BE49-F238E27FC236}">
                      <a16:creationId xmlns:a16="http://schemas.microsoft.com/office/drawing/2014/main" id="{064021B9-BD5D-4477-96B8-5AFA378037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6686" y="3922503"/>
                  <a:ext cx="817562" cy="8175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3" name="Straight Connector 7">
                  <a:extLst>
                    <a:ext uri="{FF2B5EF4-FFF2-40B4-BE49-F238E27FC236}">
                      <a16:creationId xmlns:a16="http://schemas.microsoft.com/office/drawing/2014/main" id="{68A86124-3BEA-4BE9-B12D-5502AEE2CAF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645990" y="3754090"/>
                  <a:ext cx="725601" cy="466576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4" name="Straight Connector 10">
                  <a:extLst>
                    <a:ext uri="{FF2B5EF4-FFF2-40B4-BE49-F238E27FC236}">
                      <a16:creationId xmlns:a16="http://schemas.microsoft.com/office/drawing/2014/main" id="{6AD554A4-2E2D-4CE7-81B3-A5963179D2C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02449" y="4166657"/>
                  <a:ext cx="1769141" cy="163257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5" name="Straight Connector 12">
                  <a:extLst>
                    <a:ext uri="{FF2B5EF4-FFF2-40B4-BE49-F238E27FC236}">
                      <a16:creationId xmlns:a16="http://schemas.microsoft.com/office/drawing/2014/main" id="{13F3FDD2-FC80-4498-8376-341D256E1F9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463423" y="4182565"/>
                  <a:ext cx="573087" cy="1588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6" name="Straight Connector 12">
                  <a:extLst>
                    <a:ext uri="{FF2B5EF4-FFF2-40B4-BE49-F238E27FC236}">
                      <a16:creationId xmlns:a16="http://schemas.microsoft.com/office/drawing/2014/main" id="{E08B9747-6258-406A-B293-1AFC745BD3F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3920010" y="4324681"/>
                  <a:ext cx="495300" cy="9525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54" name="Picture 14" descr="router.png">
                <a:extLst>
                  <a:ext uri="{FF2B5EF4-FFF2-40B4-BE49-F238E27FC236}">
                    <a16:creationId xmlns:a16="http://schemas.microsoft.com/office/drawing/2014/main" id="{0DF42E12-19AD-45EF-89BC-B2031A077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636" y="3688246"/>
                <a:ext cx="696165" cy="726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5" name="Straight Connector 10">
                <a:extLst>
                  <a:ext uri="{FF2B5EF4-FFF2-40B4-BE49-F238E27FC236}">
                    <a16:creationId xmlns:a16="http://schemas.microsoft.com/office/drawing/2014/main" id="{9720F5F8-3758-4D57-A5A4-013E9E6F17C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83067" y="3651370"/>
                <a:ext cx="665338" cy="337690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Straight Connector 10">
                <a:extLst>
                  <a:ext uri="{FF2B5EF4-FFF2-40B4-BE49-F238E27FC236}">
                    <a16:creationId xmlns:a16="http://schemas.microsoft.com/office/drawing/2014/main" id="{BF054648-6685-4F8E-BB8B-7D6B0C2698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60261" y="3233728"/>
                <a:ext cx="109050" cy="625322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Straight Connector 10">
                <a:extLst>
                  <a:ext uri="{FF2B5EF4-FFF2-40B4-BE49-F238E27FC236}">
                    <a16:creationId xmlns:a16="http://schemas.microsoft.com/office/drawing/2014/main" id="{ABD4077F-C2D9-47CC-985B-CC608ADF40A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26270" y="3787073"/>
                <a:ext cx="407463" cy="168334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F3DCAED5-D4A1-4E2C-8633-BCCFEE8EC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5015" y="2957490"/>
              <a:ext cx="342169" cy="349875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CA38FFFF-2D75-4FDB-B9F3-8166A8E15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5550" y="2610421"/>
              <a:ext cx="342169" cy="349875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42AC8C32-8BD0-4F83-90BD-845104031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6196" y="3083632"/>
              <a:ext cx="342169" cy="349875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A7B04F0E-7CE6-4060-B996-3BD9C8C4C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0761" y="3728820"/>
              <a:ext cx="342169" cy="349875"/>
            </a:xfrm>
            <a:prstGeom prst="rect">
              <a:avLst/>
            </a:prstGeom>
          </p:spPr>
        </p:pic>
      </p:grpSp>
      <p:pic>
        <p:nvPicPr>
          <p:cNvPr id="67" name="图片 66">
            <a:extLst>
              <a:ext uri="{FF2B5EF4-FFF2-40B4-BE49-F238E27FC236}">
                <a16:creationId xmlns:a16="http://schemas.microsoft.com/office/drawing/2014/main" id="{41E7F629-BE96-42F5-A26A-4B87B6A70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643" y="4208991"/>
            <a:ext cx="1302066" cy="106842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9F529C3F-E470-4353-9582-FBDDE23DB035}"/>
              </a:ext>
            </a:extLst>
          </p:cNvPr>
          <p:cNvGrpSpPr/>
          <p:nvPr/>
        </p:nvGrpSpPr>
        <p:grpSpPr>
          <a:xfrm>
            <a:off x="4961245" y="4241250"/>
            <a:ext cx="2567770" cy="1483066"/>
            <a:chOff x="4876194" y="4046850"/>
            <a:chExt cx="2567770" cy="1483066"/>
          </a:xfrm>
        </p:grpSpPr>
        <p:sp>
          <p:nvSpPr>
            <p:cNvPr id="42" name="箭头: 右 41">
              <a:extLst>
                <a:ext uri="{FF2B5EF4-FFF2-40B4-BE49-F238E27FC236}">
                  <a16:creationId xmlns:a16="http://schemas.microsoft.com/office/drawing/2014/main" id="{4D9C2CF9-46E1-4216-8EEB-F6284C565A06}"/>
                </a:ext>
              </a:extLst>
            </p:cNvPr>
            <p:cNvSpPr/>
            <p:nvPr/>
          </p:nvSpPr>
          <p:spPr>
            <a:xfrm>
              <a:off x="4876194" y="4356902"/>
              <a:ext cx="454449" cy="448752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54A19E1-0E9A-43CB-B528-B76978714088}"/>
                </a:ext>
              </a:extLst>
            </p:cNvPr>
            <p:cNvSpPr/>
            <p:nvPr/>
          </p:nvSpPr>
          <p:spPr>
            <a:xfrm>
              <a:off x="5486819" y="5160584"/>
              <a:ext cx="19571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zh-CN" sz="1800" b="0" dirty="0">
                  <a:latin typeface="Arial" panose="020B0604020202020204" pitchFamily="34" charset="0"/>
                  <a:cs typeface="Arial" panose="020B0604020202020204" pitchFamily="34" charset="0"/>
                </a:rPr>
                <a:t>etwork model (t)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39833091-BAF1-4060-A5D8-A61AA8B50DD9}"/>
                </a:ext>
              </a:extLst>
            </p:cNvPr>
            <p:cNvGrpSpPr/>
            <p:nvPr/>
          </p:nvGrpSpPr>
          <p:grpSpPr>
            <a:xfrm>
              <a:off x="5570929" y="4046850"/>
              <a:ext cx="1717598" cy="1000520"/>
              <a:chOff x="5440628" y="3257648"/>
              <a:chExt cx="1717598" cy="1000520"/>
            </a:xfrm>
          </p:grpSpPr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0A6295FF-F129-4668-ABAC-41043F93EAE9}"/>
                  </a:ext>
                </a:extLst>
              </p:cNvPr>
              <p:cNvSpPr/>
              <p:nvPr/>
            </p:nvSpPr>
            <p:spPr>
              <a:xfrm>
                <a:off x="5440628" y="3257648"/>
                <a:ext cx="1717598" cy="1000520"/>
              </a:xfrm>
              <a:prstGeom prst="round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A236420E-F98A-4F4B-885D-D6D770AE4CF1}"/>
                  </a:ext>
                </a:extLst>
              </p:cNvPr>
              <p:cNvSpPr/>
              <p:nvPr/>
            </p:nvSpPr>
            <p:spPr>
              <a:xfrm>
                <a:off x="6230323" y="3404007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53CACFFF-E8D3-41B2-8313-C39925AC3505}"/>
                  </a:ext>
                </a:extLst>
              </p:cNvPr>
              <p:cNvSpPr/>
              <p:nvPr/>
            </p:nvSpPr>
            <p:spPr>
              <a:xfrm>
                <a:off x="5756432" y="3673455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4BD3E8DD-BC1A-4E61-A07A-28FC76A2C6D2}"/>
                  </a:ext>
                </a:extLst>
              </p:cNvPr>
              <p:cNvSpPr/>
              <p:nvPr/>
            </p:nvSpPr>
            <p:spPr>
              <a:xfrm>
                <a:off x="6703207" y="3676871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30487E07-9D43-4715-8F0F-ED94479B9AEA}"/>
                  </a:ext>
                </a:extLst>
              </p:cNvPr>
              <p:cNvSpPr/>
              <p:nvPr/>
            </p:nvSpPr>
            <p:spPr>
              <a:xfrm>
                <a:off x="6230322" y="3958082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3855FCF1-637B-4C1D-945F-AC527DF76FCA}"/>
                  </a:ext>
                </a:extLst>
              </p:cNvPr>
              <p:cNvCxnSpPr>
                <a:cxnSpLocks/>
                <a:stCxn id="74" idx="7"/>
                <a:endCxn id="73" idx="3"/>
              </p:cNvCxnSpPr>
              <p:nvPr/>
            </p:nvCxnSpPr>
            <p:spPr>
              <a:xfrm flipV="1">
                <a:off x="5922493" y="3563273"/>
                <a:ext cx="336322" cy="137508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7BA8508B-B5AB-47C9-8D3C-52675162CE3D}"/>
                  </a:ext>
                </a:extLst>
              </p:cNvPr>
              <p:cNvCxnSpPr>
                <a:cxnSpLocks/>
                <a:stCxn id="73" idx="5"/>
                <a:endCxn id="75" idx="1"/>
              </p:cNvCxnSpPr>
              <p:nvPr/>
            </p:nvCxnSpPr>
            <p:spPr>
              <a:xfrm>
                <a:off x="6396384" y="3563273"/>
                <a:ext cx="335315" cy="140924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0F0DE275-1DBF-480C-A09B-545F8D0DB884}"/>
                  </a:ext>
                </a:extLst>
              </p:cNvPr>
              <p:cNvCxnSpPr>
                <a:cxnSpLocks/>
                <a:stCxn id="73" idx="4"/>
                <a:endCxn id="76" idx="0"/>
              </p:cNvCxnSpPr>
              <p:nvPr/>
            </p:nvCxnSpPr>
            <p:spPr>
              <a:xfrm flipH="1">
                <a:off x="6327599" y="3590599"/>
                <a:ext cx="1" cy="367483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16961E10-54E4-43DF-9138-F13BD3C88E8D}"/>
                  </a:ext>
                </a:extLst>
              </p:cNvPr>
              <p:cNvCxnSpPr>
                <a:cxnSpLocks/>
                <a:stCxn id="76" idx="6"/>
                <a:endCxn id="75" idx="3"/>
              </p:cNvCxnSpPr>
              <p:nvPr/>
            </p:nvCxnSpPr>
            <p:spPr>
              <a:xfrm flipV="1">
                <a:off x="6424875" y="3836137"/>
                <a:ext cx="306824" cy="215241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8" name="对话气泡: 矩形 14">
            <a:extLst>
              <a:ext uri="{FF2B5EF4-FFF2-40B4-BE49-F238E27FC236}">
                <a16:creationId xmlns:a16="http://schemas.microsoft.com/office/drawing/2014/main" id="{73FA401C-CDAE-4F6D-B445-5EDD25BBFFA6}"/>
              </a:ext>
            </a:extLst>
          </p:cNvPr>
          <p:cNvSpPr/>
          <p:nvPr/>
        </p:nvSpPr>
        <p:spPr>
          <a:xfrm>
            <a:off x="9839297" y="3310574"/>
            <a:ext cx="1514504" cy="1191693"/>
          </a:xfrm>
          <a:prstGeom prst="wedgeRectCallout">
            <a:avLst>
              <a:gd name="adj1" fmla="val -64290"/>
              <a:gd name="adj2" fmla="val 3512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reachability no loops isolation …</a:t>
            </a:r>
          </a:p>
        </p:txBody>
      </p:sp>
      <p:sp>
        <p:nvSpPr>
          <p:cNvPr id="99" name="对话气泡: 矩形 14">
            <a:extLst>
              <a:ext uri="{FF2B5EF4-FFF2-40B4-BE49-F238E27FC236}">
                <a16:creationId xmlns:a16="http://schemas.microsoft.com/office/drawing/2014/main" id="{B19A6C44-4B40-42BA-9B93-63681A79BA1E}"/>
              </a:ext>
            </a:extLst>
          </p:cNvPr>
          <p:cNvSpPr/>
          <p:nvPr/>
        </p:nvSpPr>
        <p:spPr>
          <a:xfrm>
            <a:off x="748716" y="3208411"/>
            <a:ext cx="1514504" cy="881441"/>
          </a:xfrm>
          <a:prstGeom prst="wedgeRectCallout">
            <a:avLst>
              <a:gd name="adj1" fmla="val 52418"/>
              <a:gd name="adj2" fmla="val 6849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OSPF, BGP, ACLs, …</a:t>
            </a:r>
          </a:p>
        </p:txBody>
      </p:sp>
    </p:spTree>
    <p:extLst>
      <p:ext uri="{BB962C8B-B14F-4D97-AF65-F5344CB8AC3E}">
        <p14:creationId xmlns:p14="http://schemas.microsoft.com/office/powerpoint/2010/main" val="61164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/>
      <p:bldP spid="9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9FA4-442F-4D36-AEFE-5AC44E6D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1020424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Limitation of “Snapshot" Verification #1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32A08-58F2-4650-B5D6-ECFDC0BB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0160"/>
            <a:ext cx="11020425" cy="5471160"/>
          </a:xfrm>
        </p:spPr>
        <p:txBody>
          <a:bodyPr/>
          <a:lstStyle/>
          <a:p>
            <a:r>
              <a:rPr lang="en-US" altLang="zh-CN" dirty="0"/>
              <a:t>Input: a single snapshot instead of differences between snapshots</a:t>
            </a:r>
          </a:p>
          <a:p>
            <a:r>
              <a:rPr lang="en-US" altLang="zh-CN" dirty="0"/>
              <a:t>Observation: network changes are often small</a:t>
            </a:r>
          </a:p>
          <a:p>
            <a:pPr lvl="1"/>
            <a:r>
              <a:rPr lang="en-US" altLang="zh-CN" dirty="0"/>
              <a:t>Example: a campus network with 28 routers and 50 links, running OSPF. On average, the network has 75K total lines of configuration, which generate 25K total forwarding rules.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F47F16-8BB9-4E9C-AFC6-D11379B5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57" y="4175564"/>
            <a:ext cx="6295443" cy="238586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EEBCBFE-FA24-491F-80A5-33333B78910D}"/>
              </a:ext>
            </a:extLst>
          </p:cNvPr>
          <p:cNvSpPr/>
          <p:nvPr/>
        </p:nvSpPr>
        <p:spPr>
          <a:xfrm>
            <a:off x="7520619" y="4553408"/>
            <a:ext cx="43380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228 lines of configuration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(0.3%)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are changed, causing 146 forwarding rules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(0.6%)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and 34 ACL rules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(0.9%)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change, on average.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3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613DA-26A7-428C-A067-1B5DB1C2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Limitation of “Snapshot" Verification #1</a:t>
            </a:r>
            <a:endParaRPr lang="zh-CN" altLang="en-US" dirty="0"/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AC96F20A-7056-4887-A2D4-7FE9D1BF0914}"/>
              </a:ext>
            </a:extLst>
          </p:cNvPr>
          <p:cNvSpPr/>
          <p:nvPr/>
        </p:nvSpPr>
        <p:spPr>
          <a:xfrm>
            <a:off x="4740459" y="2322986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F8D91302-BF0C-4B22-934E-664E3C94BFDE}"/>
              </a:ext>
            </a:extLst>
          </p:cNvPr>
          <p:cNvSpPr/>
          <p:nvPr/>
        </p:nvSpPr>
        <p:spPr>
          <a:xfrm>
            <a:off x="8179978" y="2322986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DD91108-D247-43F2-8854-A7E66ABFDAB5}"/>
              </a:ext>
            </a:extLst>
          </p:cNvPr>
          <p:cNvSpPr/>
          <p:nvPr/>
        </p:nvSpPr>
        <p:spPr>
          <a:xfrm>
            <a:off x="2305855" y="3130395"/>
            <a:ext cx="1467394" cy="406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rPr>
              <a:t>snapshot (t)</a:t>
            </a:r>
            <a:endParaRPr lang="zh-CN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AD8F25B-44F9-49FE-BAAE-67863B74FD63}"/>
              </a:ext>
            </a:extLst>
          </p:cNvPr>
          <p:cNvSpPr/>
          <p:nvPr/>
        </p:nvSpPr>
        <p:spPr>
          <a:xfrm>
            <a:off x="9308313" y="3089671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rPr>
              <a:t>roperties (t)</a:t>
            </a:r>
            <a:endParaRPr lang="zh-CN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DBBAF000-9BE8-4222-B04E-9A4803005757}"/>
              </a:ext>
            </a:extLst>
          </p:cNvPr>
          <p:cNvGrpSpPr/>
          <p:nvPr/>
        </p:nvGrpSpPr>
        <p:grpSpPr>
          <a:xfrm>
            <a:off x="1526586" y="1621212"/>
            <a:ext cx="2682795" cy="1482797"/>
            <a:chOff x="806831" y="2610421"/>
            <a:chExt cx="2924894" cy="1649727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74AB753F-58C5-405E-8A4C-51A47A8BBFEC}"/>
                </a:ext>
              </a:extLst>
            </p:cNvPr>
            <p:cNvGrpSpPr/>
            <p:nvPr/>
          </p:nvGrpSpPr>
          <p:grpSpPr>
            <a:xfrm>
              <a:off x="806831" y="2824315"/>
              <a:ext cx="2924894" cy="1435833"/>
              <a:chOff x="357389" y="2721530"/>
              <a:chExt cx="3445013" cy="1693545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C77E5AB8-6AD5-41D6-871A-93C5EE569631}"/>
                  </a:ext>
                </a:extLst>
              </p:cNvPr>
              <p:cNvGrpSpPr/>
              <p:nvPr/>
            </p:nvGrpSpPr>
            <p:grpSpPr>
              <a:xfrm>
                <a:off x="357389" y="2721530"/>
                <a:ext cx="3445013" cy="1660170"/>
                <a:chOff x="463423" y="3253412"/>
                <a:chExt cx="4045757" cy="1867413"/>
              </a:xfrm>
            </p:grpSpPr>
            <p:sp>
              <p:nvSpPr>
                <p:cNvPr id="102" name="云形 101">
                  <a:extLst>
                    <a:ext uri="{FF2B5EF4-FFF2-40B4-BE49-F238E27FC236}">
                      <a16:creationId xmlns:a16="http://schemas.microsoft.com/office/drawing/2014/main" id="{BE883C5E-18CA-4CED-A1FB-F92D6371A584}"/>
                    </a:ext>
                  </a:extLst>
                </p:cNvPr>
                <p:cNvSpPr/>
                <p:nvPr/>
              </p:nvSpPr>
              <p:spPr>
                <a:xfrm>
                  <a:off x="591744" y="3296989"/>
                  <a:ext cx="3917436" cy="1823836"/>
                </a:xfrm>
                <a:prstGeom prst="cloud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03" name="Straight Connector 12">
                  <a:extLst>
                    <a:ext uri="{FF2B5EF4-FFF2-40B4-BE49-F238E27FC236}">
                      <a16:creationId xmlns:a16="http://schemas.microsoft.com/office/drawing/2014/main" id="{8095F09E-7D00-4BED-AD0B-E88E72426E9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622298" y="3746003"/>
                  <a:ext cx="604837" cy="33020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pic>
              <p:nvPicPr>
                <p:cNvPr id="104" name="Picture 14" descr="router.png">
                  <a:extLst>
                    <a:ext uri="{FF2B5EF4-FFF2-40B4-BE49-F238E27FC236}">
                      <a16:creationId xmlns:a16="http://schemas.microsoft.com/office/drawing/2014/main" id="{27B0C22F-D5A8-42D2-9DC5-A0725E67B6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4748" y="3746003"/>
                  <a:ext cx="817562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5" name="Picture 14" descr="router.png">
                  <a:extLst>
                    <a:ext uri="{FF2B5EF4-FFF2-40B4-BE49-F238E27FC236}">
                      <a16:creationId xmlns:a16="http://schemas.microsoft.com/office/drawing/2014/main" id="{21EF3C7E-D7A1-4497-971E-51D7350BAB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7585" y="3253412"/>
                  <a:ext cx="817563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14" descr="router.png">
                  <a:extLst>
                    <a:ext uri="{FF2B5EF4-FFF2-40B4-BE49-F238E27FC236}">
                      <a16:creationId xmlns:a16="http://schemas.microsoft.com/office/drawing/2014/main" id="{2DD25B0D-4257-4369-9F6A-4E698A6D08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6686" y="3922503"/>
                  <a:ext cx="817562" cy="8175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7" name="Straight Connector 7">
                  <a:extLst>
                    <a:ext uri="{FF2B5EF4-FFF2-40B4-BE49-F238E27FC236}">
                      <a16:creationId xmlns:a16="http://schemas.microsoft.com/office/drawing/2014/main" id="{D3902CBB-8D61-4125-96DB-A83AFB4E61A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645990" y="3754090"/>
                  <a:ext cx="725601" cy="466576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8" name="Straight Connector 10">
                  <a:extLst>
                    <a:ext uri="{FF2B5EF4-FFF2-40B4-BE49-F238E27FC236}">
                      <a16:creationId xmlns:a16="http://schemas.microsoft.com/office/drawing/2014/main" id="{7E07EAEC-8EFD-4ED7-9716-E934FD1EC16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02449" y="4166657"/>
                  <a:ext cx="1769141" cy="163257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9" name="Straight Connector 12">
                  <a:extLst>
                    <a:ext uri="{FF2B5EF4-FFF2-40B4-BE49-F238E27FC236}">
                      <a16:creationId xmlns:a16="http://schemas.microsoft.com/office/drawing/2014/main" id="{70CA7AA8-888C-45C7-984A-D8C203C26BF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463423" y="4182565"/>
                  <a:ext cx="573087" cy="1588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0" name="Straight Connector 12">
                  <a:extLst>
                    <a:ext uri="{FF2B5EF4-FFF2-40B4-BE49-F238E27FC236}">
                      <a16:creationId xmlns:a16="http://schemas.microsoft.com/office/drawing/2014/main" id="{EB45BCD3-CFFF-418C-A3F0-B6435765BAB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3920010" y="4324681"/>
                  <a:ext cx="495300" cy="9525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98" name="Picture 14" descr="router.png">
                <a:extLst>
                  <a:ext uri="{FF2B5EF4-FFF2-40B4-BE49-F238E27FC236}">
                    <a16:creationId xmlns:a16="http://schemas.microsoft.com/office/drawing/2014/main" id="{BF154840-8D5E-4B85-BF9A-44AAA61F6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636" y="3688246"/>
                <a:ext cx="696165" cy="726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99" name="Straight Connector 10">
                <a:extLst>
                  <a:ext uri="{FF2B5EF4-FFF2-40B4-BE49-F238E27FC236}">
                    <a16:creationId xmlns:a16="http://schemas.microsoft.com/office/drawing/2014/main" id="{753CD678-D6B3-4378-9A83-D2ED5A04A10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83067" y="3651370"/>
                <a:ext cx="665338" cy="337690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Straight Connector 10">
                <a:extLst>
                  <a:ext uri="{FF2B5EF4-FFF2-40B4-BE49-F238E27FC236}">
                    <a16:creationId xmlns:a16="http://schemas.microsoft.com/office/drawing/2014/main" id="{83372050-3847-4DDF-80EC-82DA13DEBA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60261" y="3233728"/>
                <a:ext cx="109050" cy="625322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Straight Connector 10">
                <a:extLst>
                  <a:ext uri="{FF2B5EF4-FFF2-40B4-BE49-F238E27FC236}">
                    <a16:creationId xmlns:a16="http://schemas.microsoft.com/office/drawing/2014/main" id="{5BD8F184-FB94-4DFB-B9F6-126667E93D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26270" y="3787073"/>
                <a:ext cx="407463" cy="168334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93" name="图片 92">
              <a:extLst>
                <a:ext uri="{FF2B5EF4-FFF2-40B4-BE49-F238E27FC236}">
                  <a16:creationId xmlns:a16="http://schemas.microsoft.com/office/drawing/2014/main" id="{68B6DD54-0930-484E-84C4-A8B067279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5015" y="2957490"/>
              <a:ext cx="342169" cy="349875"/>
            </a:xfrm>
            <a:prstGeom prst="rect">
              <a:avLst/>
            </a:prstGeom>
          </p:spPr>
        </p:pic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81764249-5331-42AA-843B-29FC05271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65550" y="2610421"/>
              <a:ext cx="342169" cy="349875"/>
            </a:xfrm>
            <a:prstGeom prst="rect">
              <a:avLst/>
            </a:prstGeom>
          </p:spPr>
        </p:pic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C9933662-7D28-42CA-840F-EE61CD9C7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6196" y="3083632"/>
              <a:ext cx="342169" cy="349875"/>
            </a:xfrm>
            <a:prstGeom prst="rect">
              <a:avLst/>
            </a:prstGeom>
          </p:spPr>
        </p:pic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25DAAB4B-6221-4837-BD43-9BE88AF0A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0761" y="3728820"/>
              <a:ext cx="342169" cy="349875"/>
            </a:xfrm>
            <a:prstGeom prst="rect">
              <a:avLst/>
            </a:prstGeom>
          </p:spPr>
        </p:pic>
      </p:grpSp>
      <p:pic>
        <p:nvPicPr>
          <p:cNvPr id="111" name="图片 110">
            <a:extLst>
              <a:ext uri="{FF2B5EF4-FFF2-40B4-BE49-F238E27FC236}">
                <a16:creationId xmlns:a16="http://schemas.microsoft.com/office/drawing/2014/main" id="{9DC57424-C753-4C51-88B9-86344F61F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4457" y="1980675"/>
            <a:ext cx="1302066" cy="1068427"/>
          </a:xfrm>
          <a:prstGeom prst="rect">
            <a:avLst/>
          </a:prstGeom>
        </p:spPr>
      </p:pic>
      <p:sp>
        <p:nvSpPr>
          <p:cNvPr id="112" name="矩形 111">
            <a:extLst>
              <a:ext uri="{FF2B5EF4-FFF2-40B4-BE49-F238E27FC236}">
                <a16:creationId xmlns:a16="http://schemas.microsoft.com/office/drawing/2014/main" id="{0F536454-EA04-48D3-85EE-77A07E044BE8}"/>
              </a:ext>
            </a:extLst>
          </p:cNvPr>
          <p:cNvSpPr/>
          <p:nvPr/>
        </p:nvSpPr>
        <p:spPr>
          <a:xfrm>
            <a:off x="5725484" y="3126668"/>
            <a:ext cx="1957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rPr>
              <a:t>etwork model (t)</a:t>
            </a:r>
            <a:endParaRPr lang="zh-CN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5FD35434-A3FE-46B4-AA4D-C5BA10CC55F4}"/>
              </a:ext>
            </a:extLst>
          </p:cNvPr>
          <p:cNvGrpSpPr/>
          <p:nvPr/>
        </p:nvGrpSpPr>
        <p:grpSpPr>
          <a:xfrm>
            <a:off x="5809594" y="2012934"/>
            <a:ext cx="1717598" cy="1000520"/>
            <a:chOff x="5440628" y="3257648"/>
            <a:chExt cx="1717598" cy="1000520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3D0C1FA7-F518-4AC9-B839-12F28C3C914F}"/>
                </a:ext>
              </a:extLst>
            </p:cNvPr>
            <p:cNvSpPr/>
            <p:nvPr/>
          </p:nvSpPr>
          <p:spPr>
            <a:xfrm>
              <a:off x="5440628" y="3257648"/>
              <a:ext cx="1717598" cy="1000520"/>
            </a:xfrm>
            <a:prstGeom prst="round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523165F1-CDB7-4EF3-A89E-DC60EA70B8FB}"/>
                </a:ext>
              </a:extLst>
            </p:cNvPr>
            <p:cNvSpPr/>
            <p:nvPr/>
          </p:nvSpPr>
          <p:spPr>
            <a:xfrm>
              <a:off x="6230323" y="3404007"/>
              <a:ext cx="194553" cy="186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5AC51BA9-A99D-40FF-B257-08AB04F26036}"/>
                </a:ext>
              </a:extLst>
            </p:cNvPr>
            <p:cNvSpPr/>
            <p:nvPr/>
          </p:nvSpPr>
          <p:spPr>
            <a:xfrm>
              <a:off x="5756432" y="3673455"/>
              <a:ext cx="194553" cy="186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D5A1F0A4-777E-4404-8E42-C655B1BDB0EB}"/>
                </a:ext>
              </a:extLst>
            </p:cNvPr>
            <p:cNvSpPr/>
            <p:nvPr/>
          </p:nvSpPr>
          <p:spPr>
            <a:xfrm>
              <a:off x="6703207" y="3676871"/>
              <a:ext cx="194553" cy="186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D7DD45E8-84A1-4337-8855-2156F72B07EF}"/>
                </a:ext>
              </a:extLst>
            </p:cNvPr>
            <p:cNvSpPr/>
            <p:nvPr/>
          </p:nvSpPr>
          <p:spPr>
            <a:xfrm>
              <a:off x="6230322" y="3958082"/>
              <a:ext cx="194553" cy="1865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F8B47CCA-D8F8-4F46-B705-B1915D9EF9B8}"/>
                </a:ext>
              </a:extLst>
            </p:cNvPr>
            <p:cNvCxnSpPr>
              <a:cxnSpLocks/>
              <a:stCxn id="116" idx="7"/>
              <a:endCxn id="115" idx="3"/>
            </p:cNvCxnSpPr>
            <p:nvPr/>
          </p:nvCxnSpPr>
          <p:spPr>
            <a:xfrm flipV="1">
              <a:off x="5922493" y="3563273"/>
              <a:ext cx="336322" cy="137508"/>
            </a:xfrm>
            <a:prstGeom prst="straightConnector1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010DEB73-02DF-4C9F-A26B-00854AD91481}"/>
                </a:ext>
              </a:extLst>
            </p:cNvPr>
            <p:cNvCxnSpPr>
              <a:cxnSpLocks/>
              <a:stCxn id="115" idx="5"/>
              <a:endCxn id="117" idx="1"/>
            </p:cNvCxnSpPr>
            <p:nvPr/>
          </p:nvCxnSpPr>
          <p:spPr>
            <a:xfrm>
              <a:off x="6396384" y="3563273"/>
              <a:ext cx="335315" cy="140924"/>
            </a:xfrm>
            <a:prstGeom prst="straightConnector1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D012EF2-F88C-4BB5-BDE5-97FB8F2B4F9D}"/>
                </a:ext>
              </a:extLst>
            </p:cNvPr>
            <p:cNvCxnSpPr>
              <a:cxnSpLocks/>
              <a:stCxn id="115" idx="4"/>
              <a:endCxn id="118" idx="0"/>
            </p:cNvCxnSpPr>
            <p:nvPr/>
          </p:nvCxnSpPr>
          <p:spPr>
            <a:xfrm flipH="1">
              <a:off x="6327599" y="3590599"/>
              <a:ext cx="1" cy="367483"/>
            </a:xfrm>
            <a:prstGeom prst="straightConnector1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3296CA29-1BEE-4CEF-B991-8C1FC5EB0914}"/>
                </a:ext>
              </a:extLst>
            </p:cNvPr>
            <p:cNvCxnSpPr>
              <a:cxnSpLocks/>
              <a:stCxn id="118" idx="6"/>
              <a:endCxn id="117" idx="3"/>
            </p:cNvCxnSpPr>
            <p:nvPr/>
          </p:nvCxnSpPr>
          <p:spPr>
            <a:xfrm flipV="1">
              <a:off x="6424875" y="3836137"/>
              <a:ext cx="306824" cy="215241"/>
            </a:xfrm>
            <a:prstGeom prst="straightConnector1">
              <a:avLst/>
            </a:prstGeom>
            <a:ln w="127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555CEFD3-E737-4D07-9BC8-08A43BE9C698}"/>
              </a:ext>
            </a:extLst>
          </p:cNvPr>
          <p:cNvGrpSpPr/>
          <p:nvPr/>
        </p:nvGrpSpPr>
        <p:grpSpPr>
          <a:xfrm>
            <a:off x="1542149" y="3568330"/>
            <a:ext cx="9322711" cy="1870518"/>
            <a:chOff x="1173183" y="4813044"/>
            <a:chExt cx="9322711" cy="1870518"/>
          </a:xfrm>
        </p:grpSpPr>
        <p:pic>
          <p:nvPicPr>
            <p:cNvPr id="134" name="图片 133">
              <a:extLst>
                <a:ext uri="{FF2B5EF4-FFF2-40B4-BE49-F238E27FC236}">
                  <a16:creationId xmlns:a16="http://schemas.microsoft.com/office/drawing/2014/main" id="{68F1A975-84E1-42C9-B465-906614685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73467" y="5170565"/>
              <a:ext cx="1301899" cy="1092562"/>
            </a:xfrm>
            <a:prstGeom prst="rect">
              <a:avLst/>
            </a:prstGeom>
          </p:spPr>
        </p:pic>
        <p:sp>
          <p:nvSpPr>
            <p:cNvPr id="135" name="箭头: 右 134">
              <a:extLst>
                <a:ext uri="{FF2B5EF4-FFF2-40B4-BE49-F238E27FC236}">
                  <a16:creationId xmlns:a16="http://schemas.microsoft.com/office/drawing/2014/main" id="{432B5F56-ECC8-43CA-8015-E0418DA9C41D}"/>
                </a:ext>
              </a:extLst>
            </p:cNvPr>
            <p:cNvSpPr/>
            <p:nvPr/>
          </p:nvSpPr>
          <p:spPr>
            <a:xfrm>
              <a:off x="7811012" y="5522435"/>
              <a:ext cx="454449" cy="448752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CECE1DDF-BC49-4DF5-8C0E-9B7CA6E4B2E2}"/>
                </a:ext>
              </a:extLst>
            </p:cNvPr>
            <p:cNvSpPr/>
            <p:nvPr/>
          </p:nvSpPr>
          <p:spPr>
            <a:xfrm>
              <a:off x="1917026" y="6277233"/>
              <a:ext cx="1521046" cy="406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800" b="0" dirty="0">
                  <a:latin typeface="Arial" panose="020B0604020202020204" pitchFamily="34" charset="0"/>
                  <a:cs typeface="Arial" panose="020B0604020202020204" pitchFamily="34" charset="0"/>
                </a:rPr>
                <a:t>snapshot (t’)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48FE51A4-2B21-49CA-9049-2825CF0F64A4}"/>
                </a:ext>
              </a:extLst>
            </p:cNvPr>
            <p:cNvSpPr/>
            <p:nvPr/>
          </p:nvSpPr>
          <p:spPr>
            <a:xfrm>
              <a:off x="8951882" y="6281677"/>
              <a:ext cx="15440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1800" b="0" dirty="0">
                  <a:latin typeface="Arial" panose="020B0604020202020204" pitchFamily="34" charset="0"/>
                  <a:cs typeface="Arial" panose="020B0604020202020204" pitchFamily="34" charset="0"/>
                </a:rPr>
                <a:t>roperties (t’)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箭头: 右 137">
              <a:extLst>
                <a:ext uri="{FF2B5EF4-FFF2-40B4-BE49-F238E27FC236}">
                  <a16:creationId xmlns:a16="http://schemas.microsoft.com/office/drawing/2014/main" id="{E3A56594-C482-4FE9-8D4B-F0315B4783C7}"/>
                </a:ext>
              </a:extLst>
            </p:cNvPr>
            <p:cNvSpPr/>
            <p:nvPr/>
          </p:nvSpPr>
          <p:spPr>
            <a:xfrm>
              <a:off x="4369964" y="5427209"/>
              <a:ext cx="454449" cy="448752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48752E32-1DC9-4DC4-9C3A-F724152D5942}"/>
                </a:ext>
              </a:extLst>
            </p:cNvPr>
            <p:cNvGrpSpPr/>
            <p:nvPr/>
          </p:nvGrpSpPr>
          <p:grpSpPr>
            <a:xfrm>
              <a:off x="1173183" y="4813044"/>
              <a:ext cx="2682795" cy="1482797"/>
              <a:chOff x="806831" y="4757206"/>
              <a:chExt cx="2924894" cy="1649727"/>
            </a:xfrm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333BC013-D31E-45DA-8C7A-5515AD0F67FD}"/>
                  </a:ext>
                </a:extLst>
              </p:cNvPr>
              <p:cNvGrpSpPr/>
              <p:nvPr/>
            </p:nvGrpSpPr>
            <p:grpSpPr>
              <a:xfrm>
                <a:off x="806831" y="4971100"/>
                <a:ext cx="2924894" cy="1435833"/>
                <a:chOff x="357389" y="2721530"/>
                <a:chExt cx="3445013" cy="1693545"/>
              </a:xfrm>
            </p:grpSpPr>
            <p:grpSp>
              <p:nvGrpSpPr>
                <p:cNvPr id="160" name="组合 159">
                  <a:extLst>
                    <a:ext uri="{FF2B5EF4-FFF2-40B4-BE49-F238E27FC236}">
                      <a16:creationId xmlns:a16="http://schemas.microsoft.com/office/drawing/2014/main" id="{2BD832F3-F9E7-4EC8-80D9-DFDBAE919EE1}"/>
                    </a:ext>
                  </a:extLst>
                </p:cNvPr>
                <p:cNvGrpSpPr/>
                <p:nvPr/>
              </p:nvGrpSpPr>
              <p:grpSpPr>
                <a:xfrm>
                  <a:off x="357389" y="2721530"/>
                  <a:ext cx="3445013" cy="1660170"/>
                  <a:chOff x="463423" y="3253412"/>
                  <a:chExt cx="4045757" cy="1867413"/>
                </a:xfrm>
              </p:grpSpPr>
              <p:sp>
                <p:nvSpPr>
                  <p:cNvPr id="165" name="云形 164">
                    <a:extLst>
                      <a:ext uri="{FF2B5EF4-FFF2-40B4-BE49-F238E27FC236}">
                        <a16:creationId xmlns:a16="http://schemas.microsoft.com/office/drawing/2014/main" id="{ED012653-9615-4CEB-9258-C94D4AB12E4C}"/>
                      </a:ext>
                    </a:extLst>
                  </p:cNvPr>
                  <p:cNvSpPr/>
                  <p:nvPr/>
                </p:nvSpPr>
                <p:spPr>
                  <a:xfrm>
                    <a:off x="591744" y="3296989"/>
                    <a:ext cx="3917436" cy="1823836"/>
                  </a:xfrm>
                  <a:prstGeom prst="cloud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66" name="Straight Connector 12">
                    <a:extLst>
                      <a:ext uri="{FF2B5EF4-FFF2-40B4-BE49-F238E27FC236}">
                        <a16:creationId xmlns:a16="http://schemas.microsoft.com/office/drawing/2014/main" id="{6E45A7D9-5483-47AD-BA45-531A8CFB61D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622298" y="3746003"/>
                    <a:ext cx="604837" cy="330200"/>
                  </a:xfrm>
                  <a:prstGeom prst="line">
                    <a:avLst/>
                  </a:prstGeom>
                  <a:noFill/>
                  <a:ln w="25400">
                    <a:solidFill>
                      <a:srgbClr val="7F7F7F"/>
                    </a:solidFill>
                    <a:round/>
                    <a:headEnd/>
                    <a:tailEnd/>
                  </a:ln>
                  <a:effectLst>
                    <a:outerShdw blurRad="40000" dist="20000" dir="5400000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pic>
                <p:nvPicPr>
                  <p:cNvPr id="167" name="Picture 14" descr="router.png">
                    <a:extLst>
                      <a:ext uri="{FF2B5EF4-FFF2-40B4-BE49-F238E27FC236}">
                        <a16:creationId xmlns:a16="http://schemas.microsoft.com/office/drawing/2014/main" id="{CA77E954-85E5-4493-9D0C-B69FAB10E7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04748" y="3746003"/>
                    <a:ext cx="817562" cy="81756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8" name="Picture 14" descr="router.png">
                    <a:extLst>
                      <a:ext uri="{FF2B5EF4-FFF2-40B4-BE49-F238E27FC236}">
                        <a16:creationId xmlns:a16="http://schemas.microsoft.com/office/drawing/2014/main" id="{414C64E9-E329-4959-9C3A-F7C2AF35BE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977585" y="3253412"/>
                    <a:ext cx="817563" cy="81756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9" name="Picture 14" descr="router.png">
                    <a:extLst>
                      <a:ext uri="{FF2B5EF4-FFF2-40B4-BE49-F238E27FC236}">
                        <a16:creationId xmlns:a16="http://schemas.microsoft.com/office/drawing/2014/main" id="{74AB2CF8-C787-42B2-961E-85AA5B7855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26686" y="3922503"/>
                    <a:ext cx="817562" cy="8175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cxnSp>
                <p:nvCxnSpPr>
                  <p:cNvPr id="170" name="Straight Connector 7">
                    <a:extLst>
                      <a:ext uri="{FF2B5EF4-FFF2-40B4-BE49-F238E27FC236}">
                        <a16:creationId xmlns:a16="http://schemas.microsoft.com/office/drawing/2014/main" id="{66147DDC-B5E2-4708-86BB-B959B121E06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645990" y="3754090"/>
                    <a:ext cx="725601" cy="466576"/>
                  </a:xfrm>
                  <a:prstGeom prst="line">
                    <a:avLst/>
                  </a:prstGeom>
                  <a:noFill/>
                  <a:ln w="25400">
                    <a:solidFill>
                      <a:srgbClr val="7F7F7F"/>
                    </a:solidFill>
                    <a:round/>
                    <a:headEnd/>
                    <a:tailEnd/>
                  </a:ln>
                  <a:effectLst>
                    <a:outerShdw blurRad="40000" dist="20000" dir="5400000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1" name="Straight Connector 10">
                    <a:extLst>
                      <a:ext uri="{FF2B5EF4-FFF2-40B4-BE49-F238E27FC236}">
                        <a16:creationId xmlns:a16="http://schemas.microsoft.com/office/drawing/2014/main" id="{34E61735-09A7-4936-8FA3-150A8444DFE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602449" y="4166657"/>
                    <a:ext cx="1769141" cy="163257"/>
                  </a:xfrm>
                  <a:prstGeom prst="line">
                    <a:avLst/>
                  </a:prstGeom>
                  <a:noFill/>
                  <a:ln w="25400">
                    <a:solidFill>
                      <a:srgbClr val="7F7F7F"/>
                    </a:solidFill>
                    <a:round/>
                    <a:headEnd/>
                    <a:tailEnd/>
                  </a:ln>
                  <a:effectLst>
                    <a:outerShdw blurRad="40000" dist="20000" dir="5400000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2" name="Straight Connector 12">
                    <a:extLst>
                      <a:ext uri="{FF2B5EF4-FFF2-40B4-BE49-F238E27FC236}">
                        <a16:creationId xmlns:a16="http://schemas.microsoft.com/office/drawing/2014/main" id="{380A3C87-4CBE-4658-9E9B-967AB94B81F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463423" y="4182565"/>
                    <a:ext cx="573087" cy="1588"/>
                  </a:xfrm>
                  <a:prstGeom prst="line">
                    <a:avLst/>
                  </a:prstGeom>
                  <a:noFill/>
                  <a:ln w="25400">
                    <a:solidFill>
                      <a:srgbClr val="7F7F7F"/>
                    </a:solidFill>
                    <a:round/>
                    <a:headEnd/>
                    <a:tailEnd/>
                  </a:ln>
                  <a:effectLst>
                    <a:outerShdw blurRad="40000" dist="20000" dir="5400000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3" name="Straight Connector 12">
                    <a:extLst>
                      <a:ext uri="{FF2B5EF4-FFF2-40B4-BE49-F238E27FC236}">
                        <a16:creationId xmlns:a16="http://schemas.microsoft.com/office/drawing/2014/main" id="{4F1BC007-FC59-4017-B1EA-98769D2C175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3920010" y="4324681"/>
                    <a:ext cx="495300" cy="9525"/>
                  </a:xfrm>
                  <a:prstGeom prst="line">
                    <a:avLst/>
                  </a:prstGeom>
                  <a:noFill/>
                  <a:ln w="25400">
                    <a:solidFill>
                      <a:srgbClr val="7F7F7F"/>
                    </a:solidFill>
                    <a:round/>
                    <a:headEnd/>
                    <a:tailEnd/>
                  </a:ln>
                  <a:effectLst>
                    <a:outerShdw blurRad="40000" dist="20000" dir="5400000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pic>
              <p:nvPicPr>
                <p:cNvPr id="161" name="Picture 14" descr="router.png">
                  <a:extLst>
                    <a:ext uri="{FF2B5EF4-FFF2-40B4-BE49-F238E27FC236}">
                      <a16:creationId xmlns:a16="http://schemas.microsoft.com/office/drawing/2014/main" id="{F99F3696-F8D1-4A17-AE23-0B5BE47D78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28636" y="3688246"/>
                  <a:ext cx="696165" cy="7268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62" name="Straight Connector 10">
                  <a:extLst>
                    <a:ext uri="{FF2B5EF4-FFF2-40B4-BE49-F238E27FC236}">
                      <a16:creationId xmlns:a16="http://schemas.microsoft.com/office/drawing/2014/main" id="{3C4589B2-78AA-4FD6-BA2B-EDFC81D8DD9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283067" y="3651370"/>
                  <a:ext cx="665338" cy="33769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3" name="Straight Connector 10">
                  <a:extLst>
                    <a:ext uri="{FF2B5EF4-FFF2-40B4-BE49-F238E27FC236}">
                      <a16:creationId xmlns:a16="http://schemas.microsoft.com/office/drawing/2014/main" id="{CD7305C1-D63F-45F9-96D1-AB6F3F0C9E0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060261" y="3233728"/>
                  <a:ext cx="109050" cy="625322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4" name="Straight Connector 10">
                  <a:extLst>
                    <a:ext uri="{FF2B5EF4-FFF2-40B4-BE49-F238E27FC236}">
                      <a16:creationId xmlns:a16="http://schemas.microsoft.com/office/drawing/2014/main" id="{C78FAB8A-F663-4927-8AC9-35F67DA3EF2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426270" y="3787073"/>
                  <a:ext cx="407463" cy="168334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153" name="图片 152">
                <a:extLst>
                  <a:ext uri="{FF2B5EF4-FFF2-40B4-BE49-F238E27FC236}">
                    <a16:creationId xmlns:a16="http://schemas.microsoft.com/office/drawing/2014/main" id="{679E4316-DDED-4C2A-90EE-84706B486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5015" y="5104275"/>
                <a:ext cx="342169" cy="349875"/>
              </a:xfrm>
              <a:prstGeom prst="rect">
                <a:avLst/>
              </a:prstGeom>
            </p:spPr>
          </p:pic>
          <p:pic>
            <p:nvPicPr>
              <p:cNvPr id="154" name="图片 153">
                <a:extLst>
                  <a:ext uri="{FF2B5EF4-FFF2-40B4-BE49-F238E27FC236}">
                    <a16:creationId xmlns:a16="http://schemas.microsoft.com/office/drawing/2014/main" id="{83909F8F-B918-495A-B810-DF8E6C4F8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5550" y="4757206"/>
                <a:ext cx="342169" cy="349875"/>
              </a:xfrm>
              <a:prstGeom prst="rect">
                <a:avLst/>
              </a:prstGeom>
            </p:spPr>
          </p:pic>
          <p:pic>
            <p:nvPicPr>
              <p:cNvPr id="155" name="图片 154">
                <a:extLst>
                  <a:ext uri="{FF2B5EF4-FFF2-40B4-BE49-F238E27FC236}">
                    <a16:creationId xmlns:a16="http://schemas.microsoft.com/office/drawing/2014/main" id="{724D8E70-6EA5-4FC0-AEAB-8BB063304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6196" y="5230417"/>
                <a:ext cx="342169" cy="349875"/>
              </a:xfrm>
              <a:prstGeom prst="rect">
                <a:avLst/>
              </a:prstGeom>
            </p:spPr>
          </p:pic>
          <p:pic>
            <p:nvPicPr>
              <p:cNvPr id="156" name="图片 155">
                <a:extLst>
                  <a:ext uri="{FF2B5EF4-FFF2-40B4-BE49-F238E27FC236}">
                    <a16:creationId xmlns:a16="http://schemas.microsoft.com/office/drawing/2014/main" id="{32B6228A-9DC4-49B3-B45B-B4416A8A6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0761" y="5875605"/>
                <a:ext cx="342169" cy="349875"/>
              </a:xfrm>
              <a:prstGeom prst="rect">
                <a:avLst/>
              </a:prstGeom>
            </p:spPr>
          </p:pic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CC273B67-25AC-484E-89E1-B099D0630FDB}"/>
                  </a:ext>
                </a:extLst>
              </p:cNvPr>
              <p:cNvCxnSpPr/>
              <p:nvPr/>
            </p:nvCxnSpPr>
            <p:spPr>
              <a:xfrm>
                <a:off x="3033920" y="5387655"/>
                <a:ext cx="155001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613C1924-7289-497D-9D49-B650D854226D}"/>
                  </a:ext>
                </a:extLst>
              </p:cNvPr>
              <p:cNvCxnSpPr/>
              <p:nvPr/>
            </p:nvCxnSpPr>
            <p:spPr>
              <a:xfrm>
                <a:off x="1345980" y="5349250"/>
                <a:ext cx="155001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C24303CD-97B9-487C-A0F6-C4CE03054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245" y="6117350"/>
                <a:ext cx="175373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3D4E675-0B8C-473D-8447-A90DD339587F}"/>
                </a:ext>
              </a:extLst>
            </p:cNvPr>
            <p:cNvSpPr/>
            <p:nvPr/>
          </p:nvSpPr>
          <p:spPr>
            <a:xfrm>
              <a:off x="5357366" y="6281677"/>
              <a:ext cx="19571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network model (t’)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8E5F51AD-5AFA-451D-B766-86CEBEBACA45}"/>
                </a:ext>
              </a:extLst>
            </p:cNvPr>
            <p:cNvGrpSpPr/>
            <p:nvPr/>
          </p:nvGrpSpPr>
          <p:grpSpPr>
            <a:xfrm>
              <a:off x="5440627" y="5230786"/>
              <a:ext cx="1717598" cy="1000520"/>
              <a:chOff x="5440628" y="3257648"/>
              <a:chExt cx="1717598" cy="1000520"/>
            </a:xfrm>
          </p:grpSpPr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AAD6BFBE-BDEC-49B3-A4C7-1E94EBED7ED4}"/>
                  </a:ext>
                </a:extLst>
              </p:cNvPr>
              <p:cNvSpPr/>
              <p:nvPr/>
            </p:nvSpPr>
            <p:spPr>
              <a:xfrm>
                <a:off x="5440628" y="3257648"/>
                <a:ext cx="1717598" cy="1000520"/>
              </a:xfrm>
              <a:prstGeom prst="round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4D21BC05-CB47-4286-AAA7-523B2D7E10A8}"/>
                  </a:ext>
                </a:extLst>
              </p:cNvPr>
              <p:cNvSpPr/>
              <p:nvPr/>
            </p:nvSpPr>
            <p:spPr>
              <a:xfrm>
                <a:off x="6230323" y="3404007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7A172580-025E-49A9-86A7-19008B2E9754}"/>
                  </a:ext>
                </a:extLst>
              </p:cNvPr>
              <p:cNvSpPr/>
              <p:nvPr/>
            </p:nvSpPr>
            <p:spPr>
              <a:xfrm>
                <a:off x="5756432" y="3673455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F01539B7-4492-4695-B8B8-E6A71869F40C}"/>
                  </a:ext>
                </a:extLst>
              </p:cNvPr>
              <p:cNvSpPr/>
              <p:nvPr/>
            </p:nvSpPr>
            <p:spPr>
              <a:xfrm>
                <a:off x="6703207" y="3676871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324A1B42-DAAC-437F-941C-A37C2089C01D}"/>
                  </a:ext>
                </a:extLst>
              </p:cNvPr>
              <p:cNvSpPr/>
              <p:nvPr/>
            </p:nvSpPr>
            <p:spPr>
              <a:xfrm>
                <a:off x="6230322" y="3958082"/>
                <a:ext cx="194553" cy="1865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2B955837-4400-4B15-86C2-A1C799935F00}"/>
                  </a:ext>
                </a:extLst>
              </p:cNvPr>
              <p:cNvCxnSpPr>
                <a:cxnSpLocks/>
                <a:stCxn id="145" idx="7"/>
                <a:endCxn id="144" idx="3"/>
              </p:cNvCxnSpPr>
              <p:nvPr/>
            </p:nvCxnSpPr>
            <p:spPr>
              <a:xfrm flipV="1">
                <a:off x="5922493" y="3563273"/>
                <a:ext cx="336322" cy="137508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B748325D-A463-42C5-AD8A-81CAE143A1DC}"/>
                  </a:ext>
                </a:extLst>
              </p:cNvPr>
              <p:cNvCxnSpPr>
                <a:cxnSpLocks/>
                <a:endCxn id="146" idx="1"/>
              </p:cNvCxnSpPr>
              <p:nvPr/>
            </p:nvCxnSpPr>
            <p:spPr>
              <a:xfrm>
                <a:off x="6480688" y="3563273"/>
                <a:ext cx="251011" cy="140924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3CFB4F78-0DCF-4B78-A2F6-673DEB2BDABD}"/>
                  </a:ext>
                </a:extLst>
              </p:cNvPr>
              <p:cNvCxnSpPr>
                <a:cxnSpLocks/>
                <a:stCxn id="144" idx="4"/>
                <a:endCxn id="147" idx="0"/>
              </p:cNvCxnSpPr>
              <p:nvPr/>
            </p:nvCxnSpPr>
            <p:spPr>
              <a:xfrm flipH="1">
                <a:off x="6327599" y="3590599"/>
                <a:ext cx="1" cy="367483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4E56B423-6419-42AF-9960-BC0F4009C602}"/>
                  </a:ext>
                </a:extLst>
              </p:cNvPr>
              <p:cNvCxnSpPr>
                <a:cxnSpLocks/>
                <a:stCxn id="147" idx="6"/>
                <a:endCxn id="146" idx="3"/>
              </p:cNvCxnSpPr>
              <p:nvPr/>
            </p:nvCxnSpPr>
            <p:spPr>
              <a:xfrm flipV="1">
                <a:off x="6424875" y="3836137"/>
                <a:ext cx="306824" cy="215241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乘号 141">
              <a:extLst>
                <a:ext uri="{FF2B5EF4-FFF2-40B4-BE49-F238E27FC236}">
                  <a16:creationId xmlns:a16="http://schemas.microsoft.com/office/drawing/2014/main" id="{FB467A0D-7C12-43C0-987C-619E526644EE}"/>
                </a:ext>
              </a:extLst>
            </p:cNvPr>
            <p:cNvSpPr/>
            <p:nvPr/>
          </p:nvSpPr>
          <p:spPr>
            <a:xfrm>
              <a:off x="6428640" y="5486040"/>
              <a:ext cx="138871" cy="137508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30CED54-F73A-4FC9-B572-4012B4E3001D}"/>
              </a:ext>
            </a:extLst>
          </p:cNvPr>
          <p:cNvGrpSpPr/>
          <p:nvPr/>
        </p:nvGrpSpPr>
        <p:grpSpPr>
          <a:xfrm>
            <a:off x="5515481" y="1717900"/>
            <a:ext cx="5547791" cy="3822033"/>
            <a:chOff x="5515481" y="2689900"/>
            <a:chExt cx="5547791" cy="3822033"/>
          </a:xfrm>
        </p:grpSpPr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52D7F8E2-5400-4B9C-82D6-02A7F8E2D2B4}"/>
                </a:ext>
              </a:extLst>
            </p:cNvPr>
            <p:cNvSpPr/>
            <p:nvPr/>
          </p:nvSpPr>
          <p:spPr>
            <a:xfrm>
              <a:off x="9009865" y="2689900"/>
              <a:ext cx="2053407" cy="382203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89DA555E-7133-4EBA-916B-027FB3EE471D}"/>
                </a:ext>
              </a:extLst>
            </p:cNvPr>
            <p:cNvSpPr/>
            <p:nvPr/>
          </p:nvSpPr>
          <p:spPr>
            <a:xfrm>
              <a:off x="5515481" y="2695845"/>
              <a:ext cx="2427964" cy="381608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B36E816-1FCA-47BC-84B5-EE6080A6458E}"/>
              </a:ext>
            </a:extLst>
          </p:cNvPr>
          <p:cNvSpPr/>
          <p:nvPr/>
        </p:nvSpPr>
        <p:spPr>
          <a:xfrm>
            <a:off x="1476103" y="5793312"/>
            <a:ext cx="93249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Analyzing both snapshots (which differ only slightly) from scratch is wasteful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1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9FA4-442F-4D36-AEFE-5AC44E6D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1020424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Limitation of “Snapshot" Verification #2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32A08-58F2-4650-B5D6-ECFDC0BB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0160"/>
            <a:ext cx="11020425" cy="5471160"/>
          </a:xfrm>
        </p:spPr>
        <p:txBody>
          <a:bodyPr>
            <a:normAutofit/>
          </a:bodyPr>
          <a:lstStyle/>
          <a:p>
            <a:r>
              <a:rPr lang="en-US" altLang="zh-CN" dirty="0"/>
              <a:t>Input: difficult to determine which properties may be affected by a change and hence need to be checked</a:t>
            </a:r>
          </a:p>
          <a:p>
            <a:r>
              <a:rPr lang="en-US" altLang="zh-CN" dirty="0"/>
              <a:t>Specifying what to verify is as difficult as verification itself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The network has run for several years by several generations of operating teams, accumulating a lot of homegrown configuration changes.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Sometime operators may not dare to delete some configuration snippets, let alone knowing what the global intent is.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541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9FA4-442F-4D36-AEFE-5AC44E6D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1020424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Limitation of “Snapshot" Verification #2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32A08-58F2-4650-B5D6-ECFDC0BB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0160"/>
            <a:ext cx="11020425" cy="5471160"/>
          </a:xfrm>
        </p:spPr>
        <p:txBody>
          <a:bodyPr>
            <a:normAutofit/>
          </a:bodyPr>
          <a:lstStyle/>
          <a:p>
            <a:r>
              <a:rPr lang="en-US" altLang="zh-CN" dirty="0"/>
              <a:t>Workaround #1: narrow down properties with </a:t>
            </a:r>
            <a:r>
              <a:rPr lang="en-US" altLang="zh-CN" dirty="0">
                <a:solidFill>
                  <a:schemeClr val="tx1"/>
                </a:solidFill>
              </a:rPr>
              <a:t>Config2Spec </a:t>
            </a:r>
            <a:r>
              <a:rPr lang="en-US" altLang="zh-CN" baseline="30000" dirty="0">
                <a:solidFill>
                  <a:schemeClr val="tx1"/>
                </a:solidFill>
              </a:rPr>
              <a:t>[NSDI’20]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The set of inferred properties is still quite large: </a:t>
            </a:r>
            <a:r>
              <a:rPr lang="en-US" altLang="zh-CN" dirty="0">
                <a:solidFill>
                  <a:srgbClr val="FF0000"/>
                </a:solidFill>
              </a:rPr>
              <a:t>over 3k specifications </a:t>
            </a:r>
            <a:r>
              <a:rPr lang="en-US" altLang="zh-CN" dirty="0">
                <a:solidFill>
                  <a:schemeClr val="tx1"/>
                </a:solidFill>
              </a:rPr>
              <a:t>for a national research and education network with 10 routers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What if the configurations have errors?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Workaround #2: check all possible properties is wasteful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Large space of all properties: O(1000*1000) reachability properties for a network with 1000 end points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Only a small subset of properties are affected by a change</a:t>
            </a:r>
          </a:p>
        </p:txBody>
      </p:sp>
    </p:spTree>
    <p:extLst>
      <p:ext uri="{BB962C8B-B14F-4D97-AF65-F5344CB8AC3E}">
        <p14:creationId xmlns:p14="http://schemas.microsoft.com/office/powerpoint/2010/main" val="221008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912B0F5-7B1D-4260-9D8E-D33CDEA0C375}"/>
              </a:ext>
            </a:extLst>
          </p:cNvPr>
          <p:cNvSpPr/>
          <p:nvPr/>
        </p:nvSpPr>
        <p:spPr>
          <a:xfrm>
            <a:off x="156754" y="1798320"/>
            <a:ext cx="11874137" cy="2794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CN" sz="3200" b="1" dirty="0">
                <a:solidFill>
                  <a:schemeClr val="tx1"/>
                </a:solidFill>
              </a:rPr>
              <a:t>Differential Network Analysis (DNA)</a:t>
            </a:r>
          </a:p>
          <a:p>
            <a:pPr algn="ctr"/>
            <a:r>
              <a:rPr lang="en-US" altLang="zh-CN" sz="3200" i="1" dirty="0">
                <a:solidFill>
                  <a:schemeClr val="tx1"/>
                </a:solidFill>
              </a:rPr>
              <a:t>A new control plane verification paradigm where “difference” instead of “snapshot” becomes the first-class citizens</a:t>
            </a:r>
            <a:endParaRPr lang="zh-CN" altLang="en-US" sz="32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22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A12C0-695F-4B3C-AE95-4A89D3DA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DNA vs Traditional Network Verifiers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EA43270-1DDC-4CF1-95ED-17DAB754E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Traditional Network Verifiers</a:t>
            </a:r>
          </a:p>
          <a:p>
            <a:pPr lvl="1"/>
            <a:r>
              <a:rPr lang="en-US" altLang="zh-CN" dirty="0"/>
              <a:t>Input: a snapshot of configurations, external routes, link/router state </a:t>
            </a:r>
          </a:p>
          <a:p>
            <a:pPr lvl="1"/>
            <a:r>
              <a:rPr lang="en-US" altLang="zh-CN" dirty="0"/>
              <a:t>Output: operator-specified properties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1159949-DD29-4D38-B60A-A547F076ED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229770"/>
              </p:ext>
            </p:extLst>
          </p:nvPr>
        </p:nvGraphicFramePr>
        <p:xfrm>
          <a:off x="521176" y="2513530"/>
          <a:ext cx="9144000" cy="4237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Visio" r:id="rId3" imgW="3749051" imgH="1737301" progId="Visio.Drawing.15">
                  <p:embed/>
                </p:oleObj>
              </mc:Choice>
              <mc:Fallback>
                <p:oleObj name="Visio" r:id="rId3" imgW="3749051" imgH="1737301" progId="Visio.Drawing.15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A48676E-E8A9-4BA7-88B7-DB278A5CED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1176" y="2513530"/>
                        <a:ext cx="9144000" cy="4237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609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A12C0-695F-4B3C-AE95-4A89D3DA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DNA vs Traditional Network Verifiers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CE3D8E0-22E7-4557-ACFE-DBB62D0AD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Differential Network Analysis (DNA)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Input: differences of configurations, external routes, link/router state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Output: differences of forwarding properties</a:t>
            </a:r>
          </a:p>
          <a:p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97710CE-1084-4FF6-8D32-E455369BD46B}"/>
              </a:ext>
            </a:extLst>
          </p:cNvPr>
          <p:cNvGrpSpPr/>
          <p:nvPr/>
        </p:nvGrpSpPr>
        <p:grpSpPr>
          <a:xfrm>
            <a:off x="909809" y="3494315"/>
            <a:ext cx="9142440" cy="2480378"/>
            <a:chOff x="707335" y="2584311"/>
            <a:chExt cx="9142440" cy="2480378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0C1CC68-E2DB-4512-A5B5-D8DC4749A6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7620110"/>
                </p:ext>
              </p:extLst>
            </p:nvPr>
          </p:nvGraphicFramePr>
          <p:xfrm>
            <a:off x="707335" y="2584311"/>
            <a:ext cx="9142440" cy="2480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Visio" r:id="rId3" imgW="3764219" imgH="1021070" progId="Visio.Drawing.15">
                    <p:embed/>
                  </p:oleObj>
                </mc:Choice>
                <mc:Fallback>
                  <p:oleObj name="Visio" r:id="rId3" imgW="3764219" imgH="1021070" progId="Visio.Drawing.15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73E9E991-E582-42F4-B830-F29D1E1C84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7335" y="2584311"/>
                          <a:ext cx="9142440" cy="24803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19E1F5B-8715-4074-AD20-13A2580339B5}"/>
                </a:ext>
              </a:extLst>
            </p:cNvPr>
            <p:cNvCxnSpPr>
              <a:cxnSpLocks/>
            </p:cNvCxnSpPr>
            <p:nvPr/>
          </p:nvCxnSpPr>
          <p:spPr>
            <a:xfrm>
              <a:off x="8161241" y="3114904"/>
              <a:ext cx="294182" cy="376393"/>
            </a:xfrm>
            <a:prstGeom prst="straightConnector1">
              <a:avLst/>
            </a:prstGeom>
            <a:ln w="127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36BE544-B22D-4269-BF93-FAA46862B6D1}"/>
                </a:ext>
              </a:extLst>
            </p:cNvPr>
            <p:cNvSpPr txBox="1"/>
            <p:nvPr/>
          </p:nvSpPr>
          <p:spPr>
            <a:xfrm>
              <a:off x="7302588" y="2706205"/>
              <a:ext cx="112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6"/>
                  </a:solidFill>
                </a:rPr>
                <a:t>intended</a:t>
              </a:r>
              <a:endParaRPr lang="zh-CN" altLang="en-US" sz="2000" dirty="0">
                <a:solidFill>
                  <a:schemeClr val="accent6"/>
                </a:solidFill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3A4A860F-6514-48AF-9B20-28AE19BF58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1648" y="2958477"/>
              <a:ext cx="143466" cy="29567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952B1E-E4BA-4A50-BB49-A949FC816877}"/>
                </a:ext>
              </a:extLst>
            </p:cNvPr>
            <p:cNvSpPr txBox="1"/>
            <p:nvPr/>
          </p:nvSpPr>
          <p:spPr>
            <a:xfrm>
              <a:off x="8408379" y="2584311"/>
              <a:ext cx="13898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unintended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6211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A12C0-695F-4B3C-AE95-4A89D3DA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1140440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Achieving DNA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DD81B5E-E65E-45DD-8237-9A0D6C2EA487}"/>
              </a:ext>
            </a:extLst>
          </p:cNvPr>
          <p:cNvGrpSpPr/>
          <p:nvPr/>
        </p:nvGrpSpPr>
        <p:grpSpPr>
          <a:xfrm>
            <a:off x="4648351" y="2500252"/>
            <a:ext cx="5790595" cy="3242239"/>
            <a:chOff x="2310671" y="2510047"/>
            <a:chExt cx="5939110" cy="352341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BF28B8C-2B69-4D46-AD39-198CA1018526}"/>
                </a:ext>
              </a:extLst>
            </p:cNvPr>
            <p:cNvSpPr/>
            <p:nvPr/>
          </p:nvSpPr>
          <p:spPr>
            <a:xfrm>
              <a:off x="2310671" y="2510048"/>
              <a:ext cx="2969555" cy="1761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Minesweeper</a:t>
              </a: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Bagpipe</a:t>
              </a:r>
            </a:p>
            <a:p>
              <a:pPr algn="ctr"/>
              <a:r>
                <a:rPr lang="en-US" altLang="zh-CN" sz="2000" dirty="0" err="1">
                  <a:solidFill>
                    <a:schemeClr val="tx1"/>
                  </a:solidFill>
                </a:rPr>
                <a:t>Hoyan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A25ED03-C23B-4674-81DF-929D556489FD}"/>
                </a:ext>
              </a:extLst>
            </p:cNvPr>
            <p:cNvSpPr/>
            <p:nvPr/>
          </p:nvSpPr>
          <p:spPr>
            <a:xfrm>
              <a:off x="5280226" y="2510047"/>
              <a:ext cx="2969555" cy="1761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ARC</a:t>
              </a: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Tiramisu</a:t>
              </a: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ERA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7C202A1-3EE6-48AC-8450-1A6BCB160C9B}"/>
                </a:ext>
              </a:extLst>
            </p:cNvPr>
            <p:cNvSpPr/>
            <p:nvPr/>
          </p:nvSpPr>
          <p:spPr>
            <a:xfrm>
              <a:off x="2310671" y="4271752"/>
              <a:ext cx="2969555" cy="1761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Batfish (original)</a:t>
              </a: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Plankton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7797D08-58B3-4DF9-AD01-2BB452606197}"/>
                </a:ext>
              </a:extLst>
            </p:cNvPr>
            <p:cNvSpPr/>
            <p:nvPr/>
          </p:nvSpPr>
          <p:spPr>
            <a:xfrm>
              <a:off x="5280226" y="4271752"/>
              <a:ext cx="2969555" cy="1761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Batfish (current)</a:t>
              </a:r>
            </a:p>
            <a:p>
              <a:pPr algn="ctr"/>
              <a:r>
                <a:rPr lang="en-US" altLang="zh-CN" sz="2000" dirty="0" err="1">
                  <a:solidFill>
                    <a:schemeClr val="tx1"/>
                  </a:solidFill>
                </a:rPr>
                <a:t>ShapeShifter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2000" dirty="0" err="1">
                  <a:solidFill>
                    <a:schemeClr val="tx1"/>
                  </a:solidFill>
                </a:rPr>
                <a:t>FastPlane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C-BGP</a:t>
              </a:r>
            </a:p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72E9F3A-A23F-4806-A796-40FD459EEA65}"/>
              </a:ext>
            </a:extLst>
          </p:cNvPr>
          <p:cNvSpPr/>
          <p:nvPr/>
        </p:nvSpPr>
        <p:spPr>
          <a:xfrm>
            <a:off x="4648351" y="2500252"/>
            <a:ext cx="5790596" cy="32422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2EFF72-C47C-4A07-9DBE-927E7A0C2F42}"/>
              </a:ext>
            </a:extLst>
          </p:cNvPr>
          <p:cNvSpPr/>
          <p:nvPr/>
        </p:nvSpPr>
        <p:spPr>
          <a:xfrm>
            <a:off x="403968" y="2500252"/>
            <a:ext cx="33940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Refer to our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HotNets</a:t>
            </a:r>
            <a:r>
              <a:rPr lang="en-US" altLang="zh-CN" sz="2000" b="1" dirty="0">
                <a:solidFill>
                  <a:schemeClr val="accent1"/>
                </a:solidFill>
              </a:rPr>
              <a:t> paper on details why we choose this type of verification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4A0A59-14F8-48CC-8DFE-51FEA663947F}"/>
              </a:ext>
            </a:extLst>
          </p:cNvPr>
          <p:cNvSpPr/>
          <p:nvPr/>
        </p:nvSpPr>
        <p:spPr>
          <a:xfrm>
            <a:off x="4648350" y="4102597"/>
            <a:ext cx="2895299" cy="1621120"/>
          </a:xfrm>
          <a:prstGeom prst="rect">
            <a:avLst/>
          </a:prstGeom>
          <a:solidFill>
            <a:schemeClr val="accent1">
              <a:lumMod val="40000"/>
              <a:lumOff val="6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0B0918-ACF7-42E9-9735-EC7AABD663A4}"/>
              </a:ext>
            </a:extLst>
          </p:cNvPr>
          <p:cNvSpPr/>
          <p:nvPr/>
        </p:nvSpPr>
        <p:spPr>
          <a:xfrm rot="16200000">
            <a:off x="3660363" y="3168874"/>
            <a:ext cx="11256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/>
              <a:t>Analysis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99AB92-9E9D-4981-954A-E30039799144}"/>
              </a:ext>
            </a:extLst>
          </p:cNvPr>
          <p:cNvSpPr/>
          <p:nvPr/>
        </p:nvSpPr>
        <p:spPr>
          <a:xfrm rot="16200000">
            <a:off x="3506474" y="4747118"/>
            <a:ext cx="14334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/>
              <a:t>Simulation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633BA7-CC10-478C-A299-ADBFB98EF793}"/>
              </a:ext>
            </a:extLst>
          </p:cNvPr>
          <p:cNvSpPr/>
          <p:nvPr/>
        </p:nvSpPr>
        <p:spPr>
          <a:xfrm>
            <a:off x="4778171" y="1773591"/>
            <a:ext cx="26356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/>
              <a:t>Use general-purpose</a:t>
            </a:r>
          </a:p>
          <a:p>
            <a:pPr algn="ctr"/>
            <a:r>
              <a:rPr lang="en-US" altLang="zh-CN" sz="2000" b="1" dirty="0"/>
              <a:t>tools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12577B-2610-478A-A02F-605A034FEDAB}"/>
              </a:ext>
            </a:extLst>
          </p:cNvPr>
          <p:cNvSpPr/>
          <p:nvPr/>
        </p:nvSpPr>
        <p:spPr>
          <a:xfrm>
            <a:off x="7675073" y="1773591"/>
            <a:ext cx="26324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/>
              <a:t>Use domain-specific </a:t>
            </a:r>
          </a:p>
          <a:p>
            <a:pPr algn="ctr"/>
            <a:r>
              <a:rPr lang="en-US" altLang="zh-CN" sz="2000" b="1" dirty="0"/>
              <a:t>algorithms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F614090-CE51-4DB9-AD89-991F71DAD46F}"/>
              </a:ext>
            </a:extLst>
          </p:cNvPr>
          <p:cNvCxnSpPr>
            <a:cxnSpLocks/>
          </p:cNvCxnSpPr>
          <p:nvPr/>
        </p:nvCxnSpPr>
        <p:spPr>
          <a:xfrm>
            <a:off x="2775857" y="3650893"/>
            <a:ext cx="1872494" cy="685976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48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C8B33-CDED-46B9-B8B2-17F9F84B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Simulation-Based Verification</a:t>
            </a:r>
            <a:endParaRPr lang="zh-CN" altLang="en-US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2123F15-75B2-674A-B80A-E2CEFDD56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939" y="3076229"/>
            <a:ext cx="1554313" cy="1275412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202974E3-9BCB-A041-8AA8-BD62B1A9855A}"/>
              </a:ext>
            </a:extLst>
          </p:cNvPr>
          <p:cNvGrpSpPr/>
          <p:nvPr/>
        </p:nvGrpSpPr>
        <p:grpSpPr>
          <a:xfrm>
            <a:off x="562956" y="2746099"/>
            <a:ext cx="2683955" cy="1773191"/>
            <a:chOff x="806831" y="2610421"/>
            <a:chExt cx="2924894" cy="1649727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7DEC850-7924-7E44-9E9A-19D9C85538EC}"/>
                </a:ext>
              </a:extLst>
            </p:cNvPr>
            <p:cNvGrpSpPr/>
            <p:nvPr/>
          </p:nvGrpSpPr>
          <p:grpSpPr>
            <a:xfrm>
              <a:off x="806831" y="2824315"/>
              <a:ext cx="2924894" cy="1435833"/>
              <a:chOff x="357389" y="2721530"/>
              <a:chExt cx="3445013" cy="1693545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F560284-4AE4-DD44-A971-AA7339A2C09D}"/>
                  </a:ext>
                </a:extLst>
              </p:cNvPr>
              <p:cNvGrpSpPr/>
              <p:nvPr/>
            </p:nvGrpSpPr>
            <p:grpSpPr>
              <a:xfrm>
                <a:off x="357389" y="2721530"/>
                <a:ext cx="3445013" cy="1660170"/>
                <a:chOff x="463423" y="3253412"/>
                <a:chExt cx="4045757" cy="1867413"/>
              </a:xfrm>
            </p:grpSpPr>
            <p:sp>
              <p:nvSpPr>
                <p:cNvPr id="53" name="云形 52">
                  <a:extLst>
                    <a:ext uri="{FF2B5EF4-FFF2-40B4-BE49-F238E27FC236}">
                      <a16:creationId xmlns:a16="http://schemas.microsoft.com/office/drawing/2014/main" id="{7038D063-26F8-C14A-8DA0-9843327C2E8F}"/>
                    </a:ext>
                  </a:extLst>
                </p:cNvPr>
                <p:cNvSpPr/>
                <p:nvPr/>
              </p:nvSpPr>
              <p:spPr>
                <a:xfrm>
                  <a:off x="591744" y="3296989"/>
                  <a:ext cx="3917436" cy="1823836"/>
                </a:xfrm>
                <a:prstGeom prst="cloud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4" name="Straight Connector 12">
                  <a:extLst>
                    <a:ext uri="{FF2B5EF4-FFF2-40B4-BE49-F238E27FC236}">
                      <a16:creationId xmlns:a16="http://schemas.microsoft.com/office/drawing/2014/main" id="{2B2C5CDF-84BD-E74C-A93A-16D6040F7AF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622298" y="3746003"/>
                  <a:ext cx="604837" cy="33020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pic>
              <p:nvPicPr>
                <p:cNvPr id="55" name="Picture 14" descr="router.png">
                  <a:extLst>
                    <a:ext uri="{FF2B5EF4-FFF2-40B4-BE49-F238E27FC236}">
                      <a16:creationId xmlns:a16="http://schemas.microsoft.com/office/drawing/2014/main" id="{834B0A18-66C2-FF40-82F0-D01AB8E6F9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4748" y="3746003"/>
                  <a:ext cx="817562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14" descr="router.png">
                  <a:extLst>
                    <a:ext uri="{FF2B5EF4-FFF2-40B4-BE49-F238E27FC236}">
                      <a16:creationId xmlns:a16="http://schemas.microsoft.com/office/drawing/2014/main" id="{06A4BD23-CD57-874E-8DB5-3FEB21A4E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7585" y="3253412"/>
                  <a:ext cx="817563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14" descr="router.png">
                  <a:extLst>
                    <a:ext uri="{FF2B5EF4-FFF2-40B4-BE49-F238E27FC236}">
                      <a16:creationId xmlns:a16="http://schemas.microsoft.com/office/drawing/2014/main" id="{3F668B32-AA75-D448-BA7C-7061144CB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6686" y="3922503"/>
                  <a:ext cx="817562" cy="8175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58" name="Straight Connector 7">
                  <a:extLst>
                    <a:ext uri="{FF2B5EF4-FFF2-40B4-BE49-F238E27FC236}">
                      <a16:creationId xmlns:a16="http://schemas.microsoft.com/office/drawing/2014/main" id="{87C49DF5-71FB-C24F-AA7F-2B2323C5075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645990" y="3754090"/>
                  <a:ext cx="725601" cy="466576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10">
                  <a:extLst>
                    <a:ext uri="{FF2B5EF4-FFF2-40B4-BE49-F238E27FC236}">
                      <a16:creationId xmlns:a16="http://schemas.microsoft.com/office/drawing/2014/main" id="{1A5745EC-5CED-4E45-91E7-71C180E66F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02449" y="4166657"/>
                  <a:ext cx="1769141" cy="163257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" name="Straight Connector 12">
                  <a:extLst>
                    <a:ext uri="{FF2B5EF4-FFF2-40B4-BE49-F238E27FC236}">
                      <a16:creationId xmlns:a16="http://schemas.microsoft.com/office/drawing/2014/main" id="{87C3F804-D4C7-C745-B8CC-23CA627603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463423" y="4182565"/>
                  <a:ext cx="573087" cy="1588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1" name="Straight Connector 12">
                  <a:extLst>
                    <a:ext uri="{FF2B5EF4-FFF2-40B4-BE49-F238E27FC236}">
                      <a16:creationId xmlns:a16="http://schemas.microsoft.com/office/drawing/2014/main" id="{AA3DCD03-7303-4043-8CAF-AA443914A16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3920010" y="4324681"/>
                  <a:ext cx="495300" cy="9525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49" name="Picture 14" descr="router.png">
                <a:extLst>
                  <a:ext uri="{FF2B5EF4-FFF2-40B4-BE49-F238E27FC236}">
                    <a16:creationId xmlns:a16="http://schemas.microsoft.com/office/drawing/2014/main" id="{316271BB-1E09-C54B-BCDC-BD3CBD060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636" y="3688246"/>
                <a:ext cx="696165" cy="726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0" name="Straight Connector 10">
                <a:extLst>
                  <a:ext uri="{FF2B5EF4-FFF2-40B4-BE49-F238E27FC236}">
                    <a16:creationId xmlns:a16="http://schemas.microsoft.com/office/drawing/2014/main" id="{56782AE6-F417-854E-A736-F9BF9AAB94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83067" y="3651370"/>
                <a:ext cx="665338" cy="337690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Straight Connector 10">
                <a:extLst>
                  <a:ext uri="{FF2B5EF4-FFF2-40B4-BE49-F238E27FC236}">
                    <a16:creationId xmlns:a16="http://schemas.microsoft.com/office/drawing/2014/main" id="{1FDE3DEC-D9B7-994C-8F5E-018526F6B1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60261" y="3233728"/>
                <a:ext cx="109050" cy="625322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10">
                <a:extLst>
                  <a:ext uri="{FF2B5EF4-FFF2-40B4-BE49-F238E27FC236}">
                    <a16:creationId xmlns:a16="http://schemas.microsoft.com/office/drawing/2014/main" id="{4B8018A8-8BFF-8648-9C33-0397DC882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26270" y="3787073"/>
                <a:ext cx="407463" cy="168334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9EEE90FE-4F12-DF4F-A683-9A4A757CE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5015" y="2957490"/>
              <a:ext cx="342169" cy="349875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68C18B96-BD30-8B4B-BEB8-A69D768D6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65550" y="2610421"/>
              <a:ext cx="342169" cy="349875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9CF6AFC6-8DDB-5C4D-818D-D95A335E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56196" y="3083632"/>
              <a:ext cx="342169" cy="349875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A6535126-67FE-C042-8969-7BA695E53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0761" y="3728820"/>
              <a:ext cx="342169" cy="349875"/>
            </a:xfrm>
            <a:prstGeom prst="rect">
              <a:avLst/>
            </a:prstGeom>
          </p:spPr>
        </p:pic>
      </p:grpSp>
      <p:sp>
        <p:nvSpPr>
          <p:cNvPr id="64" name="箭头: 右 97">
            <a:extLst>
              <a:ext uri="{FF2B5EF4-FFF2-40B4-BE49-F238E27FC236}">
                <a16:creationId xmlns:a16="http://schemas.microsoft.com/office/drawing/2014/main" id="{89EF1212-15A0-5A4C-87EE-33A36761788F}"/>
              </a:ext>
            </a:extLst>
          </p:cNvPr>
          <p:cNvSpPr/>
          <p:nvPr/>
        </p:nvSpPr>
        <p:spPr>
          <a:xfrm>
            <a:off x="3466566" y="3503786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箭头: 右 97">
            <a:extLst>
              <a:ext uri="{FF2B5EF4-FFF2-40B4-BE49-F238E27FC236}">
                <a16:creationId xmlns:a16="http://schemas.microsoft.com/office/drawing/2014/main" id="{C64E428C-766E-490D-9ACD-7A89C7D0F372}"/>
              </a:ext>
            </a:extLst>
          </p:cNvPr>
          <p:cNvSpPr/>
          <p:nvPr/>
        </p:nvSpPr>
        <p:spPr>
          <a:xfrm>
            <a:off x="9783637" y="3503786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B64FAB-C2F1-4BE8-80CE-0075A61FC2E3}"/>
              </a:ext>
            </a:extLst>
          </p:cNvPr>
          <p:cNvSpPr/>
          <p:nvPr/>
        </p:nvSpPr>
        <p:spPr>
          <a:xfrm>
            <a:off x="4046310" y="2617365"/>
            <a:ext cx="5610424" cy="220938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simulation-based verifier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17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C8B33-CDED-46B9-B8B2-17F9F84B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Simulation-Based Verification</a:t>
            </a:r>
            <a:endParaRPr lang="zh-CN" altLang="en-US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2123F15-75B2-674A-B80A-E2CEFDD56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3218" y="3280687"/>
            <a:ext cx="1045233" cy="857680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202974E3-9BCB-A041-8AA8-BD62B1A9855A}"/>
              </a:ext>
            </a:extLst>
          </p:cNvPr>
          <p:cNvGrpSpPr/>
          <p:nvPr/>
        </p:nvGrpSpPr>
        <p:grpSpPr>
          <a:xfrm>
            <a:off x="174846" y="3161325"/>
            <a:ext cx="1918394" cy="1181983"/>
            <a:chOff x="806831" y="2610421"/>
            <a:chExt cx="2924894" cy="1649727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7DEC850-7924-7E44-9E9A-19D9C85538EC}"/>
                </a:ext>
              </a:extLst>
            </p:cNvPr>
            <p:cNvGrpSpPr/>
            <p:nvPr/>
          </p:nvGrpSpPr>
          <p:grpSpPr>
            <a:xfrm>
              <a:off x="806831" y="2824315"/>
              <a:ext cx="2924894" cy="1435833"/>
              <a:chOff x="357389" y="2721530"/>
              <a:chExt cx="3445013" cy="1693545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F560284-4AE4-DD44-A971-AA7339A2C09D}"/>
                  </a:ext>
                </a:extLst>
              </p:cNvPr>
              <p:cNvGrpSpPr/>
              <p:nvPr/>
            </p:nvGrpSpPr>
            <p:grpSpPr>
              <a:xfrm>
                <a:off x="357389" y="2721530"/>
                <a:ext cx="3445013" cy="1660170"/>
                <a:chOff x="463423" y="3253412"/>
                <a:chExt cx="4045757" cy="1867413"/>
              </a:xfrm>
            </p:grpSpPr>
            <p:sp>
              <p:nvSpPr>
                <p:cNvPr id="53" name="云形 52">
                  <a:extLst>
                    <a:ext uri="{FF2B5EF4-FFF2-40B4-BE49-F238E27FC236}">
                      <a16:creationId xmlns:a16="http://schemas.microsoft.com/office/drawing/2014/main" id="{7038D063-26F8-C14A-8DA0-9843327C2E8F}"/>
                    </a:ext>
                  </a:extLst>
                </p:cNvPr>
                <p:cNvSpPr/>
                <p:nvPr/>
              </p:nvSpPr>
              <p:spPr>
                <a:xfrm>
                  <a:off x="591744" y="3296989"/>
                  <a:ext cx="3917436" cy="1823836"/>
                </a:xfrm>
                <a:prstGeom prst="cloud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4" name="Straight Connector 12">
                  <a:extLst>
                    <a:ext uri="{FF2B5EF4-FFF2-40B4-BE49-F238E27FC236}">
                      <a16:creationId xmlns:a16="http://schemas.microsoft.com/office/drawing/2014/main" id="{2B2C5CDF-84BD-E74C-A93A-16D6040F7AF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622298" y="3746003"/>
                  <a:ext cx="604837" cy="33020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pic>
              <p:nvPicPr>
                <p:cNvPr id="55" name="Picture 14" descr="router.png">
                  <a:extLst>
                    <a:ext uri="{FF2B5EF4-FFF2-40B4-BE49-F238E27FC236}">
                      <a16:creationId xmlns:a16="http://schemas.microsoft.com/office/drawing/2014/main" id="{834B0A18-66C2-FF40-82F0-D01AB8E6F9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4748" y="3746003"/>
                  <a:ext cx="817562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14" descr="router.png">
                  <a:extLst>
                    <a:ext uri="{FF2B5EF4-FFF2-40B4-BE49-F238E27FC236}">
                      <a16:creationId xmlns:a16="http://schemas.microsoft.com/office/drawing/2014/main" id="{06A4BD23-CD57-874E-8DB5-3FEB21A4E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7585" y="3253412"/>
                  <a:ext cx="817563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14" descr="router.png">
                  <a:extLst>
                    <a:ext uri="{FF2B5EF4-FFF2-40B4-BE49-F238E27FC236}">
                      <a16:creationId xmlns:a16="http://schemas.microsoft.com/office/drawing/2014/main" id="{3F668B32-AA75-D448-BA7C-7061144CB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6686" y="3922503"/>
                  <a:ext cx="817562" cy="8175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58" name="Straight Connector 7">
                  <a:extLst>
                    <a:ext uri="{FF2B5EF4-FFF2-40B4-BE49-F238E27FC236}">
                      <a16:creationId xmlns:a16="http://schemas.microsoft.com/office/drawing/2014/main" id="{87C49DF5-71FB-C24F-AA7F-2B2323C5075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645990" y="3754090"/>
                  <a:ext cx="725601" cy="466576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10">
                  <a:extLst>
                    <a:ext uri="{FF2B5EF4-FFF2-40B4-BE49-F238E27FC236}">
                      <a16:creationId xmlns:a16="http://schemas.microsoft.com/office/drawing/2014/main" id="{1A5745EC-5CED-4E45-91E7-71C180E66F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02449" y="4166657"/>
                  <a:ext cx="1769141" cy="163257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" name="Straight Connector 12">
                  <a:extLst>
                    <a:ext uri="{FF2B5EF4-FFF2-40B4-BE49-F238E27FC236}">
                      <a16:creationId xmlns:a16="http://schemas.microsoft.com/office/drawing/2014/main" id="{87C3F804-D4C7-C745-B8CC-23CA627603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463423" y="4182565"/>
                  <a:ext cx="573087" cy="1588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1" name="Straight Connector 12">
                  <a:extLst>
                    <a:ext uri="{FF2B5EF4-FFF2-40B4-BE49-F238E27FC236}">
                      <a16:creationId xmlns:a16="http://schemas.microsoft.com/office/drawing/2014/main" id="{AA3DCD03-7303-4043-8CAF-AA443914A16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3920010" y="4324681"/>
                  <a:ext cx="495300" cy="9525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49" name="Picture 14" descr="router.png">
                <a:extLst>
                  <a:ext uri="{FF2B5EF4-FFF2-40B4-BE49-F238E27FC236}">
                    <a16:creationId xmlns:a16="http://schemas.microsoft.com/office/drawing/2014/main" id="{316271BB-1E09-C54B-BCDC-BD3CBD060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636" y="3688246"/>
                <a:ext cx="696165" cy="726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0" name="Straight Connector 10">
                <a:extLst>
                  <a:ext uri="{FF2B5EF4-FFF2-40B4-BE49-F238E27FC236}">
                    <a16:creationId xmlns:a16="http://schemas.microsoft.com/office/drawing/2014/main" id="{56782AE6-F417-854E-A736-F9BF9AAB94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83067" y="3651370"/>
                <a:ext cx="665338" cy="337690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Straight Connector 10">
                <a:extLst>
                  <a:ext uri="{FF2B5EF4-FFF2-40B4-BE49-F238E27FC236}">
                    <a16:creationId xmlns:a16="http://schemas.microsoft.com/office/drawing/2014/main" id="{1FDE3DEC-D9B7-994C-8F5E-018526F6B1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60261" y="3233728"/>
                <a:ext cx="109050" cy="625322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10">
                <a:extLst>
                  <a:ext uri="{FF2B5EF4-FFF2-40B4-BE49-F238E27FC236}">
                    <a16:creationId xmlns:a16="http://schemas.microsoft.com/office/drawing/2014/main" id="{4B8018A8-8BFF-8648-9C33-0397DC882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26270" y="3787073"/>
                <a:ext cx="407463" cy="168334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9EEE90FE-4F12-DF4F-A683-9A4A757CE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5015" y="2957490"/>
              <a:ext cx="342169" cy="349875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68C18B96-BD30-8B4B-BEB8-A69D768D6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65550" y="2610421"/>
              <a:ext cx="342169" cy="349875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9CF6AFC6-8DDB-5C4D-818D-D95A335E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56196" y="3083632"/>
              <a:ext cx="342169" cy="349875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A6535126-67FE-C042-8969-7BA695E53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0761" y="3728820"/>
              <a:ext cx="342169" cy="349875"/>
            </a:xfrm>
            <a:prstGeom prst="rect">
              <a:avLst/>
            </a:prstGeom>
          </p:spPr>
        </p:pic>
      </p:grpSp>
      <p:sp>
        <p:nvSpPr>
          <p:cNvPr id="64" name="箭头: 右 97">
            <a:extLst>
              <a:ext uri="{FF2B5EF4-FFF2-40B4-BE49-F238E27FC236}">
                <a16:creationId xmlns:a16="http://schemas.microsoft.com/office/drawing/2014/main" id="{89EF1212-15A0-5A4C-87EE-33A36761788F}"/>
              </a:ext>
            </a:extLst>
          </p:cNvPr>
          <p:cNvSpPr/>
          <p:nvPr/>
        </p:nvSpPr>
        <p:spPr>
          <a:xfrm>
            <a:off x="2292474" y="3510951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箭头: 右 97">
            <a:extLst>
              <a:ext uri="{FF2B5EF4-FFF2-40B4-BE49-F238E27FC236}">
                <a16:creationId xmlns:a16="http://schemas.microsoft.com/office/drawing/2014/main" id="{DBC54A98-2C35-AD4B-84AD-0607CEC3DC60}"/>
              </a:ext>
            </a:extLst>
          </p:cNvPr>
          <p:cNvSpPr/>
          <p:nvPr/>
        </p:nvSpPr>
        <p:spPr>
          <a:xfrm>
            <a:off x="10534749" y="3527941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BDE736-9240-40DE-A2C9-91AC520014C3}"/>
              </a:ext>
            </a:extLst>
          </p:cNvPr>
          <p:cNvSpPr/>
          <p:nvPr/>
        </p:nvSpPr>
        <p:spPr>
          <a:xfrm>
            <a:off x="2872217" y="2624530"/>
            <a:ext cx="7529083" cy="220938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1">
            <a:extLst>
              <a:ext uri="{FF2B5EF4-FFF2-40B4-BE49-F238E27FC236}">
                <a16:creationId xmlns:a16="http://schemas.microsoft.com/office/drawing/2014/main" id="{C97B526B-11D2-43D9-ABDD-8D07FAFFE3BB}"/>
              </a:ext>
            </a:extLst>
          </p:cNvPr>
          <p:cNvSpPr/>
          <p:nvPr/>
        </p:nvSpPr>
        <p:spPr>
          <a:xfrm>
            <a:off x="5696971" y="2942242"/>
            <a:ext cx="1803482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2: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dirty="0">
                <a:solidFill>
                  <a:schemeClr val="tx1"/>
                </a:solidFill>
              </a:rPr>
              <a:t>Data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Plane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Modeling</a:t>
            </a:r>
          </a:p>
        </p:txBody>
      </p:sp>
      <p:sp>
        <p:nvSpPr>
          <p:cNvPr id="40" name="箭头: 右 97">
            <a:extLst>
              <a:ext uri="{FF2B5EF4-FFF2-40B4-BE49-F238E27FC236}">
                <a16:creationId xmlns:a16="http://schemas.microsoft.com/office/drawing/2014/main" id="{4AB28BC6-2A91-4CB5-9514-566905AAC8A4}"/>
              </a:ext>
            </a:extLst>
          </p:cNvPr>
          <p:cNvSpPr/>
          <p:nvPr/>
        </p:nvSpPr>
        <p:spPr>
          <a:xfrm>
            <a:off x="4930320" y="3493568"/>
            <a:ext cx="643278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85997-71F9-4974-81B3-5329AAD897EF}"/>
              </a:ext>
            </a:extLst>
          </p:cNvPr>
          <p:cNvSpPr/>
          <p:nvPr/>
        </p:nvSpPr>
        <p:spPr>
          <a:xfrm>
            <a:off x="4880847" y="3143939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FIBs</a:t>
            </a:r>
            <a:endParaRPr kumimoji="1" lang="zh-CN" altLang="en-US" dirty="0"/>
          </a:p>
        </p:txBody>
      </p:sp>
      <p:sp>
        <p:nvSpPr>
          <p:cNvPr id="69" name="圆角矩形 31">
            <a:extLst>
              <a:ext uri="{FF2B5EF4-FFF2-40B4-BE49-F238E27FC236}">
                <a16:creationId xmlns:a16="http://schemas.microsoft.com/office/drawing/2014/main" id="{8F564604-1540-4C25-878A-F06D8DFF3FB9}"/>
              </a:ext>
            </a:extLst>
          </p:cNvPr>
          <p:cNvSpPr/>
          <p:nvPr/>
        </p:nvSpPr>
        <p:spPr>
          <a:xfrm>
            <a:off x="3015306" y="2957512"/>
            <a:ext cx="1760677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1: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dirty="0">
                <a:solidFill>
                  <a:schemeClr val="tx1"/>
                </a:solidFill>
              </a:rPr>
              <a:t>Control Plane Simulation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BFB18E4-C3FE-49DA-AE51-3D61117CB11D}"/>
              </a:ext>
            </a:extLst>
          </p:cNvPr>
          <p:cNvSpPr/>
          <p:nvPr/>
        </p:nvSpPr>
        <p:spPr>
          <a:xfrm>
            <a:off x="8455953" y="2930965"/>
            <a:ext cx="1803482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3: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dirty="0">
                <a:solidFill>
                  <a:schemeClr val="tx1"/>
                </a:solidFill>
              </a:rPr>
              <a:t>Property Checking</a:t>
            </a:r>
          </a:p>
        </p:txBody>
      </p:sp>
      <p:sp>
        <p:nvSpPr>
          <p:cNvPr id="33" name="箭头: 右 97">
            <a:extLst>
              <a:ext uri="{FF2B5EF4-FFF2-40B4-BE49-F238E27FC236}">
                <a16:creationId xmlns:a16="http://schemas.microsoft.com/office/drawing/2014/main" id="{989F0C60-C7ED-4F59-8BF5-AA56E35B4966}"/>
              </a:ext>
            </a:extLst>
          </p:cNvPr>
          <p:cNvSpPr/>
          <p:nvPr/>
        </p:nvSpPr>
        <p:spPr>
          <a:xfrm>
            <a:off x="7644738" y="3527941"/>
            <a:ext cx="643278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67BAEA-B9AE-4753-9B77-E042B5BF9E9A}"/>
              </a:ext>
            </a:extLst>
          </p:cNvPr>
          <p:cNvSpPr/>
          <p:nvPr/>
        </p:nvSpPr>
        <p:spPr>
          <a:xfrm>
            <a:off x="7533721" y="3205890"/>
            <a:ext cx="821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36B01BF-D714-4E91-A9ED-D9C39B0EC717}"/>
              </a:ext>
            </a:extLst>
          </p:cNvPr>
          <p:cNvSpPr/>
          <p:nvPr/>
        </p:nvSpPr>
        <p:spPr>
          <a:xfrm>
            <a:off x="10761973" y="2620064"/>
            <a:ext cx="13003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Properties</a:t>
            </a:r>
            <a:endParaRPr kumimoji="1" lang="zh-CN" altLang="en-US" sz="20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B840C1-CAD3-4871-AAAF-C404AF2BADFB}"/>
              </a:ext>
            </a:extLst>
          </p:cNvPr>
          <p:cNvSpPr/>
          <p:nvPr/>
        </p:nvSpPr>
        <p:spPr>
          <a:xfrm>
            <a:off x="401254" y="2620064"/>
            <a:ext cx="1675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Control Plane</a:t>
            </a:r>
            <a:endParaRPr kumimoji="1"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377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C8B33-CDED-46B9-B8B2-17F9F84B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/>
          </a:bodyPr>
          <a:lstStyle/>
          <a:p>
            <a:r>
              <a:rPr lang="en-US" altLang="zh-CN" dirty="0"/>
              <a:t>DNA</a:t>
            </a:r>
            <a:endParaRPr lang="zh-CN" altLang="en-US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2123F15-75B2-674A-B80A-E2CEFDD56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3218" y="3280687"/>
            <a:ext cx="1045233" cy="857680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202974E3-9BCB-A041-8AA8-BD62B1A9855A}"/>
              </a:ext>
            </a:extLst>
          </p:cNvPr>
          <p:cNvGrpSpPr/>
          <p:nvPr/>
        </p:nvGrpSpPr>
        <p:grpSpPr>
          <a:xfrm>
            <a:off x="174846" y="3161325"/>
            <a:ext cx="1918394" cy="1181983"/>
            <a:chOff x="806831" y="2610421"/>
            <a:chExt cx="2924894" cy="1649727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7DEC850-7924-7E44-9E9A-19D9C85538EC}"/>
                </a:ext>
              </a:extLst>
            </p:cNvPr>
            <p:cNvGrpSpPr/>
            <p:nvPr/>
          </p:nvGrpSpPr>
          <p:grpSpPr>
            <a:xfrm>
              <a:off x="806831" y="2824315"/>
              <a:ext cx="2924894" cy="1435833"/>
              <a:chOff x="357389" y="2721530"/>
              <a:chExt cx="3445013" cy="1693545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F560284-4AE4-DD44-A971-AA7339A2C09D}"/>
                  </a:ext>
                </a:extLst>
              </p:cNvPr>
              <p:cNvGrpSpPr/>
              <p:nvPr/>
            </p:nvGrpSpPr>
            <p:grpSpPr>
              <a:xfrm>
                <a:off x="357389" y="2721530"/>
                <a:ext cx="3445013" cy="1660170"/>
                <a:chOff x="463423" y="3253412"/>
                <a:chExt cx="4045757" cy="1867413"/>
              </a:xfrm>
            </p:grpSpPr>
            <p:sp>
              <p:nvSpPr>
                <p:cNvPr id="53" name="云形 52">
                  <a:extLst>
                    <a:ext uri="{FF2B5EF4-FFF2-40B4-BE49-F238E27FC236}">
                      <a16:creationId xmlns:a16="http://schemas.microsoft.com/office/drawing/2014/main" id="{7038D063-26F8-C14A-8DA0-9843327C2E8F}"/>
                    </a:ext>
                  </a:extLst>
                </p:cNvPr>
                <p:cNvSpPr/>
                <p:nvPr/>
              </p:nvSpPr>
              <p:spPr>
                <a:xfrm>
                  <a:off x="591744" y="3296989"/>
                  <a:ext cx="3917436" cy="1823836"/>
                </a:xfrm>
                <a:prstGeom prst="cloud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54" name="Straight Connector 12">
                  <a:extLst>
                    <a:ext uri="{FF2B5EF4-FFF2-40B4-BE49-F238E27FC236}">
                      <a16:creationId xmlns:a16="http://schemas.microsoft.com/office/drawing/2014/main" id="{2B2C5CDF-84BD-E74C-A93A-16D6040F7AF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622298" y="3746003"/>
                  <a:ext cx="604837" cy="330200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pic>
              <p:nvPicPr>
                <p:cNvPr id="55" name="Picture 14" descr="router.png">
                  <a:extLst>
                    <a:ext uri="{FF2B5EF4-FFF2-40B4-BE49-F238E27FC236}">
                      <a16:creationId xmlns:a16="http://schemas.microsoft.com/office/drawing/2014/main" id="{834B0A18-66C2-FF40-82F0-D01AB8E6F9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4748" y="3746003"/>
                  <a:ext cx="817562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14" descr="router.png">
                  <a:extLst>
                    <a:ext uri="{FF2B5EF4-FFF2-40B4-BE49-F238E27FC236}">
                      <a16:creationId xmlns:a16="http://schemas.microsoft.com/office/drawing/2014/main" id="{06A4BD23-CD57-874E-8DB5-3FEB21A4E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7585" y="3253412"/>
                  <a:ext cx="817563" cy="817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14" descr="router.png">
                  <a:extLst>
                    <a:ext uri="{FF2B5EF4-FFF2-40B4-BE49-F238E27FC236}">
                      <a16:creationId xmlns:a16="http://schemas.microsoft.com/office/drawing/2014/main" id="{3F668B32-AA75-D448-BA7C-7061144CB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6686" y="3922503"/>
                  <a:ext cx="817562" cy="8175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58" name="Straight Connector 7">
                  <a:extLst>
                    <a:ext uri="{FF2B5EF4-FFF2-40B4-BE49-F238E27FC236}">
                      <a16:creationId xmlns:a16="http://schemas.microsoft.com/office/drawing/2014/main" id="{87C49DF5-71FB-C24F-AA7F-2B2323C5075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645990" y="3754090"/>
                  <a:ext cx="725601" cy="466576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10">
                  <a:extLst>
                    <a:ext uri="{FF2B5EF4-FFF2-40B4-BE49-F238E27FC236}">
                      <a16:creationId xmlns:a16="http://schemas.microsoft.com/office/drawing/2014/main" id="{1A5745EC-5CED-4E45-91E7-71C180E66F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602449" y="4166657"/>
                  <a:ext cx="1769141" cy="163257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0" name="Straight Connector 12">
                  <a:extLst>
                    <a:ext uri="{FF2B5EF4-FFF2-40B4-BE49-F238E27FC236}">
                      <a16:creationId xmlns:a16="http://schemas.microsoft.com/office/drawing/2014/main" id="{87C3F804-D4C7-C745-B8CC-23CA627603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463423" y="4182565"/>
                  <a:ext cx="573087" cy="1588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1" name="Straight Connector 12">
                  <a:extLst>
                    <a:ext uri="{FF2B5EF4-FFF2-40B4-BE49-F238E27FC236}">
                      <a16:creationId xmlns:a16="http://schemas.microsoft.com/office/drawing/2014/main" id="{AA3DCD03-7303-4043-8CAF-AA443914A16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3920010" y="4324681"/>
                  <a:ext cx="495300" cy="9525"/>
                </a:xfrm>
                <a:prstGeom prst="line">
                  <a:avLst/>
                </a:prstGeom>
                <a:noFill/>
                <a:ln w="25400">
                  <a:solidFill>
                    <a:srgbClr val="7F7F7F"/>
                  </a:solidFill>
                  <a:round/>
                  <a:headEnd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49" name="Picture 14" descr="router.png">
                <a:extLst>
                  <a:ext uri="{FF2B5EF4-FFF2-40B4-BE49-F238E27FC236}">
                    <a16:creationId xmlns:a16="http://schemas.microsoft.com/office/drawing/2014/main" id="{316271BB-1E09-C54B-BCDC-BD3CBD060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8636" y="3688246"/>
                <a:ext cx="696165" cy="726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0" name="Straight Connector 10">
                <a:extLst>
                  <a:ext uri="{FF2B5EF4-FFF2-40B4-BE49-F238E27FC236}">
                    <a16:creationId xmlns:a16="http://schemas.microsoft.com/office/drawing/2014/main" id="{56782AE6-F417-854E-A736-F9BF9AAB94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283067" y="3651370"/>
                <a:ext cx="665338" cy="337690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Straight Connector 10">
                <a:extLst>
                  <a:ext uri="{FF2B5EF4-FFF2-40B4-BE49-F238E27FC236}">
                    <a16:creationId xmlns:a16="http://schemas.microsoft.com/office/drawing/2014/main" id="{1FDE3DEC-D9B7-994C-8F5E-018526F6B1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60261" y="3233728"/>
                <a:ext cx="109050" cy="625322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10">
                <a:extLst>
                  <a:ext uri="{FF2B5EF4-FFF2-40B4-BE49-F238E27FC236}">
                    <a16:creationId xmlns:a16="http://schemas.microsoft.com/office/drawing/2014/main" id="{4B8018A8-8BFF-8648-9C33-0397DC882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426270" y="3787073"/>
                <a:ext cx="407463" cy="168334"/>
              </a:xfrm>
              <a:prstGeom prst="line">
                <a:avLst/>
              </a:prstGeom>
              <a:noFill/>
              <a:ln w="2540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9EEE90FE-4F12-DF4F-A683-9A4A757CE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5015" y="2957490"/>
              <a:ext cx="342169" cy="349875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68C18B96-BD30-8B4B-BEB8-A69D768D6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65550" y="2610421"/>
              <a:ext cx="342169" cy="349875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9CF6AFC6-8DDB-5C4D-818D-D95A335E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56196" y="3083632"/>
              <a:ext cx="342169" cy="349875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A6535126-67FE-C042-8969-7BA695E53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0761" y="3728820"/>
              <a:ext cx="342169" cy="349875"/>
            </a:xfrm>
            <a:prstGeom prst="rect">
              <a:avLst/>
            </a:prstGeom>
          </p:spPr>
        </p:pic>
      </p:grpSp>
      <p:sp>
        <p:nvSpPr>
          <p:cNvPr id="64" name="箭头: 右 97">
            <a:extLst>
              <a:ext uri="{FF2B5EF4-FFF2-40B4-BE49-F238E27FC236}">
                <a16:creationId xmlns:a16="http://schemas.microsoft.com/office/drawing/2014/main" id="{89EF1212-15A0-5A4C-87EE-33A36761788F}"/>
              </a:ext>
            </a:extLst>
          </p:cNvPr>
          <p:cNvSpPr/>
          <p:nvPr/>
        </p:nvSpPr>
        <p:spPr>
          <a:xfrm>
            <a:off x="2292474" y="3510951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箭头: 右 97">
            <a:extLst>
              <a:ext uri="{FF2B5EF4-FFF2-40B4-BE49-F238E27FC236}">
                <a16:creationId xmlns:a16="http://schemas.microsoft.com/office/drawing/2014/main" id="{DBC54A98-2C35-AD4B-84AD-0607CEC3DC60}"/>
              </a:ext>
            </a:extLst>
          </p:cNvPr>
          <p:cNvSpPr/>
          <p:nvPr/>
        </p:nvSpPr>
        <p:spPr>
          <a:xfrm>
            <a:off x="10534749" y="3527941"/>
            <a:ext cx="454449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BDE736-9240-40DE-A2C9-91AC520014C3}"/>
              </a:ext>
            </a:extLst>
          </p:cNvPr>
          <p:cNvSpPr/>
          <p:nvPr/>
        </p:nvSpPr>
        <p:spPr>
          <a:xfrm>
            <a:off x="2872217" y="2624530"/>
            <a:ext cx="7529083" cy="220938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圆角矩形 31">
            <a:extLst>
              <a:ext uri="{FF2B5EF4-FFF2-40B4-BE49-F238E27FC236}">
                <a16:creationId xmlns:a16="http://schemas.microsoft.com/office/drawing/2014/main" id="{C97B526B-11D2-43D9-ABDD-8D07FAFFE3BB}"/>
              </a:ext>
            </a:extLst>
          </p:cNvPr>
          <p:cNvSpPr/>
          <p:nvPr/>
        </p:nvSpPr>
        <p:spPr>
          <a:xfrm>
            <a:off x="5696971" y="2942242"/>
            <a:ext cx="1803482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2: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b="1" dirty="0">
                <a:solidFill>
                  <a:schemeClr val="tx1"/>
                </a:solidFill>
              </a:rPr>
              <a:t>Differential </a:t>
            </a:r>
            <a:r>
              <a:rPr kumimoji="1" lang="en-US" altLang="zh-CN" sz="2000" dirty="0">
                <a:solidFill>
                  <a:schemeClr val="tx1"/>
                </a:solidFill>
              </a:rPr>
              <a:t>Data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Plane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Modeling</a:t>
            </a:r>
          </a:p>
        </p:txBody>
      </p:sp>
      <p:sp>
        <p:nvSpPr>
          <p:cNvPr id="40" name="箭头: 右 97">
            <a:extLst>
              <a:ext uri="{FF2B5EF4-FFF2-40B4-BE49-F238E27FC236}">
                <a16:creationId xmlns:a16="http://schemas.microsoft.com/office/drawing/2014/main" id="{4AB28BC6-2A91-4CB5-9514-566905AAC8A4}"/>
              </a:ext>
            </a:extLst>
          </p:cNvPr>
          <p:cNvSpPr/>
          <p:nvPr/>
        </p:nvSpPr>
        <p:spPr>
          <a:xfrm>
            <a:off x="4930320" y="3493568"/>
            <a:ext cx="643278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85997-71F9-4974-81B3-5329AAD897EF}"/>
              </a:ext>
            </a:extLst>
          </p:cNvPr>
          <p:cNvSpPr/>
          <p:nvPr/>
        </p:nvSpPr>
        <p:spPr>
          <a:xfrm>
            <a:off x="4815926" y="3143939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∆</a:t>
            </a:r>
            <a:r>
              <a:rPr kumimoji="1" lang="en-US" altLang="zh-CN" dirty="0"/>
              <a:t>FIBs</a:t>
            </a:r>
            <a:endParaRPr kumimoji="1" lang="zh-CN" altLang="en-US" dirty="0"/>
          </a:p>
        </p:txBody>
      </p:sp>
      <p:sp>
        <p:nvSpPr>
          <p:cNvPr id="69" name="圆角矩形 31">
            <a:extLst>
              <a:ext uri="{FF2B5EF4-FFF2-40B4-BE49-F238E27FC236}">
                <a16:creationId xmlns:a16="http://schemas.microsoft.com/office/drawing/2014/main" id="{8F564604-1540-4C25-878A-F06D8DFF3FB9}"/>
              </a:ext>
            </a:extLst>
          </p:cNvPr>
          <p:cNvSpPr/>
          <p:nvPr/>
        </p:nvSpPr>
        <p:spPr>
          <a:xfrm>
            <a:off x="3015306" y="2957512"/>
            <a:ext cx="1760677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1: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b="1" dirty="0">
                <a:solidFill>
                  <a:schemeClr val="tx1"/>
                </a:solidFill>
              </a:rPr>
              <a:t>Differential</a:t>
            </a:r>
            <a:r>
              <a:rPr kumimoji="1" lang="en-US" altLang="zh-CN" sz="2000" dirty="0">
                <a:solidFill>
                  <a:schemeClr val="tx1"/>
                </a:solidFill>
              </a:rPr>
              <a:t> Control Plane Simulation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BFB18E4-C3FE-49DA-AE51-3D61117CB11D}"/>
              </a:ext>
            </a:extLst>
          </p:cNvPr>
          <p:cNvSpPr/>
          <p:nvPr/>
        </p:nvSpPr>
        <p:spPr>
          <a:xfrm>
            <a:off x="8455953" y="2930965"/>
            <a:ext cx="1803482" cy="1573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Stage 3:</a:t>
            </a:r>
          </a:p>
          <a:p>
            <a:pPr algn="ctr">
              <a:spcAft>
                <a:spcPts val="1200"/>
              </a:spcAft>
            </a:pPr>
            <a:r>
              <a:rPr kumimoji="1" lang="en-US" altLang="zh-CN" sz="2000" b="1" dirty="0">
                <a:solidFill>
                  <a:schemeClr val="tx1"/>
                </a:solidFill>
              </a:rPr>
              <a:t>Differential </a:t>
            </a:r>
            <a:r>
              <a:rPr kumimoji="1" lang="en-US" altLang="zh-CN" sz="2000" dirty="0">
                <a:solidFill>
                  <a:schemeClr val="tx1"/>
                </a:solidFill>
              </a:rPr>
              <a:t>Property Checking</a:t>
            </a:r>
          </a:p>
        </p:txBody>
      </p:sp>
      <p:sp>
        <p:nvSpPr>
          <p:cNvPr id="33" name="箭头: 右 97">
            <a:extLst>
              <a:ext uri="{FF2B5EF4-FFF2-40B4-BE49-F238E27FC236}">
                <a16:creationId xmlns:a16="http://schemas.microsoft.com/office/drawing/2014/main" id="{989F0C60-C7ED-4F59-8BF5-AA56E35B4966}"/>
              </a:ext>
            </a:extLst>
          </p:cNvPr>
          <p:cNvSpPr/>
          <p:nvPr/>
        </p:nvSpPr>
        <p:spPr>
          <a:xfrm>
            <a:off x="7644738" y="3527941"/>
            <a:ext cx="643278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67BAEA-B9AE-4753-9B77-E042B5BF9E9A}"/>
              </a:ext>
            </a:extLst>
          </p:cNvPr>
          <p:cNvSpPr/>
          <p:nvPr/>
        </p:nvSpPr>
        <p:spPr>
          <a:xfrm>
            <a:off x="7452770" y="3205890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∆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265D1F3-A55A-4973-8156-FAE461DAE592}"/>
              </a:ext>
            </a:extLst>
          </p:cNvPr>
          <p:cNvSpPr/>
          <p:nvPr/>
        </p:nvSpPr>
        <p:spPr>
          <a:xfrm>
            <a:off x="10750353" y="2448312"/>
            <a:ext cx="14109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Property</a:t>
            </a:r>
          </a:p>
          <a:p>
            <a:pPr algn="ctr"/>
            <a:r>
              <a:rPr kumimoji="1" lang="en-US" altLang="zh-CN" sz="2000" dirty="0"/>
              <a:t>Differences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9FB60D-EAE4-4F3B-A169-F3F86F957712}"/>
              </a:ext>
            </a:extLst>
          </p:cNvPr>
          <p:cNvSpPr/>
          <p:nvPr/>
        </p:nvSpPr>
        <p:spPr>
          <a:xfrm>
            <a:off x="246023" y="2448312"/>
            <a:ext cx="19733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dirty="0"/>
              <a:t>Control Plane </a:t>
            </a:r>
          </a:p>
          <a:p>
            <a:pPr algn="ctr"/>
            <a:r>
              <a:rPr kumimoji="1" lang="en-US" altLang="zh-CN" sz="2000" dirty="0"/>
              <a:t>Differences</a:t>
            </a:r>
            <a:endParaRPr kumimoji="1"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664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67897-5FB8-421E-A702-FEE173B8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Walkthrough Example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A93733D-BEDC-4C10-8B85-126A10019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167015"/>
              </p:ext>
            </p:extLst>
          </p:nvPr>
        </p:nvGraphicFramePr>
        <p:xfrm>
          <a:off x="2949575" y="1581149"/>
          <a:ext cx="7155911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Visio" r:id="rId3" imgW="3406176" imgH="1927826" progId="Visio.Drawing.15">
                  <p:embed/>
                </p:oleObj>
              </mc:Choice>
              <mc:Fallback>
                <p:oleObj name="Visio" r:id="rId3" imgW="3406176" imgH="192782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9575" y="1581149"/>
                        <a:ext cx="7155911" cy="404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003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D1498-1D90-4887-BE5C-A384F44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1: Differential Control Plane Simulation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2C58AD-F2A0-4BFC-A793-17C0C3BB8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006215"/>
          </a:xfrm>
        </p:spPr>
        <p:txBody>
          <a:bodyPr>
            <a:normAutofit/>
          </a:bodyPr>
          <a:lstStyle/>
          <a:p>
            <a:r>
              <a:rPr lang="en-US" altLang="zh-CN" dirty="0"/>
              <a:t>Leveraging differential dataflow for automatic differential computation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42B9932-A740-4337-8A7F-9B4657B82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213476"/>
              </p:ext>
            </p:extLst>
          </p:nvPr>
        </p:nvGraphicFramePr>
        <p:xfrm>
          <a:off x="1228792" y="2811779"/>
          <a:ext cx="9361967" cy="3198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Visio" r:id="rId3" imgW="3992803" imgH="1364014" progId="Visio.Drawing.15">
                  <p:embed/>
                </p:oleObj>
              </mc:Choice>
              <mc:Fallback>
                <p:oleObj name="Visio" r:id="rId3" imgW="3992803" imgH="136401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8792" y="2811779"/>
                        <a:ext cx="9361967" cy="3198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35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D1498-1D90-4887-BE5C-A384F44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1: Differential Control Plane Simulation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2C58AD-F2A0-4BFC-A793-17C0C3BB8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763250" cy="5471160"/>
          </a:xfrm>
        </p:spPr>
        <p:txBody>
          <a:bodyPr>
            <a:normAutofit/>
          </a:bodyPr>
          <a:lstStyle/>
          <a:p>
            <a:r>
              <a:rPr lang="en-US" altLang="zh-CN" dirty="0"/>
              <a:t>Leveraging differential </a:t>
            </a:r>
            <a:r>
              <a:rPr lang="en-US" altLang="zh-CN" dirty="0" err="1"/>
              <a:t>Datalog</a:t>
            </a:r>
            <a:r>
              <a:rPr lang="en-US" altLang="zh-CN" dirty="0"/>
              <a:t> for better extensibility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651ED7E-8560-4CE7-8091-8D32E722B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568048"/>
              </p:ext>
            </p:extLst>
          </p:nvPr>
        </p:nvGraphicFramePr>
        <p:xfrm>
          <a:off x="1513083" y="2324100"/>
          <a:ext cx="9413483" cy="37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Visio" r:id="rId3" imgW="3452034" imgH="1364014" progId="Visio.Drawing.15">
                  <p:embed/>
                </p:oleObj>
              </mc:Choice>
              <mc:Fallback>
                <p:oleObj name="Visio" r:id="rId3" imgW="3452034" imgH="1364014" progId="Visio.Drawing.15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651ED7E-8560-4CE7-8091-8D32E722B7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3083" y="2324100"/>
                        <a:ext cx="9413483" cy="371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98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D1498-1D90-4887-BE5C-A384F44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96774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1: Differential Control Plane Simulation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57E2CED0-6DF1-4C5A-A1D3-2DBB6A17D81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291942"/>
              </p:ext>
            </p:extLst>
          </p:nvPr>
        </p:nvGraphicFramePr>
        <p:xfrm>
          <a:off x="4705351" y="2332952"/>
          <a:ext cx="7086599" cy="219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Visio" r:id="rId3" imgW="3474610" imgH="1074346" progId="Visio.Drawing.15">
                  <p:embed/>
                </p:oleObj>
              </mc:Choice>
              <mc:Fallback>
                <p:oleObj name="Visio" r:id="rId3" imgW="3474610" imgH="1074346" progId="Visio.Drawing.15">
                  <p:embed/>
                  <p:pic>
                    <p:nvPicPr>
                      <p:cNvPr id="4" name="内容占位符 3">
                        <a:extLst>
                          <a:ext uri="{FF2B5EF4-FFF2-40B4-BE49-F238E27FC236}">
                            <a16:creationId xmlns:a16="http://schemas.microsoft.com/office/drawing/2014/main" id="{57E2CED0-6DF1-4C5A-A1D3-2DBB6A17D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05351" y="2332952"/>
                        <a:ext cx="7086599" cy="2192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F50F889-DDE2-4FEA-A948-DD1EDB4817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204897"/>
              </p:ext>
            </p:extLst>
          </p:nvPr>
        </p:nvGraphicFramePr>
        <p:xfrm>
          <a:off x="-12699" y="2190086"/>
          <a:ext cx="4718050" cy="2669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Visio" r:id="rId5" imgW="3406176" imgH="1927826" progId="Visio.Drawing.15">
                  <p:embed/>
                </p:oleObj>
              </mc:Choice>
              <mc:Fallback>
                <p:oleObj name="Visio" r:id="rId5" imgW="3406176" imgH="1927826" progId="Visio.Drawing.15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A93733D-BEDC-4C10-8B85-126A10019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2699" y="2190086"/>
                        <a:ext cx="4718050" cy="2669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5727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E9960-10E7-42BD-9BBA-1C7E1F9F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Step 2: Differential Data Plane Modeling</a:t>
            </a:r>
            <a:endParaRPr lang="zh-CN" altLang="en-US" sz="40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4B6947-E469-4F1E-BB9F-196FD8572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59295"/>
              </p:ext>
            </p:extLst>
          </p:nvPr>
        </p:nvGraphicFramePr>
        <p:xfrm>
          <a:off x="4306423" y="1711239"/>
          <a:ext cx="3172175" cy="251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Visio" r:id="rId3" imgW="1882286" imgH="1493500" progId="Visio.Drawing.15">
                  <p:embed/>
                </p:oleObj>
              </mc:Choice>
              <mc:Fallback>
                <p:oleObj name="Visio" r:id="rId3" imgW="1882286" imgH="1493500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534D222-9EB8-4F4F-8A51-A1D8BA447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6423" y="1711239"/>
                        <a:ext cx="3172175" cy="2515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B234E0F-97BB-4BEF-A9F3-E76F86E1D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367576"/>
              </p:ext>
            </p:extLst>
          </p:nvPr>
        </p:nvGraphicFramePr>
        <p:xfrm>
          <a:off x="1421906" y="1986769"/>
          <a:ext cx="2622550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Visio" r:id="rId5" imgW="1653703" imgH="2049903" progId="Visio.Drawing.15">
                  <p:embed/>
                </p:oleObj>
              </mc:Choice>
              <mc:Fallback>
                <p:oleObj name="Visio" r:id="rId5" imgW="1653703" imgH="2049903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534D222-9EB8-4F4F-8A51-A1D8BA447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1906" y="1986769"/>
                        <a:ext cx="2622550" cy="324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F4B974A-3A02-40DF-97DF-A6B6DE76B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63834"/>
              </p:ext>
            </p:extLst>
          </p:nvPr>
        </p:nvGraphicFramePr>
        <p:xfrm>
          <a:off x="7740566" y="2047093"/>
          <a:ext cx="2717800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Visio" r:id="rId7" imgW="1714376" imgH="1973693" progId="Visio.Drawing.15">
                  <p:embed/>
                </p:oleObj>
              </mc:Choice>
              <mc:Fallback>
                <p:oleObj name="Visio" r:id="rId7" imgW="1714376" imgH="1973693" progId="Visio.Drawing.15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B234E0F-97BB-4BEF-A9F3-E76F86E1D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40566" y="2047093"/>
                        <a:ext cx="2717800" cy="312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97">
            <a:extLst>
              <a:ext uri="{FF2B5EF4-FFF2-40B4-BE49-F238E27FC236}">
                <a16:creationId xmlns:a16="http://schemas.microsoft.com/office/drawing/2014/main" id="{1A2EB88B-0DAB-461D-B47C-B95788D787EA}"/>
              </a:ext>
            </a:extLst>
          </p:cNvPr>
          <p:cNvSpPr/>
          <p:nvPr/>
        </p:nvSpPr>
        <p:spPr>
          <a:xfrm>
            <a:off x="5414221" y="3778292"/>
            <a:ext cx="956580" cy="44875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2CA6ED7-0A15-4EDC-96F9-7F8974920298}"/>
              </a:ext>
            </a:extLst>
          </p:cNvPr>
          <p:cNvSpPr/>
          <p:nvPr/>
        </p:nvSpPr>
        <p:spPr>
          <a:xfrm>
            <a:off x="1421906" y="2150036"/>
            <a:ext cx="2622550" cy="2964078"/>
          </a:xfrm>
          <a:prstGeom prst="roundRect">
            <a:avLst/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EFD5E7-6382-43CC-8DD2-FC1D08F34DB2}"/>
              </a:ext>
            </a:extLst>
          </p:cNvPr>
          <p:cNvSpPr/>
          <p:nvPr/>
        </p:nvSpPr>
        <p:spPr>
          <a:xfrm>
            <a:off x="7788191" y="2150036"/>
            <a:ext cx="2622550" cy="2964078"/>
          </a:xfrm>
          <a:prstGeom prst="roundRect">
            <a:avLst/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558D9F-13FC-4CE2-BAC0-624231EC23E4}"/>
              </a:ext>
            </a:extLst>
          </p:cNvPr>
          <p:cNvSpPr/>
          <p:nvPr/>
        </p:nvSpPr>
        <p:spPr>
          <a:xfrm>
            <a:off x="1660611" y="5277381"/>
            <a:ext cx="2145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Data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Plane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Model</a:t>
            </a:r>
          </a:p>
          <a:p>
            <a:pPr algn="ctr"/>
            <a:r>
              <a:rPr kumimoji="1" lang="en-US" altLang="zh-CN" sz="2000" dirty="0"/>
              <a:t>(before change)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21D9BD-90C4-4E42-A3F0-48CD6F16F403}"/>
              </a:ext>
            </a:extLst>
          </p:cNvPr>
          <p:cNvSpPr/>
          <p:nvPr/>
        </p:nvSpPr>
        <p:spPr>
          <a:xfrm>
            <a:off x="8174622" y="5277381"/>
            <a:ext cx="2145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Data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Plane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Model</a:t>
            </a:r>
          </a:p>
          <a:p>
            <a:pPr algn="ctr"/>
            <a:r>
              <a:rPr kumimoji="1" lang="en-US" altLang="zh-CN" sz="2000" dirty="0"/>
              <a:t>(after change)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00700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ED06E-FEBA-4EDE-A7F4-E3E1BB8C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Step 3: Differential Property Checking</a:t>
            </a:r>
            <a:endParaRPr lang="zh-CN" altLang="en-US" sz="40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C8E604F-A3FE-4DE3-B240-2A3E255A0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839893"/>
              </p:ext>
            </p:extLst>
          </p:nvPr>
        </p:nvGraphicFramePr>
        <p:xfrm>
          <a:off x="5549992" y="1068880"/>
          <a:ext cx="3782422" cy="2250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Visio" r:id="rId4" imgW="2689736" imgH="1600053" progId="Visio.Drawing.15">
                  <p:embed/>
                </p:oleObj>
              </mc:Choice>
              <mc:Fallback>
                <p:oleObj name="Visio" r:id="rId4" imgW="2689736" imgH="1600053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49992" y="1068880"/>
                        <a:ext cx="3782422" cy="2250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553FB1C-A554-43CE-8C3F-DB4FF1AF9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774913"/>
              </p:ext>
            </p:extLst>
          </p:nvPr>
        </p:nvGraphicFramePr>
        <p:xfrm>
          <a:off x="5580517" y="3236667"/>
          <a:ext cx="3721371" cy="223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Visio" r:id="rId6" imgW="2644231" imgH="1592644" progId="Visio.Drawing.15">
                  <p:embed/>
                </p:oleObj>
              </mc:Choice>
              <mc:Fallback>
                <p:oleObj name="Visio" r:id="rId6" imgW="2644231" imgH="1592644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C8E604F-A3FE-4DE3-B240-2A3E255A04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80517" y="3236667"/>
                        <a:ext cx="3721371" cy="2238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56547B8-2074-417B-B8DE-5E06EC2751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543998"/>
              </p:ext>
            </p:extLst>
          </p:nvPr>
        </p:nvGraphicFramePr>
        <p:xfrm>
          <a:off x="1495482" y="2263720"/>
          <a:ext cx="3170782" cy="2264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Visio" r:id="rId8" imgW="1569748" imgH="1120214" progId="Visio.Drawing.15">
                  <p:embed/>
                </p:oleObj>
              </mc:Choice>
              <mc:Fallback>
                <p:oleObj name="Visio" r:id="rId8" imgW="1569748" imgH="1120214" progId="Visio.Drawing.15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F4B974A-3A02-40DF-97DF-A6B6DE76B5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95482" y="2263720"/>
                        <a:ext cx="3170782" cy="2264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3D9B12E-5D93-407E-A767-774280DE2A09}"/>
              </a:ext>
            </a:extLst>
          </p:cNvPr>
          <p:cNvSpPr/>
          <p:nvPr/>
        </p:nvSpPr>
        <p:spPr>
          <a:xfrm>
            <a:off x="1875948" y="4174043"/>
            <a:ext cx="2145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Data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Plane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Model</a:t>
            </a:r>
          </a:p>
          <a:p>
            <a:pPr algn="ctr"/>
            <a:r>
              <a:rPr kumimoji="1" lang="en-US" altLang="zh-CN" sz="2000" dirty="0"/>
              <a:t>(after change)</a:t>
            </a:r>
            <a:endParaRPr lang="zh-CN" altLang="en-US" sz="20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77FEC4F-A75E-4791-A1FA-E8C956F55429}"/>
              </a:ext>
            </a:extLst>
          </p:cNvPr>
          <p:cNvCxnSpPr>
            <a:cxnSpLocks/>
          </p:cNvCxnSpPr>
          <p:nvPr/>
        </p:nvCxnSpPr>
        <p:spPr>
          <a:xfrm flipV="1">
            <a:off x="4579836" y="2524812"/>
            <a:ext cx="868680" cy="786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064341D-57B8-4440-BB65-E7E2DCE2DD66}"/>
              </a:ext>
            </a:extLst>
          </p:cNvPr>
          <p:cNvCxnSpPr>
            <a:cxnSpLocks/>
          </p:cNvCxnSpPr>
          <p:nvPr/>
        </p:nvCxnSpPr>
        <p:spPr>
          <a:xfrm>
            <a:off x="4579836" y="3590444"/>
            <a:ext cx="970155" cy="722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48BBB01-5879-4F93-A0C1-B494F59011C9}"/>
              </a:ext>
            </a:extLst>
          </p:cNvPr>
          <p:cNvSpPr/>
          <p:nvPr/>
        </p:nvSpPr>
        <p:spPr>
          <a:xfrm>
            <a:off x="5611043" y="2995743"/>
            <a:ext cx="41585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Traversing the old forwarding graph</a:t>
            </a:r>
            <a:endParaRPr lang="zh-CN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7FF629-DF60-401D-9230-521A6831FC05}"/>
              </a:ext>
            </a:extLst>
          </p:cNvPr>
          <p:cNvSpPr/>
          <p:nvPr/>
        </p:nvSpPr>
        <p:spPr>
          <a:xfrm>
            <a:off x="5611043" y="5313562"/>
            <a:ext cx="4257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dirty="0"/>
              <a:t>Traversing the new forwarding graph</a:t>
            </a:r>
            <a:endParaRPr lang="zh-CN" altLang="en-US" sz="20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D449088-CD8F-4031-B686-A12105AA14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4100" y="6177886"/>
            <a:ext cx="4819650" cy="39052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89CE37BA-5F5A-48A4-AD70-EE17CD0422F9}"/>
              </a:ext>
            </a:extLst>
          </p:cNvPr>
          <p:cNvSpPr/>
          <p:nvPr/>
        </p:nvSpPr>
        <p:spPr>
          <a:xfrm>
            <a:off x="945113" y="6137524"/>
            <a:ext cx="38282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2200" b="1" dirty="0"/>
              <a:t>The difference of properties:</a:t>
            </a:r>
            <a:endParaRPr lang="zh-CN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815523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6A259-8DBF-400C-8728-B6A8B318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Experiment Results</a:t>
            </a:r>
            <a:endParaRPr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F9FFDA7-73E3-45DF-BEC7-D4D935C24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Topology: fat tree with different number of nodes</a:t>
            </a:r>
          </a:p>
          <a:p>
            <a:r>
              <a:rPr lang="en-US" altLang="zh-CN" sz="2000" dirty="0"/>
              <a:t>Changes: 10 synthesized changes</a:t>
            </a:r>
            <a:endParaRPr lang="zh-CN" altLang="en-US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33F1427-74A8-4017-9252-9B619326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5259"/>
            <a:ext cx="4367503" cy="284862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D5F479E-CEFC-47BF-B1FF-BFBC3CC5E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710" y="2716565"/>
            <a:ext cx="6266090" cy="259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92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1DDFD-0E5D-46E6-AC14-7EC6A7EB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29A32-5437-42F0-9CAB-DDA2F36EC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280160"/>
            <a:ext cx="10515599" cy="5471160"/>
          </a:xfrm>
        </p:spPr>
        <p:txBody>
          <a:bodyPr>
            <a:normAutofit/>
          </a:bodyPr>
          <a:lstStyle/>
          <a:p>
            <a:r>
              <a:rPr lang="en-US" altLang="zh-CN" dirty="0"/>
              <a:t>INCV is important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Network config. changes are </a:t>
            </a:r>
            <a:r>
              <a:rPr lang="en-US" altLang="zh-CN" b="1" dirty="0"/>
              <a:t>frequent</a:t>
            </a:r>
            <a:r>
              <a:rPr lang="en-US" altLang="zh-CN" dirty="0"/>
              <a:t>, </a:t>
            </a:r>
            <a:r>
              <a:rPr lang="en-US" altLang="zh-CN" b="1" dirty="0"/>
              <a:t>risky</a:t>
            </a:r>
            <a:r>
              <a:rPr lang="en-US" altLang="zh-CN" dirty="0"/>
              <a:t>, and often </a:t>
            </a:r>
            <a:r>
              <a:rPr lang="en-US" altLang="zh-CN" b="1" dirty="0"/>
              <a:t>small</a:t>
            </a:r>
          </a:p>
          <a:p>
            <a:pPr>
              <a:spcBef>
                <a:spcPts val="1600"/>
              </a:spcBef>
            </a:pPr>
            <a:r>
              <a:rPr lang="en-US" altLang="zh-CN" dirty="0"/>
              <a:t>INCV is feasible</a:t>
            </a:r>
          </a:p>
          <a:p>
            <a:pPr lvl="1">
              <a:spcBef>
                <a:spcPts val="0"/>
              </a:spcBef>
            </a:pPr>
            <a:r>
              <a:rPr lang="en-US" altLang="zh-CN" dirty="0" err="1"/>
              <a:t>RealConfig</a:t>
            </a:r>
            <a:r>
              <a:rPr lang="en-US" altLang="zh-CN" dirty="0"/>
              <a:t>: </a:t>
            </a:r>
            <a:r>
              <a:rPr lang="en-US" altLang="zh-CN" b="1" dirty="0"/>
              <a:t>incremental</a:t>
            </a:r>
            <a:r>
              <a:rPr lang="en-US" altLang="zh-CN" dirty="0"/>
              <a:t> DP verification + </a:t>
            </a:r>
            <a:r>
              <a:rPr lang="en-US" altLang="zh-CN" b="1" dirty="0"/>
              <a:t>incremental</a:t>
            </a:r>
            <a:r>
              <a:rPr lang="en-US" altLang="zh-CN" dirty="0"/>
              <a:t> DP generation</a:t>
            </a:r>
          </a:p>
          <a:p>
            <a:pPr>
              <a:spcBef>
                <a:spcPts val="1600"/>
              </a:spcBef>
            </a:pPr>
            <a:r>
              <a:rPr lang="en-US" altLang="zh-CN" dirty="0"/>
              <a:t>INCV is beneficial</a:t>
            </a:r>
          </a:p>
          <a:p>
            <a:pPr lvl="1">
              <a:spcBef>
                <a:spcPts val="0"/>
              </a:spcBef>
            </a:pPr>
            <a:r>
              <a:rPr lang="en-US" altLang="zh-CN" dirty="0" err="1"/>
              <a:t>RealConfig</a:t>
            </a:r>
            <a:r>
              <a:rPr lang="en-US" altLang="zh-CN" dirty="0"/>
              <a:t> speeds-up the verification of change by up to </a:t>
            </a:r>
            <a:r>
              <a:rPr lang="en-US" altLang="zh-CN" b="1" dirty="0"/>
              <a:t>92×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921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80CB4F3-EDD0-455C-91AF-209C3CC34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098" y="2634826"/>
            <a:ext cx="11299805" cy="1217002"/>
          </a:xfrm>
        </p:spPr>
        <p:txBody>
          <a:bodyPr>
            <a:normAutofit/>
          </a:bodyPr>
          <a:lstStyle/>
          <a:p>
            <a:r>
              <a:rPr lang="en-US" altLang="zh-CN" dirty="0"/>
              <a:t>Backup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269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7|18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1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1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1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1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889</Words>
  <Application>Microsoft Office PowerPoint</Application>
  <PresentationFormat>宽屏</PresentationFormat>
  <Paragraphs>153</Paragraphs>
  <Slides>25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等线</vt:lpstr>
      <vt:lpstr>等线 Light</vt:lpstr>
      <vt:lpstr>Arial</vt:lpstr>
      <vt:lpstr>Calibri</vt:lpstr>
      <vt:lpstr>Times New Roman</vt:lpstr>
      <vt:lpstr>Wingdings</vt:lpstr>
      <vt:lpstr>Office 主题​​</vt:lpstr>
      <vt:lpstr>Visio</vt:lpstr>
      <vt:lpstr>Microsoft Visio 绘图</vt:lpstr>
      <vt:lpstr>Differential Network Analysis</vt:lpstr>
      <vt:lpstr>PowerPoint 演示文稿</vt:lpstr>
      <vt:lpstr>Change is the Only Constant in Life</vt:lpstr>
      <vt:lpstr>Change is Risky</vt:lpstr>
      <vt:lpstr>Verify the Changes</vt:lpstr>
      <vt:lpstr>Limitation of “Snapshot" Verification #1</vt:lpstr>
      <vt:lpstr>Limitation of “Snapshot" Verification #1</vt:lpstr>
      <vt:lpstr>Limitation of “Snapshot" Verification #2</vt:lpstr>
      <vt:lpstr>Limitation of “Snapshot" Verification #2</vt:lpstr>
      <vt:lpstr>PowerPoint 演示文稿</vt:lpstr>
      <vt:lpstr>DNA vs Traditional Network Verifiers</vt:lpstr>
      <vt:lpstr>DNA vs Traditional Network Verifiers</vt:lpstr>
      <vt:lpstr>Achieving DNA</vt:lpstr>
      <vt:lpstr>Simulation-Based Verification</vt:lpstr>
      <vt:lpstr>Simulation-Based Verification</vt:lpstr>
      <vt:lpstr>DNA</vt:lpstr>
      <vt:lpstr>Walkthrough Example</vt:lpstr>
      <vt:lpstr>Step 1: Differential Control Plane Simulation</vt:lpstr>
      <vt:lpstr>Step 1: Differential Control Plane Simulation</vt:lpstr>
      <vt:lpstr>Step 1: Differential Control Plane Simulation</vt:lpstr>
      <vt:lpstr>Step 2: Differential Data Plane Modeling</vt:lpstr>
      <vt:lpstr>Step 3: Differential Property Checking</vt:lpstr>
      <vt:lpstr>Experiment Results</vt:lpstr>
      <vt:lpstr>Conclusion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Paul</dc:creator>
  <cp:lastModifiedBy>张鹏</cp:lastModifiedBy>
  <cp:revision>367</cp:revision>
  <dcterms:created xsi:type="dcterms:W3CDTF">2020-10-03T12:11:55Z</dcterms:created>
  <dcterms:modified xsi:type="dcterms:W3CDTF">2021-12-07T11:03:59Z</dcterms:modified>
</cp:coreProperties>
</file>